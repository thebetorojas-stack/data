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3.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4.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Exports, crude + fuel (Reuters tanker data)</c:v>
                </c:pt>
              </c:strCache>
            </c:strRef>
          </c:tx>
          <c:spPr>
            <a:solidFill>
              <a:srgbClr val="D9D9D9"/>
            </a:solidFill>
            <a:effectLst/>
          </c:spPr>
          <c:invertIfNegative val="0"/>
          <c:dLbls>
            <c:numFmt formatCode="#,##0" sourceLinked="0"/>
            <c:txPr>
              <a:bodyPr/>
              <a:lstStyle/>
              <a:p>
                <a:pPr>
                  <a:defRPr b="0" i="0" strike="noStrike" sz="800" u="none">
                    <a:solidFill>
                      <a:srgbClr val="4C4C4C"/>
                    </a:solidFill>
                    <a:latin typeface="Arial"/>
                  </a:defRPr>
                </a:pPr>
              </a:p>
            </c:txPr>
            <c:dLblPos val="inEnd"/>
            <c:showLegendKey val="0"/>
            <c:showVal val="1"/>
            <c:showCatName val="0"/>
            <c:showSerName val="0"/>
            <c:showPercent val="0"/>
            <c:showBubbleSize val="0"/>
            <c:showLeaderLines val="0"/>
          </c:dLbls>
          <c:cat>
            <c:multiLvlStrRef>
              <c:f>Sheet1!$A$2:$A$8</c:f>
              <c:multiLvlStrCache>
                <c:ptCount val="7"/>
                <c:lvl>
                  <c:pt idx="0">
                    <c:v>Jan-26</c:v>
                  </c:pt>
                  <c:pt idx="1">
                    <c:v>Feb-26</c:v>
                  </c:pt>
                  <c:pt idx="2">
                    <c:v>Mar-26</c:v>
                  </c:pt>
                  <c:pt idx="3">
                    <c:v>Apr-26</c:v>
                  </c:pt>
                  <c:pt idx="4">
                    <c:v>May-26</c:v>
                  </c:pt>
                  <c:pt idx="5">
                    <c:v>Jun-26</c:v>
                  </c:pt>
                  <c:pt idx="6">
                    <c:v>Jul-26</c:v>
                  </c:pt>
                </c:lvl>
              </c:multiLvlStrCache>
            </c:multiLvlStrRef>
          </c:cat>
          <c:val>
            <c:numRef>
              <c:f>Sheet1!$B$2:$B$8</c:f>
              <c:numCache>
                <c:formatCode>General</c:formatCode>
                <c:ptCount val="7"/>
                <c:pt idx="0">
                  <c:v>800</c:v>
                </c:pt>
                <c:pt idx="1">
                  <c:v>737</c:v>
                </c:pt>
                <c:pt idx="2">
                  <c:v>1090</c:v>
                </c:pt>
                <c:pt idx="3">
                  <c:v>1230</c:v>
                </c:pt>
                <c:pt idx="4">
                  <c:v>1240</c:v>
                </c:pt>
                <c:pt idx="5">
                  <c:v>1200</c:v>
                </c:pt>
                <c:pt idx="6">
                  <c:v>1160</c:v>
                </c:pt>
              </c:numCache>
            </c:numRef>
          </c:val>
        </c:ser>
        <c:dLbls>
          <c:numFmt formatCode="#,##0" sourceLinked="0"/>
          <c:txPr>
            <a:bodyPr/>
            <a:lstStyle/>
            <a:p>
              <a:pPr>
                <a:defRPr b="0" i="0" strike="noStrike" sz="800" u="none">
                  <a:solidFill>
                    <a:srgbClr val="4C4C4C"/>
                  </a:solidFill>
                  <a:latin typeface="Arial"/>
                </a:defRPr>
              </a:pPr>
            </a:p>
          </c:txPr>
          <c:dLblPos val="inEnd"/>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Crude production (OPEC secondary sources)</c:v>
                </c:pt>
              </c:strCache>
            </c:strRef>
          </c:tx>
          <c:spPr>
            <a:solidFill>
              <a:srgbClr val="EC0016"/>
            </a:solidFill>
            <a:ln w="38100" cap="flat">
              <a:solidFill>
                <a:srgbClr val="EC0016"/>
              </a:solidFill>
              <a:prstDash val="solid"/>
              <a:round/>
            </a:ln>
            <a:effectLst/>
          </c:spPr>
          <c:invertIfNegative val="0"/>
          <c:dLbls>
            <c:numFmt formatCode="#,##0" sourceLinked="0"/>
            <c:txPr>
              <a:bodyPr/>
              <a:lstStyle/>
              <a:p>
                <a:pPr>
                  <a:defRPr b="1" i="0" strike="noStrike" sz="800" u="none">
                    <a:solidFill>
                      <a:srgbClr val="EC0016"/>
                    </a:solidFill>
                    <a:latin typeface="Arial"/>
                  </a:defRPr>
                </a:pPr>
              </a:p>
            </c:txPr>
            <c:dLblPos val="b"/>
            <c:showLegendKey val="0"/>
            <c:showVal val="1"/>
            <c:showCatName val="0"/>
            <c:showSerName val="0"/>
            <c:showPercent val="0"/>
            <c:showBubbleSize val="0"/>
            <c:showLeaderLines val="0"/>
          </c:dLbls>
          <c:marker>
            <c:symbol val="circle"/>
            <c:size val="6"/>
            <c:spPr>
              <a:solidFill>
                <a:srgbClr val="EC0016"/>
              </a:solidFill>
              <a:ln w="9525" cap="flat">
                <a:solidFill>
                  <a:srgbClr val="EC0016"/>
                </a:solidFill>
                <a:prstDash val="solid"/>
                <a:round/>
              </a:ln>
              <a:effectLst/>
            </c:spPr>
          </c:marker>
          <c:cat>
            <c:multiLvlStrRef>
              <c:f>Sheet1!$A$2:$A$8</c:f>
              <c:multiLvlStrCache>
                <c:ptCount val="7"/>
                <c:lvl>
                  <c:pt idx="0">
                    <c:v>Jan-26</c:v>
                  </c:pt>
                  <c:pt idx="1">
                    <c:v>Feb-26</c:v>
                  </c:pt>
                  <c:pt idx="2">
                    <c:v>Mar-26</c:v>
                  </c:pt>
                  <c:pt idx="3">
                    <c:v>Apr-26</c:v>
                  </c:pt>
                  <c:pt idx="4">
                    <c:v>May-26</c:v>
                  </c:pt>
                  <c:pt idx="5">
                    <c:v>Jun-26</c:v>
                  </c:pt>
                  <c:pt idx="6">
                    <c:v>Jul-26</c:v>
                  </c:pt>
                </c:lvl>
              </c:multiLvlStrCache>
            </c:multiLvlStrRef>
          </c:cat>
          <c:val>
            <c:numRef>
              <c:f>Sheet1!$C$2:$C$8</c:f>
              <c:numCache>
                <c:formatCode>General</c:formatCode>
                <c:ptCount val="7"/>
                <c:pt idx="0">
                  <c:v>924</c:v>
                </c:pt>
                <c:pt idx="1">
                  <c:v>903</c:v>
                </c:pt>
                <c:pt idx="2">
                  <c:v>985</c:v>
                </c:pt>
                <c:pt idx="3">
                  <c:v>1036</c:v>
                </c:pt>
                <c:pt idx="4">
                  <c:v>1072</c:v>
                </c:pt>
                <c:pt idx="5">
                  <c:v>1104</c:v>
                </c:pt>
                <c:pt idx="6">
                  <c:v>1117</c:v>
                </c:pt>
              </c:numCache>
            </c:numRef>
          </c:val>
          <c:smooth val="0"/>
        </c:ser>
        <c:dLbls>
          <c:numFmt formatCode="#,##0" sourceLinked="0"/>
          <c:txPr>
            <a:bodyPr/>
            <a:lstStyle/>
            <a:p>
              <a:pPr>
                <a:defRPr b="1" i="0" strike="noStrike" sz="800" u="none">
                  <a:solidFill>
                    <a:srgbClr val="EC0016"/>
                  </a:solidFill>
                  <a:latin typeface="Arial"/>
                </a:defRPr>
              </a:pPr>
            </a:p>
          </c:txPr>
          <c:dLblPos val="b"/>
          <c:showLegendKey val="0"/>
          <c:showVal val="1"/>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2H-2025 average production (941)</c:v>
                </c:pt>
              </c:strCache>
            </c:strRef>
          </c:tx>
          <c:spPr>
            <a:solidFill>
              <a:srgbClr val="8C8C8C"/>
            </a:solidFill>
            <a:ln w="19050" cap="flat">
              <a:solidFill>
                <a:srgbClr val="8C8C8C"/>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C8C8C"/>
              </a:solidFill>
              <a:ln w="9525" cap="flat">
                <a:solidFill>
                  <a:srgbClr val="8C8C8C"/>
                </a:solidFill>
                <a:prstDash val="solid"/>
                <a:round/>
              </a:ln>
              <a:effectLst/>
            </c:spPr>
          </c:marker>
          <c:cat>
            <c:multiLvlStrRef>
              <c:f>Sheet1!$A$2:$A$8</c:f>
              <c:multiLvlStrCache>
                <c:ptCount val="7"/>
                <c:lvl>
                  <c:pt idx="0">
                    <c:v>Jan-26</c:v>
                  </c:pt>
                  <c:pt idx="1">
                    <c:v>Feb-26</c:v>
                  </c:pt>
                  <c:pt idx="2">
                    <c:v>Mar-26</c:v>
                  </c:pt>
                  <c:pt idx="3">
                    <c:v>Apr-26</c:v>
                  </c:pt>
                  <c:pt idx="4">
                    <c:v>May-26</c:v>
                  </c:pt>
                  <c:pt idx="5">
                    <c:v>Jun-26</c:v>
                  </c:pt>
                  <c:pt idx="6">
                    <c:v>Jul-26</c:v>
                  </c:pt>
                </c:lvl>
              </c:multiLvlStrCache>
            </c:multiLvlStrRef>
          </c:cat>
          <c:val>
            <c:numRef>
              <c:f>Sheet1!$D$2:$D$8</c:f>
              <c:numCache>
                <c:formatCode>General</c:formatCode>
                <c:ptCount val="7"/>
                <c:pt idx="0">
                  <c:v>941</c:v>
                </c:pt>
                <c:pt idx="1">
                  <c:v>941</c:v>
                </c:pt>
                <c:pt idx="2">
                  <c:v>941</c:v>
                </c:pt>
                <c:pt idx="3">
                  <c:v>941</c:v>
                </c:pt>
                <c:pt idx="4">
                  <c:v>941</c:v>
                </c:pt>
                <c:pt idx="5">
                  <c:v>941</c:v>
                </c:pt>
                <c:pt idx="6">
                  <c:v>941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C4C4C"/>
                </a:solidFill>
                <a:latin typeface="Arial"/>
              </a:defRPr>
            </a:pPr>
            <a:endParaRPr lang="en-US"/>
          </a:p>
        </c:txPr>
        <c:crossAx val="2094734552"/>
        <c:crosses val="autoZero"/>
        <c:auto val="1"/>
        <c:lblAlgn val="ctr"/>
        <c:noMultiLvlLbl val="1"/>
      </c:catAx>
      <c:valAx>
        <c:axId val="2094734552"/>
        <c:scaling>
          <c:orientation val="minMax"/>
          <c:max val="1400"/>
          <c:min val="600"/>
        </c:scaling>
        <c:delete val="0"/>
        <c:axPos val="l"/>
        <c:majorGridlines>
          <c:spPr>
            <a:ln w="9525" cap="flat">
              <a:solidFill>
                <a:srgbClr val="D9D9D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C4C4C"/>
                </a:solidFill>
                <a:latin typeface="Arial"/>
              </a:defRPr>
            </a:pPr>
            <a:endParaRPr lang="en-US"/>
          </a:p>
        </c:txPr>
        <c:crossAx val="2094734554"/>
        <c:crosses val="autoZero"/>
        <c:crossBetween val="between"/>
        <c:majorUnit val="200"/>
      </c:valAx>
      <c:spPr>
        <a:solidFill>
          <a:srgbClr val="FFFFFF"/>
        </a:solidFill>
        <a:ln>
          <a:noFill/>
        </a:ln>
        <a:effectLst/>
      </c:spPr>
    </c:plotArea>
    <c:legend>
      <c:legendPos val="b"/>
      <c:overlay val="0"/>
      <c:txPr>
        <a:bodyPr/>
        <a:lstStyle/>
        <a:p>
          <a:pPr>
            <a:defRPr sz="900">
              <a:solidFill>
                <a:srgbClr val="4C4C4C"/>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Rigs</c:v>
                </c:pt>
              </c:strCache>
            </c:strRef>
          </c:tx>
          <c:spPr>
            <a:solidFill>
              <a:srgbClr val="EC0016"/>
            </a:solidFill>
            <a:effectLst/>
          </c:spPr>
          <c:invertIfNegative val="0"/>
          <c:dLbls>
            <c:numFmt formatCode="#,##0" sourceLinked="0"/>
            <c:txPr>
              <a:bodyPr/>
              <a:lstStyle/>
              <a:p>
                <a:pPr>
                  <a:defRPr b="1" i="0" strike="noStrike" sz="9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EC0016"/>
              </a:solidFill>
              <a:effectLst/>
            </c:spPr>
          </c:dPt>
          <c:dPt>
            <c:idx val="1"/>
            <c:invertIfNegative val="0"/>
            <c:bubble3D val="0"/>
            <c:spPr>
              <a:solidFill>
                <a:srgbClr val="8C8C8C"/>
              </a:solidFill>
              <a:effectLst/>
            </c:spPr>
          </c:dPt>
          <c:dPt>
            <c:idx val="2"/>
            <c:invertIfNegative val="0"/>
            <c:bubble3D val="0"/>
            <c:spPr>
              <a:solidFill>
                <a:srgbClr val="000000"/>
              </a:solidFill>
              <a:effectLst/>
            </c:spPr>
          </c:dPt>
          <c:dPt>
            <c:idx val="3"/>
            <c:invertIfNegative val="0"/>
            <c:bubble3D val="0"/>
            <c:spPr>
              <a:solidFill>
                <a:srgbClr val="8C8C8C"/>
              </a:solidFill>
              <a:effectLst/>
            </c:spPr>
          </c:dPt>
          <c:cat>
            <c:multiLvlStrRef>
              <c:f>Sheet1!$A$2:$A$5</c:f>
              <c:multiLvlStrCache>
                <c:ptCount val="4"/>
                <c:lvl>
                  <c:pt idx="0">
                    <c:v>Active, Jul-2026</c:v>
                  </c:pt>
                  <c:pt idx="1">
                    <c:v>SLB idle rigs, reactivation plan</c:v>
                  </c:pt>
                  <c:pt idx="2">
                    <c:v>Needed by 2028 (oil ministry)</c:v>
                  </c:pt>
                  <c:pt idx="3">
                    <c:v>Peak, May-1997</c:v>
                  </c:pt>
                </c:lvl>
              </c:multiLvlStrCache>
            </c:multiLvlStrRef>
          </c:cat>
          <c:val>
            <c:numRef>
              <c:f>Sheet1!$B$2:$B$5</c:f>
              <c:numCache>
                <c:formatCode>General</c:formatCode>
                <c:ptCount val="4"/>
                <c:pt idx="0">
                  <c:v>2</c:v>
                </c:pt>
                <c:pt idx="1">
                  <c:v>15</c:v>
                </c:pt>
                <c:pt idx="2">
                  <c:v>93</c:v>
                </c:pt>
                <c:pt idx="3">
                  <c:v>119</c:v>
                </c:pt>
              </c:numCache>
            </c:numRef>
          </c:val>
        </c:ser>
        <c:dLbls>
          <c:numFmt formatCode="#,##0" sourceLinked="0"/>
          <c:txPr>
            <a:bodyPr/>
            <a:lstStyle/>
            <a:p>
              <a:pPr>
                <a:defRPr b="1" i="0" strike="noStrike" sz="900" u="none">
                  <a:solidFill>
                    <a:srgbClr val="00000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50" b="0" i="0" u="none" strike="noStrike">
                <a:solidFill>
                  <a:srgbClr val="4C4C4C"/>
                </a:solidFill>
                <a:latin typeface="Arial"/>
              </a:defRPr>
            </a:pPr>
            <a:endParaRPr lang="en-US"/>
          </a:p>
        </c:txPr>
        <c:crossAx val="2094734552"/>
        <c:crosses val="autoZero"/>
        <c:auto val="1"/>
        <c:lblAlgn val="ctr"/>
        <c:noMultiLvlLbl val="1"/>
      </c:catAx>
      <c:valAx>
        <c:axId val="2094734552"/>
        <c:scaling>
          <c:orientation val="minMax"/>
          <c:max val="1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C4C4C"/>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bn bbl</c:v>
                </c:pt>
              </c:strCache>
            </c:strRef>
          </c:tx>
          <c:spPr>
            <a:solidFill>
              <a:srgbClr val="8C8C8C"/>
            </a:solidFill>
            <a:effectLst/>
          </c:spPr>
          <c:invertIfNegative val="0"/>
          <c:dLbls>
            <c:numFmt formatCode="#,##0.0" sourceLinked="0"/>
            <c:txPr>
              <a:bodyPr/>
              <a:lstStyle/>
              <a:p>
                <a:pPr>
                  <a:defRPr b="1"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8C8C8C"/>
              </a:solidFill>
              <a:effectLst/>
            </c:spPr>
          </c:dPt>
          <c:dPt>
            <c:idx val="1"/>
            <c:invertIfNegative val="0"/>
            <c:bubble3D val="0"/>
            <c:spPr>
              <a:solidFill>
                <a:srgbClr val="8C8C8C"/>
              </a:solidFill>
              <a:effectLst/>
            </c:spPr>
          </c:dPt>
          <c:dPt>
            <c:idx val="2"/>
            <c:invertIfNegative val="0"/>
            <c:bubble3D val="0"/>
            <c:spPr>
              <a:solidFill>
                <a:srgbClr val="EC0016"/>
              </a:solidFill>
              <a:effectLst/>
            </c:spPr>
          </c:dPt>
          <c:dPt>
            <c:idx val="3"/>
            <c:invertIfNegative val="0"/>
            <c:bubble3D val="0"/>
            <c:spPr>
              <a:solidFill>
                <a:srgbClr val="000000"/>
              </a:solidFill>
              <a:effectLst/>
            </c:spPr>
          </c:dPt>
          <c:cat>
            <c:multiLvlStrRef>
              <c:f>Sheet1!$A$2:$A$5</c:f>
              <c:multiLvlStrCache>
                <c:ptCount val="4"/>
                <c:lvl>
                  <c:pt idx="0">
                    <c:v>Implied by Caracas’s $209bn tax claim</c:v>
                  </c:pt>
                  <c:pt idx="1">
                    <c:v>Liftable in 25 yrs at the 1.5 mb/d target</c:v>
                  </c:pt>
                  <c:pt idx="2">
                    <c:v>Covered by the 17-field deal</c:v>
                  </c:pt>
                  <c:pt idx="3">
                    <c:v>Venezuela proven reserves (OPEC / EIA)</c:v>
                  </c:pt>
                </c:lvl>
              </c:multiLvlStrCache>
            </c:multiLvlStrRef>
          </c:cat>
          <c:val>
            <c:numRef>
              <c:f>Sheet1!$B$2:$B$5</c:f>
              <c:numCache>
                <c:formatCode>General</c:formatCode>
                <c:ptCount val="4"/>
                <c:pt idx="0">
                  <c:v>11</c:v>
                </c:pt>
                <c:pt idx="1">
                  <c:v>13.7</c:v>
                </c:pt>
                <c:pt idx="2">
                  <c:v>65</c:v>
                </c:pt>
                <c:pt idx="3">
                  <c:v>303</c:v>
                </c:pt>
              </c:numCache>
            </c:numRef>
          </c:val>
        </c:ser>
        <c:dLbls>
          <c:numFmt formatCode="#,##0.0" sourceLinked="0"/>
          <c:txPr>
            <a:bodyPr/>
            <a:lstStyle/>
            <a:p>
              <a:pPr>
                <a:defRPr b="1" i="0" strike="noStrike" sz="1000" u="none">
                  <a:solidFill>
                    <a:srgbClr val="000000"/>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4C4C4C"/>
                </a:solidFill>
                <a:latin typeface="Arial"/>
              </a:defRPr>
            </a:pPr>
            <a:endParaRPr lang="en-US"/>
          </a:p>
        </c:txPr>
        <c:crossAx val="2094734552"/>
        <c:crosses val="autoZero"/>
        <c:auto val="1"/>
        <c:lblAlgn val="ctr"/>
        <c:noMultiLvlLbl val="1"/>
      </c:catAx>
      <c:valAx>
        <c:axId val="2094734552"/>
        <c:scaling>
          <c:orientation val="minMax"/>
          <c:max val="3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4C4C4C"/>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 crude output (EIA)</c:v>
                </c:pt>
              </c:strCache>
            </c:strRef>
          </c:tx>
          <c:spPr>
            <a:solidFill>
              <a:srgbClr val="EC0016"/>
            </a:solidFill>
            <a:ln w="25400" cap="flat">
              <a:solidFill>
                <a:srgbClr val="EC001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C0016"/>
              </a:solidFill>
              <a:ln w="9525" cap="flat">
                <a:solidFill>
                  <a:srgbClr val="EC0016"/>
                </a:solidFill>
                <a:prstDash val="solid"/>
                <a:round/>
              </a:ln>
              <a:effectLst/>
            </c:spPr>
          </c:marker>
          <c:cat>
            <c:multiLvlStrRef>
              <c:f>Sheet1!$A$2:$A$27</c:f>
              <c:multiLvlStrCache>
                <c:ptCount val="26"/>
                <c:lvl>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pt idx="20">
                    <c:v>2025</c:v>
                  </c:pt>
                  <c:pt idx="21">
                    <c:v>2026</c:v>
                  </c:pt>
                  <c:pt idx="22">
                    <c:v>2027</c:v>
                  </c:pt>
                  <c:pt idx="23">
                    <c:v>2028</c:v>
                  </c:pt>
                  <c:pt idx="24">
                    <c:v>2029</c:v>
                  </c:pt>
                  <c:pt idx="25">
                    <c:v>2030</c:v>
                  </c:pt>
                </c:lvl>
              </c:multiLvlStrCache>
            </c:multiLvlStrRef>
          </c:cat>
          <c:val>
            <c:numRef>
              <c:f>Sheet1!$B$2:$B$27</c:f>
              <c:numCache>
                <c:formatCode>General</c:formatCode>
                <c:ptCount val="26"/>
                <c:pt idx="0">
                  <c:v>2.84</c:v>
                </c:pt>
                <c:pt idx="1">
                  <c:v>2.79</c:v>
                </c:pt>
                <c:pt idx="2">
                  <c:v>2.82</c:v>
                </c:pt>
                <c:pt idx="3">
                  <c:v>2.51</c:v>
                </c:pt>
                <c:pt idx="4">
                  <c:v>2.52</c:v>
                </c:pt>
                <c:pt idx="5">
                  <c:v>2.41</c:v>
                </c:pt>
                <c:pt idx="6">
                  <c:v>2.5</c:v>
                </c:pt>
                <c:pt idx="7">
                  <c:v>2.5</c:v>
                </c:pt>
                <c:pt idx="8">
                  <c:v>2.5</c:v>
                </c:pt>
                <c:pt idx="9">
                  <c:v>2.5</c:v>
                </c:pt>
                <c:pt idx="10">
                  <c:v>2.49</c:v>
                </c:pt>
                <c:pt idx="11">
                  <c:v>2.25</c:v>
                </c:pt>
                <c:pt idx="12">
                  <c:v>2</c:v>
                </c:pt>
                <c:pt idx="13">
                  <c:v>1.49</c:v>
                </c:pt>
                <c:pt idx="14">
                  <c:v>0.88</c:v>
                </c:pt>
                <c:pt idx="15">
                  <c:v>0.53</c:v>
                </c:pt>
                <c:pt idx="16">
                  <c:v>0.59</c:v>
                </c:pt>
                <c:pt idx="17">
                  <c:v>0.72</c:v>
                </c:pt>
                <c:pt idx="18">
                  <c:v>0.77</c:v>
                </c:pt>
                <c:pt idx="19">
                  <c:v>0.86</c:v>
                </c:pt>
                <c:pt idx="20">
                  <c:v>0.97</c:v>
                </c:pt>
                <c:pt idx="21">
                  <c:v/>
                </c:pt>
                <c:pt idx="22">
                  <c:v/>
                </c:pt>
                <c:pt idx="23">
                  <c:v/>
                </c:pt>
                <c:pt idx="24">
                  <c:v/>
                </c:pt>
                <c:pt idx="25">
                  <c:v/>
                </c:pt>
              </c:numCache>
            </c:numRef>
          </c:val>
          <c:smooth val="0"/>
        </c:ser>
        <c:ser>
          <c:idx val="1"/>
          <c:order val="1"/>
          <c:tx>
            <c:strRef>
              <c:f>Sheet1!$C$1</c:f>
              <c:strCache>
                <c:ptCount val="1"/>
                <c:pt idx="0">
                  <c:v>Plan Siembra Petrolera, 2005: 5.8 mb/d by 2012</c:v>
                </c:pt>
              </c:strCache>
            </c:strRef>
          </c:tx>
          <c:spPr>
            <a:solidFill>
              <a:srgbClr val="8C8C8C"/>
            </a:solidFill>
            <a:ln w="25400" cap="flat">
              <a:solidFill>
                <a:srgbClr val="8C8C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C8C8C"/>
              </a:solidFill>
              <a:ln w="9525" cap="flat">
                <a:solidFill>
                  <a:srgbClr val="8C8C8C"/>
                </a:solidFill>
                <a:prstDash val="solid"/>
                <a:round/>
              </a:ln>
              <a:effectLst/>
            </c:spPr>
          </c:marker>
          <c:cat>
            <c:multiLvlStrRef>
              <c:f>Sheet1!$A$2:$A$27</c:f>
              <c:multiLvlStrCache>
                <c:ptCount val="26"/>
                <c:lvl>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pt idx="20">
                    <c:v>2025</c:v>
                  </c:pt>
                  <c:pt idx="21">
                    <c:v>2026</c:v>
                  </c:pt>
                  <c:pt idx="22">
                    <c:v>2027</c:v>
                  </c:pt>
                  <c:pt idx="23">
                    <c:v>2028</c:v>
                  </c:pt>
                  <c:pt idx="24">
                    <c:v>2029</c:v>
                  </c:pt>
                  <c:pt idx="25">
                    <c:v>2030</c:v>
                  </c:pt>
                </c:lvl>
              </c:multiLvlStrCache>
            </c:multiLvlStrRef>
          </c:cat>
          <c:val>
            <c:numRef>
              <c:f>Sheet1!$C$2:$C$27</c:f>
              <c:numCache>
                <c:formatCode>General</c:formatCode>
                <c:ptCount val="26"/>
                <c:pt idx="0">
                  <c:v>2.84</c:v>
                </c:pt>
                <c:pt idx="1">
                  <c:v/>
                </c:pt>
                <c:pt idx="2">
                  <c:v/>
                </c:pt>
                <c:pt idx="3">
                  <c:v/>
                </c:pt>
                <c:pt idx="4">
                  <c:v/>
                </c:pt>
                <c:pt idx="5">
                  <c:v/>
                </c:pt>
                <c:pt idx="6">
                  <c:v/>
                </c:pt>
                <c:pt idx="7">
                  <c:v>5.84</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numCache>
            </c:numRef>
          </c:val>
          <c:smooth val="0"/>
        </c:ser>
        <c:ser>
          <c:idx val="2"/>
          <c:order val="2"/>
          <c:tx>
            <c:strRef>
              <c:f>Sheet1!$D$1</c:f>
              <c:strCache>
                <c:ptCount val="1"/>
                <c:pt idx="0">
                  <c:v>Plan de la Patria, 2013: 6.0 mb/d by 2019</c:v>
                </c:pt>
              </c:strCache>
            </c:strRef>
          </c:tx>
          <c:spPr>
            <a:solidFill>
              <a:srgbClr val="8C8C8C"/>
            </a:solidFill>
            <a:ln w="25400" cap="flat">
              <a:solidFill>
                <a:srgbClr val="8C8C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C8C8C"/>
              </a:solidFill>
              <a:ln w="9525" cap="flat">
                <a:solidFill>
                  <a:srgbClr val="8C8C8C"/>
                </a:solidFill>
                <a:prstDash val="solid"/>
                <a:round/>
              </a:ln>
              <a:effectLst/>
            </c:spPr>
          </c:marker>
          <c:cat>
            <c:multiLvlStrRef>
              <c:f>Sheet1!$A$2:$A$27</c:f>
              <c:multiLvlStrCache>
                <c:ptCount val="26"/>
                <c:lvl>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pt idx="20">
                    <c:v>2025</c:v>
                  </c:pt>
                  <c:pt idx="21">
                    <c:v>2026</c:v>
                  </c:pt>
                  <c:pt idx="22">
                    <c:v>2027</c:v>
                  </c:pt>
                  <c:pt idx="23">
                    <c:v>2028</c:v>
                  </c:pt>
                  <c:pt idx="24">
                    <c:v>2029</c:v>
                  </c:pt>
                  <c:pt idx="25">
                    <c:v>2030</c:v>
                  </c:pt>
                </c:lvl>
              </c:multiLvlStrCache>
            </c:multiLvlStrRef>
          </c:cat>
          <c:val>
            <c:numRef>
              <c:f>Sheet1!$D$2:$D$27</c:f>
              <c:numCache>
                <c:formatCode>General</c:formatCode>
                <c:ptCount val="26"/>
                <c:pt idx="0">
                  <c:v/>
                </c:pt>
                <c:pt idx="1">
                  <c:v/>
                </c:pt>
                <c:pt idx="2">
                  <c:v/>
                </c:pt>
                <c:pt idx="3">
                  <c:v/>
                </c:pt>
                <c:pt idx="4">
                  <c:v/>
                </c:pt>
                <c:pt idx="5">
                  <c:v/>
                </c:pt>
                <c:pt idx="6">
                  <c:v/>
                </c:pt>
                <c:pt idx="7">
                  <c:v/>
                </c:pt>
                <c:pt idx="8">
                  <c:v>2.5</c:v>
                </c:pt>
                <c:pt idx="9">
                  <c:v/>
                </c:pt>
                <c:pt idx="10">
                  <c:v/>
                </c:pt>
                <c:pt idx="11">
                  <c:v/>
                </c:pt>
                <c:pt idx="12">
                  <c:v/>
                </c:pt>
                <c:pt idx="13">
                  <c:v/>
                </c:pt>
                <c:pt idx="14">
                  <c:v>6</c:v>
                </c:pt>
                <c:pt idx="15">
                  <c:v/>
                </c:pt>
                <c:pt idx="16">
                  <c:v/>
                </c:pt>
                <c:pt idx="17">
                  <c:v/>
                </c:pt>
                <c:pt idx="18">
                  <c:v/>
                </c:pt>
                <c:pt idx="19">
                  <c:v/>
                </c:pt>
                <c:pt idx="20">
                  <c:v/>
                </c:pt>
                <c:pt idx="21">
                  <c:v/>
                </c:pt>
                <c:pt idx="22">
                  <c:v/>
                </c:pt>
                <c:pt idx="23">
                  <c:v/>
                </c:pt>
                <c:pt idx="24">
                  <c:v/>
                </c:pt>
                <c:pt idx="25">
                  <c:v/>
                </c:pt>
              </c:numCache>
            </c:numRef>
          </c:val>
          <c:smooth val="0"/>
        </c:ser>
        <c:ser>
          <c:idx val="3"/>
          <c:order val="3"/>
          <c:tx>
            <c:strRef>
              <c:f>Sheet1!$E$1</c:f>
              <c:strCache>
                <c:ptCount val="1"/>
                <c:pt idx="0">
                  <c:v>Maduro, Mar-2022: 2.0 mb/d by end-2022</c:v>
                </c:pt>
              </c:strCache>
            </c:strRef>
          </c:tx>
          <c:spPr>
            <a:solidFill>
              <a:srgbClr val="8C8C8C"/>
            </a:solidFill>
            <a:ln w="25400" cap="flat">
              <a:solidFill>
                <a:srgbClr val="8C8C8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C8C8C"/>
              </a:solidFill>
              <a:ln w="9525" cap="flat">
                <a:solidFill>
                  <a:srgbClr val="8C8C8C"/>
                </a:solidFill>
                <a:prstDash val="solid"/>
                <a:round/>
              </a:ln>
              <a:effectLst/>
            </c:spPr>
          </c:marker>
          <c:cat>
            <c:multiLvlStrRef>
              <c:f>Sheet1!$A$2:$A$27</c:f>
              <c:multiLvlStrCache>
                <c:ptCount val="26"/>
                <c:lvl>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pt idx="20">
                    <c:v>2025</c:v>
                  </c:pt>
                  <c:pt idx="21">
                    <c:v>2026</c:v>
                  </c:pt>
                  <c:pt idx="22">
                    <c:v>2027</c:v>
                  </c:pt>
                  <c:pt idx="23">
                    <c:v>2028</c:v>
                  </c:pt>
                  <c:pt idx="24">
                    <c:v>2029</c:v>
                  </c:pt>
                  <c:pt idx="25">
                    <c:v>2030</c:v>
                  </c:pt>
                </c:lvl>
              </c:multiLvlStrCache>
            </c:multiLvlStrRef>
          </c:cat>
          <c:val>
            <c:numRef>
              <c:f>Sheet1!$E$2:$E$27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0.59</c:v>
                </c:pt>
                <c:pt idx="17">
                  <c:v>2</c:v>
                </c:pt>
                <c:pt idx="18">
                  <c:v/>
                </c:pt>
                <c:pt idx="19">
                  <c:v/>
                </c:pt>
                <c:pt idx="20">
                  <c:v/>
                </c:pt>
                <c:pt idx="21">
                  <c:v/>
                </c:pt>
                <c:pt idx="22">
                  <c:v/>
                </c:pt>
                <c:pt idx="23">
                  <c:v/>
                </c:pt>
                <c:pt idx="24">
                  <c:v/>
                </c:pt>
                <c:pt idx="25">
                  <c:v/>
                </c:pt>
              </c:numCache>
            </c:numRef>
          </c:val>
          <c:smooth val="0"/>
        </c:ser>
        <c:ser>
          <c:idx val="4"/>
          <c:order val="4"/>
          <c:tx>
            <c:strRef>
              <c:f>Sheet1!$F$1</c:f>
              <c:strCache>
                <c:ptCount val="1"/>
                <c:pt idx="0">
                  <c:v>PDVSA, Jan-2026: +18% in 2026</c:v>
                </c:pt>
              </c:strCache>
            </c:strRef>
          </c:tx>
          <c:spPr>
            <a:solidFill>
              <a:srgbClr val="000000"/>
            </a:solidFill>
            <a:ln w="25400" cap="flat">
              <a:solidFill>
                <a:srgbClr val="000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0000"/>
              </a:solidFill>
              <a:ln w="9525" cap="flat">
                <a:solidFill>
                  <a:srgbClr val="000000"/>
                </a:solidFill>
                <a:prstDash val="solid"/>
                <a:round/>
              </a:ln>
              <a:effectLst/>
            </c:spPr>
          </c:marker>
          <c:cat>
            <c:multiLvlStrRef>
              <c:f>Sheet1!$A$2:$A$27</c:f>
              <c:multiLvlStrCache>
                <c:ptCount val="26"/>
                <c:lvl>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pt idx="20">
                    <c:v>2025</c:v>
                  </c:pt>
                  <c:pt idx="21">
                    <c:v>2026</c:v>
                  </c:pt>
                  <c:pt idx="22">
                    <c:v>2027</c:v>
                  </c:pt>
                  <c:pt idx="23">
                    <c:v>2028</c:v>
                  </c:pt>
                  <c:pt idx="24">
                    <c:v>2029</c:v>
                  </c:pt>
                  <c:pt idx="25">
                    <c:v>2030</c:v>
                  </c:pt>
                </c:lvl>
              </c:multiLvlStrCache>
            </c:multiLvlStrRef>
          </c:cat>
          <c:val>
            <c:numRef>
              <c:f>Sheet1!$F$2:$F$27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0.97</c:v>
                </c:pt>
                <c:pt idx="21">
                  <c:v>1.15</c:v>
                </c:pt>
                <c:pt idx="22">
                  <c:v/>
                </c:pt>
                <c:pt idx="23">
                  <c:v/>
                </c:pt>
                <c:pt idx="24">
                  <c:v/>
                </c:pt>
                <c:pt idx="25">
                  <c:v/>
                </c:pt>
              </c:numCache>
            </c:numRef>
          </c:val>
          <c:smooth val="0"/>
        </c:ser>
        <c:ser>
          <c:idx val="5"/>
          <c:order val="5"/>
          <c:tx>
            <c:strRef>
              <c:f>Sheet1!$G$1</c:f>
              <c:strCache>
                <c:ptCount val="1"/>
                <c:pt idx="0">
                  <c:v>US–Venezuela deal, Aug-2026: &gt;1.5 mb/d (no date; shown at 2030)</c:v>
                </c:pt>
              </c:strCache>
            </c:strRef>
          </c:tx>
          <c:spPr>
            <a:solidFill>
              <a:srgbClr val="000000"/>
            </a:solidFill>
            <a:ln w="25400" cap="flat">
              <a:solidFill>
                <a:srgbClr val="000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000000"/>
              </a:solidFill>
              <a:ln w="9525" cap="flat">
                <a:solidFill>
                  <a:srgbClr val="000000"/>
                </a:solidFill>
                <a:prstDash val="solid"/>
                <a:round/>
              </a:ln>
              <a:effectLst/>
            </c:spPr>
          </c:marker>
          <c:cat>
            <c:multiLvlStrRef>
              <c:f>Sheet1!$A$2:$A$27</c:f>
              <c:multiLvlStrCache>
                <c:ptCount val="26"/>
                <c:lvl>
                  <c:pt idx="0">
                    <c:v>2005</c:v>
                  </c:pt>
                  <c:pt idx="1">
                    <c:v>2006</c:v>
                  </c:pt>
                  <c:pt idx="2">
                    <c:v>2007</c:v>
                  </c:pt>
                  <c:pt idx="3">
                    <c:v>2008</c:v>
                  </c:pt>
                  <c:pt idx="4">
                    <c:v>2009</c:v>
                  </c:pt>
                  <c:pt idx="5">
                    <c:v>2010</c:v>
                  </c:pt>
                  <c:pt idx="6">
                    <c:v>2011</c:v>
                  </c:pt>
                  <c:pt idx="7">
                    <c:v>2012</c:v>
                  </c:pt>
                  <c:pt idx="8">
                    <c:v>2013</c:v>
                  </c:pt>
                  <c:pt idx="9">
                    <c:v>2014</c:v>
                  </c:pt>
                  <c:pt idx="10">
                    <c:v>2015</c:v>
                  </c:pt>
                  <c:pt idx="11">
                    <c:v>2016</c:v>
                  </c:pt>
                  <c:pt idx="12">
                    <c:v>2017</c:v>
                  </c:pt>
                  <c:pt idx="13">
                    <c:v>2018</c:v>
                  </c:pt>
                  <c:pt idx="14">
                    <c:v>2019</c:v>
                  </c:pt>
                  <c:pt idx="15">
                    <c:v>2020</c:v>
                  </c:pt>
                  <c:pt idx="16">
                    <c:v>2021</c:v>
                  </c:pt>
                  <c:pt idx="17">
                    <c:v>2022</c:v>
                  </c:pt>
                  <c:pt idx="18">
                    <c:v>2023</c:v>
                  </c:pt>
                  <c:pt idx="19">
                    <c:v>2024</c:v>
                  </c:pt>
                  <c:pt idx="20">
                    <c:v>2025</c:v>
                  </c:pt>
                  <c:pt idx="21">
                    <c:v>2026</c:v>
                  </c:pt>
                  <c:pt idx="22">
                    <c:v>2027</c:v>
                  </c:pt>
                  <c:pt idx="23">
                    <c:v>2028</c:v>
                  </c:pt>
                  <c:pt idx="24">
                    <c:v>2029</c:v>
                  </c:pt>
                  <c:pt idx="25">
                    <c:v>2030</c:v>
                  </c:pt>
                </c:lvl>
              </c:multiLvlStrCache>
            </c:multiLvlStrRef>
          </c:cat>
          <c:val>
            <c:numRef>
              <c:f>Sheet1!$G$2:$G$27</c:f>
              <c:numCache>
                <c:formatCode>General</c:formatCode>
                <c:ptCount val="2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0.97</c:v>
                </c:pt>
                <c:pt idx="21">
                  <c:v/>
                </c:pt>
                <c:pt idx="22">
                  <c:v/>
                </c:pt>
                <c:pt idx="23">
                  <c:v/>
                </c:pt>
                <c:pt idx="24">
                  <c:v/>
                </c:pt>
                <c:pt idx="25">
                  <c:v>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C4C4C"/>
                </a:solidFill>
                <a:latin typeface="Arial"/>
              </a:defRPr>
            </a:pPr>
            <a:endParaRPr lang="en-US"/>
          </a:p>
        </c:txPr>
        <c:crossAx val="2094734552"/>
        <c:crosses val="autoZero"/>
        <c:auto val="1"/>
        <c:lblAlgn val="ctr"/>
        <c:noMultiLvlLbl val="1"/>
        <c:tickLblSkip val="5"/>
      </c:catAx>
      <c:valAx>
        <c:axId val="2094734552"/>
        <c:scaling>
          <c:orientation val="minMax"/>
          <c:max val="7"/>
          <c:min val="0"/>
        </c:scaling>
        <c:delete val="0"/>
        <c:axPos val="l"/>
        <c:majorGridlines>
          <c:spPr>
            <a:ln w="9525" cap="flat">
              <a:solidFill>
                <a:srgbClr val="D9D9D9"/>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C4C4C"/>
                </a:solidFill>
                <a:latin typeface="Arial"/>
              </a:defRPr>
            </a:pPr>
            <a:endParaRPr lang="en-US"/>
          </a:p>
        </c:txPr>
        <c:crossAx val="2094734554"/>
        <c:crosses val="autoZero"/>
        <c:crossBetween val="between"/>
        <c:majorUnit val="1"/>
      </c:valAx>
      <c:spPr>
        <a:solidFill>
          <a:srgbClr val="FFFFFF"/>
        </a:solidFill>
        <a:ln>
          <a:noFill/>
        </a:ln>
        <a:effectLst/>
      </c:spPr>
    </c:plotArea>
    <c:legend>
      <c:legendPos val="b"/>
      <c:overlay val="0"/>
      <c:txPr>
        <a:bodyPr/>
        <a:lstStyle/>
        <a:p>
          <a:pPr>
            <a:defRPr sz="900">
              <a:solidFill>
                <a:srgbClr val="4C4C4C"/>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OPEC MOMR secondary sources, kb/d: Jan 924, Feb 903, Mar 985, Apr 1,036 (revised from 1,031), May 1,072, Jun 1,104, Jul 1,117. Quarterly: 3Q25 946, 4Q25 936 (MOMR Jan-2026 Table 5-7); dashed line is the 2H25 average of those two. PDVSA direct communication: Mar 1,095, Apr 1,136, May 1,179, Jun 1,187, Jul 1,200. Exports, Reuters (crude + fuel): Dec-25 498, Jan 800, Feb 737, Mar 1,090, Apr ~1,230 (derived), May 1,240 (peak), Jun 1,200, Jul 1,160. Blockade inventory: &gt;40mn bbl of crude and fuel in tanks and vessels (Reuters, 2 Feb 2026). Drawdown floor: sum of (exports − output) Mar–Jul ≈ 18.5mn bbl. Rigs: Baker Hughes 2 at end-March (both for Chevron, per Reuters sources) and 2 at end-July; 93 needed through 2028 (Henao presentation, Reuters 27 Apr); SLB 15 idle rigs, up to 4 back by end-2026 subject to contracts (Reuters, 19 Aug); peak 119 in May-1997 (Baker Hughes via Trading Economics). Chevron 280 kb/d, +15% YTD, +50% by 2028 (CFO, 31 Jul call). Before publication: pull the Aug MOMR Table 5-x from OPEC/Bloomberg to lock the monthly series, which is revised each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Reserve figures: 65bn (Trump, Rodríguez); 63bn (US official to Newsweek); 63.7bn recoverable at ~20% technically feasible recovery factor (Reuters, via Oil &amp; Gas 360); ~90bn across "more than a dozen" producing fields (Axios, pre-announcement). Not reconciled anywhere. Venezuela’s 303bn national figure rests on the Magna Reserva certification of Orinoco extra-heavy oil at ~20% recovery; commercially recoverable volumes at current prices and technology are widely regarded as far lower. Terms: Rodríguez 25 years (televised address 29 Aug); White House fact sheet 31 Aug: 100-year rights; LOH 2026 art. 35 caps mixed companies at 25+15 years and sets no express term for art. 40 private-operator contracts. $209bn: F. Rodríguez notes it assumes $65 oil and $19/bbl to the state, = $8.4bn/yr vs $18.4bn collected in 2025 at ~941 kb/d. Upgrader nameplate (700 kb/d, four units) is from CFR, 2019 — dated; refresh from PDVSA/JV disclosures if available. Counterparty: keep the "private domestic operator" attribution agreed for the 29 Aug note (the White House named it on 31 Aug; it is reported by WSJ to already produce ~200 kb/d).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EIA annual crude production, mb/d: 2005 2.84, 2006 2.79, 2007 2.82, 2008 2.51, 2009 2.52, 2010 2.41, 2011 2.50, 2012 2.50, 2013 2.50, 2014 2.50, 2015 2.49, 2016 2.25, 2017 2.00, 2018 1.49, 2019 0.88, 2020 0.53, 2021 0.59, 2022 0.72, 2023 0.77, 2024 0.86, 2025 0.97 (EIA International Energy Statistics, as of Jul 2026 vintage via YCharts; EIA’s 2011–14 values are its own 2.5 estimate). Title arithmetic: 5.84 + 6.0 + 2.0 = 13.8 mb/d of dated targets; output 2005→2025 = 2.84 → 0.97 = −1.87 mb/d. Targets: Plan Siembra Petrolera 2005–2012, 5.84 mb/d (Monaldi, Baker Institute; some contemporaneous reporting says 5.4 or 5.8); Plan de la Patria / PDVSA 2013–2019: 6 mb/d by 2019 (PDVSA website); Maduro, March 2022, VTV address: 2 mb/d by end-2022 (EFE/Infobae, 13 Apr 2022); PDVSA CEO Héctor Obregón, 24 Jan 2026: grow by at least 18% in 2026 from ~1 mb/d (AFP); Rodríguez: production could exceed 1.5 mb/d under the 25-year agreement (no date). The 2026 deal line is drawn to 2030 for illustration; adjust if a date is published. Not shown: the 2024 target of 1.3 mb/d carried into 2025, which was also missed (secondary reporting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(1) Trump Truth Social, Fri 28 Aug evening. (2) Rodríguez written statement same night; televised address Sat 29 Aug (25-year term, 17 fields, 1.5 mb/d, sovereignty retained). (3) WSJ, Sat 29/30 Aug: 35% passive Pentagon stake via penny warrants in the private operator. (4) Pentagon spokesman Sean Parnell, within a day: OSC does not take equity stakes. (5) White House fact sheet, Mon 31 Aug night (AP): OSC 35% ownership stake, State Department-orchestrated right to buy 20% of output at cost, 100-year rights over 17 fields, board majority U.S. citizens with U.S. government veto, U.S. law and courts. The White House named the private operator on 31 Aug; the deck keeps the compliance attribution agreed for the 29 Aug note. Legacy liabilities: Barclays $98.3bn bondholder claims incl. PDI on $56.5bn face (Jan 2026); Exxon+Conoco awards ~$14bn combined (OMFIF); Conoco $10–12bn (Houston Chronicle, via OilPrice); OilPrice tallies ~$170bn of unresolved claims and defaulted bonds (secondary). Exxon "un-investable": Woods after Maduro’s ouster, 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5096" cy="219456"/>
          </a:xfrm>
          <a:prstGeom prst="rect">
            <a:avLst/>
          </a:prstGeom>
          <a:noFill/>
          <a:ln/>
        </p:spPr>
        <p:txBody>
          <a:bodyPr wrap="square" lIns="0" tIns="0" rIns="0" bIns="0" rtlCol="0" anchor="ctr"/>
          <a:lstStyle/>
          <a:p>
            <a:pPr indent="0" marL="0">
              <a:buNone/>
            </a:pPr>
            <a:r>
              <a:rPr lang="en-US" sz="1000" b="1" spc="140" kern="0" dirty="0">
                <a:solidFill>
                  <a:srgbClr val="EC0016"/>
                </a:solidFill>
                <a:latin typeface="Arial" pitchFamily="34" charset="0"/>
                <a:ea typeface="Arial" pitchFamily="34" charset="-122"/>
                <a:cs typeface="Arial" pitchFamily="34" charset="-120"/>
              </a:rPr>
              <a:t>VENEZUELA  ·  TACTICAL ASSET ALLOCATION  ·  1 SEPTEMBER 2026</a:t>
            </a:r>
            <a:endParaRPr lang="en-US" sz="1000" dirty="0"/>
          </a:p>
        </p:txBody>
      </p:sp>
      <p:sp>
        <p:nvSpPr>
          <p:cNvPr id="3" name="Text 1"/>
          <p:cNvSpPr txBox="1"/>
          <p:nvPr/>
        </p:nvSpPr>
        <p:spPr>
          <a:xfrm>
            <a:off x="566928" y="566928"/>
            <a:ext cx="11055096" cy="822960"/>
          </a:xfrm>
          <a:prstGeom prst="rect">
            <a:avLst/>
          </a:prstGeom>
          <a:noFill/>
          <a:ln/>
        </p:spPr>
        <p:txBody>
          <a:bodyPr wrap="square" lIns="0" tIns="0" rIns="0" bIns="0" rtlCol="0" anchor="t"/>
          <a:lstStyle/>
          <a:p>
            <a:pPr indent="0" marL="0">
              <a:buNone/>
            </a:pPr>
            <a:r>
              <a:rPr lang="en-US" sz="2200" b="1" dirty="0">
                <a:solidFill>
                  <a:srgbClr val="000000"/>
                </a:solidFill>
                <a:latin typeface="Arial" pitchFamily="34" charset="0"/>
                <a:ea typeface="Arial" pitchFamily="34" charset="-122"/>
                <a:cs typeface="Arial" pitchFamily="34" charset="-120"/>
              </a:rPr>
              <a:t>Eight months after Maduro: output is up ~180 kb/d, the export surge was inventory, and drilling has not restarted</a:t>
            </a:r>
            <a:endParaRPr lang="en-US" sz="2200" dirty="0"/>
          </a:p>
        </p:txBody>
      </p:sp>
      <p:sp>
        <p:nvSpPr>
          <p:cNvPr id="4" name="Text 2"/>
          <p:cNvSpPr txBox="1"/>
          <p:nvPr/>
        </p:nvSpPr>
        <p:spPr>
          <a:xfrm>
            <a:off x="11164824" y="6473952"/>
            <a:ext cx="457200"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1</a:t>
            </a:r>
            <a:endParaRPr lang="en-US" sz="800" dirty="0"/>
          </a:p>
        </p:txBody>
      </p:sp>
      <p:sp>
        <p:nvSpPr>
          <p:cNvPr id="5" name="Text 3"/>
          <p:cNvSpPr txBox="1"/>
          <p:nvPr/>
        </p:nvSpPr>
        <p:spPr>
          <a:xfrm>
            <a:off x="566928" y="1481328"/>
            <a:ext cx="6766560" cy="237744"/>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Crude output vs. oil exports, thousand b/d</a:t>
            </a:r>
            <a:endParaRPr lang="en-US" sz="1150" dirty="0"/>
          </a:p>
        </p:txBody>
      </p:sp>
      <p:graphicFrame>
        <p:nvGraphicFramePr>
          <p:cNvPr id="6" name="Chart 0" descr=""/>
          <p:cNvGraphicFramePr/>
          <p:nvPr/>
        </p:nvGraphicFramePr>
        <p:xfrm>
          <a:off x="566928" y="1755648"/>
          <a:ext cx="6766560" cy="40233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726680" y="1481328"/>
            <a:ext cx="3895344" cy="237744"/>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Active drilling rigs, Baker Hughes count</a:t>
            </a:r>
            <a:endParaRPr lang="en-US" sz="1150" dirty="0"/>
          </a:p>
        </p:txBody>
      </p:sp>
      <p:graphicFrame>
        <p:nvGraphicFramePr>
          <p:cNvPr id="8" name="Chart 1" descr=""/>
          <p:cNvGraphicFramePr/>
          <p:nvPr/>
        </p:nvGraphicFramePr>
        <p:xfrm>
          <a:off x="7726680" y="1737360"/>
          <a:ext cx="3895344" cy="169164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7726680" y="3611880"/>
            <a:ext cx="3895344" cy="530352"/>
          </a:xfrm>
          <a:prstGeom prst="rect">
            <a:avLst/>
          </a:prstGeom>
          <a:noFill/>
          <a:ln/>
        </p:spPr>
        <p:txBody>
          <a:bodyPr wrap="square" lIns="0" tIns="0" rIns="0" bIns="0" rtlCol="0" anchor="ctr"/>
          <a:lstStyle/>
          <a:p>
            <a:pPr indent="0" marL="0">
              <a:buNone/>
            </a:pPr>
            <a:r>
              <a:rPr lang="en-US" sz="3000" b="1" dirty="0">
                <a:solidFill>
                  <a:srgbClr val="EC0016"/>
                </a:solidFill>
                <a:latin typeface="Arial" pitchFamily="34" charset="0"/>
                <a:ea typeface="Arial" pitchFamily="34" charset="-122"/>
                <a:cs typeface="Arial" pitchFamily="34" charset="-120"/>
              </a:rPr>
              <a:t>≥18mn bbl</a:t>
            </a:r>
            <a:endParaRPr lang="en-US" sz="3000" dirty="0"/>
          </a:p>
        </p:txBody>
      </p:sp>
      <p:sp>
        <p:nvSpPr>
          <p:cNvPr id="10" name="Text 6"/>
          <p:cNvSpPr txBox="1"/>
          <p:nvPr/>
        </p:nvSpPr>
        <p:spPr>
          <a:xfrm>
            <a:off x="7726680" y="4142232"/>
            <a:ext cx="3895344" cy="201168"/>
          </a:xfrm>
          <a:prstGeom prst="rect">
            <a:avLst/>
          </a:prstGeom>
          <a:noFill/>
          <a:ln/>
        </p:spPr>
        <p:txBody>
          <a:bodyPr wrap="square" lIns="0" tIns="0" rIns="0" bIns="0" rtlCol="0" anchor="ctr"/>
          <a:lstStyle/>
          <a:p>
            <a:pPr indent="0" marL="0">
              <a:buNone/>
            </a:pPr>
            <a:r>
              <a:rPr lang="en-US" sz="850" b="1" spc="80" kern="0" dirty="0">
                <a:solidFill>
                  <a:srgbClr val="EC0016"/>
                </a:solidFill>
                <a:latin typeface="Arial" pitchFamily="34" charset="0"/>
                <a:ea typeface="Arial" pitchFamily="34" charset="-122"/>
                <a:cs typeface="Arial" pitchFamily="34" charset="-120"/>
              </a:rPr>
              <a:t>EXPORTS ABOVE CRUDE OUTPUT, MAR–JUL</a:t>
            </a:r>
            <a:endParaRPr lang="en-US" sz="850" dirty="0"/>
          </a:p>
        </p:txBody>
      </p:sp>
      <p:sp>
        <p:nvSpPr>
          <p:cNvPr id="11" name="Text 7"/>
          <p:cNvSpPr txBox="1"/>
          <p:nvPr/>
        </p:nvSpPr>
        <p:spPr>
          <a:xfrm>
            <a:off x="7726680" y="4361688"/>
            <a:ext cx="3895344" cy="685800"/>
          </a:xfrm>
          <a:prstGeom prst="rect">
            <a:avLst/>
          </a:prstGeom>
          <a:noFill/>
          <a:ln/>
        </p:spPr>
        <p:txBody>
          <a:bodyPr wrap="square" lIns="0" tIns="0" rIns="0" bIns="0" rtlCol="0" anchor="t"/>
          <a:lstStyle/>
          <a:p>
            <a:pPr indent="0" marL="0">
              <a:lnSpc>
                <a:spcPts val="1250"/>
              </a:lnSpc>
              <a:buNone/>
            </a:pPr>
            <a:r>
              <a:rPr lang="en-US" sz="1000" dirty="0">
                <a:solidFill>
                  <a:srgbClr val="4C4C4C"/>
                </a:solidFill>
                <a:latin typeface="Arial" pitchFamily="34" charset="0"/>
                <a:ea typeface="Arial" pitchFamily="34" charset="-122"/>
                <a:cs typeface="Arial" pitchFamily="34" charset="-120"/>
              </a:rPr>
              <a:t>Traders drained the &gt;40mn bbl stockpile built during the December blockade; exports ran 40–190 kb/d above output. July exports fell as stocks ran down: storage, not wells.</a:t>
            </a:r>
            <a:endParaRPr lang="en-US" sz="1000" dirty="0"/>
          </a:p>
        </p:txBody>
      </p:sp>
      <p:sp>
        <p:nvSpPr>
          <p:cNvPr id="12" name="Text 8"/>
          <p:cNvSpPr txBox="1"/>
          <p:nvPr/>
        </p:nvSpPr>
        <p:spPr>
          <a:xfrm>
            <a:off x="7726680" y="4983480"/>
            <a:ext cx="3895344" cy="530352"/>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+181 kb/d</a:t>
            </a:r>
            <a:endParaRPr lang="en-US" sz="3000" dirty="0"/>
          </a:p>
        </p:txBody>
      </p:sp>
      <p:sp>
        <p:nvSpPr>
          <p:cNvPr id="13" name="Text 9"/>
          <p:cNvSpPr txBox="1"/>
          <p:nvPr/>
        </p:nvSpPr>
        <p:spPr>
          <a:xfrm>
            <a:off x="7726680" y="5513832"/>
            <a:ext cx="3895344" cy="201168"/>
          </a:xfrm>
          <a:prstGeom prst="rect">
            <a:avLst/>
          </a:prstGeom>
          <a:noFill/>
          <a:ln/>
        </p:spPr>
        <p:txBody>
          <a:bodyPr wrap="square" lIns="0" tIns="0" rIns="0" bIns="0" rtlCol="0" anchor="ctr"/>
          <a:lstStyle/>
          <a:p>
            <a:pPr indent="0" marL="0">
              <a:buNone/>
            </a:pPr>
            <a:r>
              <a:rPr lang="en-US" sz="850" b="1" spc="80" kern="0" dirty="0">
                <a:solidFill>
                  <a:srgbClr val="EC0016"/>
                </a:solidFill>
                <a:latin typeface="Arial" pitchFamily="34" charset="0"/>
                <a:ea typeface="Arial" pitchFamily="34" charset="-122"/>
                <a:cs typeface="Arial" pitchFamily="34" charset="-120"/>
              </a:rPr>
              <a:t>OUTPUT, JUL-26 vs 4Q-25</a:t>
            </a:r>
            <a:endParaRPr lang="en-US" sz="850" dirty="0"/>
          </a:p>
        </p:txBody>
      </p:sp>
      <p:sp>
        <p:nvSpPr>
          <p:cNvPr id="14" name="Text 10"/>
          <p:cNvSpPr txBox="1"/>
          <p:nvPr/>
        </p:nvSpPr>
        <p:spPr>
          <a:xfrm>
            <a:off x="7726680" y="5733288"/>
            <a:ext cx="3895344" cy="685800"/>
          </a:xfrm>
          <a:prstGeom prst="rect">
            <a:avLst/>
          </a:prstGeom>
          <a:noFill/>
          <a:ln/>
        </p:spPr>
        <p:txBody>
          <a:bodyPr wrap="square" lIns="0" tIns="0" rIns="0" bIns="0" rtlCol="0" anchor="t"/>
          <a:lstStyle/>
          <a:p>
            <a:pPr indent="0" marL="0">
              <a:lnSpc>
                <a:spcPts val="1250"/>
              </a:lnSpc>
              <a:buNone/>
            </a:pPr>
            <a:r>
              <a:rPr lang="en-US" sz="1000" dirty="0">
                <a:solidFill>
                  <a:srgbClr val="4C4C4C"/>
                </a:solidFill>
                <a:latin typeface="Arial" pitchFamily="34" charset="0"/>
                <a:ea typeface="Arial" pitchFamily="34" charset="-122"/>
                <a:cs typeface="Arial" pitchFamily="34" charset="-120"/>
              </a:rPr>
              <a:t>Reversal of January’s blockade shut-ins plus diluent, not new capacity. The two rigs counted at end-March were both on Chevron projects; the ministry says it needs 93.</a:t>
            </a:r>
            <a:endParaRPr lang="en-US" sz="1000" dirty="0"/>
          </a:p>
        </p:txBody>
      </p:sp>
      <p:sp>
        <p:nvSpPr>
          <p:cNvPr id="15" name="Text 11"/>
          <p:cNvSpPr txBox="1"/>
          <p:nvPr/>
        </p:nvSpPr>
        <p:spPr>
          <a:xfrm>
            <a:off x="566928" y="6382512"/>
            <a:ext cx="10415016" cy="347472"/>
          </a:xfrm>
          <a:prstGeom prst="rect">
            <a:avLst/>
          </a:prstGeom>
          <a:noFill/>
          <a:ln/>
        </p:spPr>
        <p:txBody>
          <a:bodyPr wrap="square" lIns="0" tIns="0" rIns="0" bIns="0" rtlCol="0" anchor="b"/>
          <a:lstStyle/>
          <a:p>
            <a:pPr indent="0" marL="0">
              <a:buNone/>
            </a:pPr>
            <a:r>
              <a:rPr lang="en-US" sz="750" dirty="0">
                <a:solidFill>
                  <a:srgbClr val="8C8C8C"/>
                </a:solidFill>
                <a:latin typeface="Arial" pitchFamily="34" charset="0"/>
                <a:ea typeface="Arial" pitchFamily="34" charset="-122"/>
                <a:cs typeface="Arial" pitchFamily="34" charset="-120"/>
              </a:rPr>
              <a:t>Source: OPEC Monthly Oil Market Report (secondary sources; PDVSA’s own figures run ~80–110 kb/d higher), Reuters tanker-tracking and PDVSA documents (exports, crude + fuel; April derived from Reuters’ +14% m/m), Baker Hughes International Rig Count, Ministry of Hydrocarbons rig requirement (Reuters, 27 Apr 2026), Reuters (SLB, 19 Aug 2026), UBS. Exports include refined products; the drawdown estimate is before netting domestic consumption, so it is a floor.</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5096" cy="219456"/>
          </a:xfrm>
          <a:prstGeom prst="rect">
            <a:avLst/>
          </a:prstGeom>
          <a:noFill/>
          <a:ln/>
        </p:spPr>
        <p:txBody>
          <a:bodyPr wrap="square" lIns="0" tIns="0" rIns="0" bIns="0" rtlCol="0" anchor="ctr"/>
          <a:lstStyle/>
          <a:p>
            <a:pPr indent="0" marL="0">
              <a:buNone/>
            </a:pPr>
            <a:r>
              <a:rPr lang="en-US" sz="1000" b="1" spc="140" kern="0" dirty="0">
                <a:solidFill>
                  <a:srgbClr val="EC0016"/>
                </a:solidFill>
                <a:latin typeface="Arial" pitchFamily="34" charset="0"/>
                <a:ea typeface="Arial" pitchFamily="34" charset="-122"/>
                <a:cs typeface="Arial" pitchFamily="34" charset="-120"/>
              </a:rPr>
              <a:t>THE 28 AUGUST ANNOUNCEMENT  ·  65 BILLION BARRELS</a:t>
            </a:r>
            <a:endParaRPr lang="en-US" sz="1000" dirty="0"/>
          </a:p>
        </p:txBody>
      </p:sp>
      <p:sp>
        <p:nvSpPr>
          <p:cNvPr id="3" name="Text 1"/>
          <p:cNvSpPr txBox="1"/>
          <p:nvPr/>
        </p:nvSpPr>
        <p:spPr>
          <a:xfrm>
            <a:off x="566928" y="566928"/>
            <a:ext cx="11055096" cy="822960"/>
          </a:xfrm>
          <a:prstGeom prst="rect">
            <a:avLst/>
          </a:prstGeom>
          <a:noFill/>
          <a:ln/>
        </p:spPr>
        <p:txBody>
          <a:bodyPr wrap="square" lIns="0" tIns="0" rIns="0" bIns="0" rtlCol="0" anchor="t"/>
          <a:lstStyle/>
          <a:p>
            <a:pPr indent="0" marL="0">
              <a:buNone/>
            </a:pPr>
            <a:r>
              <a:rPr lang="en-US" sz="2200" b="1" dirty="0">
                <a:solidFill>
                  <a:srgbClr val="000000"/>
                </a:solidFill>
                <a:latin typeface="Arial" pitchFamily="34" charset="0"/>
                <a:ea typeface="Arial" pitchFamily="34" charset="-122"/>
                <a:cs typeface="Arial" pitchFamily="34" charset="-120"/>
              </a:rPr>
              <a:t>65bn barrels is one-fifth of Venezuela’s reserve book — and the deal’s own arithmetic lifts only a sixth of that in 25 years</a:t>
            </a:r>
            <a:endParaRPr lang="en-US" sz="2200" dirty="0"/>
          </a:p>
        </p:txBody>
      </p:sp>
      <p:sp>
        <p:nvSpPr>
          <p:cNvPr id="4" name="Text 2"/>
          <p:cNvSpPr txBox="1"/>
          <p:nvPr/>
        </p:nvSpPr>
        <p:spPr>
          <a:xfrm>
            <a:off x="11164824" y="6473952"/>
            <a:ext cx="457200"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2</a:t>
            </a:r>
            <a:endParaRPr lang="en-US" sz="800" dirty="0"/>
          </a:p>
        </p:txBody>
      </p:sp>
      <p:sp>
        <p:nvSpPr>
          <p:cNvPr id="5" name="Text 3"/>
          <p:cNvSpPr txBox="1"/>
          <p:nvPr/>
        </p:nvSpPr>
        <p:spPr>
          <a:xfrm>
            <a:off x="566928" y="1481328"/>
            <a:ext cx="6126480" cy="237744"/>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From reserve book to liftable barrels, billion barrels</a:t>
            </a:r>
            <a:endParaRPr lang="en-US" sz="1150" dirty="0"/>
          </a:p>
        </p:txBody>
      </p:sp>
      <p:graphicFrame>
        <p:nvGraphicFramePr>
          <p:cNvPr id="6" name="Chart 0" descr=""/>
          <p:cNvGraphicFramePr/>
          <p:nvPr/>
        </p:nvGraphicFramePr>
        <p:xfrm>
          <a:off x="566928" y="1755648"/>
          <a:ext cx="6126480" cy="2834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66928" y="4709160"/>
            <a:ext cx="1920240" cy="530352"/>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$4.4trn</a:t>
            </a:r>
            <a:endParaRPr lang="en-US" sz="3000" dirty="0"/>
          </a:p>
        </p:txBody>
      </p:sp>
      <p:sp>
        <p:nvSpPr>
          <p:cNvPr id="8" name="Text 5"/>
          <p:cNvSpPr txBox="1"/>
          <p:nvPr/>
        </p:nvSpPr>
        <p:spPr>
          <a:xfrm>
            <a:off x="566928" y="5239512"/>
            <a:ext cx="1920240" cy="201168"/>
          </a:xfrm>
          <a:prstGeom prst="rect">
            <a:avLst/>
          </a:prstGeom>
          <a:noFill/>
          <a:ln/>
        </p:spPr>
        <p:txBody>
          <a:bodyPr wrap="square" lIns="0" tIns="0" rIns="0" bIns="0" rtlCol="0" anchor="ctr"/>
          <a:lstStyle/>
          <a:p>
            <a:pPr indent="0" marL="0">
              <a:buNone/>
            </a:pPr>
            <a:r>
              <a:rPr lang="en-US" sz="850" b="1" spc="80" kern="0" dirty="0">
                <a:solidFill>
                  <a:srgbClr val="EC0016"/>
                </a:solidFill>
                <a:latin typeface="Arial" pitchFamily="34" charset="0"/>
                <a:ea typeface="Arial" pitchFamily="34" charset="-122"/>
                <a:cs typeface="Arial" pitchFamily="34" charset="-120"/>
              </a:rPr>
              <a:t>IN-GROUND HEADLINE</a:t>
            </a:r>
            <a:endParaRPr lang="en-US" sz="850" dirty="0"/>
          </a:p>
        </p:txBody>
      </p:sp>
      <p:sp>
        <p:nvSpPr>
          <p:cNvPr id="9" name="Text 6"/>
          <p:cNvSpPr txBox="1"/>
          <p:nvPr/>
        </p:nvSpPr>
        <p:spPr>
          <a:xfrm>
            <a:off x="566928" y="5458968"/>
            <a:ext cx="1920240" cy="640080"/>
          </a:xfrm>
          <a:prstGeom prst="rect">
            <a:avLst/>
          </a:prstGeom>
          <a:noFill/>
          <a:ln/>
        </p:spPr>
        <p:txBody>
          <a:bodyPr wrap="square" lIns="0" tIns="0" rIns="0" bIns="0" rtlCol="0" anchor="t"/>
          <a:lstStyle/>
          <a:p>
            <a:pPr indent="0" marL="0">
              <a:lnSpc>
                <a:spcPts val="1250"/>
              </a:lnSpc>
              <a:buNone/>
            </a:pPr>
            <a:r>
              <a:rPr lang="en-US" sz="1000" dirty="0">
                <a:solidFill>
                  <a:srgbClr val="4C4C4C"/>
                </a:solidFill>
                <a:latin typeface="Arial" pitchFamily="34" charset="0"/>
                <a:ea typeface="Arial" pitchFamily="34" charset="-122"/>
                <a:cs typeface="Arial" pitchFamily="34" charset="-120"/>
              </a:rPr>
              <a:t>65bn bbl × $67 Merey (Jul-26 avg). A stock, not a cash flow.</a:t>
            </a:r>
            <a:endParaRPr lang="en-US" sz="1000" dirty="0"/>
          </a:p>
        </p:txBody>
      </p:sp>
      <p:sp>
        <p:nvSpPr>
          <p:cNvPr id="10" name="Text 7"/>
          <p:cNvSpPr txBox="1"/>
          <p:nvPr/>
        </p:nvSpPr>
        <p:spPr>
          <a:xfrm>
            <a:off x="2670048" y="4709160"/>
            <a:ext cx="1920240" cy="530352"/>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$0.9trn</a:t>
            </a:r>
            <a:endParaRPr lang="en-US" sz="3000" dirty="0"/>
          </a:p>
        </p:txBody>
      </p:sp>
      <p:sp>
        <p:nvSpPr>
          <p:cNvPr id="11" name="Text 8"/>
          <p:cNvSpPr txBox="1"/>
          <p:nvPr/>
        </p:nvSpPr>
        <p:spPr>
          <a:xfrm>
            <a:off x="2670048" y="5239512"/>
            <a:ext cx="1920240" cy="201168"/>
          </a:xfrm>
          <a:prstGeom prst="rect">
            <a:avLst/>
          </a:prstGeom>
          <a:noFill/>
          <a:ln/>
        </p:spPr>
        <p:txBody>
          <a:bodyPr wrap="square" lIns="0" tIns="0" rIns="0" bIns="0" rtlCol="0" anchor="ctr"/>
          <a:lstStyle/>
          <a:p>
            <a:pPr indent="0" marL="0">
              <a:buNone/>
            </a:pPr>
            <a:r>
              <a:rPr lang="en-US" sz="850" b="1" spc="80" kern="0" dirty="0">
                <a:solidFill>
                  <a:srgbClr val="EC0016"/>
                </a:solidFill>
                <a:latin typeface="Arial" pitchFamily="34" charset="0"/>
                <a:ea typeface="Arial" pitchFamily="34" charset="-122"/>
                <a:cs typeface="Arial" pitchFamily="34" charset="-120"/>
              </a:rPr>
              <a:t>25-YEAR GROSS AT TARGET</a:t>
            </a:r>
            <a:endParaRPr lang="en-US" sz="850" dirty="0"/>
          </a:p>
        </p:txBody>
      </p:sp>
      <p:sp>
        <p:nvSpPr>
          <p:cNvPr id="12" name="Text 9"/>
          <p:cNvSpPr txBox="1"/>
          <p:nvPr/>
        </p:nvSpPr>
        <p:spPr>
          <a:xfrm>
            <a:off x="2670048" y="5458968"/>
            <a:ext cx="1920240" cy="640080"/>
          </a:xfrm>
          <a:prstGeom prst="rect">
            <a:avLst/>
          </a:prstGeom>
          <a:noFill/>
          <a:ln/>
        </p:spPr>
        <p:txBody>
          <a:bodyPr wrap="square" lIns="0" tIns="0" rIns="0" bIns="0" rtlCol="0" anchor="t"/>
          <a:lstStyle/>
          <a:p>
            <a:pPr indent="0" marL="0">
              <a:lnSpc>
                <a:spcPts val="1250"/>
              </a:lnSpc>
              <a:buNone/>
            </a:pPr>
            <a:r>
              <a:rPr lang="en-US" sz="1000" dirty="0">
                <a:solidFill>
                  <a:srgbClr val="4C4C4C"/>
                </a:solidFill>
                <a:latin typeface="Arial" pitchFamily="34" charset="0"/>
                <a:ea typeface="Arial" pitchFamily="34" charset="-122"/>
                <a:cs typeface="Arial" pitchFamily="34" charset="-120"/>
              </a:rPr>
              <a:t>13.7bn bbl × $67 ≈ $37bn/yr, before diluent, royalty (≤30%), tax (≤15%) and $100bn capex.</a:t>
            </a:r>
            <a:endParaRPr lang="en-US" sz="1000" dirty="0"/>
          </a:p>
        </p:txBody>
      </p:sp>
      <p:sp>
        <p:nvSpPr>
          <p:cNvPr id="13" name="Text 10"/>
          <p:cNvSpPr txBox="1"/>
          <p:nvPr/>
        </p:nvSpPr>
        <p:spPr>
          <a:xfrm>
            <a:off x="4773168" y="4709160"/>
            <a:ext cx="1920240" cy="530352"/>
          </a:xfrm>
          <a:prstGeom prst="rect">
            <a:avLst/>
          </a:prstGeom>
          <a:noFill/>
          <a:ln/>
        </p:spPr>
        <p:txBody>
          <a:bodyPr wrap="square" lIns="0" tIns="0" rIns="0" bIns="0" rtlCol="0" anchor="ctr"/>
          <a:lstStyle/>
          <a:p>
            <a:pPr indent="0" marL="0">
              <a:buNone/>
            </a:pPr>
            <a:r>
              <a:rPr lang="en-US" sz="3000" b="1" dirty="0">
                <a:solidFill>
                  <a:srgbClr val="EC0016"/>
                </a:solidFill>
                <a:latin typeface="Arial" pitchFamily="34" charset="0"/>
                <a:ea typeface="Arial" pitchFamily="34" charset="-122"/>
                <a:cs typeface="Arial" pitchFamily="34" charset="-120"/>
              </a:rPr>
              <a:t>119 yrs</a:t>
            </a:r>
            <a:endParaRPr lang="en-US" sz="3000" dirty="0"/>
          </a:p>
        </p:txBody>
      </p:sp>
      <p:sp>
        <p:nvSpPr>
          <p:cNvPr id="14" name="Text 11"/>
          <p:cNvSpPr txBox="1"/>
          <p:nvPr/>
        </p:nvSpPr>
        <p:spPr>
          <a:xfrm>
            <a:off x="4773168" y="5239512"/>
            <a:ext cx="1920240" cy="201168"/>
          </a:xfrm>
          <a:prstGeom prst="rect">
            <a:avLst/>
          </a:prstGeom>
          <a:noFill/>
          <a:ln/>
        </p:spPr>
        <p:txBody>
          <a:bodyPr wrap="square" lIns="0" tIns="0" rIns="0" bIns="0" rtlCol="0" anchor="ctr"/>
          <a:lstStyle/>
          <a:p>
            <a:pPr indent="0" marL="0">
              <a:buNone/>
            </a:pPr>
            <a:r>
              <a:rPr lang="en-US" sz="850" b="1" spc="80" kern="0" dirty="0">
                <a:solidFill>
                  <a:srgbClr val="EC0016"/>
                </a:solidFill>
                <a:latin typeface="Arial" pitchFamily="34" charset="0"/>
                <a:ea typeface="Arial" pitchFamily="34" charset="-122"/>
                <a:cs typeface="Arial" pitchFamily="34" charset="-120"/>
              </a:rPr>
              <a:t>TO LIFT 65BN AT 1.5 MB/D</a:t>
            </a:r>
            <a:endParaRPr lang="en-US" sz="850" dirty="0"/>
          </a:p>
        </p:txBody>
      </p:sp>
      <p:sp>
        <p:nvSpPr>
          <p:cNvPr id="15" name="Text 12"/>
          <p:cNvSpPr txBox="1"/>
          <p:nvPr/>
        </p:nvSpPr>
        <p:spPr>
          <a:xfrm>
            <a:off x="4773168" y="5458968"/>
            <a:ext cx="1920240" cy="640080"/>
          </a:xfrm>
          <a:prstGeom prst="rect">
            <a:avLst/>
          </a:prstGeom>
          <a:noFill/>
          <a:ln/>
        </p:spPr>
        <p:txBody>
          <a:bodyPr wrap="square" lIns="0" tIns="0" rIns="0" bIns="0" rtlCol="0" anchor="t"/>
          <a:lstStyle/>
          <a:p>
            <a:pPr indent="0" marL="0">
              <a:lnSpc>
                <a:spcPts val="1250"/>
              </a:lnSpc>
              <a:buNone/>
            </a:pPr>
            <a:r>
              <a:rPr lang="en-US" sz="1000" dirty="0">
                <a:solidFill>
                  <a:srgbClr val="4C4C4C"/>
                </a:solidFill>
                <a:latin typeface="Arial" pitchFamily="34" charset="0"/>
                <a:ea typeface="Arial" pitchFamily="34" charset="-122"/>
                <a:cs typeface="Arial" pitchFamily="34" charset="-120"/>
              </a:rPr>
              <a:t>Why Caracas says 25 years and Washington 100: most barrels stay in the ground either way.</a:t>
            </a:r>
            <a:endParaRPr lang="en-US" sz="1000" dirty="0"/>
          </a:p>
        </p:txBody>
      </p:sp>
      <p:sp>
        <p:nvSpPr>
          <p:cNvPr id="16" name="Shape 13"/>
          <p:cNvSpPr/>
          <p:nvPr/>
        </p:nvSpPr>
        <p:spPr>
          <a:xfrm>
            <a:off x="7059168" y="1481328"/>
            <a:ext cx="4562856" cy="4754880"/>
          </a:xfrm>
          <a:prstGeom prst="rect">
            <a:avLst/>
          </a:prstGeom>
          <a:solidFill>
            <a:srgbClr val="F2F2F2"/>
          </a:solidFill>
          <a:ln w="12700">
            <a:solidFill>
              <a:srgbClr val="F2F2F2"/>
            </a:solidFill>
            <a:prstDash val="solid"/>
          </a:ln>
        </p:spPr>
      </p:sp>
      <p:sp>
        <p:nvSpPr>
          <p:cNvPr id="17" name="Text 14"/>
          <p:cNvSpPr txBox="1"/>
          <p:nvPr/>
        </p:nvSpPr>
        <p:spPr>
          <a:xfrm>
            <a:off x="7315200" y="1664208"/>
            <a:ext cx="4050792" cy="274320"/>
          </a:xfrm>
          <a:prstGeom prst="rect">
            <a:avLst/>
          </a:prstGeom>
          <a:noFill/>
          <a:ln/>
        </p:spPr>
        <p:txBody>
          <a:bodyPr wrap="square" lIns="0" tIns="0" rIns="0" bIns="0" rtlCol="0" anchor="ctr"/>
          <a:lstStyle/>
          <a:p>
            <a:pPr indent="0" marL="0">
              <a:buNone/>
            </a:pPr>
            <a:r>
              <a:rPr lang="en-US" sz="1300" b="1" dirty="0">
                <a:solidFill>
                  <a:srgbClr val="EC0016"/>
                </a:solidFill>
                <a:latin typeface="Arial" pitchFamily="34" charset="0"/>
                <a:ea typeface="Arial" pitchFamily="34" charset="-122"/>
                <a:cs typeface="Arial" pitchFamily="34" charset="-120"/>
              </a:rPr>
              <a:t>Where the barrels get stuck</a:t>
            </a:r>
            <a:endParaRPr lang="en-US" sz="1300" dirty="0"/>
          </a:p>
        </p:txBody>
      </p:sp>
      <p:sp>
        <p:nvSpPr>
          <p:cNvPr id="18" name="Text 15"/>
          <p:cNvSpPr txBox="1"/>
          <p:nvPr/>
        </p:nvSpPr>
        <p:spPr>
          <a:xfrm>
            <a:off x="7315200" y="2048256"/>
            <a:ext cx="1143000" cy="640080"/>
          </a:xfrm>
          <a:prstGeom prst="rect">
            <a:avLst/>
          </a:prstGeom>
          <a:noFill/>
          <a:ln/>
        </p:spPr>
        <p:txBody>
          <a:bodyPr wrap="square" lIns="0" tIns="0" rIns="0" bIns="0" rtlCol="0" anchor="t"/>
          <a:lstStyle/>
          <a:p>
            <a:pPr indent="0" marL="0">
              <a:buNone/>
            </a:pPr>
            <a:r>
              <a:rPr lang="en-US" sz="1050" b="1" dirty="0">
                <a:solidFill>
                  <a:srgbClr val="000000"/>
                </a:solidFill>
                <a:latin typeface="Arial" pitchFamily="34" charset="0"/>
                <a:ea typeface="Arial" pitchFamily="34" charset="-122"/>
                <a:cs typeface="Arial" pitchFamily="34" charset="-120"/>
              </a:rPr>
              <a:t>Rigs</a:t>
            </a:r>
            <a:endParaRPr lang="en-US" sz="1050" dirty="0"/>
          </a:p>
        </p:txBody>
      </p:sp>
      <p:sp>
        <p:nvSpPr>
          <p:cNvPr id="19" name="Text 16"/>
          <p:cNvSpPr txBox="1"/>
          <p:nvPr/>
        </p:nvSpPr>
        <p:spPr>
          <a:xfrm>
            <a:off x="8476488" y="2048256"/>
            <a:ext cx="2889504" cy="658368"/>
          </a:xfrm>
          <a:prstGeom prst="rect">
            <a:avLst/>
          </a:prstGeom>
          <a:noFill/>
          <a:ln/>
        </p:spPr>
        <p:txBody>
          <a:bodyPr wrap="square" lIns="0" tIns="0" rIns="0" bIns="0" rtlCol="0" anchor="t"/>
          <a:lstStyle/>
          <a:p>
            <a:pPr indent="0" marL="0">
              <a:lnSpc>
                <a:spcPts val="1200"/>
              </a:lnSpc>
              <a:buNone/>
            </a:pPr>
            <a:r>
              <a:rPr lang="en-US" sz="950" dirty="0">
                <a:solidFill>
                  <a:srgbClr val="4C4C4C"/>
                </a:solidFill>
                <a:latin typeface="Arial" pitchFamily="34" charset="0"/>
                <a:ea typeface="Arial" pitchFamily="34" charset="-122"/>
                <a:cs typeface="Arial" pitchFamily="34" charset="-120"/>
              </a:rPr>
              <a:t>2 active (Baker Hughes, Jul-26) vs. 93 the oil ministry says it needs by 2028. SLB’s 15 idle rigs return only as contracts are signed.</a:t>
            </a:r>
            <a:endParaRPr lang="en-US" sz="950" dirty="0"/>
          </a:p>
        </p:txBody>
      </p:sp>
      <p:sp>
        <p:nvSpPr>
          <p:cNvPr id="20" name="Text 17"/>
          <p:cNvSpPr txBox="1"/>
          <p:nvPr/>
        </p:nvSpPr>
        <p:spPr>
          <a:xfrm>
            <a:off x="7315200" y="2734056"/>
            <a:ext cx="1143000" cy="640080"/>
          </a:xfrm>
          <a:prstGeom prst="rect">
            <a:avLst/>
          </a:prstGeom>
          <a:noFill/>
          <a:ln/>
        </p:spPr>
        <p:txBody>
          <a:bodyPr wrap="square" lIns="0" tIns="0" rIns="0" bIns="0" rtlCol="0" anchor="t"/>
          <a:lstStyle/>
          <a:p>
            <a:pPr indent="0" marL="0">
              <a:buNone/>
            </a:pPr>
            <a:r>
              <a:rPr lang="en-US" sz="1050" b="1" dirty="0">
                <a:solidFill>
                  <a:srgbClr val="000000"/>
                </a:solidFill>
                <a:latin typeface="Arial" pitchFamily="34" charset="0"/>
                <a:ea typeface="Arial" pitchFamily="34" charset="-122"/>
                <a:cs typeface="Arial" pitchFamily="34" charset="-120"/>
              </a:rPr>
              <a:t>Upgraders</a:t>
            </a:r>
            <a:endParaRPr lang="en-US" sz="1050" dirty="0"/>
          </a:p>
        </p:txBody>
      </p:sp>
      <p:sp>
        <p:nvSpPr>
          <p:cNvPr id="21" name="Text 18"/>
          <p:cNvSpPr txBox="1"/>
          <p:nvPr/>
        </p:nvSpPr>
        <p:spPr>
          <a:xfrm>
            <a:off x="8476488" y="2734056"/>
            <a:ext cx="2889504" cy="658368"/>
          </a:xfrm>
          <a:prstGeom prst="rect">
            <a:avLst/>
          </a:prstGeom>
          <a:noFill/>
          <a:ln/>
        </p:spPr>
        <p:txBody>
          <a:bodyPr wrap="square" lIns="0" tIns="0" rIns="0" bIns="0" rtlCol="0" anchor="t"/>
          <a:lstStyle/>
          <a:p>
            <a:pPr indent="0" marL="0">
              <a:lnSpc>
                <a:spcPts val="1200"/>
              </a:lnSpc>
              <a:buNone/>
            </a:pPr>
            <a:r>
              <a:rPr lang="en-US" sz="950" dirty="0">
                <a:solidFill>
                  <a:srgbClr val="4C4C4C"/>
                </a:solidFill>
                <a:latin typeface="Arial" pitchFamily="34" charset="0"/>
                <a:ea typeface="Arial" pitchFamily="34" charset="-122"/>
                <a:cs typeface="Arial" pitchFamily="34" charset="-120"/>
              </a:rPr>
              <a:t>Four 1990s-vintage Orinoco units, ~700 kb/d nameplate, running below that. Extra-heavy crude is unsaleable at scale without them.</a:t>
            </a:r>
            <a:endParaRPr lang="en-US" sz="950" dirty="0"/>
          </a:p>
        </p:txBody>
      </p:sp>
      <p:sp>
        <p:nvSpPr>
          <p:cNvPr id="22" name="Text 19"/>
          <p:cNvSpPr txBox="1"/>
          <p:nvPr/>
        </p:nvSpPr>
        <p:spPr>
          <a:xfrm>
            <a:off x="7315200" y="3419856"/>
            <a:ext cx="1143000" cy="640080"/>
          </a:xfrm>
          <a:prstGeom prst="rect">
            <a:avLst/>
          </a:prstGeom>
          <a:noFill/>
          <a:ln/>
        </p:spPr>
        <p:txBody>
          <a:bodyPr wrap="square" lIns="0" tIns="0" rIns="0" bIns="0" rtlCol="0" anchor="t"/>
          <a:lstStyle/>
          <a:p>
            <a:pPr indent="0" marL="0">
              <a:buNone/>
            </a:pPr>
            <a:r>
              <a:rPr lang="en-US" sz="1050" b="1" dirty="0">
                <a:solidFill>
                  <a:srgbClr val="000000"/>
                </a:solidFill>
                <a:latin typeface="Arial" pitchFamily="34" charset="0"/>
                <a:ea typeface="Arial" pitchFamily="34" charset="-122"/>
                <a:cs typeface="Arial" pitchFamily="34" charset="-120"/>
              </a:rPr>
              <a:t>Diluent</a:t>
            </a:r>
            <a:endParaRPr lang="en-US" sz="1050" dirty="0"/>
          </a:p>
        </p:txBody>
      </p:sp>
      <p:sp>
        <p:nvSpPr>
          <p:cNvPr id="23" name="Text 20"/>
          <p:cNvSpPr txBox="1"/>
          <p:nvPr/>
        </p:nvSpPr>
        <p:spPr>
          <a:xfrm>
            <a:off x="8476488" y="3419856"/>
            <a:ext cx="2889504" cy="658368"/>
          </a:xfrm>
          <a:prstGeom prst="rect">
            <a:avLst/>
          </a:prstGeom>
          <a:noFill/>
          <a:ln/>
        </p:spPr>
        <p:txBody>
          <a:bodyPr wrap="square" lIns="0" tIns="0" rIns="0" bIns="0" rtlCol="0" anchor="t"/>
          <a:lstStyle/>
          <a:p>
            <a:pPr indent="0" marL="0">
              <a:lnSpc>
                <a:spcPts val="1200"/>
              </a:lnSpc>
              <a:buNone/>
            </a:pPr>
            <a:r>
              <a:rPr lang="en-US" sz="950" dirty="0">
                <a:solidFill>
                  <a:srgbClr val="4C4C4C"/>
                </a:solidFill>
                <a:latin typeface="Arial" pitchFamily="34" charset="0"/>
                <a:ea typeface="Arial" pitchFamily="34" charset="-122"/>
                <a:cs typeface="Arial" pitchFamily="34" charset="-120"/>
              </a:rPr>
              <a:t>Roughly 1 bbl of naphtha per 3–4 bbl of extra-heavy oil; 81 kb/d imported in July. Every incremental Orinoco barrel needs an import barrel.</a:t>
            </a:r>
            <a:endParaRPr lang="en-US" sz="950" dirty="0"/>
          </a:p>
        </p:txBody>
      </p:sp>
      <p:sp>
        <p:nvSpPr>
          <p:cNvPr id="24" name="Text 21"/>
          <p:cNvSpPr txBox="1"/>
          <p:nvPr/>
        </p:nvSpPr>
        <p:spPr>
          <a:xfrm>
            <a:off x="7315200" y="4105656"/>
            <a:ext cx="1143000" cy="640080"/>
          </a:xfrm>
          <a:prstGeom prst="rect">
            <a:avLst/>
          </a:prstGeom>
          <a:noFill/>
          <a:ln/>
        </p:spPr>
        <p:txBody>
          <a:bodyPr wrap="square" lIns="0" tIns="0" rIns="0" bIns="0" rtlCol="0" anchor="t"/>
          <a:lstStyle/>
          <a:p>
            <a:pPr indent="0" marL="0">
              <a:buNone/>
            </a:pPr>
            <a:r>
              <a:rPr lang="en-US" sz="1050" b="1" dirty="0">
                <a:solidFill>
                  <a:srgbClr val="000000"/>
                </a:solidFill>
                <a:latin typeface="Arial" pitchFamily="34" charset="0"/>
                <a:ea typeface="Arial" pitchFamily="34" charset="-122"/>
                <a:cs typeface="Arial" pitchFamily="34" charset="-120"/>
              </a:rPr>
              <a:t>Terminals &amp; power</a:t>
            </a:r>
            <a:endParaRPr lang="en-US" sz="1050" dirty="0"/>
          </a:p>
        </p:txBody>
      </p:sp>
      <p:sp>
        <p:nvSpPr>
          <p:cNvPr id="25" name="Text 22"/>
          <p:cNvSpPr txBox="1"/>
          <p:nvPr/>
        </p:nvSpPr>
        <p:spPr>
          <a:xfrm>
            <a:off x="8476488" y="4105656"/>
            <a:ext cx="2889504" cy="658368"/>
          </a:xfrm>
          <a:prstGeom prst="rect">
            <a:avLst/>
          </a:prstGeom>
          <a:noFill/>
          <a:ln/>
        </p:spPr>
        <p:txBody>
          <a:bodyPr wrap="square" lIns="0" tIns="0" rIns="0" bIns="0" rtlCol="0" anchor="t"/>
          <a:lstStyle/>
          <a:p>
            <a:pPr indent="0" marL="0">
              <a:lnSpc>
                <a:spcPts val="1200"/>
              </a:lnSpc>
              <a:buNone/>
            </a:pPr>
            <a:r>
              <a:rPr lang="en-US" sz="950" dirty="0">
                <a:solidFill>
                  <a:srgbClr val="4C4C4C"/>
                </a:solidFill>
                <a:latin typeface="Arial" pitchFamily="34" charset="0"/>
                <a:ea typeface="Arial" pitchFamily="34" charset="-122"/>
                <a:cs typeface="Arial" pitchFamily="34" charset="-120"/>
              </a:rPr>
              <a:t>Tankers waiting up to 30 days to load at Jose; recurring grid failures at ports (Lipow Oil Associates).</a:t>
            </a:r>
            <a:endParaRPr lang="en-US" sz="950" dirty="0"/>
          </a:p>
        </p:txBody>
      </p:sp>
      <p:sp>
        <p:nvSpPr>
          <p:cNvPr id="26" name="Text 23"/>
          <p:cNvSpPr txBox="1"/>
          <p:nvPr/>
        </p:nvSpPr>
        <p:spPr>
          <a:xfrm>
            <a:off x="7315200" y="4791456"/>
            <a:ext cx="1143000" cy="640080"/>
          </a:xfrm>
          <a:prstGeom prst="rect">
            <a:avLst/>
          </a:prstGeom>
          <a:noFill/>
          <a:ln/>
        </p:spPr>
        <p:txBody>
          <a:bodyPr wrap="square" lIns="0" tIns="0" rIns="0" bIns="0" rtlCol="0" anchor="t"/>
          <a:lstStyle/>
          <a:p>
            <a:pPr indent="0" marL="0">
              <a:buNone/>
            </a:pPr>
            <a:r>
              <a:rPr lang="en-US" sz="1050" b="1" dirty="0">
                <a:solidFill>
                  <a:srgbClr val="000000"/>
                </a:solidFill>
                <a:latin typeface="Arial" pitchFamily="34" charset="0"/>
                <a:ea typeface="Arial" pitchFamily="34" charset="-122"/>
                <a:cs typeface="Arial" pitchFamily="34" charset="-120"/>
              </a:rPr>
              <a:t>Greenfield</a:t>
            </a:r>
            <a:endParaRPr lang="en-US" sz="1050" dirty="0"/>
          </a:p>
        </p:txBody>
      </p:sp>
      <p:sp>
        <p:nvSpPr>
          <p:cNvPr id="27" name="Text 24"/>
          <p:cNvSpPr txBox="1"/>
          <p:nvPr/>
        </p:nvSpPr>
        <p:spPr>
          <a:xfrm>
            <a:off x="8476488" y="4791456"/>
            <a:ext cx="2889504" cy="658368"/>
          </a:xfrm>
          <a:prstGeom prst="rect">
            <a:avLst/>
          </a:prstGeom>
          <a:noFill/>
          <a:ln/>
        </p:spPr>
        <p:txBody>
          <a:bodyPr wrap="square" lIns="0" tIns="0" rIns="0" bIns="0" rtlCol="0" anchor="t"/>
          <a:lstStyle/>
          <a:p>
            <a:pPr indent="0" marL="0">
              <a:lnSpc>
                <a:spcPts val="1200"/>
              </a:lnSpc>
              <a:buNone/>
            </a:pPr>
            <a:r>
              <a:rPr lang="en-US" sz="950" dirty="0">
                <a:solidFill>
                  <a:srgbClr val="4C4C4C"/>
                </a:solidFill>
                <a:latin typeface="Arial" pitchFamily="34" charset="0"/>
                <a:ea typeface="Arial" pitchFamily="34" charset="-122"/>
                <a:cs typeface="Arial" pitchFamily="34" charset="-120"/>
              </a:rPr>
              <a:t>8 of the 17 blocks are greenfield per Rodríguez. Her own target (&gt;1.5 mb/d) is a late-2020s to 2030s outcome.</a:t>
            </a:r>
            <a:endParaRPr lang="en-US" sz="950" dirty="0"/>
          </a:p>
        </p:txBody>
      </p:sp>
      <p:sp>
        <p:nvSpPr>
          <p:cNvPr id="28" name="Text 25"/>
          <p:cNvSpPr txBox="1"/>
          <p:nvPr/>
        </p:nvSpPr>
        <p:spPr>
          <a:xfrm>
            <a:off x="7315200" y="5477256"/>
            <a:ext cx="1143000" cy="640080"/>
          </a:xfrm>
          <a:prstGeom prst="rect">
            <a:avLst/>
          </a:prstGeom>
          <a:noFill/>
          <a:ln/>
        </p:spPr>
        <p:txBody>
          <a:bodyPr wrap="square" lIns="0" tIns="0" rIns="0" bIns="0" rtlCol="0" anchor="t"/>
          <a:lstStyle/>
          <a:p>
            <a:pPr indent="0" marL="0">
              <a:buNone/>
            </a:pPr>
            <a:r>
              <a:rPr lang="en-US" sz="1050" b="1" dirty="0">
                <a:solidFill>
                  <a:srgbClr val="000000"/>
                </a:solidFill>
                <a:latin typeface="Arial" pitchFamily="34" charset="0"/>
                <a:ea typeface="Arial" pitchFamily="34" charset="-122"/>
                <a:cs typeface="Arial" pitchFamily="34" charset="-120"/>
              </a:rPr>
              <a:t>Financing</a:t>
            </a:r>
            <a:endParaRPr lang="en-US" sz="1050" dirty="0"/>
          </a:p>
        </p:txBody>
      </p:sp>
      <p:sp>
        <p:nvSpPr>
          <p:cNvPr id="29" name="Text 26"/>
          <p:cNvSpPr txBox="1"/>
          <p:nvPr/>
        </p:nvSpPr>
        <p:spPr>
          <a:xfrm>
            <a:off x="8476488" y="5477256"/>
            <a:ext cx="2889504" cy="658368"/>
          </a:xfrm>
          <a:prstGeom prst="rect">
            <a:avLst/>
          </a:prstGeom>
          <a:noFill/>
          <a:ln/>
        </p:spPr>
        <p:txBody>
          <a:bodyPr wrap="square" lIns="0" tIns="0" rIns="0" bIns="0" rtlCol="0" anchor="t"/>
          <a:lstStyle/>
          <a:p>
            <a:pPr indent="0" marL="0">
              <a:lnSpc>
                <a:spcPts val="1200"/>
              </a:lnSpc>
              <a:buNone/>
            </a:pPr>
            <a:r>
              <a:rPr lang="en-US" sz="950" dirty="0">
                <a:solidFill>
                  <a:srgbClr val="4C4C4C"/>
                </a:solidFill>
                <a:latin typeface="Arial" pitchFamily="34" charset="0"/>
                <a:ea typeface="Arial" pitchFamily="34" charset="-122"/>
                <a:cs typeface="Arial" pitchFamily="34" charset="-120"/>
              </a:rPr>
              <a:t>$100bn is a stated objective. No sponsor, lender, ECA or fund had been identified as of 31 August.</a:t>
            </a:r>
            <a:endParaRPr lang="en-US" sz="950" dirty="0"/>
          </a:p>
        </p:txBody>
      </p:sp>
      <p:sp>
        <p:nvSpPr>
          <p:cNvPr id="30" name="Text 27"/>
          <p:cNvSpPr txBox="1"/>
          <p:nvPr/>
        </p:nvSpPr>
        <p:spPr>
          <a:xfrm>
            <a:off x="566928" y="6382512"/>
            <a:ext cx="10415016" cy="347472"/>
          </a:xfrm>
          <a:prstGeom prst="rect">
            <a:avLst/>
          </a:prstGeom>
          <a:noFill/>
          <a:ln/>
        </p:spPr>
        <p:txBody>
          <a:bodyPr wrap="square" lIns="0" tIns="0" rIns="0" bIns="0" rtlCol="0" anchor="b"/>
          <a:lstStyle/>
          <a:p>
            <a:pPr indent="0" marL="0">
              <a:buNone/>
            </a:pPr>
            <a:r>
              <a:rPr lang="en-US" sz="750" dirty="0">
                <a:solidFill>
                  <a:srgbClr val="8C8C8C"/>
                </a:solidFill>
                <a:latin typeface="Arial" pitchFamily="34" charset="0"/>
                <a:ea typeface="Arial" pitchFamily="34" charset="-122"/>
                <a:cs typeface="Arial" pitchFamily="34" charset="-120"/>
              </a:rPr>
              <a:t>Source: OPEC ASB / US EIA (303bn bbl proven, ~17% of world); Truth Social post and Rodríguez communiqué, 28 Aug 2026 (65bn bbl, 17 fields, &gt;$100bn investment, &gt;$209bn taxes); Reuters (63.7bn recoverable at ~20% recovery factor; eight greenfield Orinoco blocks); OPEC MOMR Aug-2026 (Merey $67.36/b, Jul-26 avg); F. Rodríguez ($209bn = $19/bbl); CFR 2019 (upgraders); Reuters (naphtha imports, rigs); CNBC/Lipow (terminals); UBS. Arithmetic: 1.5 mb/d × 365 × 25 = 13.7bn; $209bn ÷ $19 = 11.0bn; 65 ÷ 13.7 = 119 years.</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5096" cy="219456"/>
          </a:xfrm>
          <a:prstGeom prst="rect">
            <a:avLst/>
          </a:prstGeom>
          <a:noFill/>
          <a:ln/>
        </p:spPr>
        <p:txBody>
          <a:bodyPr wrap="square" lIns="0" tIns="0" rIns="0" bIns="0" rtlCol="0" anchor="ctr"/>
          <a:lstStyle/>
          <a:p>
            <a:pPr indent="0" marL="0">
              <a:buNone/>
            </a:pPr>
            <a:r>
              <a:rPr lang="en-US" sz="1000" b="1" spc="140" kern="0" dirty="0">
                <a:solidFill>
                  <a:srgbClr val="EC0016"/>
                </a:solidFill>
                <a:latin typeface="Arial" pitchFamily="34" charset="0"/>
                <a:ea typeface="Arial" pitchFamily="34" charset="-122"/>
                <a:cs typeface="Arial" pitchFamily="34" charset="-120"/>
              </a:rPr>
              <a:t>WHY ANNOUNCEMENTS ARE NOT SUPPLY</a:t>
            </a:r>
            <a:endParaRPr lang="en-US" sz="1000" dirty="0"/>
          </a:p>
        </p:txBody>
      </p:sp>
      <p:sp>
        <p:nvSpPr>
          <p:cNvPr id="3" name="Text 1"/>
          <p:cNvSpPr txBox="1"/>
          <p:nvPr/>
        </p:nvSpPr>
        <p:spPr>
          <a:xfrm>
            <a:off x="566928" y="566928"/>
            <a:ext cx="11055096" cy="822960"/>
          </a:xfrm>
          <a:prstGeom prst="rect">
            <a:avLst/>
          </a:prstGeom>
          <a:noFill/>
          <a:ln/>
        </p:spPr>
        <p:txBody>
          <a:bodyPr wrap="square" lIns="0" tIns="0" rIns="0" bIns="0" rtlCol="0" anchor="t"/>
          <a:lstStyle/>
          <a:p>
            <a:pPr indent="0" marL="0">
              <a:buNone/>
            </a:pPr>
            <a:r>
              <a:rPr lang="en-US" sz="2200" b="1" dirty="0">
                <a:solidFill>
                  <a:srgbClr val="000000"/>
                </a:solidFill>
                <a:latin typeface="Arial" pitchFamily="34" charset="0"/>
                <a:ea typeface="Arial" pitchFamily="34" charset="-122"/>
                <a:cs typeface="Arial" pitchFamily="34" charset="-120"/>
              </a:rPr>
              <a:t>Since 2005 Caracas has announced ~14 mb/d of production targets and delivered a decline of 1.9 mb/d</a:t>
            </a:r>
            <a:endParaRPr lang="en-US" sz="2200" dirty="0"/>
          </a:p>
        </p:txBody>
      </p:sp>
      <p:sp>
        <p:nvSpPr>
          <p:cNvPr id="4" name="Text 2"/>
          <p:cNvSpPr txBox="1"/>
          <p:nvPr/>
        </p:nvSpPr>
        <p:spPr>
          <a:xfrm>
            <a:off x="11164824" y="6473952"/>
            <a:ext cx="457200"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3</a:t>
            </a:r>
            <a:endParaRPr lang="en-US" sz="800" dirty="0"/>
          </a:p>
        </p:txBody>
      </p:sp>
      <p:sp>
        <p:nvSpPr>
          <p:cNvPr id="5" name="Text 3"/>
          <p:cNvSpPr txBox="1"/>
          <p:nvPr/>
        </p:nvSpPr>
        <p:spPr>
          <a:xfrm>
            <a:off x="566928" y="1481328"/>
            <a:ext cx="7589520" cy="237744"/>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Announced production targets vs. delivered crude output, million b/d</a:t>
            </a:r>
            <a:endParaRPr lang="en-US" sz="1150" dirty="0"/>
          </a:p>
        </p:txBody>
      </p:sp>
      <p:graphicFrame>
        <p:nvGraphicFramePr>
          <p:cNvPr id="6" name="Chart 0" descr=""/>
          <p:cNvGraphicFramePr/>
          <p:nvPr/>
        </p:nvGraphicFramePr>
        <p:xfrm>
          <a:off x="566928" y="1755648"/>
          <a:ext cx="7589520" cy="41148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8503920" y="1481328"/>
            <a:ext cx="3118104" cy="237744"/>
          </a:xfrm>
          <a:prstGeom prst="rect">
            <a:avLst/>
          </a:prstGeom>
          <a:noFill/>
          <a:ln/>
        </p:spPr>
        <p:txBody>
          <a:bodyPr wrap="square" lIns="0" tIns="0" rIns="0" bIns="0" rtlCol="0" anchor="ctr"/>
          <a:lstStyle/>
          <a:p>
            <a:pPr indent="0" marL="0">
              <a:buNone/>
            </a:pPr>
            <a:r>
              <a:rPr lang="en-US" sz="1150" b="1" dirty="0">
                <a:solidFill>
                  <a:srgbClr val="000000"/>
                </a:solidFill>
                <a:latin typeface="Arial" pitchFamily="34" charset="0"/>
                <a:ea typeface="Arial" pitchFamily="34" charset="-122"/>
                <a:cs typeface="Arial" pitchFamily="34" charset="-120"/>
              </a:rPr>
              <a:t>Scorecard: targets with a deadline</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503920" y="1783080"/>
          <a:ext cx="3118104" cy="914400"/>
        </p:xfrm>
        <a:graphic>
          <a:graphicData uri="http://schemas.openxmlformats.org/drawingml/2006/table">
            <a:tbl>
              <a:tblPr/>
              <a:tblGrid>
                <a:gridCol w="786384"/>
                <a:gridCol w="868680"/>
                <a:gridCol w="685800"/>
                <a:gridCol w="777240"/>
              </a:tblGrid>
              <a:tr h="274320">
                <a:tc>
                  <a:txBody>
                    <a:bodyPr/>
                    <a:lstStyle/>
                    <a:p>
                      <a:pPr indent="0" marL="0">
                        <a:buNone/>
                      </a:pPr>
                      <a:r>
                        <a:rPr lang="en-US" sz="850" b="1" dirty="0">
                          <a:solidFill>
                            <a:srgbClr val="4C4C4C"/>
                          </a:solidFill>
                          <a:latin typeface="Arial" pitchFamily="34" charset="0"/>
                          <a:ea typeface="Arial" pitchFamily="34" charset="-122"/>
                          <a:cs typeface="Arial" pitchFamily="34" charset="-120"/>
                        </a:rPr>
                        <a:t>Plan</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b="1" dirty="0">
                          <a:solidFill>
                            <a:srgbClr val="4C4C4C"/>
                          </a:solidFill>
                          <a:latin typeface="Arial" pitchFamily="34" charset="0"/>
                          <a:ea typeface="Arial" pitchFamily="34" charset="-122"/>
                          <a:cs typeface="Arial" pitchFamily="34" charset="-120"/>
                        </a:rPr>
                        <a:t>Target, mb/d</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b="1" dirty="0">
                          <a:solidFill>
                            <a:srgbClr val="4C4C4C"/>
                          </a:solidFill>
                          <a:latin typeface="Arial" pitchFamily="34" charset="0"/>
                          <a:ea typeface="Arial" pitchFamily="34" charset="-122"/>
                          <a:cs typeface="Arial" pitchFamily="34" charset="-120"/>
                        </a:rPr>
                        <a:t>Delivered</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b="1" dirty="0">
                          <a:solidFill>
                            <a:srgbClr val="4C4C4C"/>
                          </a:solidFill>
                          <a:latin typeface="Arial" pitchFamily="34" charset="0"/>
                          <a:ea typeface="Arial" pitchFamily="34" charset="-122"/>
                          <a:cs typeface="Arial" pitchFamily="34" charset="-120"/>
                        </a:rPr>
                        <a:t>% of target</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2005 plan</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dirty="0">
                          <a:solidFill>
                            <a:srgbClr val="4C4C4C"/>
                          </a:solidFill>
                          <a:latin typeface="Arial" pitchFamily="34" charset="0"/>
                          <a:ea typeface="Arial" pitchFamily="34" charset="-122"/>
                          <a:cs typeface="Arial" pitchFamily="34" charset="-120"/>
                        </a:rPr>
                        <a:t>5.84 by 2012</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dirty="0">
                          <a:solidFill>
                            <a:srgbClr val="4C4C4C"/>
                          </a:solidFill>
                          <a:latin typeface="Arial" pitchFamily="34" charset="0"/>
                          <a:ea typeface="Arial" pitchFamily="34" charset="-122"/>
                          <a:cs typeface="Arial" pitchFamily="34" charset="-120"/>
                        </a:rPr>
                        <a:t>2.50</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b="1" dirty="0">
                          <a:solidFill>
                            <a:srgbClr val="EC0016"/>
                          </a:solidFill>
                          <a:latin typeface="Arial" pitchFamily="34" charset="0"/>
                          <a:ea typeface="Arial" pitchFamily="34" charset="-122"/>
                          <a:cs typeface="Arial" pitchFamily="34" charset="-120"/>
                        </a:rPr>
                        <a:t>43%</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2013 plan</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dirty="0">
                          <a:solidFill>
                            <a:srgbClr val="4C4C4C"/>
                          </a:solidFill>
                          <a:latin typeface="Arial" pitchFamily="34" charset="0"/>
                          <a:ea typeface="Arial" pitchFamily="34" charset="-122"/>
                          <a:cs typeface="Arial" pitchFamily="34" charset="-120"/>
                        </a:rPr>
                        <a:t>6.0 by 2019</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dirty="0">
                          <a:solidFill>
                            <a:srgbClr val="4C4C4C"/>
                          </a:solidFill>
                          <a:latin typeface="Arial" pitchFamily="34" charset="0"/>
                          <a:ea typeface="Arial" pitchFamily="34" charset="-122"/>
                          <a:cs typeface="Arial" pitchFamily="34" charset="-120"/>
                        </a:rPr>
                        <a:t>0.88</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b="1" dirty="0">
                          <a:solidFill>
                            <a:srgbClr val="EC0016"/>
                          </a:solidFill>
                          <a:latin typeface="Arial" pitchFamily="34" charset="0"/>
                          <a:ea typeface="Arial" pitchFamily="34" charset="-122"/>
                          <a:cs typeface="Arial" pitchFamily="34" charset="-120"/>
                        </a:rPr>
                        <a:t>15%</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274320">
                <a:tc>
                  <a:txBody>
                    <a:bodyPr/>
                    <a:lstStyle/>
                    <a:p>
                      <a:pPr indent="0" marL="0">
                        <a:buNone/>
                      </a:pPr>
                      <a:r>
                        <a:rPr lang="en-US" sz="850" b="1" dirty="0">
                          <a:solidFill>
                            <a:srgbClr val="000000"/>
                          </a:solidFill>
                          <a:latin typeface="Arial" pitchFamily="34" charset="0"/>
                          <a:ea typeface="Arial" pitchFamily="34" charset="-122"/>
                          <a:cs typeface="Arial" pitchFamily="34" charset="-120"/>
                        </a:rPr>
                        <a:t>2022 pledge</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dirty="0">
                          <a:solidFill>
                            <a:srgbClr val="4C4C4C"/>
                          </a:solidFill>
                          <a:latin typeface="Arial" pitchFamily="34" charset="0"/>
                          <a:ea typeface="Arial" pitchFamily="34" charset="-122"/>
                          <a:cs typeface="Arial" pitchFamily="34" charset="-120"/>
                        </a:rPr>
                        <a:t>2.0 by end-22</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dirty="0">
                          <a:solidFill>
                            <a:srgbClr val="4C4C4C"/>
                          </a:solidFill>
                          <a:latin typeface="Arial" pitchFamily="34" charset="0"/>
                          <a:ea typeface="Arial" pitchFamily="34" charset="-122"/>
                          <a:cs typeface="Arial" pitchFamily="34" charset="-120"/>
                        </a:rPr>
                        <a:t>0.72</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50" b="1" dirty="0">
                          <a:solidFill>
                            <a:srgbClr val="EC0016"/>
                          </a:solidFill>
                          <a:latin typeface="Arial" pitchFamily="34" charset="0"/>
                          <a:ea typeface="Arial" pitchFamily="34" charset="-122"/>
                          <a:cs typeface="Arial" pitchFamily="34" charset="-120"/>
                        </a:rPr>
                        <a:t>36%</a:t>
                      </a:r>
                      <a:endParaRPr lang="en-US" sz="850" dirty="0">
                        <a:latin typeface="Arial" charset="0"/>
                        <a:ea typeface="Arial" charset="0"/>
                        <a:cs typeface="Arial" charset="0"/>
                      </a:endParaRPr>
                    </a:p>
                  </a:txBody>
                  <a:tcPr marL="36576" marR="36576" marT="36576" marB="36576"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9" name="Text 5"/>
          <p:cNvSpPr txBox="1"/>
          <p:nvPr/>
        </p:nvSpPr>
        <p:spPr>
          <a:xfrm>
            <a:off x="8503920" y="3154680"/>
            <a:ext cx="3118104" cy="530352"/>
          </a:xfrm>
          <a:prstGeom prst="rect">
            <a:avLst/>
          </a:prstGeom>
          <a:noFill/>
          <a:ln/>
        </p:spPr>
        <p:txBody>
          <a:bodyPr wrap="square" lIns="0" tIns="0" rIns="0" bIns="0" rtlCol="0" anchor="ctr"/>
          <a:lstStyle/>
          <a:p>
            <a:pPr indent="0" marL="0">
              <a:buNone/>
            </a:pPr>
            <a:r>
              <a:rPr lang="en-US" sz="3000" b="1" dirty="0">
                <a:solidFill>
                  <a:srgbClr val="EC0016"/>
                </a:solidFill>
                <a:latin typeface="Arial" pitchFamily="34" charset="0"/>
                <a:ea typeface="Arial" pitchFamily="34" charset="-122"/>
                <a:cs typeface="Arial" pitchFamily="34" charset="-120"/>
              </a:rPr>
              <a:t>0 of 3</a:t>
            </a:r>
            <a:endParaRPr lang="en-US" sz="3000" dirty="0"/>
          </a:p>
        </p:txBody>
      </p:sp>
      <p:sp>
        <p:nvSpPr>
          <p:cNvPr id="10" name="Text 6"/>
          <p:cNvSpPr txBox="1"/>
          <p:nvPr/>
        </p:nvSpPr>
        <p:spPr>
          <a:xfrm>
            <a:off x="8503920" y="3685032"/>
            <a:ext cx="3118104" cy="201168"/>
          </a:xfrm>
          <a:prstGeom prst="rect">
            <a:avLst/>
          </a:prstGeom>
          <a:noFill/>
          <a:ln/>
        </p:spPr>
        <p:txBody>
          <a:bodyPr wrap="square" lIns="0" tIns="0" rIns="0" bIns="0" rtlCol="0" anchor="ctr"/>
          <a:lstStyle/>
          <a:p>
            <a:pPr indent="0" marL="0">
              <a:buNone/>
            </a:pPr>
            <a:r>
              <a:rPr lang="en-US" sz="850" b="1" spc="80" kern="0" dirty="0">
                <a:solidFill>
                  <a:srgbClr val="EC0016"/>
                </a:solidFill>
                <a:latin typeface="Arial" pitchFamily="34" charset="0"/>
                <a:ea typeface="Arial" pitchFamily="34" charset="-122"/>
                <a:cs typeface="Arial" pitchFamily="34" charset="-120"/>
              </a:rPr>
              <a:t>DEADLINE TARGETS MET SINCE 2005</a:t>
            </a:r>
            <a:endParaRPr lang="en-US" sz="850" dirty="0"/>
          </a:p>
        </p:txBody>
      </p:sp>
      <p:sp>
        <p:nvSpPr>
          <p:cNvPr id="11" name="Text 7"/>
          <p:cNvSpPr txBox="1"/>
          <p:nvPr/>
        </p:nvSpPr>
        <p:spPr>
          <a:xfrm>
            <a:off x="8503920" y="3904488"/>
            <a:ext cx="3118104" cy="868680"/>
          </a:xfrm>
          <a:prstGeom prst="rect">
            <a:avLst/>
          </a:prstGeom>
          <a:noFill/>
          <a:ln/>
        </p:spPr>
        <p:txBody>
          <a:bodyPr wrap="square" lIns="0" tIns="0" rIns="0" bIns="0" rtlCol="0" anchor="t"/>
          <a:lstStyle/>
          <a:p>
            <a:pPr indent="0" marL="0">
              <a:lnSpc>
                <a:spcPts val="1250"/>
              </a:lnSpc>
              <a:buNone/>
            </a:pPr>
            <a:r>
              <a:rPr lang="en-US" sz="1000" dirty="0">
                <a:solidFill>
                  <a:srgbClr val="4C4C4C"/>
                </a:solidFill>
                <a:latin typeface="Arial" pitchFamily="34" charset="0"/>
                <a:ea typeface="Arial" pitchFamily="34" charset="-122"/>
                <a:cs typeface="Arial" pitchFamily="34" charset="-120"/>
              </a:rPr>
              <a:t>Every plan was announced with a reserve number, an investment number and a date. Output was lower at each deadline than at the announcement.</a:t>
            </a:r>
            <a:endParaRPr lang="en-US" sz="1000" dirty="0"/>
          </a:p>
        </p:txBody>
      </p:sp>
      <p:sp>
        <p:nvSpPr>
          <p:cNvPr id="12" name="Text 8"/>
          <p:cNvSpPr txBox="1"/>
          <p:nvPr/>
        </p:nvSpPr>
        <p:spPr>
          <a:xfrm>
            <a:off x="8503920" y="4663440"/>
            <a:ext cx="3118104" cy="530352"/>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1.5 mb/d</a:t>
            </a:r>
            <a:endParaRPr lang="en-US" sz="3000" dirty="0"/>
          </a:p>
        </p:txBody>
      </p:sp>
      <p:sp>
        <p:nvSpPr>
          <p:cNvPr id="13" name="Text 9"/>
          <p:cNvSpPr txBox="1"/>
          <p:nvPr/>
        </p:nvSpPr>
        <p:spPr>
          <a:xfrm>
            <a:off x="8503920" y="5193792"/>
            <a:ext cx="3118104" cy="201168"/>
          </a:xfrm>
          <a:prstGeom prst="rect">
            <a:avLst/>
          </a:prstGeom>
          <a:noFill/>
          <a:ln/>
        </p:spPr>
        <p:txBody>
          <a:bodyPr wrap="square" lIns="0" tIns="0" rIns="0" bIns="0" rtlCol="0" anchor="ctr"/>
          <a:lstStyle/>
          <a:p>
            <a:pPr indent="0" marL="0">
              <a:buNone/>
            </a:pPr>
            <a:r>
              <a:rPr lang="en-US" sz="850" b="1" spc="80" kern="0" dirty="0">
                <a:solidFill>
                  <a:srgbClr val="EC0016"/>
                </a:solidFill>
                <a:latin typeface="Arial" pitchFamily="34" charset="0"/>
                <a:ea typeface="Arial" pitchFamily="34" charset="-122"/>
                <a:cs typeface="Arial" pitchFamily="34" charset="-120"/>
              </a:rPr>
              <a:t>THE NEW TARGET, UNDATED</a:t>
            </a:r>
            <a:endParaRPr lang="en-US" sz="850" dirty="0"/>
          </a:p>
        </p:txBody>
      </p:sp>
      <p:sp>
        <p:nvSpPr>
          <p:cNvPr id="14" name="Text 10"/>
          <p:cNvSpPr txBox="1"/>
          <p:nvPr/>
        </p:nvSpPr>
        <p:spPr>
          <a:xfrm>
            <a:off x="8503920" y="5413248"/>
            <a:ext cx="3118104" cy="1005840"/>
          </a:xfrm>
          <a:prstGeom prst="rect">
            <a:avLst/>
          </a:prstGeom>
          <a:noFill/>
          <a:ln/>
        </p:spPr>
        <p:txBody>
          <a:bodyPr wrap="square" lIns="0" tIns="0" rIns="0" bIns="0" rtlCol="0" anchor="t"/>
          <a:lstStyle/>
          <a:p>
            <a:pPr indent="0" marL="0">
              <a:lnSpc>
                <a:spcPts val="1250"/>
              </a:lnSpc>
              <a:buNone/>
            </a:pPr>
            <a:r>
              <a:rPr lang="en-US" sz="1000" dirty="0">
                <a:solidFill>
                  <a:srgbClr val="4C4C4C"/>
                </a:solidFill>
                <a:latin typeface="Arial" pitchFamily="34" charset="0"/>
                <a:ea typeface="Arial" pitchFamily="34" charset="-122"/>
                <a:cs typeface="Arial" pitchFamily="34" charset="-120"/>
              </a:rPr>
              <a:t>Would still be below the 1990s level and below 2016. Analysts told AP in January that 4 mb/d needs a decade and ~$100bn. The next test is small and checkable: PDVSA’s own +18% for 2026.</a:t>
            </a:r>
            <a:endParaRPr lang="en-US" sz="1000" dirty="0"/>
          </a:p>
        </p:txBody>
      </p:sp>
      <p:sp>
        <p:nvSpPr>
          <p:cNvPr id="15" name="Text 11"/>
          <p:cNvSpPr txBox="1"/>
          <p:nvPr/>
        </p:nvSpPr>
        <p:spPr>
          <a:xfrm>
            <a:off x="566928" y="6382512"/>
            <a:ext cx="10415016" cy="347472"/>
          </a:xfrm>
          <a:prstGeom prst="rect">
            <a:avLst/>
          </a:prstGeom>
          <a:noFill/>
          <a:ln/>
        </p:spPr>
        <p:txBody>
          <a:bodyPr wrap="square" lIns="0" tIns="0" rIns="0" bIns="0" rtlCol="0" anchor="b"/>
          <a:lstStyle/>
          <a:p>
            <a:pPr indent="0" marL="0">
              <a:buNone/>
            </a:pPr>
            <a:r>
              <a:rPr lang="en-US" sz="750" dirty="0">
                <a:solidFill>
                  <a:srgbClr val="8C8C8C"/>
                </a:solidFill>
                <a:latin typeface="Arial" pitchFamily="34" charset="0"/>
                <a:ea typeface="Arial" pitchFamily="34" charset="-122"/>
                <a:cs typeface="Arial" pitchFamily="34" charset="-120"/>
              </a:rPr>
              <a:t>Source: US EIA International Energy Statistics (annual crude output, 2005–2025); Baker Institute / F. Monaldi (Plan Siembra Petrolera 2005–2012 target 5.84 mb/d); PDVSA, Plan de la Patria oil goals (6 mb/d by 2019, of which 4 mb/d from the Orinoco Belt); EFE via Infobae (Maduro, Mar-2022: 2 mb/d by end-2022); AFP (PDVSA CEO H. Obregón, 24 Jan 2026: +18% in 2026); Rodríguez statement, 28–29 Aug 2026 (&gt;1.5 mb/d); AP (analysts: 4 mb/d in ~a decade, ~$100bn); UBS. Target segments are straight lines from the output level in the announcement year to the target; the 2026 deal has no stated date and is drawn to 2030 for illustration only.</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5096" cy="219456"/>
          </a:xfrm>
          <a:prstGeom prst="rect">
            <a:avLst/>
          </a:prstGeom>
          <a:noFill/>
          <a:ln/>
        </p:spPr>
        <p:txBody>
          <a:bodyPr wrap="square" lIns="0" tIns="0" rIns="0" bIns="0" rtlCol="0" anchor="ctr"/>
          <a:lstStyle/>
          <a:p>
            <a:pPr indent="0" marL="0">
              <a:buNone/>
            </a:pPr>
            <a:r>
              <a:rPr lang="en-US" sz="1000" b="1" spc="140" kern="0" dirty="0">
                <a:solidFill>
                  <a:srgbClr val="EC0016"/>
                </a:solidFill>
                <a:latin typeface="Arial" pitchFamily="34" charset="0"/>
                <a:ea typeface="Arial" pitchFamily="34" charset="-122"/>
                <a:cs typeface="Arial" pitchFamily="34" charset="-120"/>
              </a:rPr>
              <a:t>CONCLUSION  ·  WHAT CHANGES FOR THE ALLOCATION</a:t>
            </a:r>
            <a:endParaRPr lang="en-US" sz="1000" dirty="0"/>
          </a:p>
        </p:txBody>
      </p:sp>
      <p:sp>
        <p:nvSpPr>
          <p:cNvPr id="3" name="Text 1"/>
          <p:cNvSpPr txBox="1"/>
          <p:nvPr/>
        </p:nvSpPr>
        <p:spPr>
          <a:xfrm>
            <a:off x="566928" y="566928"/>
            <a:ext cx="11055096" cy="822960"/>
          </a:xfrm>
          <a:prstGeom prst="rect">
            <a:avLst/>
          </a:prstGeom>
          <a:noFill/>
          <a:ln/>
        </p:spPr>
        <p:txBody>
          <a:bodyPr wrap="square" lIns="0" tIns="0" rIns="0" bIns="0" rtlCol="0" anchor="t"/>
          <a:lstStyle/>
          <a:p>
            <a:pPr indent="0" marL="0">
              <a:buNone/>
            </a:pPr>
            <a:r>
              <a:rPr lang="en-US" sz="2200" b="1" dirty="0">
                <a:solidFill>
                  <a:srgbClr val="000000"/>
                </a:solidFill>
                <a:latin typeface="Arial" pitchFamily="34" charset="0"/>
                <a:ea typeface="Arial" pitchFamily="34" charset="-122"/>
                <a:cs typeface="Arial" pitchFamily="34" charset="-120"/>
              </a:rPr>
              <a:t>The announcements change nothing that oil capital prices: enforceable contracts, settled claims, rigs on the ground</a:t>
            </a:r>
            <a:endParaRPr lang="en-US" sz="2200" dirty="0"/>
          </a:p>
        </p:txBody>
      </p:sp>
      <p:sp>
        <p:nvSpPr>
          <p:cNvPr id="4" name="Text 2"/>
          <p:cNvSpPr txBox="1"/>
          <p:nvPr/>
        </p:nvSpPr>
        <p:spPr>
          <a:xfrm>
            <a:off x="11164824" y="6473952"/>
            <a:ext cx="457200" cy="201168"/>
          </a:xfrm>
          <a:prstGeom prst="rect">
            <a:avLst/>
          </a:prstGeom>
          <a:noFill/>
          <a:ln/>
        </p:spPr>
        <p:txBody>
          <a:bodyPr wrap="square" lIns="0" tIns="0" rIns="0" bIns="0" rtlCol="0" anchor="ctr"/>
          <a:lstStyle/>
          <a:p>
            <a:pPr algn="r" indent="0" marL="0">
              <a:buNone/>
            </a:pPr>
            <a:r>
              <a:rPr lang="en-US" sz="800" dirty="0">
                <a:solidFill>
                  <a:srgbClr val="8C8C8C"/>
                </a:solidFill>
                <a:latin typeface="Arial" pitchFamily="34" charset="0"/>
                <a:ea typeface="Arial" pitchFamily="34" charset="-122"/>
                <a:cs typeface="Arial" pitchFamily="34" charset="-120"/>
              </a:rPr>
              <a:t>4</a:t>
            </a:r>
            <a:endParaRPr lang="en-US" sz="800" dirty="0"/>
          </a:p>
        </p:txBody>
      </p:sp>
      <p:sp>
        <p:nvSpPr>
          <p:cNvPr id="5" name="Shape 3"/>
          <p:cNvSpPr/>
          <p:nvPr/>
        </p:nvSpPr>
        <p:spPr>
          <a:xfrm>
            <a:off x="566928" y="1481328"/>
            <a:ext cx="3566160" cy="3310128"/>
          </a:xfrm>
          <a:prstGeom prst="rect">
            <a:avLst/>
          </a:prstGeom>
          <a:solidFill>
            <a:srgbClr val="F2F2F2"/>
          </a:solidFill>
          <a:ln w="12700">
            <a:solidFill>
              <a:srgbClr val="F2F2F2"/>
            </a:solidFill>
            <a:prstDash val="solid"/>
          </a:ln>
        </p:spPr>
      </p:sp>
      <p:sp>
        <p:nvSpPr>
          <p:cNvPr id="6" name="Text 4"/>
          <p:cNvSpPr txBox="1"/>
          <p:nvPr/>
        </p:nvSpPr>
        <p:spPr>
          <a:xfrm>
            <a:off x="749808" y="1645920"/>
            <a:ext cx="3200400" cy="237744"/>
          </a:xfrm>
          <a:prstGeom prst="rect">
            <a:avLst/>
          </a:prstGeom>
          <a:noFill/>
          <a:ln/>
        </p:spPr>
        <p:txBody>
          <a:bodyPr wrap="square" lIns="0" tIns="0" rIns="0" bIns="0" rtlCol="0" anchor="ctr"/>
          <a:lstStyle/>
          <a:p>
            <a:pPr indent="0" marL="0">
              <a:buNone/>
            </a:pPr>
            <a:r>
              <a:rPr lang="en-US" sz="900" b="1" spc="80" kern="0" dirty="0">
                <a:solidFill>
                  <a:srgbClr val="EC0016"/>
                </a:solidFill>
                <a:latin typeface="Arial" pitchFamily="34" charset="0"/>
                <a:ea typeface="Arial" pitchFamily="34" charset="-122"/>
                <a:cs typeface="Arial" pitchFamily="34" charset="-120"/>
              </a:rPr>
              <a:t>ONE DEAL, FOUR VERSIONS IN FOUR DAYS</a:t>
            </a:r>
            <a:endParaRPr lang="en-US" sz="900" dirty="0"/>
          </a:p>
        </p:txBody>
      </p:sp>
      <p:sp>
        <p:nvSpPr>
          <p:cNvPr id="7" name="Text 5"/>
          <p:cNvSpPr txBox="1"/>
          <p:nvPr/>
        </p:nvSpPr>
        <p:spPr>
          <a:xfrm>
            <a:off x="749808" y="195681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Fri 28 Aug — Trump</a:t>
            </a:r>
            <a:endParaRPr lang="en-US" sz="950" dirty="0"/>
          </a:p>
        </p:txBody>
      </p:sp>
      <p:sp>
        <p:nvSpPr>
          <p:cNvPr id="8" name="Text 6"/>
          <p:cNvSpPr txBox="1"/>
          <p:nvPr/>
        </p:nvSpPr>
        <p:spPr>
          <a:xfrm>
            <a:off x="749808" y="213969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&gt;65bn bbl, “majority U.S. control”, at no cost to the taxpayer.</a:t>
            </a:r>
            <a:endParaRPr lang="en-US" sz="900" dirty="0"/>
          </a:p>
        </p:txBody>
      </p:sp>
      <p:sp>
        <p:nvSpPr>
          <p:cNvPr id="9" name="Text 7"/>
          <p:cNvSpPr txBox="1"/>
          <p:nvPr/>
        </p:nvSpPr>
        <p:spPr>
          <a:xfrm>
            <a:off x="749808" y="250545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Fri–Sat 28–29 Aug — Rodríguez</a:t>
            </a:r>
            <a:endParaRPr lang="en-US" sz="950" dirty="0"/>
          </a:p>
        </p:txBody>
      </p:sp>
      <p:sp>
        <p:nvSpPr>
          <p:cNvPr id="10" name="Text 8"/>
          <p:cNvSpPr txBox="1"/>
          <p:nvPr/>
        </p:nvSpPr>
        <p:spPr>
          <a:xfrm>
            <a:off x="749808" y="268833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17 fields, 25-year term, Venezuela keeps ownership, &gt;1.5 mb/d target.</a:t>
            </a:r>
            <a:endParaRPr lang="en-US" sz="900" dirty="0"/>
          </a:p>
        </p:txBody>
      </p:sp>
      <p:sp>
        <p:nvSpPr>
          <p:cNvPr id="11" name="Text 9"/>
          <p:cNvSpPr txBox="1"/>
          <p:nvPr/>
        </p:nvSpPr>
        <p:spPr>
          <a:xfrm>
            <a:off x="749808" y="305409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Weekend — Pentagon spokesman</a:t>
            </a:r>
            <a:endParaRPr lang="en-US" sz="950" dirty="0"/>
          </a:p>
        </p:txBody>
      </p:sp>
      <p:sp>
        <p:nvSpPr>
          <p:cNvPr id="12" name="Text 10"/>
          <p:cNvSpPr txBox="1"/>
          <p:nvPr/>
        </p:nvSpPr>
        <p:spPr>
          <a:xfrm>
            <a:off x="749808" y="323697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Office of Strategic Capital “does not take equity stakes”, contradicting WSJ’s report of a 35% stake.</a:t>
            </a:r>
            <a:endParaRPr lang="en-US" sz="900" dirty="0"/>
          </a:p>
        </p:txBody>
      </p:sp>
      <p:sp>
        <p:nvSpPr>
          <p:cNvPr id="13" name="Text 11"/>
          <p:cNvSpPr txBox="1"/>
          <p:nvPr/>
        </p:nvSpPr>
        <p:spPr>
          <a:xfrm>
            <a:off x="749808" y="360273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Mon 31 Aug — White House fact sheet</a:t>
            </a:r>
            <a:endParaRPr lang="en-US" sz="950" dirty="0"/>
          </a:p>
        </p:txBody>
      </p:sp>
      <p:sp>
        <p:nvSpPr>
          <p:cNvPr id="14" name="Text 12"/>
          <p:cNvSpPr txBox="1"/>
          <p:nvPr/>
        </p:nvSpPr>
        <p:spPr>
          <a:xfrm>
            <a:off x="749808" y="378561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OSC 35% stake, 20% at-cost offtake, 100-year rights, governed by U.S. law.</a:t>
            </a:r>
            <a:endParaRPr lang="en-US" sz="900" dirty="0"/>
          </a:p>
        </p:txBody>
      </p:sp>
      <p:sp>
        <p:nvSpPr>
          <p:cNvPr id="15" name="Text 13"/>
          <p:cNvSpPr txBox="1"/>
          <p:nvPr/>
        </p:nvSpPr>
        <p:spPr>
          <a:xfrm>
            <a:off x="749808" y="415137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Contract text published</a:t>
            </a:r>
            <a:endParaRPr lang="en-US" sz="950" dirty="0"/>
          </a:p>
        </p:txBody>
      </p:sp>
      <p:sp>
        <p:nvSpPr>
          <p:cNvPr id="16" name="Text 14"/>
          <p:cNvSpPr txBox="1"/>
          <p:nvPr/>
        </p:nvSpPr>
        <p:spPr>
          <a:xfrm>
            <a:off x="749808" y="433425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None, by either government.</a:t>
            </a:r>
            <a:endParaRPr lang="en-US" sz="900" dirty="0"/>
          </a:p>
        </p:txBody>
      </p:sp>
      <p:sp>
        <p:nvSpPr>
          <p:cNvPr id="17" name="Shape 15"/>
          <p:cNvSpPr/>
          <p:nvPr/>
        </p:nvSpPr>
        <p:spPr>
          <a:xfrm>
            <a:off x="4315968" y="1481328"/>
            <a:ext cx="3566160" cy="3310128"/>
          </a:xfrm>
          <a:prstGeom prst="rect">
            <a:avLst/>
          </a:prstGeom>
          <a:solidFill>
            <a:srgbClr val="F2F2F2"/>
          </a:solidFill>
          <a:ln w="12700">
            <a:solidFill>
              <a:srgbClr val="F2F2F2"/>
            </a:solidFill>
            <a:prstDash val="solid"/>
          </a:ln>
        </p:spPr>
      </p:sp>
      <p:sp>
        <p:nvSpPr>
          <p:cNvPr id="18" name="Text 16"/>
          <p:cNvSpPr txBox="1"/>
          <p:nvPr/>
        </p:nvSpPr>
        <p:spPr>
          <a:xfrm>
            <a:off x="4498848" y="1645920"/>
            <a:ext cx="3200400" cy="237744"/>
          </a:xfrm>
          <a:prstGeom prst="rect">
            <a:avLst/>
          </a:prstGeom>
          <a:noFill/>
          <a:ln/>
        </p:spPr>
        <p:txBody>
          <a:bodyPr wrap="square" lIns="0" tIns="0" rIns="0" bIns="0" rtlCol="0" anchor="ctr"/>
          <a:lstStyle/>
          <a:p>
            <a:pPr indent="0" marL="0">
              <a:buNone/>
            </a:pPr>
            <a:r>
              <a:rPr lang="en-US" sz="900" b="1" spc="80" kern="0" dirty="0">
                <a:solidFill>
                  <a:srgbClr val="EC0016"/>
                </a:solidFill>
                <a:latin typeface="Arial" pitchFamily="34" charset="0"/>
                <a:ea typeface="Arial" pitchFamily="34" charset="-122"/>
                <a:cs typeface="Arial" pitchFamily="34" charset="-120"/>
              </a:rPr>
              <a:t>WHAT THE LAW STILL SAYS</a:t>
            </a:r>
            <a:endParaRPr lang="en-US" sz="900" dirty="0"/>
          </a:p>
        </p:txBody>
      </p:sp>
      <p:sp>
        <p:nvSpPr>
          <p:cNvPr id="19" name="Text 17"/>
          <p:cNvSpPr txBox="1"/>
          <p:nvPr/>
        </p:nvSpPr>
        <p:spPr>
          <a:xfrm>
            <a:off x="4498848" y="195681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Constitution art. 12</a:t>
            </a:r>
            <a:endParaRPr lang="en-US" sz="950" dirty="0"/>
          </a:p>
        </p:txBody>
      </p:sp>
      <p:sp>
        <p:nvSpPr>
          <p:cNvPr id="20" name="Text 18"/>
          <p:cNvSpPr txBox="1"/>
          <p:nvPr/>
        </p:nvSpPr>
        <p:spPr>
          <a:xfrm>
            <a:off x="4498848" y="213969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Deposits belong to the Republic: “inalienable and imprescriptible”.</a:t>
            </a:r>
            <a:endParaRPr lang="en-US" sz="900" dirty="0"/>
          </a:p>
        </p:txBody>
      </p:sp>
      <p:sp>
        <p:nvSpPr>
          <p:cNvPr id="21" name="Text 19"/>
          <p:cNvSpPr txBox="1"/>
          <p:nvPr/>
        </p:nvSpPr>
        <p:spPr>
          <a:xfrm>
            <a:off x="4498848" y="250545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Arts. 150 / 187.9</a:t>
            </a:r>
            <a:endParaRPr lang="en-US" sz="950" dirty="0"/>
          </a:p>
        </p:txBody>
      </p:sp>
      <p:sp>
        <p:nvSpPr>
          <p:cNvPr id="22" name="Text 20"/>
          <p:cNvSpPr txBox="1"/>
          <p:nvPr/>
        </p:nvSpPr>
        <p:spPr>
          <a:xfrm>
            <a:off x="4498848" y="268833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Contracts with foreign states or non-domiciled companies need National Assembly approval.</a:t>
            </a:r>
            <a:endParaRPr lang="en-US" sz="900" dirty="0"/>
          </a:p>
        </p:txBody>
      </p:sp>
      <p:sp>
        <p:nvSpPr>
          <p:cNvPr id="23" name="Text 21"/>
          <p:cNvSpPr txBox="1"/>
          <p:nvPr/>
        </p:nvSpPr>
        <p:spPr>
          <a:xfrm>
            <a:off x="4498848" y="305409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Art. 303</a:t>
            </a:r>
            <a:endParaRPr lang="en-US" sz="950" dirty="0"/>
          </a:p>
        </p:txBody>
      </p:sp>
      <p:sp>
        <p:nvSpPr>
          <p:cNvPr id="24" name="Text 22"/>
          <p:cNvSpPr txBox="1"/>
          <p:nvPr/>
        </p:nvSpPr>
        <p:spPr>
          <a:xfrm>
            <a:off x="4498848" y="323697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The State keeps all of PDVSA’s shares.</a:t>
            </a:r>
            <a:endParaRPr lang="en-US" sz="900" dirty="0"/>
          </a:p>
        </p:txBody>
      </p:sp>
      <p:sp>
        <p:nvSpPr>
          <p:cNvPr id="25" name="Text 23"/>
          <p:cNvSpPr txBox="1"/>
          <p:nvPr/>
        </p:nvSpPr>
        <p:spPr>
          <a:xfrm>
            <a:off x="4498848" y="360273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LOH 2026, arts. 40 &amp; 68</a:t>
            </a:r>
            <a:endParaRPr lang="en-US" sz="950" dirty="0"/>
          </a:p>
        </p:txBody>
      </p:sp>
      <p:sp>
        <p:nvSpPr>
          <p:cNvPr id="26" name="Text 24"/>
          <p:cNvSpPr txBox="1"/>
          <p:nvPr/>
        </p:nvSpPr>
        <p:spPr>
          <a:xfrm>
            <a:off x="4498848" y="378561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Republic retains ownership of deposits worked by private operators; no transfer of title, no security interests.</a:t>
            </a:r>
            <a:endParaRPr lang="en-US" sz="900" dirty="0"/>
          </a:p>
        </p:txBody>
      </p:sp>
      <p:sp>
        <p:nvSpPr>
          <p:cNvPr id="27" name="Text 25"/>
          <p:cNvSpPr txBox="1"/>
          <p:nvPr/>
        </p:nvSpPr>
        <p:spPr>
          <a:xfrm>
            <a:off x="4498848" y="415137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LOH 2026, art. 35</a:t>
            </a:r>
            <a:endParaRPr lang="en-US" sz="950" dirty="0"/>
          </a:p>
        </p:txBody>
      </p:sp>
      <p:sp>
        <p:nvSpPr>
          <p:cNvPr id="28" name="Text 26"/>
          <p:cNvSpPr txBox="1"/>
          <p:nvPr/>
        </p:nvSpPr>
        <p:spPr>
          <a:xfrm>
            <a:off x="4498848" y="433425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Mixed companies capped at 25 + 15 years. No express term for art. 40 contracts — the legal fight is here.</a:t>
            </a:r>
            <a:endParaRPr lang="en-US" sz="900" dirty="0"/>
          </a:p>
        </p:txBody>
      </p:sp>
      <p:sp>
        <p:nvSpPr>
          <p:cNvPr id="29" name="Shape 27"/>
          <p:cNvSpPr/>
          <p:nvPr/>
        </p:nvSpPr>
        <p:spPr>
          <a:xfrm>
            <a:off x="8065008" y="1481328"/>
            <a:ext cx="3566160" cy="3310128"/>
          </a:xfrm>
          <a:prstGeom prst="rect">
            <a:avLst/>
          </a:prstGeom>
          <a:solidFill>
            <a:srgbClr val="F2F2F2"/>
          </a:solidFill>
          <a:ln w="12700">
            <a:solidFill>
              <a:srgbClr val="F2F2F2"/>
            </a:solidFill>
            <a:prstDash val="solid"/>
          </a:ln>
        </p:spPr>
      </p:sp>
      <p:sp>
        <p:nvSpPr>
          <p:cNvPr id="30" name="Text 28"/>
          <p:cNvSpPr txBox="1"/>
          <p:nvPr/>
        </p:nvSpPr>
        <p:spPr>
          <a:xfrm>
            <a:off x="8247888" y="1645920"/>
            <a:ext cx="3200400" cy="237744"/>
          </a:xfrm>
          <a:prstGeom prst="rect">
            <a:avLst/>
          </a:prstGeom>
          <a:noFill/>
          <a:ln/>
        </p:spPr>
        <p:txBody>
          <a:bodyPr wrap="square" lIns="0" tIns="0" rIns="0" bIns="0" rtlCol="0" anchor="ctr"/>
          <a:lstStyle/>
          <a:p>
            <a:pPr indent="0" marL="0">
              <a:buNone/>
            </a:pPr>
            <a:r>
              <a:rPr lang="en-US" sz="900" b="1" spc="80" kern="0" dirty="0">
                <a:solidFill>
                  <a:srgbClr val="EC0016"/>
                </a:solidFill>
                <a:latin typeface="Arial" pitchFamily="34" charset="0"/>
                <a:ea typeface="Arial" pitchFamily="34" charset="-122"/>
                <a:cs typeface="Arial" pitchFamily="34" charset="-120"/>
              </a:rPr>
              <a:t>WHAT THE MONEY IS ACTUALLY DOING</a:t>
            </a:r>
            <a:endParaRPr lang="en-US" sz="900" dirty="0"/>
          </a:p>
        </p:txBody>
      </p:sp>
      <p:sp>
        <p:nvSpPr>
          <p:cNvPr id="31" name="Text 29"/>
          <p:cNvSpPr txBox="1"/>
          <p:nvPr/>
        </p:nvSpPr>
        <p:spPr>
          <a:xfrm>
            <a:off x="8247888" y="195681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ExxonMobil</a:t>
            </a:r>
            <a:endParaRPr lang="en-US" sz="950" dirty="0"/>
          </a:p>
        </p:txBody>
      </p:sp>
      <p:sp>
        <p:nvSpPr>
          <p:cNvPr id="32" name="Text 30"/>
          <p:cNvSpPr txBox="1"/>
          <p:nvPr/>
        </p:nvSpPr>
        <p:spPr>
          <a:xfrm>
            <a:off x="8247888" y="213969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“Un-investable” (D. Woods, to AP). Not signing.</a:t>
            </a:r>
            <a:endParaRPr lang="en-US" sz="900" dirty="0"/>
          </a:p>
        </p:txBody>
      </p:sp>
      <p:sp>
        <p:nvSpPr>
          <p:cNvPr id="33" name="Text 31"/>
          <p:cNvSpPr txBox="1"/>
          <p:nvPr/>
        </p:nvSpPr>
        <p:spPr>
          <a:xfrm>
            <a:off x="8247888" y="250545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ConocoPhillips</a:t>
            </a:r>
            <a:endParaRPr lang="en-US" sz="950" dirty="0"/>
          </a:p>
        </p:txBody>
      </p:sp>
      <p:sp>
        <p:nvSpPr>
          <p:cNvPr id="34" name="Text 32"/>
          <p:cNvSpPr txBox="1"/>
          <p:nvPr/>
        </p:nvSpPr>
        <p:spPr>
          <a:xfrm>
            <a:off x="8247888" y="268833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$10–12bn arbitration award must be settled before new money (R. Lance, per Houston Chronicle).</a:t>
            </a:r>
            <a:endParaRPr lang="en-US" sz="900" dirty="0"/>
          </a:p>
        </p:txBody>
      </p:sp>
      <p:sp>
        <p:nvSpPr>
          <p:cNvPr id="35" name="Text 33"/>
          <p:cNvSpPr txBox="1"/>
          <p:nvPr/>
        </p:nvSpPr>
        <p:spPr>
          <a:xfrm>
            <a:off x="8247888" y="305409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Chevron</a:t>
            </a:r>
            <a:endParaRPr lang="en-US" sz="950" dirty="0"/>
          </a:p>
        </p:txBody>
      </p:sp>
      <p:sp>
        <p:nvSpPr>
          <p:cNvPr id="36" name="Text 34"/>
          <p:cNvSpPr txBox="1"/>
          <p:nvPr/>
        </p:nvSpPr>
        <p:spPr>
          <a:xfrm>
            <a:off x="8247888" y="323697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280 kb/d, +50% by 2028 — funded only from in-country cash flow, no fresh capital (2Q26 call).</a:t>
            </a:r>
            <a:endParaRPr lang="en-US" sz="900" dirty="0"/>
          </a:p>
        </p:txBody>
      </p:sp>
      <p:sp>
        <p:nvSpPr>
          <p:cNvPr id="37" name="Text 35"/>
          <p:cNvSpPr txBox="1"/>
          <p:nvPr/>
        </p:nvSpPr>
        <p:spPr>
          <a:xfrm>
            <a:off x="8247888" y="360273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Oilfield services</a:t>
            </a:r>
            <a:endParaRPr lang="en-US" sz="950" dirty="0"/>
          </a:p>
        </p:txBody>
      </p:sp>
      <p:sp>
        <p:nvSpPr>
          <p:cNvPr id="38" name="Text 36"/>
          <p:cNvSpPr txBox="1"/>
          <p:nvPr/>
        </p:nvSpPr>
        <p:spPr>
          <a:xfrm>
            <a:off x="8247888" y="378561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SLB: 15 idle rigs, up to 4 back by end-2026, if contracts are signed.</a:t>
            </a:r>
            <a:endParaRPr lang="en-US" sz="900" dirty="0"/>
          </a:p>
        </p:txBody>
      </p:sp>
      <p:sp>
        <p:nvSpPr>
          <p:cNvPr id="39" name="Text 37"/>
          <p:cNvSpPr txBox="1"/>
          <p:nvPr/>
        </p:nvSpPr>
        <p:spPr>
          <a:xfrm>
            <a:off x="8247888" y="4151376"/>
            <a:ext cx="3200400" cy="182880"/>
          </a:xfrm>
          <a:prstGeom prst="rect">
            <a:avLst/>
          </a:prstGeom>
          <a:noFill/>
          <a:ln/>
        </p:spPr>
        <p:txBody>
          <a:bodyPr wrap="square" lIns="0" tIns="0" rIns="0" bIns="0" rtlCol="0" anchor="ctr"/>
          <a:lstStyle/>
          <a:p>
            <a:pPr indent="0" marL="0">
              <a:buNone/>
            </a:pPr>
            <a:r>
              <a:rPr lang="en-US" sz="950" b="1" dirty="0">
                <a:solidFill>
                  <a:srgbClr val="000000"/>
                </a:solidFill>
                <a:latin typeface="Arial" pitchFamily="34" charset="0"/>
                <a:ea typeface="Arial" pitchFamily="34" charset="-122"/>
                <a:cs typeface="Arial" pitchFamily="34" charset="-120"/>
              </a:rPr>
              <a:t>Creditors</a:t>
            </a:r>
            <a:endParaRPr lang="en-US" sz="950" dirty="0"/>
          </a:p>
        </p:txBody>
      </p:sp>
      <p:sp>
        <p:nvSpPr>
          <p:cNvPr id="40" name="Text 38"/>
          <p:cNvSpPr txBox="1"/>
          <p:nvPr/>
        </p:nvSpPr>
        <p:spPr>
          <a:xfrm>
            <a:off x="8247888" y="4334256"/>
            <a:ext cx="3200400" cy="365760"/>
          </a:xfrm>
          <a:prstGeom prst="rect">
            <a:avLst/>
          </a:prstGeom>
          <a:noFill/>
          <a:ln/>
        </p:spPr>
        <p:txBody>
          <a:bodyPr wrap="square" lIns="0" tIns="0" rIns="0" bIns="0" rtlCol="0" anchor="t"/>
          <a:lstStyle/>
          <a:p>
            <a:pPr indent="0" marL="0">
              <a:lnSpc>
                <a:spcPts val="1150"/>
              </a:lnSpc>
              <a:buNone/>
            </a:pPr>
            <a:r>
              <a:rPr lang="en-US" sz="900" dirty="0">
                <a:solidFill>
                  <a:srgbClr val="4C4C4C"/>
                </a:solidFill>
                <a:latin typeface="Arial" pitchFamily="34" charset="0"/>
                <a:ea typeface="Arial" pitchFamily="34" charset="-122"/>
                <a:cs typeface="Arial" pitchFamily="34" charset="-120"/>
              </a:rPr>
              <a:t>$98bn of bond claims incl. past-due interest (Barclays) queued ahead of any new equity.</a:t>
            </a:r>
            <a:endParaRPr lang="en-US" sz="900" dirty="0"/>
          </a:p>
        </p:txBody>
      </p:sp>
      <p:sp>
        <p:nvSpPr>
          <p:cNvPr id="41" name="Shape 39"/>
          <p:cNvSpPr/>
          <p:nvPr/>
        </p:nvSpPr>
        <p:spPr>
          <a:xfrm>
            <a:off x="566928" y="4974336"/>
            <a:ext cx="11055096" cy="0"/>
          </a:xfrm>
          <a:prstGeom prst="line">
            <a:avLst/>
          </a:prstGeom>
          <a:noFill/>
          <a:ln w="12700">
            <a:solidFill>
              <a:srgbClr val="D9D9D9"/>
            </a:solidFill>
            <a:prstDash val="solid"/>
          </a:ln>
        </p:spPr>
      </p:sp>
      <p:sp>
        <p:nvSpPr>
          <p:cNvPr id="42" name="Text 40"/>
          <p:cNvSpPr txBox="1"/>
          <p:nvPr/>
        </p:nvSpPr>
        <p:spPr>
          <a:xfrm>
            <a:off x="566928" y="5120640"/>
            <a:ext cx="8503920" cy="1188720"/>
          </a:xfrm>
          <a:prstGeom prst="rect">
            <a:avLst/>
          </a:prstGeom>
          <a:noFill/>
          <a:ln/>
        </p:spPr>
        <p:txBody>
          <a:bodyPr wrap="square" lIns="0" tIns="0" rIns="0" bIns="0" rtlCol="0" anchor="t"/>
          <a:lstStyle/>
          <a:p>
            <a:pPr indent="0" marL="0">
              <a:lnSpc>
                <a:spcPts val="1550"/>
              </a:lnSpc>
              <a:buNone/>
            </a:pPr>
            <a:r>
              <a:rPr lang="en-US" sz="1150" dirty="0">
                <a:solidFill>
                  <a:srgbClr val="000000"/>
                </a:solidFill>
                <a:latin typeface="Arial" pitchFamily="34" charset="0"/>
                <a:ea typeface="Arial" pitchFamily="34" charset="-122"/>
                <a:cs typeface="Arial" pitchFamily="34" charset="-120"/>
              </a:rPr>
              <a:t>For the allocation: no change to the Venezuela view. The 28 August announcement adds neither barrels nor a framework — the legal vehicle is undefined, the terms are contradicted inside the U.S. government, and the ownership constraints of arts. 12, 150 and 303 are untouched. What re-rates the credit: a published contract and its National Assembly treatment; a debt-restructuring framework that says where new money ranks; OFAC licences with tenor; and a rig count in double digits.</a:t>
            </a:r>
            <a:endParaRPr lang="en-US" sz="1150" dirty="0"/>
          </a:p>
        </p:txBody>
      </p:sp>
      <p:sp>
        <p:nvSpPr>
          <p:cNvPr id="43" name="Text 41"/>
          <p:cNvSpPr txBox="1"/>
          <p:nvPr/>
        </p:nvSpPr>
        <p:spPr>
          <a:xfrm>
            <a:off x="9418320" y="5047488"/>
            <a:ext cx="2194560" cy="731520"/>
          </a:xfrm>
          <a:prstGeom prst="rect">
            <a:avLst/>
          </a:prstGeom>
          <a:noFill/>
          <a:ln/>
        </p:spPr>
        <p:txBody>
          <a:bodyPr wrap="square" lIns="0" tIns="0" rIns="0" bIns="0" rtlCol="0" anchor="ctr"/>
          <a:lstStyle/>
          <a:p>
            <a:pPr algn="r" indent="0" marL="0">
              <a:buNone/>
            </a:pPr>
            <a:r>
              <a:rPr lang="en-US" sz="5400" b="1" dirty="0">
                <a:solidFill>
                  <a:srgbClr val="EC0016"/>
                </a:solidFill>
                <a:latin typeface="Arial" pitchFamily="34" charset="0"/>
                <a:ea typeface="Arial" pitchFamily="34" charset="-122"/>
                <a:cs typeface="Arial" pitchFamily="34" charset="-120"/>
              </a:rPr>
              <a:t>2</a:t>
            </a:r>
            <a:endParaRPr lang="en-US" sz="5400" dirty="0"/>
          </a:p>
        </p:txBody>
      </p:sp>
      <p:sp>
        <p:nvSpPr>
          <p:cNvPr id="44" name="Text 42"/>
          <p:cNvSpPr txBox="1"/>
          <p:nvPr/>
        </p:nvSpPr>
        <p:spPr>
          <a:xfrm>
            <a:off x="9235440" y="5797296"/>
            <a:ext cx="2377440" cy="420624"/>
          </a:xfrm>
          <a:prstGeom prst="rect">
            <a:avLst/>
          </a:prstGeom>
          <a:noFill/>
          <a:ln/>
        </p:spPr>
        <p:txBody>
          <a:bodyPr wrap="square" lIns="0" tIns="0" rIns="0" bIns="0" rtlCol="0" anchor="ctr"/>
          <a:lstStyle/>
          <a:p>
            <a:pPr algn="r" indent="0" marL="0">
              <a:lnSpc>
                <a:spcPts val="1050"/>
              </a:lnSpc>
              <a:buNone/>
            </a:pPr>
            <a:r>
              <a:rPr lang="en-US" sz="800" b="1" spc="60" kern="0" dirty="0">
                <a:solidFill>
                  <a:srgbClr val="4C4C4C"/>
                </a:solidFill>
                <a:latin typeface="Arial" pitchFamily="34" charset="0"/>
                <a:ea typeface="Arial" pitchFamily="34" charset="-122"/>
                <a:cs typeface="Arial" pitchFamily="34" charset="-120"/>
              </a:rPr>
              <a:t>ACTIVE RIGS — THE ONLY NUMBER</a:t>
            </a:r>
            <a:endParaRPr lang="en-US" sz="800" dirty="0"/>
          </a:p>
          <a:p>
            <a:pPr algn="r" indent="0" marL="0">
              <a:lnSpc>
                <a:spcPts val="1050"/>
              </a:lnSpc>
              <a:buNone/>
            </a:pPr>
            <a:r>
              <a:rPr lang="en-US" sz="800" b="1" spc="60" kern="0" dirty="0">
                <a:solidFill>
                  <a:srgbClr val="4C4C4C"/>
                </a:solidFill>
                <a:latin typeface="Arial" pitchFamily="34" charset="0"/>
                <a:ea typeface="Arial" pitchFamily="34" charset="-122"/>
                <a:cs typeface="Arial" pitchFamily="34" charset="-120"/>
              </a:rPr>
              <a:t>THAT MOVES THE OUTPUT LINE</a:t>
            </a:r>
            <a:endParaRPr lang="en-US" sz="800" dirty="0"/>
          </a:p>
        </p:txBody>
      </p:sp>
      <p:sp>
        <p:nvSpPr>
          <p:cNvPr id="45" name="Text 43"/>
          <p:cNvSpPr txBox="1"/>
          <p:nvPr/>
        </p:nvSpPr>
        <p:spPr>
          <a:xfrm>
            <a:off x="566928" y="6382512"/>
            <a:ext cx="10415016" cy="347472"/>
          </a:xfrm>
          <a:prstGeom prst="rect">
            <a:avLst/>
          </a:prstGeom>
          <a:noFill/>
          <a:ln/>
        </p:spPr>
        <p:txBody>
          <a:bodyPr wrap="square" lIns="0" tIns="0" rIns="0" bIns="0" rtlCol="0" anchor="b"/>
          <a:lstStyle/>
          <a:p>
            <a:pPr indent="0" marL="0">
              <a:buNone/>
            </a:pPr>
            <a:r>
              <a:rPr lang="en-US" sz="750" dirty="0">
                <a:solidFill>
                  <a:srgbClr val="8C8C8C"/>
                </a:solidFill>
                <a:latin typeface="Arial" pitchFamily="34" charset="0"/>
                <a:ea typeface="Arial" pitchFamily="34" charset="-122"/>
                <a:cs typeface="Arial" pitchFamily="34" charset="-120"/>
              </a:rPr>
              <a:t>Source: Truth Social and Rodríguez communiqué (28 Aug) and televised address (29 Aug); AP/PBS (US official); WSJ (29–30 Aug) and Pentagon spokesman S. Parnell; White House fact sheet via AP (31 Aug); Constitución 1999; Ley de Reforma de la LOH, Gaceta Oficial 6.978 Ext. (29 Jan 2026); AP (Woods); Houston Chronicle (Lance); Chevron 2Q26 call (31 Jul); Reuters (SLB, 19 Aug); Barclays via CNBC (bond claims); UBS.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2026-09-01T17:33:45Z</dcterms:created>
  <dcterms:modified xsi:type="dcterms:W3CDTF">2026-09-01T17:33:45Z</dcterms:modified>
</cp:coreProperties>
</file>
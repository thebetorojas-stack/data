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Base salary</c:v>
                </c:pt>
              </c:strCache>
            </c:strRef>
          </c:tx>
          <c:spPr>
            <a:solidFill>
              <a:srgbClr val="1B2A3A"/>
            </a:solidFill>
            <a:effectLst/>
          </c:spPr>
          <c:invertIfNegative val="0"/>
          <c:dLbls>
            <c:numFmt formatCode="$#,##0" sourceLinked="0"/>
            <c:txPr>
              <a:bodyPr/>
              <a:lstStyle/>
              <a:p>
                <a:pPr>
                  <a:defRPr b="0" i="0" strike="noStrike" sz="1100" u="none">
                    <a:solidFill>
                      <a:srgbClr val="1B2A3A"/>
                    </a:solidFill>
                    <a:latin typeface="Arial"/>
                  </a:defRPr>
                </a:pPr>
              </a:p>
            </c:txPr>
            <c:showLegendKey val="0"/>
            <c:showVal val="1"/>
            <c:showCatName val="0"/>
            <c:showSerName val="0"/>
            <c:showPercent val="0"/>
            <c:showBubbleSize val="0"/>
            <c:showLeaderLines val="0"/>
          </c:dLbls>
          <c:cat>
            <c:multiLvlStrRef>
              <c:f>Sheet1!$A$2:$A$8</c:f>
              <c:multiLvlStrCache>
                <c:ptCount val="7"/>
                <c:lvl>
                  <c:pt idx="0">
                    <c:v>ED Investment Strategist — DOL, Dec 2020</c:v>
                  </c:pt>
                  <c:pt idx="1">
                    <c:v>US Senior Economist — posting, range top</c:v>
                  </c:pt>
                  <c:pt idx="2">
                    <c:v>US Senior Economist — posting, range floor</c:v>
                  </c:pt>
                  <c:pt idx="3">
                    <c:v>ED Fixed Income Strategist — posting, midpoint</c:v>
                  </c:pt>
                  <c:pt idx="4">
                    <c:v>Asset Allocation Strategist — posting, range top</c:v>
                  </c:pt>
                  <c:pt idx="5">
                    <c:v>My ED base today</c:v>
                  </c:pt>
                  <c:pt idx="6">
                    <c:v>Director EM Strategist — DOL, Feb 2026</c:v>
                  </c:pt>
                </c:lvl>
              </c:multiLvlStrCache>
            </c:multiLvlStrRef>
          </c:cat>
          <c:val>
            <c:numRef>
              <c:f>Sheet1!$B$2:$B$8</c:f>
              <c:numCache>
                <c:formatCode>General</c:formatCode>
                <c:ptCount val="7"/>
                <c:pt idx="0">
                  <c:v>250000</c:v>
                </c:pt>
                <c:pt idx="1">
                  <c:v>250000</c:v>
                </c:pt>
                <c:pt idx="2">
                  <c:v>200000</c:v>
                </c:pt>
                <c:pt idx="3">
                  <c:v>207500</c:v>
                </c:pt>
                <c:pt idx="4">
                  <c:v>205000</c:v>
                </c:pt>
                <c:pt idx="5">
                  <c:v>180000</c:v>
                </c:pt>
                <c:pt idx="6">
                  <c:v>175000</c:v>
                </c:pt>
              </c:numCache>
            </c:numRef>
          </c:val>
        </c:ser>
        <c:dLbls>
          <c:numFmt formatCode="$#,##0" sourceLinked="0"/>
          <c:txPr>
            <a:bodyPr/>
            <a:lstStyle/>
            <a:p>
              <a:pPr>
                <a:defRPr b="0" i="0" strike="noStrike" sz="1100" u="none">
                  <a:solidFill>
                    <a:srgbClr val="1B2A3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A3A"/>
                </a:solidFill>
                <a:latin typeface="Arial"/>
              </a:defRPr>
            </a:pPr>
            <a:endParaRPr lang="en-US"/>
          </a:p>
        </c:txPr>
        <c:crossAx val="2094734552"/>
        <c:crosses val="autoZero"/>
        <c:auto val="1"/>
        <c:lblAlgn val="ctr"/>
        <c:noMultiLvlLbl val="1"/>
      </c:catAx>
      <c:valAx>
        <c:axId val="2094734552"/>
        <c:scaling>
          <c:orientation val="minMax"/>
          <c:max val="270000"/>
          <c:min val="150000"/>
        </c:scaling>
        <c:delete val="0"/>
        <c:axPos val="b"/>
        <c:majorGridlines>
          <c:spPr>
            <a:ln w="6350" cap="flat">
              <a:solidFill>
                <a:srgbClr val="E6E2DA"/>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6A717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this. It is the single cleanest comparison in the dataset: same specialty, same firm, same city, this year, one rank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A"/>
        </a:solidFill>
      </p:bgPr>
    </p:bg>
    <p:spTree>
      <p:nvGrpSpPr>
        <p:cNvPr id="1" name=""/>
        <p:cNvGrpSpPr/>
        <p:nvPr/>
      </p:nvGrpSpPr>
      <p:grpSpPr>
        <a:xfrm>
          <a:off x="0" y="0"/>
          <a:ext cx="0" cy="0"/>
          <a:chOff x="0" y="0"/>
          <a:chExt cx="0" cy="0"/>
        </a:xfrm>
      </p:grpSpPr>
      <p:sp>
        <p:nvSpPr>
          <p:cNvPr id="2" name="Text 0"/>
          <p:cNvSpPr txBox="1"/>
          <p:nvPr/>
        </p:nvSpPr>
        <p:spPr>
          <a:xfrm>
            <a:off x="731520" y="731520"/>
            <a:ext cx="10515600" cy="365760"/>
          </a:xfrm>
          <a:prstGeom prst="rect">
            <a:avLst/>
          </a:prstGeom>
          <a:noFill/>
          <a:ln/>
        </p:spPr>
        <p:txBody>
          <a:bodyPr wrap="square" lIns="0" tIns="0" rIns="0" bIns="0" rtlCol="0" anchor="ctr"/>
          <a:lstStyle/>
          <a:p>
            <a:pPr indent="0" marL="0">
              <a:buNone/>
            </a:pPr>
            <a:r>
              <a:rPr lang="en-US" sz="1400" b="1" spc="400" kern="0" dirty="0">
                <a:solidFill>
                  <a:srgbClr val="C8102E"/>
                </a:solidFill>
                <a:latin typeface="Calibri" pitchFamily="34" charset="0"/>
                <a:ea typeface="Calibri" pitchFamily="34" charset="-122"/>
                <a:cs typeface="Calibri" pitchFamily="34" charset="-120"/>
              </a:rPr>
              <a:t>COMPENSATION ALIGNMENT REQUEST — SUPPORTING EVIDENCE</a:t>
            </a:r>
            <a:endParaRPr lang="en-US" sz="1400" dirty="0"/>
          </a:p>
        </p:txBody>
      </p:sp>
      <p:sp>
        <p:nvSpPr>
          <p:cNvPr id="3" name="Text 1"/>
          <p:cNvSpPr txBox="1"/>
          <p:nvPr/>
        </p:nvSpPr>
        <p:spPr>
          <a:xfrm>
            <a:off x="731520" y="2103120"/>
            <a:ext cx="10515600" cy="1280160"/>
          </a:xfrm>
          <a:prstGeom prst="rect">
            <a:avLst/>
          </a:prstGeom>
          <a:noFill/>
          <a:ln/>
        </p:spPr>
        <p:txBody>
          <a:bodyPr wrap="square" lIns="0" tIns="0" rIns="0" bIns="0" rtlCol="0" anchor="ctr"/>
          <a:lstStyle/>
          <a:p>
            <a:pPr indent="0" marL="0">
              <a:buNone/>
            </a:pPr>
            <a:r>
              <a:rPr lang="en-US" sz="5400" dirty="0">
                <a:solidFill>
                  <a:srgbClr val="FFFFFF"/>
                </a:solidFill>
                <a:latin typeface="Cambria" pitchFamily="34" charset="0"/>
                <a:ea typeface="Cambria" pitchFamily="34" charset="-122"/>
                <a:cs typeface="Cambria" pitchFamily="34" charset="-120"/>
              </a:rPr>
              <a:t>What UBS pays for this seat</a:t>
            </a:r>
            <a:endParaRPr lang="en-US" sz="5400" dirty="0"/>
          </a:p>
        </p:txBody>
      </p:sp>
      <p:sp>
        <p:nvSpPr>
          <p:cNvPr id="4" name="Text 2"/>
          <p:cNvSpPr txBox="1"/>
          <p:nvPr/>
        </p:nvSpPr>
        <p:spPr>
          <a:xfrm>
            <a:off x="731520" y="3383280"/>
            <a:ext cx="10515600" cy="548640"/>
          </a:xfrm>
          <a:prstGeom prst="rect">
            <a:avLst/>
          </a:prstGeom>
          <a:noFill/>
          <a:ln/>
        </p:spPr>
        <p:txBody>
          <a:bodyPr wrap="square" lIns="0" tIns="0" rIns="0" bIns="0" rtlCol="0" anchor="ctr"/>
          <a:lstStyle/>
          <a:p>
            <a:pPr indent="0" marL="0">
              <a:buNone/>
            </a:pPr>
            <a:r>
              <a:rPr lang="en-US" sz="2000" dirty="0">
                <a:solidFill>
                  <a:srgbClr val="C9C4B8"/>
                </a:solidFill>
                <a:latin typeface="Calibri" pitchFamily="34" charset="0"/>
                <a:ea typeface="Calibri" pitchFamily="34" charset="-122"/>
                <a:cs typeface="Calibri" pitchFamily="34" charset="-120"/>
              </a:rPr>
              <a:t>UBS's own Department of Labor filings and public job postings, New York</a:t>
            </a:r>
            <a:endParaRPr lang="en-US" sz="2000" dirty="0"/>
          </a:p>
        </p:txBody>
      </p:sp>
      <p:sp>
        <p:nvSpPr>
          <p:cNvPr id="5" name="Text 3"/>
          <p:cNvSpPr txBox="1"/>
          <p:nvPr/>
        </p:nvSpPr>
        <p:spPr>
          <a:xfrm>
            <a:off x="731520" y="5669280"/>
            <a:ext cx="10515600" cy="731520"/>
          </a:xfrm>
          <a:prstGeom prst="rect">
            <a:avLst/>
          </a:prstGeom>
          <a:noFill/>
          <a:ln/>
        </p:spPr>
        <p:txBody>
          <a:bodyPr wrap="square" lIns="0" tIns="0" rIns="0" bIns="0" rtlCol="0" anchor="ctr"/>
          <a:lstStyle/>
          <a:p>
            <a:pPr indent="0" marL="0">
              <a:buNone/>
            </a:pPr>
            <a:r>
              <a:rPr lang="en-US" sz="1400" b="1" dirty="0">
                <a:solidFill>
                  <a:srgbClr val="C9C4B8"/>
                </a:solidFill>
                <a:latin typeface="Calibri" pitchFamily="34" charset="0"/>
                <a:ea typeface="Calibri" pitchFamily="34" charset="-122"/>
                <a:cs typeface="Calibri" pitchFamily="34" charset="-120"/>
              </a:rPr>
              <a:t>Alberto Rojas</a:t>
            </a:r>
            <a:endParaRPr lang="en-US" sz="1400" dirty="0"/>
          </a:p>
          <a:p>
            <a:pPr indent="0" marL="0">
              <a:buNone/>
            </a:pPr>
            <a:r>
              <a:rPr lang="en-US" sz="1400" dirty="0">
                <a:solidFill>
                  <a:srgbClr val="C9C4B8"/>
                </a:solidFill>
                <a:latin typeface="Calibri" pitchFamily="34" charset="0"/>
                <a:ea typeface="Calibri" pitchFamily="34" charset="-122"/>
                <a:cs typeface="Calibri" pitchFamily="34" charset="-120"/>
              </a:rPr>
              <a:t>Senior Emerging Markets Strategist, Executive Director · CIO Americas · September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t"/>
          <a:lstStyle/>
          <a:p>
            <a:pPr indent="0" marL="0">
              <a:buNone/>
            </a:pPr>
            <a:r>
              <a:rPr lang="en-US" sz="3200" b="1" dirty="0">
                <a:solidFill>
                  <a:srgbClr val="1B2A3A"/>
                </a:solidFill>
                <a:latin typeface="Cambria" pitchFamily="34" charset="0"/>
                <a:ea typeface="Cambria" pitchFamily="34" charset="-122"/>
                <a:cs typeface="Cambria" pitchFamily="34" charset="-120"/>
              </a:rPr>
              <a:t>The five-thousand-dollar question</a:t>
            </a:r>
            <a:endParaRPr lang="en-US" sz="3200" dirty="0"/>
          </a:p>
        </p:txBody>
      </p:sp>
      <p:sp>
        <p:nvSpPr>
          <p:cNvPr id="3" name="Shape 1"/>
          <p:cNvSpPr/>
          <p:nvPr/>
        </p:nvSpPr>
        <p:spPr>
          <a:xfrm>
            <a:off x="548640" y="1554480"/>
            <a:ext cx="5303520" cy="3840480"/>
          </a:xfrm>
          <a:prstGeom prst="roundRect">
            <a:avLst>
              <a:gd name="adj" fmla="val 2381"/>
            </a:avLst>
          </a:prstGeom>
          <a:solidFill>
            <a:srgbClr val="F2F0EB"/>
          </a:solidFill>
          <a:ln w="12700">
            <a:solidFill>
              <a:srgbClr val="F2F0EB"/>
            </a:solidFill>
            <a:prstDash val="solid"/>
          </a:ln>
        </p:spPr>
      </p:sp>
      <p:sp>
        <p:nvSpPr>
          <p:cNvPr id="4" name="Text 2"/>
          <p:cNvSpPr txBox="1"/>
          <p:nvPr/>
        </p:nvSpPr>
        <p:spPr>
          <a:xfrm>
            <a:off x="868680" y="1783080"/>
            <a:ext cx="4754880" cy="320040"/>
          </a:xfrm>
          <a:prstGeom prst="rect">
            <a:avLst/>
          </a:prstGeom>
          <a:noFill/>
          <a:ln/>
        </p:spPr>
        <p:txBody>
          <a:bodyPr wrap="square" lIns="0" tIns="0" rIns="0" bIns="0" rtlCol="0" anchor="ctr"/>
          <a:lstStyle/>
          <a:p>
            <a:pPr indent="0" marL="0">
              <a:buNone/>
            </a:pPr>
            <a:r>
              <a:rPr lang="en-US" sz="1200" b="1" spc="200" kern="0" dirty="0">
                <a:solidFill>
                  <a:srgbClr val="6A7179"/>
                </a:solidFill>
                <a:latin typeface="Calibri" pitchFamily="34" charset="0"/>
                <a:ea typeface="Calibri" pitchFamily="34" charset="-122"/>
                <a:cs typeface="Calibri" pitchFamily="34" charset="-120"/>
              </a:rPr>
              <a:t>UBS DOL FILING · FEBRUARY 2026</a:t>
            </a:r>
            <a:endParaRPr lang="en-US" sz="1200" dirty="0"/>
          </a:p>
        </p:txBody>
      </p:sp>
      <p:sp>
        <p:nvSpPr>
          <p:cNvPr id="5" name="Text 3"/>
          <p:cNvSpPr txBox="1"/>
          <p:nvPr/>
        </p:nvSpPr>
        <p:spPr>
          <a:xfrm>
            <a:off x="868680" y="2148840"/>
            <a:ext cx="4754880" cy="1097280"/>
          </a:xfrm>
          <a:prstGeom prst="rect">
            <a:avLst/>
          </a:prstGeom>
          <a:noFill/>
          <a:ln/>
        </p:spPr>
        <p:txBody>
          <a:bodyPr wrap="square" lIns="0" tIns="0" rIns="0" bIns="0" rtlCol="0" anchor="ctr"/>
          <a:lstStyle/>
          <a:p>
            <a:pPr indent="0" marL="0">
              <a:buNone/>
            </a:pPr>
            <a:r>
              <a:rPr lang="en-US" sz="6600" b="1" dirty="0">
                <a:solidFill>
                  <a:srgbClr val="C8102E"/>
                </a:solidFill>
                <a:latin typeface="Cambria" pitchFamily="34" charset="0"/>
                <a:ea typeface="Cambria" pitchFamily="34" charset="-122"/>
                <a:cs typeface="Cambria" pitchFamily="34" charset="-120"/>
              </a:rPr>
              <a:t>$175,000</a:t>
            </a:r>
            <a:endParaRPr lang="en-US" sz="6600" dirty="0"/>
          </a:p>
        </p:txBody>
      </p:sp>
      <p:sp>
        <p:nvSpPr>
          <p:cNvPr id="6" name="Text 4"/>
          <p:cNvSpPr txBox="1"/>
          <p:nvPr/>
        </p:nvSpPr>
        <p:spPr>
          <a:xfrm>
            <a:off x="868680" y="3291840"/>
            <a:ext cx="4754880" cy="731520"/>
          </a:xfrm>
          <a:prstGeom prst="rect">
            <a:avLst/>
          </a:prstGeom>
          <a:noFill/>
          <a:ln/>
        </p:spPr>
        <p:txBody>
          <a:bodyPr wrap="square" lIns="0" tIns="0" rIns="0" bIns="0" rtlCol="0" anchor="ctr"/>
          <a:lstStyle/>
          <a:p>
            <a:pPr indent="0" marL="0">
              <a:buNone/>
            </a:pPr>
            <a:r>
              <a:rPr lang="en-US" sz="1500" dirty="0">
                <a:solidFill>
                  <a:srgbClr val="1B2A3A"/>
                </a:solidFill>
                <a:latin typeface="Calibri" pitchFamily="34" charset="0"/>
                <a:ea typeface="Calibri" pitchFamily="34" charset="-122"/>
                <a:cs typeface="Calibri" pitchFamily="34" charset="-120"/>
              </a:rPr>
              <a:t>Director, Emerging Markets Strategist</a:t>
            </a:r>
            <a:endParaRPr lang="en-US" sz="1500" dirty="0"/>
          </a:p>
          <a:p>
            <a:pPr indent="0" marL="0">
              <a:buNone/>
            </a:pPr>
            <a:r>
              <a:rPr lang="en-US" sz="1500" dirty="0">
                <a:solidFill>
                  <a:srgbClr val="1B2A3A"/>
                </a:solidFill>
                <a:latin typeface="Calibri" pitchFamily="34" charset="0"/>
                <a:ea typeface="Calibri" pitchFamily="34" charset="-122"/>
                <a:cs typeface="Calibri" pitchFamily="34" charset="-120"/>
              </a:rPr>
              <a:t>New York · one rank below Executive Director</a:t>
            </a:r>
            <a:endParaRPr lang="en-US" sz="1500" dirty="0"/>
          </a:p>
        </p:txBody>
      </p:sp>
      <p:sp>
        <p:nvSpPr>
          <p:cNvPr id="7" name="Text 5"/>
          <p:cNvSpPr txBox="1"/>
          <p:nvPr/>
        </p:nvSpPr>
        <p:spPr>
          <a:xfrm>
            <a:off x="868680" y="4160520"/>
            <a:ext cx="4754880" cy="457200"/>
          </a:xfrm>
          <a:prstGeom prst="rect">
            <a:avLst/>
          </a:prstGeom>
          <a:noFill/>
          <a:ln/>
        </p:spPr>
        <p:txBody>
          <a:bodyPr wrap="square" lIns="0" tIns="0" rIns="0" bIns="0" rtlCol="0" anchor="ctr"/>
          <a:lstStyle/>
          <a:p>
            <a:pPr indent="0" marL="0">
              <a:buNone/>
            </a:pPr>
            <a:r>
              <a:rPr lang="en-US" sz="1100" dirty="0">
                <a:solidFill>
                  <a:srgbClr val="6A7179"/>
                </a:solidFill>
                <a:latin typeface="Calibri" pitchFamily="34" charset="0"/>
                <a:ea typeface="Calibri" pitchFamily="34" charset="-122"/>
                <a:cs typeface="Calibri" pitchFamily="34" charset="-120"/>
              </a:rPr>
              <a:t>DOL case I-200-26047-642808 · filed 16 Feb 2026 · start 13 Aug 2026</a:t>
            </a:r>
            <a:endParaRPr lang="en-US" sz="1100" dirty="0"/>
          </a:p>
        </p:txBody>
      </p:sp>
      <p:sp>
        <p:nvSpPr>
          <p:cNvPr id="8" name="Shape 6"/>
          <p:cNvSpPr/>
          <p:nvPr/>
        </p:nvSpPr>
        <p:spPr>
          <a:xfrm>
            <a:off x="6309360" y="1554480"/>
            <a:ext cx="5303520" cy="3840480"/>
          </a:xfrm>
          <a:prstGeom prst="roundRect">
            <a:avLst>
              <a:gd name="adj" fmla="val 2381"/>
            </a:avLst>
          </a:prstGeom>
          <a:solidFill>
            <a:srgbClr val="1B2A3A"/>
          </a:solidFill>
          <a:ln w="12700">
            <a:solidFill>
              <a:srgbClr val="1B2A3A"/>
            </a:solidFill>
            <a:prstDash val="solid"/>
          </a:ln>
        </p:spPr>
      </p:sp>
      <p:sp>
        <p:nvSpPr>
          <p:cNvPr id="9" name="Text 7"/>
          <p:cNvSpPr txBox="1"/>
          <p:nvPr/>
        </p:nvSpPr>
        <p:spPr>
          <a:xfrm>
            <a:off x="6629400" y="1783080"/>
            <a:ext cx="4754880" cy="320040"/>
          </a:xfrm>
          <a:prstGeom prst="rect">
            <a:avLst/>
          </a:prstGeom>
          <a:noFill/>
          <a:ln/>
        </p:spPr>
        <p:txBody>
          <a:bodyPr wrap="square" lIns="0" tIns="0" rIns="0" bIns="0" rtlCol="0" anchor="ctr"/>
          <a:lstStyle/>
          <a:p>
            <a:pPr indent="0" marL="0">
              <a:buNone/>
            </a:pPr>
            <a:r>
              <a:rPr lang="en-US" sz="1200" b="1" spc="200" kern="0" dirty="0">
                <a:solidFill>
                  <a:srgbClr val="C9C4B8"/>
                </a:solidFill>
                <a:latin typeface="Calibri" pitchFamily="34" charset="0"/>
                <a:ea typeface="Calibri" pitchFamily="34" charset="-122"/>
                <a:cs typeface="Calibri" pitchFamily="34" charset="-120"/>
              </a:rPr>
              <a:t>MY CURRENT BASE · EXECUTIVE DIRECTOR</a:t>
            </a:r>
            <a:endParaRPr lang="en-US" sz="1200" dirty="0"/>
          </a:p>
        </p:txBody>
      </p:sp>
      <p:sp>
        <p:nvSpPr>
          <p:cNvPr id="10" name="Text 8"/>
          <p:cNvSpPr txBox="1"/>
          <p:nvPr/>
        </p:nvSpPr>
        <p:spPr>
          <a:xfrm>
            <a:off x="6629400" y="2148840"/>
            <a:ext cx="4754880" cy="1097280"/>
          </a:xfrm>
          <a:prstGeom prst="rect">
            <a:avLst/>
          </a:prstGeom>
          <a:noFill/>
          <a:ln/>
        </p:spPr>
        <p:txBody>
          <a:bodyPr wrap="square" lIns="0" tIns="0" rIns="0" bIns="0"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$180,000</a:t>
            </a:r>
            <a:endParaRPr lang="en-US" sz="6600" dirty="0"/>
          </a:p>
        </p:txBody>
      </p:sp>
      <p:sp>
        <p:nvSpPr>
          <p:cNvPr id="11" name="Text 9"/>
          <p:cNvSpPr txBox="1"/>
          <p:nvPr/>
        </p:nvSpPr>
        <p:spPr>
          <a:xfrm>
            <a:off x="6629400" y="3291840"/>
            <a:ext cx="475488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Senior EM Strategist, Executive Director</a:t>
            </a:r>
            <a:endParaRPr lang="en-US" sz="1500" dirty="0"/>
          </a:p>
          <a:p>
            <a:pPr indent="0" marL="0">
              <a:buNone/>
            </a:pPr>
            <a:r>
              <a:rPr lang="en-US" sz="1500" dirty="0">
                <a:solidFill>
                  <a:srgbClr val="FFFFFF"/>
                </a:solidFill>
                <a:latin typeface="Calibri" pitchFamily="34" charset="0"/>
                <a:ea typeface="Calibri" pitchFamily="34" charset="-122"/>
                <a:cs typeface="Calibri" pitchFamily="34" charset="-120"/>
              </a:rPr>
              <a:t>Two coverage seats · 12 years with the firm</a:t>
            </a:r>
            <a:endParaRPr lang="en-US" sz="1500" dirty="0"/>
          </a:p>
        </p:txBody>
      </p:sp>
      <p:sp>
        <p:nvSpPr>
          <p:cNvPr id="12" name="Text 10"/>
          <p:cNvSpPr txBox="1"/>
          <p:nvPr/>
        </p:nvSpPr>
        <p:spPr>
          <a:xfrm>
            <a:off x="6629400" y="4160520"/>
            <a:ext cx="4754880" cy="457200"/>
          </a:xfrm>
          <a:prstGeom prst="rect">
            <a:avLst/>
          </a:prstGeom>
          <a:noFill/>
          <a:ln/>
        </p:spPr>
        <p:txBody>
          <a:bodyPr wrap="square" lIns="0" tIns="0" rIns="0" bIns="0" rtlCol="0" anchor="ctr"/>
          <a:lstStyle/>
          <a:p>
            <a:pPr indent="0" marL="0">
              <a:buNone/>
            </a:pPr>
            <a:r>
              <a:rPr lang="en-US" sz="1100" dirty="0">
                <a:solidFill>
                  <a:srgbClr val="C9C4B8"/>
                </a:solidFill>
                <a:latin typeface="Calibri" pitchFamily="34" charset="0"/>
                <a:ea typeface="Calibri" pitchFamily="34" charset="-122"/>
                <a:cs typeface="Calibri" pitchFamily="34" charset="-120"/>
              </a:rPr>
              <a:t>Difference: $5,000 (2.9%) for one rank and one additional seat</a:t>
            </a:r>
            <a:endParaRPr lang="en-US" sz="1100" dirty="0"/>
          </a:p>
        </p:txBody>
      </p:sp>
      <p:sp>
        <p:nvSpPr>
          <p:cNvPr id="13" name="Text 11"/>
          <p:cNvSpPr txBox="1"/>
          <p:nvPr/>
        </p:nvSpPr>
        <p:spPr>
          <a:xfrm>
            <a:off x="548640" y="5577840"/>
            <a:ext cx="11064240" cy="640080"/>
          </a:xfrm>
          <a:prstGeom prst="rect">
            <a:avLst/>
          </a:prstGeom>
          <a:noFill/>
          <a:ln/>
        </p:spPr>
        <p:txBody>
          <a:bodyPr wrap="square" lIns="0" tIns="0" rIns="0" bIns="0" rtlCol="0" anchor="ctr"/>
          <a:lstStyle/>
          <a:p>
            <a:pPr indent="0" marL="0">
              <a:buNone/>
            </a:pPr>
            <a:r>
              <a:rPr lang="en-US" sz="1600" i="1" dirty="0">
                <a:solidFill>
                  <a:srgbClr val="1B2A3A"/>
                </a:solidFill>
                <a:latin typeface="Calibri" pitchFamily="34" charset="0"/>
                <a:ea typeface="Calibri" pitchFamily="34" charset="-122"/>
                <a:cs typeface="Calibri" pitchFamily="34" charset="-120"/>
              </a:rPr>
              <a:t>The firm attested this year to paying a Director in my own specialty within $5,000 of what it pays me as an Executive Director carrying two seats.</a:t>
            </a:r>
            <a:endParaRPr lang="en-US" sz="1600" dirty="0"/>
          </a:p>
        </p:txBody>
      </p:sp>
      <p:sp>
        <p:nvSpPr>
          <p:cNvPr id="14" name="Text 12"/>
          <p:cNvSpPr txBox="1"/>
          <p:nvPr/>
        </p:nvSpPr>
        <p:spPr>
          <a:xfrm>
            <a:off x="548640" y="6355080"/>
            <a:ext cx="11064240" cy="320040"/>
          </a:xfrm>
          <a:prstGeom prst="rect">
            <a:avLst/>
          </a:prstGeom>
          <a:noFill/>
          <a:ln/>
        </p:spPr>
        <p:txBody>
          <a:bodyPr wrap="square" lIns="0" tIns="0" rIns="0" bIns="0" rtlCol="0" anchor="ctr"/>
          <a:lstStyle/>
          <a:p>
            <a:pPr indent="0" marL="0">
              <a:buNone/>
            </a:pPr>
            <a:r>
              <a:rPr lang="en-US" sz="1000" dirty="0">
                <a:solidFill>
                  <a:srgbClr val="6A7179"/>
                </a:solidFill>
                <a:latin typeface="Calibri" pitchFamily="34" charset="0"/>
                <a:ea typeface="Calibri" pitchFamily="34" charset="-122"/>
                <a:cs typeface="Calibri" pitchFamily="34" charset="-120"/>
              </a:rPr>
              <a:t>Source: US Department of Labor, H-1B Labor Condition Application disclosure data — UBS Financial Services Inc, New York, NY. Public record.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t"/>
          <a:lstStyle/>
          <a:p>
            <a:pPr indent="0" marL="0">
              <a:buNone/>
            </a:pPr>
            <a:r>
              <a:rPr lang="en-US" sz="3200" b="1" dirty="0">
                <a:solidFill>
                  <a:srgbClr val="1B2A3A"/>
                </a:solidFill>
                <a:latin typeface="Cambria" pitchFamily="34" charset="0"/>
                <a:ea typeface="Cambria" pitchFamily="34" charset="-122"/>
                <a:cs typeface="Cambria" pitchFamily="34" charset="-120"/>
              </a:rPr>
              <a:t>Executive Director filings — UBS Financial Services, NY</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2103120"/>
        </p:xfrm>
        <a:graphic>
          <a:graphicData uri="http://schemas.openxmlformats.org/drawingml/2006/table">
            <a:tbl>
              <a:tblPr/>
              <a:tblGrid>
                <a:gridCol w="4480560"/>
                <a:gridCol w="1463040"/>
                <a:gridCol w="1371600"/>
                <a:gridCol w="1371600"/>
                <a:gridCol w="237744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Title as filed by UBS</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1B2A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Base salary</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1B2A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Filed</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1B2A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Start</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1B2A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DOL case number</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1B2A3A"/>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Executive Director, Investment Strategist</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b="1" dirty="0">
                          <a:solidFill>
                            <a:srgbClr val="C8102E"/>
                          </a:solidFill>
                          <a:latin typeface="Calibri" pitchFamily="34" charset="0"/>
                          <a:ea typeface="Calibri" pitchFamily="34" charset="-122"/>
                          <a:cs typeface="Calibri" pitchFamily="34" charset="-120"/>
                        </a:rPr>
                        <a:t>$250,000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12/21/2020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06/18/2021</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I-200-20356-972064</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Executive Director, Investment Strategist</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b="1" dirty="0">
                          <a:solidFill>
                            <a:srgbClr val="C8102E"/>
                          </a:solidFill>
                          <a:latin typeface="Calibri" pitchFamily="34" charset="0"/>
                          <a:ea typeface="Calibri" pitchFamily="34" charset="-122"/>
                          <a:cs typeface="Calibri" pitchFamily="34" charset="-120"/>
                        </a:rPr>
                        <a:t>$250,000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12/22/2020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06/18/2021</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I-200-20357-975460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Executive Director, Sustainable &amp; Impact Investing Strategist</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$225,000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03/25/2025</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09/15/2025</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I-200-25084-802134</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Executive Director, Asset Allocation Strategist</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$200,000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04/17/2025</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10/01/2025</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I-200-25107-876910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Executive Director, Investment Strategist</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$175,000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06/29/2020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07/08/2020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I-200-20181-686000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114800"/>
            <a:ext cx="11064240" cy="1737360"/>
          </a:xfrm>
          <a:prstGeom prst="roundRect">
            <a:avLst>
              <a:gd name="adj" fmla="val 4211"/>
            </a:avLst>
          </a:prstGeom>
          <a:solidFill>
            <a:srgbClr val="F2F0EB"/>
          </a:solidFill>
          <a:ln w="12700">
            <a:solidFill>
              <a:srgbClr val="F2F0EB"/>
            </a:solidFill>
            <a:prstDash val="solid"/>
          </a:ln>
        </p:spPr>
      </p:sp>
      <p:sp>
        <p:nvSpPr>
          <p:cNvPr id="5" name="Text 2"/>
          <p:cNvSpPr txBox="1"/>
          <p:nvPr/>
        </p:nvSpPr>
        <p:spPr>
          <a:xfrm>
            <a:off x="868680" y="4251960"/>
            <a:ext cx="3291840" cy="914400"/>
          </a:xfrm>
          <a:prstGeom prst="rect">
            <a:avLst/>
          </a:prstGeom>
          <a:noFill/>
          <a:ln/>
        </p:spPr>
        <p:txBody>
          <a:bodyPr wrap="square" lIns="0" tIns="0" rIns="0" bIns="0" rtlCol="0" anchor="ctr"/>
          <a:lstStyle/>
          <a:p>
            <a:pPr indent="0" marL="0">
              <a:buNone/>
            </a:pPr>
            <a:r>
              <a:rPr lang="en-US" sz="4800" b="1" dirty="0">
                <a:solidFill>
                  <a:srgbClr val="C8102E"/>
                </a:solidFill>
                <a:latin typeface="Cambria" pitchFamily="34" charset="0"/>
                <a:ea typeface="Cambria" pitchFamily="34" charset="-122"/>
                <a:cs typeface="Cambria" pitchFamily="34" charset="-120"/>
              </a:rPr>
              <a:t>$250,000</a:t>
            </a:r>
            <a:endParaRPr lang="en-US" sz="4800" dirty="0"/>
          </a:p>
        </p:txBody>
      </p:sp>
      <p:sp>
        <p:nvSpPr>
          <p:cNvPr id="6" name="Text 3"/>
          <p:cNvSpPr txBox="1"/>
          <p:nvPr/>
        </p:nvSpPr>
        <p:spPr>
          <a:xfrm>
            <a:off x="4297680" y="4251960"/>
            <a:ext cx="7040880" cy="1463040"/>
          </a:xfrm>
          <a:prstGeom prst="rect">
            <a:avLst/>
          </a:prstGeom>
          <a:noFill/>
          <a:ln/>
        </p:spPr>
        <p:txBody>
          <a:bodyPr wrap="square" lIns="0" tIns="0" rIns="0" bIns="0" rtlCol="0" anchor="t"/>
          <a:lstStyle/>
          <a:p>
            <a:pPr indent="0" marL="0">
              <a:buNone/>
            </a:pPr>
            <a:r>
              <a:rPr lang="en-US" sz="1400" dirty="0">
                <a:solidFill>
                  <a:srgbClr val="1B2A3A"/>
                </a:solidFill>
                <a:latin typeface="Calibri" pitchFamily="34" charset="0"/>
                <a:ea typeface="Calibri" pitchFamily="34" charset="-122"/>
                <a:cs typeface="Calibri" pitchFamily="34" charset="-120"/>
              </a:rPr>
              <a:t>Executive Director, Investment Strategist — December 2020.</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Five years and roughly 20% of cumulative US inflation ago, UBS attested to exactly the base I am requesting. Rows 1 and 2 are the same role filed one day apart (original and amendment) and count as one data point.</a:t>
            </a:r>
            <a:endParaRPr lang="en-US" sz="1400" dirty="0"/>
          </a:p>
        </p:txBody>
      </p:sp>
      <p:sp>
        <p:nvSpPr>
          <p:cNvPr id="7" name="Text 4"/>
          <p:cNvSpPr txBox="1"/>
          <p:nvPr/>
        </p:nvSpPr>
        <p:spPr>
          <a:xfrm>
            <a:off x="548640" y="6355080"/>
            <a:ext cx="11064240" cy="320040"/>
          </a:xfrm>
          <a:prstGeom prst="rect">
            <a:avLst/>
          </a:prstGeom>
          <a:noFill/>
          <a:ln/>
        </p:spPr>
        <p:txBody>
          <a:bodyPr wrap="square" lIns="0" tIns="0" rIns="0" bIns="0" rtlCol="0" anchor="ctr"/>
          <a:lstStyle/>
          <a:p>
            <a:pPr indent="0" marL="0">
              <a:buNone/>
            </a:pPr>
            <a:r>
              <a:rPr lang="en-US" sz="1000" dirty="0">
                <a:solidFill>
                  <a:srgbClr val="6A7179"/>
                </a:solidFill>
                <a:latin typeface="Calibri" pitchFamily="34" charset="0"/>
                <a:ea typeface="Calibri" pitchFamily="34" charset="-122"/>
                <a:cs typeface="Calibri" pitchFamily="34" charset="-120"/>
              </a:rPr>
              <a:t>Source: US Department of Labor, H-1B LCA disclosure data — UBS Financial Services Inc, New York, NY, all years (50 records). Each case number is an individual public record.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t"/>
          <a:lstStyle/>
          <a:p>
            <a:pPr indent="0" marL="0">
              <a:buNone/>
            </a:pPr>
            <a:r>
              <a:rPr lang="en-US" sz="3200" b="1" dirty="0">
                <a:solidFill>
                  <a:srgbClr val="1B2A3A"/>
                </a:solidFill>
                <a:latin typeface="Cambria" pitchFamily="34" charset="0"/>
                <a:ea typeface="Cambria" pitchFamily="34" charset="-122"/>
                <a:cs typeface="Cambria" pitchFamily="34" charset="-120"/>
              </a:rPr>
              <a:t>Emerging Markets and strategist filings, Director level</a:t>
            </a:r>
            <a:endParaRPr lang="en-US" sz="3200" dirty="0"/>
          </a:p>
        </p:txBody>
      </p:sp>
      <p:sp>
        <p:nvSpPr>
          <p:cNvPr id="3" name="Text 1"/>
          <p:cNvSpPr txBox="1"/>
          <p:nvPr/>
        </p:nvSpPr>
        <p:spPr>
          <a:xfrm>
            <a:off x="548640" y="1325880"/>
            <a:ext cx="5486400" cy="320040"/>
          </a:xfrm>
          <a:prstGeom prst="rect">
            <a:avLst/>
          </a:prstGeom>
          <a:noFill/>
          <a:ln/>
        </p:spPr>
        <p:txBody>
          <a:bodyPr wrap="square" lIns="0" tIns="0" rIns="0" bIns="0"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Emerging Markets</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1737360"/>
        </p:xfrm>
        <a:graphic>
          <a:graphicData uri="http://schemas.openxmlformats.org/drawingml/2006/table">
            <a:tbl>
              <a:tblPr/>
              <a:tblGrid>
                <a:gridCol w="4480560"/>
                <a:gridCol w="1280160"/>
                <a:gridCol w="1371600"/>
                <a:gridCol w="1371600"/>
                <a:gridCol w="256032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Title as filed by UBS</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1B2A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Base</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1B2A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Filed</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1B2A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Start</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1B2A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DOL case number</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1B2A3A"/>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Director, Emerging Markets Strategist</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b="1" dirty="0">
                          <a:solidFill>
                            <a:srgbClr val="C8102E"/>
                          </a:solidFill>
                          <a:latin typeface="Calibri" pitchFamily="34" charset="0"/>
                          <a:ea typeface="Calibri" pitchFamily="34" charset="-122"/>
                          <a:cs typeface="Calibri" pitchFamily="34" charset="-120"/>
                        </a:rPr>
                        <a:t>$175,000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02/16/2026</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08/13/2026</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I-200-26047-642808</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Director, Emerging Markets Strategist, Americas CIO</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$120,000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05/26/2023</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08/21/2023</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I-200-23146-058193</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Authorized Officer, Emerging Market Associate</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$137,000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04/20/2023</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08/21/2023</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I-200-23111-953712</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Authorized Officer, Emerging Market Associate</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$120,000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05/11/2023</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08/21/2023</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I-200-23131-013289</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r>
            </a:tbl>
          </a:graphicData>
        </a:graphic>
      </p:graphicFrame>
      <p:sp>
        <p:nvSpPr>
          <p:cNvPr id="5" name="Text 2"/>
          <p:cNvSpPr txBox="1"/>
          <p:nvPr/>
        </p:nvSpPr>
        <p:spPr>
          <a:xfrm>
            <a:off x="548640" y="3611880"/>
            <a:ext cx="5486400" cy="320040"/>
          </a:xfrm>
          <a:prstGeom prst="rect">
            <a:avLst/>
          </a:prstGeom>
          <a:noFill/>
          <a:ln/>
        </p:spPr>
        <p:txBody>
          <a:bodyPr wrap="square" lIns="0" tIns="0" rIns="0" bIns="0"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Other strategists (Director)</a:t>
            </a:r>
            <a:endParaRPr lang="en-US" sz="14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548640" y="3977640"/>
          <a:ext cx="11064240" cy="2286000"/>
        </p:xfrm>
        <a:graphic>
          <a:graphicData uri="http://schemas.openxmlformats.org/drawingml/2006/table">
            <a:tbl>
              <a:tblPr/>
              <a:tblGrid>
                <a:gridCol w="4480560"/>
                <a:gridCol w="1280160"/>
                <a:gridCol w="1371600"/>
                <a:gridCol w="1371600"/>
                <a:gridCol w="256032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Title as filed by UBS</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1B2A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Base</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1B2A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Filed</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1B2A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Start</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1B2A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DOL case number</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1B2A3A"/>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Director, Alternative Investments Strategist</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$205,000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12/13/2023</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04/13/2024</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I-200-23347-563965</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Director, Alternative Investments Strategist</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$200,000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04/12/2021</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04/13/2021</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I-200-21102-215279</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Director, Quantitative Analyst</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$175,000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05/02/2025</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05/09/2025</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I-200-25122-932722</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Director, Quantitative Analyst</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$175,000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04/21/2025</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09/30/2025</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I-200-25111-886372</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Director, Sustainable &amp; Impact Investing Strategist</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$165,000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10/26/2022</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04/16/2023</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I-200-22299-552304</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Director, Portfolio Strategist</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$150,000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02/16/2021</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02/23/2021</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I-200-21047-079223</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r>
            </a:tbl>
          </a:graphicData>
        </a:graphic>
      </p:graphicFrame>
      <p:sp>
        <p:nvSpPr>
          <p:cNvPr id="7" name="Text 3"/>
          <p:cNvSpPr txBox="1"/>
          <p:nvPr/>
        </p:nvSpPr>
        <p:spPr>
          <a:xfrm>
            <a:off x="548640" y="6355080"/>
            <a:ext cx="11064240" cy="320040"/>
          </a:xfrm>
          <a:prstGeom prst="rect">
            <a:avLst/>
          </a:prstGeom>
          <a:noFill/>
          <a:ln/>
        </p:spPr>
        <p:txBody>
          <a:bodyPr wrap="square" lIns="0" tIns="0" rIns="0" bIns="0" rtlCol="0" anchor="ctr"/>
          <a:lstStyle/>
          <a:p>
            <a:pPr indent="0" marL="0">
              <a:buNone/>
            </a:pPr>
            <a:r>
              <a:rPr lang="en-US" sz="1000" dirty="0">
                <a:solidFill>
                  <a:srgbClr val="6A7179"/>
                </a:solidFill>
                <a:latin typeface="Calibri" pitchFamily="34" charset="0"/>
                <a:ea typeface="Calibri" pitchFamily="34" charset="-122"/>
                <a:cs typeface="Calibri" pitchFamily="34" charset="-120"/>
              </a:rPr>
              <a:t>Source: US Department of Labor, H-1B LCA disclosure data — UBS Financial Services Inc, New York, NY. Two further Director Portfolio/SI Strategist filings at $150K and $125K (2020–21) omitted for space; see Word file.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t"/>
          <a:lstStyle/>
          <a:p>
            <a:pPr indent="0" marL="0">
              <a:buNone/>
            </a:pPr>
            <a:r>
              <a:rPr lang="en-US" sz="3200" b="1" dirty="0">
                <a:solidFill>
                  <a:srgbClr val="1B2A3A"/>
                </a:solidFill>
                <a:latin typeface="Cambria" pitchFamily="34" charset="0"/>
                <a:ea typeface="Cambria" pitchFamily="34" charset="-122"/>
                <a:cs typeface="Cambria" pitchFamily="34" charset="-120"/>
              </a:rPr>
              <a:t>UBS Financial Services filings above $200,000, New York</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4023360"/>
        </p:xfrm>
        <a:graphic>
          <a:graphicData uri="http://schemas.openxmlformats.org/drawingml/2006/table">
            <a:tbl>
              <a:tblPr/>
              <a:tblGrid>
                <a:gridCol w="5852160"/>
                <a:gridCol w="1463040"/>
                <a:gridCol w="1371600"/>
                <a:gridCol w="237744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Title as filed by UBS</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1B2A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Base salary</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1B2A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Filed</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1B2A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DOL case number</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1B2A3A"/>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Executive Director, Investment Strategist</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b="1" dirty="0">
                          <a:solidFill>
                            <a:srgbClr val="C8102E"/>
                          </a:solidFill>
                          <a:latin typeface="Calibri" pitchFamily="34" charset="0"/>
                          <a:ea typeface="Calibri" pitchFamily="34" charset="-122"/>
                          <a:cs typeface="Calibri" pitchFamily="34" charset="-120"/>
                        </a:rPr>
                        <a:t>$250,000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12/21/2020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I-200-20356-972064</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Executive Director, Investment Strategist</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b="1" dirty="0">
                          <a:solidFill>
                            <a:srgbClr val="C8102E"/>
                          </a:solidFill>
                          <a:latin typeface="Calibri" pitchFamily="34" charset="0"/>
                          <a:ea typeface="Calibri" pitchFamily="34" charset="-122"/>
                          <a:cs typeface="Calibri" pitchFamily="34" charset="-120"/>
                        </a:rPr>
                        <a:t>$250,000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12/22/2020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I-200-20357-975460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Executive Director, Sustainable &amp; Impact Investing Strategist</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b="1" dirty="0">
                          <a:solidFill>
                            <a:srgbClr val="C8102E"/>
                          </a:solidFill>
                          <a:latin typeface="Calibri" pitchFamily="34" charset="0"/>
                          <a:ea typeface="Calibri" pitchFamily="34" charset="-122"/>
                          <a:cs typeface="Calibri" pitchFamily="34" charset="-120"/>
                        </a:rPr>
                        <a:t>$225,000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03/25/2025</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I-200-25084-802134</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Deputy Head, Wealth Management International</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$400,000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03/30/2020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I-200-20090-444621</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First Vice President, Financial Advisor – Wealth Management</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$400,000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04/19/2023</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I-203-23109-947727</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Managing Director, Operating Head US Strategic Programs</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$300,000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05/27/2025</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I-200-25147-018929</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First Vice President, Financial Advisor</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$250,000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05/01/2024</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I-200-24122-944314</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Director, Evidence Lab Innovations, Data Scientist Lead</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$225,000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04/18/2022</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I-200-22108-077838</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Director, Product Owner, STAAT Data Science</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$225,000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04/25/2025</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I-200-25115-905755</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Head of Business Management, Wealth Management USA</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$220,000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03/11/2020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I-200-20071-397113</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Director, Alternative Investments Strategist</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$205,000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12/13/2023</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I-200-23347-563965</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6355080"/>
            <a:ext cx="11064240" cy="320040"/>
          </a:xfrm>
          <a:prstGeom prst="rect">
            <a:avLst/>
          </a:prstGeom>
          <a:noFill/>
          <a:ln/>
        </p:spPr>
        <p:txBody>
          <a:bodyPr wrap="square" lIns="0" tIns="0" rIns="0" bIns="0" rtlCol="0" anchor="ctr"/>
          <a:lstStyle/>
          <a:p>
            <a:pPr indent="0" marL="0">
              <a:buNone/>
            </a:pPr>
            <a:r>
              <a:rPr lang="en-US" sz="1000" dirty="0">
                <a:solidFill>
                  <a:srgbClr val="6A7179"/>
                </a:solidFill>
                <a:latin typeface="Calibri" pitchFamily="34" charset="0"/>
                <a:ea typeface="Calibri" pitchFamily="34" charset="-122"/>
                <a:cs typeface="Calibri" pitchFamily="34" charset="-120"/>
              </a:rPr>
              <a:t>Shaded rows are Executive Director strategist filings. Source: US Department of Labor, H-1B LCA disclosure data — UBS Financial Services Inc, New York, NY.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t"/>
          <a:lstStyle/>
          <a:p>
            <a:pPr indent="0" marL="0">
              <a:buNone/>
            </a:pPr>
            <a:r>
              <a:rPr lang="en-US" sz="3200" b="1" dirty="0">
                <a:solidFill>
                  <a:srgbClr val="1B2A3A"/>
                </a:solidFill>
                <a:latin typeface="Cambria" pitchFamily="34" charset="0"/>
                <a:ea typeface="Cambria" pitchFamily="34" charset="-122"/>
                <a:cs typeface="Cambria" pitchFamily="34" charset="-120"/>
              </a:rPr>
              <a:t>Public job postings with NYC pay-transparency ranges</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3291840"/>
        </p:xfrm>
        <a:graphic>
          <a:graphicData uri="http://schemas.openxmlformats.org/drawingml/2006/table">
            <a:tbl>
              <a:tblPr/>
              <a:tblGrid>
                <a:gridCol w="1645920"/>
                <a:gridCol w="3840480"/>
                <a:gridCol w="1463040"/>
                <a:gridCol w="1920240"/>
                <a:gridCol w="1371600"/>
                <a:gridCol w="82296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Firm</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1B2A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Role</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1B2A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Location</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1B2A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Posted base range</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1B2A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Note</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1B2A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Screenshot</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1B2A3A"/>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UBS</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b="1" dirty="0">
                          <a:solidFill>
                            <a:srgbClr val="C8102E"/>
                          </a:solidFill>
                          <a:latin typeface="Calibri" pitchFamily="34" charset="0"/>
                          <a:ea typeface="Calibri" pitchFamily="34" charset="-122"/>
                          <a:cs typeface="Calibri" pitchFamily="34" charset="-120"/>
                        </a:rPr>
                        <a:t>Fixed Income Strategist – Executive Director (CIO, GWM)</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New York</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$170,000 – $245,000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Job ref 301328BR</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p6, p7</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UBS</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b="1" dirty="0">
                          <a:solidFill>
                            <a:srgbClr val="C8102E"/>
                          </a:solidFill>
                          <a:latin typeface="Calibri" pitchFamily="34" charset="0"/>
                          <a:ea typeface="Calibri" pitchFamily="34" charset="-122"/>
                          <a:cs typeface="Calibri" pitchFamily="34" charset="-120"/>
                        </a:rPr>
                        <a:t>US Senior Economist (CIO)</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New York</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$200,000 – $250,000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p7</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UBS</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b="1" dirty="0">
                          <a:solidFill>
                            <a:srgbClr val="C8102E"/>
                          </a:solidFill>
                          <a:latin typeface="Calibri" pitchFamily="34" charset="0"/>
                          <a:ea typeface="Calibri" pitchFamily="34" charset="-122"/>
                          <a:cs typeface="Calibri" pitchFamily="34" charset="-120"/>
                        </a:rPr>
                        <a:t>Asset Allocation Strategist (CIO)</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New York</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$157,000 – $205,000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Job ref 323654BR</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p1, p2, p3</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BEAEC"/>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Deutsche Bank</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LatAm Research Analyst – Director</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New York (hybrid)</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$225,000 – $275,000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p4, p5</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RBC</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Vice President, Investment Grade Credit Desk Strategist</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New York</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$225,000 (expected)</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p1</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Barclays</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Senior G10 FX/Macro Strategist</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New York</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$155,000 – $225,000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Min/max stated</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p4</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2F0EB"/>
                    </a:solidFill>
                  </a:tcPr>
                </a:tc>
              </a:tr>
              <a:tr h="329184">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Dalio Family Office</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Investment Associate, Global Macro</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New York (hybrid)</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$200,000 – $300,000</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Inclusive of merit bonus</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latin typeface="Calibri" pitchFamily="34" charset="0"/>
                          <a:ea typeface="Calibri" pitchFamily="34" charset="-122"/>
                          <a:cs typeface="Calibri" pitchFamily="34" charset="-120"/>
                        </a:rPr>
                        <a:t>p3</a:t>
                      </a:r>
                      <a:endParaRPr lang="en-US" sz="1200" dirty="0">
                        <a:latin typeface="Calibri" charset="0"/>
                        <a:ea typeface="Calibri" charset="0"/>
                        <a:cs typeface="Calibri" charset="0"/>
                      </a:endParaRPr>
                    </a:p>
                  </a:txBody>
                  <a:tcPr marL="54864" marR="54864" marT="54864" marB="54864" anchor="ctr">
                    <a:lnL w="6350" cap="flat" cmpd="sng" algn="ctr">
                      <a:solidFill>
                        <a:srgbClr val="D9D4CA"/>
                      </a:solidFill>
                      <a:prstDash val="solid"/>
                      <a:round/>
                      <a:headEnd type="none" w="med" len="med"/>
                      <a:tailEnd type="none" w="med" len="med"/>
                    </a:lnL>
                    <a:lnR w="6350" cap="flat" cmpd="sng" algn="ctr">
                      <a:solidFill>
                        <a:srgbClr val="D9D4CA"/>
                      </a:solidFill>
                      <a:prstDash val="solid"/>
                      <a:round/>
                      <a:headEnd type="none" w="med" len="med"/>
                      <a:tailEnd type="none" w="med" len="med"/>
                    </a:lnR>
                    <a:lnT w="6350" cap="flat" cmpd="sng" algn="ctr">
                      <a:solidFill>
                        <a:srgbClr val="D9D4CA"/>
                      </a:solidFill>
                      <a:prstDash val="solid"/>
                      <a:round/>
                      <a:headEnd type="none" w="med" len="med"/>
                      <a:tailEnd type="none" w="med" len="med"/>
                    </a:lnT>
                    <a:lnB w="6350" cap="flat" cmpd="sng" algn="ctr">
                      <a:solidFill>
                        <a:srgbClr val="D9D4CA"/>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120640"/>
            <a:ext cx="11064240" cy="822960"/>
          </a:xfrm>
          <a:prstGeom prst="rect">
            <a:avLst/>
          </a:prstGeom>
          <a:noFill/>
          <a:ln/>
        </p:spPr>
        <p:txBody>
          <a:bodyPr wrap="square" lIns="0" tIns="0" rIns="0" bIns="0" rtlCol="0" anchor="ctr"/>
          <a:lstStyle/>
          <a:p>
            <a:pPr indent="0" marL="0">
              <a:buNone/>
            </a:pPr>
            <a:r>
              <a:rPr lang="en-US" sz="1400" i="1" dirty="0">
                <a:solidFill>
                  <a:srgbClr val="1B2A3A"/>
                </a:solidFill>
                <a:latin typeface="Calibri" pitchFamily="34" charset="0"/>
                <a:ea typeface="Calibri" pitchFamily="34" charset="-122"/>
                <a:cs typeface="Calibri" pitchFamily="34" charset="-120"/>
              </a:rPr>
              <a:t>Shaded rows are UBS's own CIO / Global Wealth Management postings. $180,000 is below the midpoint of every range on this page, and below the floor of UBS's own US Senior Economist posting.</a:t>
            </a:r>
            <a:endParaRPr lang="en-US" sz="1400" dirty="0"/>
          </a:p>
        </p:txBody>
      </p:sp>
      <p:sp>
        <p:nvSpPr>
          <p:cNvPr id="5" name="Text 2"/>
          <p:cNvSpPr txBox="1"/>
          <p:nvPr/>
        </p:nvSpPr>
        <p:spPr>
          <a:xfrm>
            <a:off x="548640" y="6355080"/>
            <a:ext cx="11064240" cy="320040"/>
          </a:xfrm>
          <a:prstGeom prst="rect">
            <a:avLst/>
          </a:prstGeom>
          <a:noFill/>
          <a:ln/>
        </p:spPr>
        <p:txBody>
          <a:bodyPr wrap="square" lIns="0" tIns="0" rIns="0" bIns="0" rtlCol="0" anchor="ctr"/>
          <a:lstStyle/>
          <a:p>
            <a:pPr indent="0" marL="0">
              <a:buNone/>
            </a:pPr>
            <a:r>
              <a:rPr lang="en-US" sz="1000" dirty="0">
                <a:solidFill>
                  <a:srgbClr val="6A7179"/>
                </a:solidFill>
                <a:latin typeface="Calibri" pitchFamily="34" charset="0"/>
                <a:ea typeface="Calibri" pitchFamily="34" charset="-122"/>
                <a:cs typeface="Calibri" pitchFamily="34" charset="-120"/>
              </a:rPr>
              <a:t>Source: employer job postings as printed under NYC Local Law 32 (pay transparency), captured 2025. Screenshots follow.</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t"/>
          <a:lstStyle/>
          <a:p>
            <a:pPr indent="0" marL="0">
              <a:buNone/>
            </a:pPr>
            <a:r>
              <a:rPr lang="en-US" sz="3200" b="1" dirty="0">
                <a:solidFill>
                  <a:srgbClr val="1B2A3A"/>
                </a:solidFill>
                <a:latin typeface="Cambria" pitchFamily="34" charset="0"/>
                <a:ea typeface="Cambria" pitchFamily="34" charset="-122"/>
                <a:cs typeface="Cambria" pitchFamily="34" charset="-120"/>
              </a:rPr>
              <a:t>Where $180,000 sits</a:t>
            </a:r>
            <a:endParaRPr lang="en-US" sz="3200" dirty="0"/>
          </a:p>
        </p:txBody>
      </p:sp>
      <p:graphicFrame>
        <p:nvGraphicFramePr>
          <p:cNvPr id="3" name="Chart 0" descr=""/>
          <p:cNvGraphicFramePr/>
          <p:nvPr/>
        </p:nvGraphicFramePr>
        <p:xfrm>
          <a:off x="548640" y="1371600"/>
          <a:ext cx="11064240" cy="47548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6355080"/>
            <a:ext cx="11064240" cy="320040"/>
          </a:xfrm>
          <a:prstGeom prst="rect">
            <a:avLst/>
          </a:prstGeom>
          <a:noFill/>
          <a:ln/>
        </p:spPr>
        <p:txBody>
          <a:bodyPr wrap="square" lIns="0" tIns="0" rIns="0" bIns="0" rtlCol="0" anchor="ctr"/>
          <a:lstStyle/>
          <a:p>
            <a:pPr indent="0" marL="0">
              <a:buNone/>
            </a:pPr>
            <a:r>
              <a:rPr lang="en-US" sz="1000" dirty="0">
                <a:solidFill>
                  <a:srgbClr val="6A7179"/>
                </a:solidFill>
                <a:latin typeface="Calibri" pitchFamily="34" charset="0"/>
                <a:ea typeface="Calibri" pitchFamily="34" charset="-122"/>
                <a:cs typeface="Calibri" pitchFamily="34" charset="-120"/>
              </a:rPr>
              <a:t>UBS-only benchmarks. DOL rows are UBS Financial Services Inc LCA filings; posting rows are UBS CIO job postings captured 2025.</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t"/>
          <a:lstStyle/>
          <a:p>
            <a:pPr indent="0" marL="0">
              <a:buNone/>
            </a:pPr>
            <a:r>
              <a:rPr lang="en-US" sz="3200" b="1" dirty="0">
                <a:solidFill>
                  <a:srgbClr val="1B2A3A"/>
                </a:solidFill>
                <a:latin typeface="Cambria" pitchFamily="34" charset="0"/>
                <a:ea typeface="Cambria" pitchFamily="34" charset="-122"/>
                <a:cs typeface="Cambria" pitchFamily="34" charset="-120"/>
              </a:rPr>
              <a:t>How to verify</a:t>
            </a:r>
            <a:endParaRPr lang="en-US" sz="3200" dirty="0"/>
          </a:p>
        </p:txBody>
      </p:sp>
      <p:sp>
        <p:nvSpPr>
          <p:cNvPr id="3" name="Text 1"/>
          <p:cNvSpPr txBox="1"/>
          <p:nvPr/>
        </p:nvSpPr>
        <p:spPr>
          <a:xfrm>
            <a:off x="548640" y="1463040"/>
            <a:ext cx="11064240" cy="4572000"/>
          </a:xfrm>
          <a:prstGeom prst="rect">
            <a:avLst/>
          </a:prstGeom>
          <a:noFill/>
          <a:ln/>
        </p:spPr>
        <p:txBody>
          <a:bodyPr wrap="square" lIns="0" tIns="0" rIns="0" bIns="0" rtlCol="0" anchor="t"/>
          <a:lstStyle/>
          <a:p>
            <a:pPr indent="0" marL="0">
              <a:buNone/>
            </a:pPr>
            <a:r>
              <a:rPr lang="en-US" sz="1600" b="1" dirty="0">
                <a:solidFill>
                  <a:srgbClr val="1B2A3A"/>
                </a:solidFill>
                <a:latin typeface="Calibri" pitchFamily="34" charset="0"/>
                <a:ea typeface="Calibri" pitchFamily="34" charset="-122"/>
                <a:cs typeface="Calibri" pitchFamily="34" charset="-120"/>
              </a:rPr>
              <a:t>Department of Labor filings</a:t>
            </a:r>
            <a:endParaRPr lang="en-US" sz="1400" dirty="0"/>
          </a:p>
          <a:p>
            <a:pPr indent="0" marL="0">
              <a:spcAft>
                <a:spcPts val="600"/>
              </a:spcAft>
              <a:buNone/>
            </a:pPr>
            <a:r>
              <a:rPr lang="en-US" sz="1400" dirty="0">
                <a:solidFill>
                  <a:srgbClr val="1B2A3A"/>
                </a:solidFill>
                <a:latin typeface="Calibri" pitchFamily="34" charset="0"/>
                <a:ea typeface="Calibri" pitchFamily="34" charset="-122"/>
                <a:cs typeface="Calibri" pitchFamily="34" charset="-120"/>
              </a:rPr>
              <a:t>US Department of Labor, Office of Foreign Labor Certification — H-1B Labor Condition Application (LCA) disclosure data, published quarterly. Employer: UBS Financial Services Inc. Worksite: New York, NY.</a:t>
            </a:r>
            <a:endParaRPr lang="en-US" sz="1400" dirty="0"/>
          </a:p>
          <a:p>
            <a:pPr indent="0" marL="0">
              <a:spcAft>
                <a:spcPts val="600"/>
              </a:spcAft>
              <a:buNone/>
            </a:pPr>
            <a:r>
              <a:rPr lang="en-US" sz="1400" dirty="0">
                <a:solidFill>
                  <a:srgbClr val="1B2A3A"/>
                </a:solidFill>
                <a:latin typeface="Calibri" pitchFamily="34" charset="0"/>
                <a:ea typeface="Calibri" pitchFamily="34" charset="-122"/>
                <a:cs typeface="Calibri" pitchFamily="34" charset="-120"/>
              </a:rPr>
              <a:t>Indexed copy: https://h1bdata.info/index.php?em=ubs+financial+services+inc&amp;city=new+york&amp;year=all+years</a:t>
            </a:r>
            <a:endParaRPr lang="en-US" sz="1400" dirty="0"/>
          </a:p>
          <a:p>
            <a:pPr indent="0" marL="0">
              <a:spcAft>
                <a:spcPts val="1400"/>
              </a:spcAft>
              <a:buNone/>
            </a:pPr>
            <a:r>
              <a:rPr lang="en-US" sz="1400" dirty="0">
                <a:solidFill>
                  <a:srgbClr val="1B2A3A"/>
                </a:solidFill>
                <a:latin typeface="Calibri" pitchFamily="34" charset="0"/>
                <a:ea typeface="Calibri" pitchFamily="34" charset="-122"/>
                <a:cs typeface="Calibri" pitchFamily="34" charset="-120"/>
              </a:rPr>
              <a:t>Any individual record: https://h1bdata.info/details.php?id=&lt;case number&gt;</a:t>
            </a:r>
            <a:endParaRPr lang="en-US" sz="1400" dirty="0"/>
          </a:p>
          <a:p>
            <a:pPr indent="0" marL="0">
              <a:buNone/>
            </a:pPr>
            <a:r>
              <a:rPr lang="en-US" sz="1600" b="1" dirty="0">
                <a:solidFill>
                  <a:srgbClr val="1B2A3A"/>
                </a:solidFill>
                <a:latin typeface="Calibri" pitchFamily="34" charset="0"/>
                <a:ea typeface="Calibri" pitchFamily="34" charset="-122"/>
                <a:cs typeface="Calibri" pitchFamily="34" charset="-120"/>
              </a:rPr>
              <a:t>What an LCA wage is</a:t>
            </a:r>
            <a:endParaRPr lang="en-US" sz="1400" dirty="0"/>
          </a:p>
          <a:p>
            <a:pPr indent="0" marL="0">
              <a:spcAft>
                <a:spcPts val="1400"/>
              </a:spcAft>
              <a:buNone/>
            </a:pPr>
            <a:r>
              <a:rPr lang="en-US" sz="1400" dirty="0">
                <a:solidFill>
                  <a:srgbClr val="1B2A3A"/>
                </a:solidFill>
                <a:latin typeface="Calibri" pitchFamily="34" charset="0"/>
                <a:ea typeface="Calibri" pitchFamily="34" charset="-122"/>
                <a:cs typeface="Calibri" pitchFamily="34" charset="-120"/>
              </a:rPr>
              <a:t>The base wage the employer attests it will pay the sponsored employee, at or above the prevailing wage. It is normally the base salary. Filings exist only for sponsored employees, so the dataset is a sample of the team rather than the whole team.</a:t>
            </a:r>
            <a:endParaRPr lang="en-US" sz="1400" dirty="0"/>
          </a:p>
          <a:p>
            <a:pPr indent="0" marL="0">
              <a:buNone/>
            </a:pPr>
            <a:r>
              <a:rPr lang="en-US" sz="1600" b="1" dirty="0">
                <a:solidFill>
                  <a:srgbClr val="1B2A3A"/>
                </a:solidFill>
                <a:latin typeface="Calibri" pitchFamily="34" charset="0"/>
                <a:ea typeface="Calibri" pitchFamily="34" charset="-122"/>
                <a:cs typeface="Calibri" pitchFamily="34" charset="-120"/>
              </a:rPr>
              <a:t>Job postings</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Ranges printed on the employer's posting under New York City Local Law 32 of 2022 (pay transparency), captured and shared with management in 2025. Original screenshots follow.</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t"/>
          <a:lstStyle/>
          <a:p>
            <a:pPr indent="0" marL="0">
              <a:buNone/>
            </a:pPr>
            <a:r>
              <a:rPr lang="en-US" sz="3200" b="1" dirty="0">
                <a:solidFill>
                  <a:srgbClr val="1B2A3A"/>
                </a:solidFill>
                <a:latin typeface="Cambria" pitchFamily="34" charset="0"/>
                <a:ea typeface="Cambria" pitchFamily="34" charset="-122"/>
                <a:cs typeface="Cambria" pitchFamily="34" charset="-120"/>
              </a:rPr>
              <a:t>Appendix — screenshots of the postings</a:t>
            </a:r>
            <a:endParaRPr lang="en-US" sz="3200" dirty="0"/>
          </a:p>
        </p:txBody>
      </p:sp>
      <p:pic>
        <p:nvPicPr>
          <p:cNvPr id="3" name="Image 0" descr="img/p1.jpg">    </p:cNvPr>
          <p:cNvPicPr>
            <a:picLocks noChangeAspect="1"/>
          </p:cNvPicPr>
          <p:nvPr/>
        </p:nvPicPr>
        <p:blipFill>
          <a:blip r:embed="rId1"/>
          <a:stretch>
            <a:fillRect/>
          </a:stretch>
        </p:blipFill>
        <p:spPr>
          <a:xfrm>
            <a:off x="1554480" y="1371600"/>
            <a:ext cx="3566160" cy="4754880"/>
          </a:xfrm>
          <a:prstGeom prst="rect">
            <a:avLst/>
          </a:prstGeom>
        </p:spPr>
      </p:pic>
      <p:sp>
        <p:nvSpPr>
          <p:cNvPr id="4" name="Text 1"/>
          <p:cNvSpPr txBox="1"/>
          <p:nvPr/>
        </p:nvSpPr>
        <p:spPr>
          <a:xfrm>
            <a:off x="548640" y="6172200"/>
            <a:ext cx="5486400" cy="502920"/>
          </a:xfrm>
          <a:prstGeom prst="rect">
            <a:avLst/>
          </a:prstGeom>
          <a:noFill/>
          <a:ln/>
        </p:spPr>
        <p:txBody>
          <a:bodyPr wrap="square" lIns="0" tIns="0" rIns="0" bIns="0" rtlCol="0" anchor="t"/>
          <a:lstStyle/>
          <a:p>
            <a:pPr indent="0" marL="0">
              <a:buNone/>
            </a:pPr>
            <a:r>
              <a:rPr lang="en-US" sz="1000" dirty="0">
                <a:solidFill>
                  <a:srgbClr val="6A7179"/>
                </a:solidFill>
                <a:latin typeface="Calibri" pitchFamily="34" charset="0"/>
                <a:ea typeface="Calibri" pitchFamily="34" charset="-122"/>
                <a:cs typeface="Calibri" pitchFamily="34" charset="-120"/>
              </a:rPr>
              <a:t>P1 — UBS Asset Allocation Strategist range ($157K–$205K) and RBC VP IG Credit Desk Strategist ($225K)</a:t>
            </a:r>
            <a:endParaRPr lang="en-US" sz="1000" dirty="0"/>
          </a:p>
        </p:txBody>
      </p:sp>
      <p:pic>
        <p:nvPicPr>
          <p:cNvPr id="5" name="Image 1" descr="img/p2.jpg">    </p:cNvPr>
          <p:cNvPicPr>
            <a:picLocks noChangeAspect="1"/>
          </p:cNvPicPr>
          <p:nvPr/>
        </p:nvPicPr>
        <p:blipFill>
          <a:blip r:embed="rId2"/>
          <a:stretch>
            <a:fillRect/>
          </a:stretch>
        </p:blipFill>
        <p:spPr>
          <a:xfrm>
            <a:off x="7315200" y="1371600"/>
            <a:ext cx="3566160" cy="4754880"/>
          </a:xfrm>
          <a:prstGeom prst="rect">
            <a:avLst/>
          </a:prstGeom>
        </p:spPr>
      </p:pic>
      <p:sp>
        <p:nvSpPr>
          <p:cNvPr id="6" name="Text 2"/>
          <p:cNvSpPr txBox="1"/>
          <p:nvPr/>
        </p:nvSpPr>
        <p:spPr>
          <a:xfrm>
            <a:off x="6309360" y="6172200"/>
            <a:ext cx="5486400" cy="502920"/>
          </a:xfrm>
          <a:prstGeom prst="rect">
            <a:avLst/>
          </a:prstGeom>
          <a:noFill/>
          <a:ln/>
        </p:spPr>
        <p:txBody>
          <a:bodyPr wrap="square" lIns="0" tIns="0" rIns="0" bIns="0" rtlCol="0" anchor="t"/>
          <a:lstStyle/>
          <a:p>
            <a:pPr indent="0" marL="0">
              <a:buNone/>
            </a:pPr>
            <a:r>
              <a:rPr lang="en-US" sz="1000" dirty="0">
                <a:solidFill>
                  <a:srgbClr val="6A7179"/>
                </a:solidFill>
                <a:latin typeface="Calibri" pitchFamily="34" charset="0"/>
                <a:ea typeface="Calibri" pitchFamily="34" charset="-122"/>
                <a:cs typeface="Calibri" pitchFamily="34" charset="-120"/>
              </a:rPr>
              <a:t>P2 — UBS Asset Allocation Strategist, job ref 323654BR — full posting with salary range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t"/>
          <a:lstStyle/>
          <a:p>
            <a:pPr indent="0" marL="0">
              <a:buNone/>
            </a:pPr>
            <a:r>
              <a:rPr lang="en-US" sz="3200" b="1" dirty="0">
                <a:solidFill>
                  <a:srgbClr val="1B2A3A"/>
                </a:solidFill>
                <a:latin typeface="Cambria" pitchFamily="34" charset="0"/>
                <a:ea typeface="Cambria" pitchFamily="34" charset="-122"/>
                <a:cs typeface="Cambria" pitchFamily="34" charset="-120"/>
              </a:rPr>
              <a:t>Appendix — screenshots (continued)</a:t>
            </a:r>
            <a:endParaRPr lang="en-US" sz="3200" dirty="0"/>
          </a:p>
        </p:txBody>
      </p:sp>
      <p:pic>
        <p:nvPicPr>
          <p:cNvPr id="3" name="Image 0" descr="img/p3.jpg">    </p:cNvPr>
          <p:cNvPicPr>
            <a:picLocks noChangeAspect="1"/>
          </p:cNvPicPr>
          <p:nvPr/>
        </p:nvPicPr>
        <p:blipFill>
          <a:blip r:embed="rId1"/>
          <a:stretch>
            <a:fillRect/>
          </a:stretch>
        </p:blipFill>
        <p:spPr>
          <a:xfrm>
            <a:off x="1554480" y="1371600"/>
            <a:ext cx="3566160" cy="4754880"/>
          </a:xfrm>
          <a:prstGeom prst="rect">
            <a:avLst/>
          </a:prstGeom>
        </p:spPr>
      </p:pic>
      <p:sp>
        <p:nvSpPr>
          <p:cNvPr id="4" name="Text 1"/>
          <p:cNvSpPr txBox="1"/>
          <p:nvPr/>
        </p:nvSpPr>
        <p:spPr>
          <a:xfrm>
            <a:off x="548640" y="6172200"/>
            <a:ext cx="5486400" cy="502920"/>
          </a:xfrm>
          <a:prstGeom prst="rect">
            <a:avLst/>
          </a:prstGeom>
          <a:noFill/>
          <a:ln/>
        </p:spPr>
        <p:txBody>
          <a:bodyPr wrap="square" lIns="0" tIns="0" rIns="0" bIns="0" rtlCol="0" anchor="t"/>
          <a:lstStyle/>
          <a:p>
            <a:pPr indent="0" marL="0">
              <a:buNone/>
            </a:pPr>
            <a:r>
              <a:rPr lang="en-US" sz="1000" dirty="0">
                <a:solidFill>
                  <a:srgbClr val="6A7179"/>
                </a:solidFill>
                <a:latin typeface="Calibri" pitchFamily="34" charset="0"/>
                <a:ea typeface="Calibri" pitchFamily="34" charset="-122"/>
                <a:cs typeface="Calibri" pitchFamily="34" charset="-120"/>
              </a:rPr>
              <a:t>P3 — Dalio Family Office Investment Associate, Global Macro ($200K–$300K)</a:t>
            </a:r>
            <a:endParaRPr lang="en-US" sz="1000" dirty="0"/>
          </a:p>
        </p:txBody>
      </p:sp>
      <p:pic>
        <p:nvPicPr>
          <p:cNvPr id="5" name="Image 1" descr="img/p4.jpg">    </p:cNvPr>
          <p:cNvPicPr>
            <a:picLocks noChangeAspect="1"/>
          </p:cNvPicPr>
          <p:nvPr/>
        </p:nvPicPr>
        <p:blipFill>
          <a:blip r:embed="rId2"/>
          <a:stretch>
            <a:fillRect/>
          </a:stretch>
        </p:blipFill>
        <p:spPr>
          <a:xfrm>
            <a:off x="7315200" y="1371600"/>
            <a:ext cx="3566160" cy="4754880"/>
          </a:xfrm>
          <a:prstGeom prst="rect">
            <a:avLst/>
          </a:prstGeom>
        </p:spPr>
      </p:pic>
      <p:sp>
        <p:nvSpPr>
          <p:cNvPr id="6" name="Text 2"/>
          <p:cNvSpPr txBox="1"/>
          <p:nvPr/>
        </p:nvSpPr>
        <p:spPr>
          <a:xfrm>
            <a:off x="6309360" y="6172200"/>
            <a:ext cx="5486400" cy="502920"/>
          </a:xfrm>
          <a:prstGeom prst="rect">
            <a:avLst/>
          </a:prstGeom>
          <a:noFill/>
          <a:ln/>
        </p:spPr>
        <p:txBody>
          <a:bodyPr wrap="square" lIns="0" tIns="0" rIns="0" bIns="0" rtlCol="0" anchor="t"/>
          <a:lstStyle/>
          <a:p>
            <a:pPr indent="0" marL="0">
              <a:buNone/>
            </a:pPr>
            <a:r>
              <a:rPr lang="en-US" sz="1000" dirty="0">
                <a:solidFill>
                  <a:srgbClr val="6A7179"/>
                </a:solidFill>
                <a:latin typeface="Calibri" pitchFamily="34" charset="0"/>
                <a:ea typeface="Calibri" pitchFamily="34" charset="-122"/>
                <a:cs typeface="Calibri" pitchFamily="34" charset="-120"/>
              </a:rPr>
              <a:t>P4 — Deutsche Bank LatAm Research Director ($225K–$275K) and Barclays Senior G10 FX/Macro Strategist ($155K–$225K)</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t"/>
          <a:lstStyle/>
          <a:p>
            <a:pPr indent="0" marL="0">
              <a:buNone/>
            </a:pPr>
            <a:r>
              <a:rPr lang="en-US" sz="3200" b="1" dirty="0">
                <a:solidFill>
                  <a:srgbClr val="1B2A3A"/>
                </a:solidFill>
                <a:latin typeface="Cambria" pitchFamily="34" charset="0"/>
                <a:ea typeface="Cambria" pitchFamily="34" charset="-122"/>
                <a:cs typeface="Cambria" pitchFamily="34" charset="-120"/>
              </a:rPr>
              <a:t>Appendix — screenshots (continued)</a:t>
            </a:r>
            <a:endParaRPr lang="en-US" sz="3200" dirty="0"/>
          </a:p>
        </p:txBody>
      </p:sp>
      <p:pic>
        <p:nvPicPr>
          <p:cNvPr id="3" name="Image 0" descr="img/p5.jpg">    </p:cNvPr>
          <p:cNvPicPr>
            <a:picLocks noChangeAspect="1"/>
          </p:cNvPicPr>
          <p:nvPr/>
        </p:nvPicPr>
        <p:blipFill>
          <a:blip r:embed="rId1"/>
          <a:stretch>
            <a:fillRect/>
          </a:stretch>
        </p:blipFill>
        <p:spPr>
          <a:xfrm>
            <a:off x="1554480" y="1371600"/>
            <a:ext cx="3566160" cy="4754880"/>
          </a:xfrm>
          <a:prstGeom prst="rect">
            <a:avLst/>
          </a:prstGeom>
        </p:spPr>
      </p:pic>
      <p:sp>
        <p:nvSpPr>
          <p:cNvPr id="4" name="Text 1"/>
          <p:cNvSpPr txBox="1"/>
          <p:nvPr/>
        </p:nvSpPr>
        <p:spPr>
          <a:xfrm>
            <a:off x="548640" y="6172200"/>
            <a:ext cx="5486400" cy="502920"/>
          </a:xfrm>
          <a:prstGeom prst="rect">
            <a:avLst/>
          </a:prstGeom>
          <a:noFill/>
          <a:ln/>
        </p:spPr>
        <p:txBody>
          <a:bodyPr wrap="square" lIns="0" tIns="0" rIns="0" bIns="0" rtlCol="0" anchor="t"/>
          <a:lstStyle/>
          <a:p>
            <a:pPr indent="0" marL="0">
              <a:buNone/>
            </a:pPr>
            <a:r>
              <a:rPr lang="en-US" sz="1000" dirty="0">
                <a:solidFill>
                  <a:srgbClr val="6A7179"/>
                </a:solidFill>
                <a:latin typeface="Calibri" pitchFamily="34" charset="0"/>
                <a:ea typeface="Calibri" pitchFamily="34" charset="-122"/>
                <a:cs typeface="Calibri" pitchFamily="34" charset="-120"/>
              </a:rPr>
              <a:t>P5 — Deutsche Bank LatAm Research Analyst – Director, full posting</a:t>
            </a:r>
            <a:endParaRPr lang="en-US" sz="1000" dirty="0"/>
          </a:p>
        </p:txBody>
      </p:sp>
      <p:pic>
        <p:nvPicPr>
          <p:cNvPr id="5" name="Image 1" descr="img/p6.jpg">    </p:cNvPr>
          <p:cNvPicPr>
            <a:picLocks noChangeAspect="1"/>
          </p:cNvPicPr>
          <p:nvPr/>
        </p:nvPicPr>
        <p:blipFill>
          <a:blip r:embed="rId2"/>
          <a:stretch>
            <a:fillRect/>
          </a:stretch>
        </p:blipFill>
        <p:spPr>
          <a:xfrm>
            <a:off x="7315200" y="1371600"/>
            <a:ext cx="3566160" cy="4754880"/>
          </a:xfrm>
          <a:prstGeom prst="rect">
            <a:avLst/>
          </a:prstGeom>
        </p:spPr>
      </p:pic>
      <p:sp>
        <p:nvSpPr>
          <p:cNvPr id="6" name="Text 2"/>
          <p:cNvSpPr txBox="1"/>
          <p:nvPr/>
        </p:nvSpPr>
        <p:spPr>
          <a:xfrm>
            <a:off x="6309360" y="6172200"/>
            <a:ext cx="5486400" cy="502920"/>
          </a:xfrm>
          <a:prstGeom prst="rect">
            <a:avLst/>
          </a:prstGeom>
          <a:noFill/>
          <a:ln/>
        </p:spPr>
        <p:txBody>
          <a:bodyPr wrap="square" lIns="0" tIns="0" rIns="0" bIns="0" rtlCol="0" anchor="t"/>
          <a:lstStyle/>
          <a:p>
            <a:pPr indent="0" marL="0">
              <a:buNone/>
            </a:pPr>
            <a:r>
              <a:rPr lang="en-US" sz="1000" dirty="0">
                <a:solidFill>
                  <a:srgbClr val="6A7179"/>
                </a:solidFill>
                <a:latin typeface="Calibri" pitchFamily="34" charset="0"/>
                <a:ea typeface="Calibri" pitchFamily="34" charset="-122"/>
                <a:cs typeface="Calibri" pitchFamily="34" charset="-120"/>
              </a:rPr>
              <a:t>P6 — UBS Fixed Income Strategist – Executive Director, CIO, job ref 301328BR ($170K–$245K)</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t"/>
          <a:lstStyle/>
          <a:p>
            <a:pPr indent="0" marL="0">
              <a:buNone/>
            </a:pPr>
            <a:r>
              <a:rPr lang="en-US" sz="3200" b="1" dirty="0">
                <a:solidFill>
                  <a:srgbClr val="1B2A3A"/>
                </a:solidFill>
                <a:latin typeface="Cambria" pitchFamily="34" charset="0"/>
                <a:ea typeface="Cambria" pitchFamily="34" charset="-122"/>
                <a:cs typeface="Cambria" pitchFamily="34" charset="-120"/>
              </a:rPr>
              <a:t>Appendix — screenshots (continued)</a:t>
            </a:r>
            <a:endParaRPr lang="en-US" sz="3200" dirty="0"/>
          </a:p>
        </p:txBody>
      </p:sp>
      <p:pic>
        <p:nvPicPr>
          <p:cNvPr id="3" name="Image 0" descr="img/p7.jpg">    </p:cNvPr>
          <p:cNvPicPr>
            <a:picLocks noChangeAspect="1"/>
          </p:cNvPicPr>
          <p:nvPr/>
        </p:nvPicPr>
        <p:blipFill>
          <a:blip r:embed="rId1"/>
          <a:stretch>
            <a:fillRect/>
          </a:stretch>
        </p:blipFill>
        <p:spPr>
          <a:xfrm>
            <a:off x="1554480" y="1371600"/>
            <a:ext cx="3566160" cy="4754880"/>
          </a:xfrm>
          <a:prstGeom prst="rect">
            <a:avLst/>
          </a:prstGeom>
        </p:spPr>
      </p:pic>
      <p:sp>
        <p:nvSpPr>
          <p:cNvPr id="4" name="Text 1"/>
          <p:cNvSpPr txBox="1"/>
          <p:nvPr/>
        </p:nvSpPr>
        <p:spPr>
          <a:xfrm>
            <a:off x="548640" y="6172200"/>
            <a:ext cx="5486400" cy="502920"/>
          </a:xfrm>
          <a:prstGeom prst="rect">
            <a:avLst/>
          </a:prstGeom>
          <a:noFill/>
          <a:ln/>
        </p:spPr>
        <p:txBody>
          <a:bodyPr wrap="square" lIns="0" tIns="0" rIns="0" bIns="0" rtlCol="0" anchor="t"/>
          <a:lstStyle/>
          <a:p>
            <a:pPr indent="0" marL="0">
              <a:buNone/>
            </a:pPr>
            <a:r>
              <a:rPr lang="en-US" sz="1000" dirty="0">
                <a:solidFill>
                  <a:srgbClr val="6A7179"/>
                </a:solidFill>
                <a:latin typeface="Calibri" pitchFamily="34" charset="0"/>
                <a:ea typeface="Calibri" pitchFamily="34" charset="-122"/>
                <a:cs typeface="Calibri" pitchFamily="34" charset="-120"/>
              </a:rPr>
              <a:t>P7 — UBS US Senior Economist, CIO ($200K–$250K), above the ED Fixed Income Strategist posting</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2026-09-22T15:37:50Z</dcterms:created>
  <dcterms:modified xsi:type="dcterms:W3CDTF">2026-09-22T15:37:50Z</dcterms:modified>
</cp:coreProperties>
</file>
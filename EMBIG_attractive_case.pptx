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EMBI Global Diversified spread move (bp)</c:v>
                </c:pt>
              </c:strCache>
            </c:strRef>
          </c:tx>
          <c:spPr>
            <a:solidFill>
              <a:srgbClr val="A83A32"/>
            </a:solidFill>
            <a:effectLst/>
          </c:spPr>
          <c:invertIfNegative val="0"/>
          <c:dLbls>
            <c:numFmt formatCode="#,##0" sourceLinked="0"/>
            <c:txPr>
              <a:bodyPr/>
              <a:lstStyle/>
              <a:p>
                <a:pPr>
                  <a:defRPr b="1" i="0" strike="noStrike" sz="1500" u="none">
                    <a:solidFill>
                      <a:srgbClr val="1B2A41"/>
                    </a:solidFill>
                    <a:latin typeface="Arial"/>
                  </a:defRPr>
                </a:pPr>
              </a:p>
            </c:txPr>
            <c:showLegendKey val="0"/>
            <c:showVal val="1"/>
            <c:showCatName val="0"/>
            <c:showSerName val="0"/>
            <c:showPercent val="0"/>
            <c:showBubbleSize val="0"/>
            <c:showLeaderLines val="0"/>
          </c:dLbls>
          <c:dPt>
            <c:idx val="0"/>
            <c:invertIfNegative val="0"/>
            <c:bubble3D val="0"/>
            <c:spPr>
              <a:solidFill>
                <a:srgbClr val="A83A32"/>
              </a:solidFill>
              <a:effectLst/>
            </c:spPr>
          </c:dPt>
          <c:dPt>
            <c:idx val="1"/>
            <c:invertIfNegative val="0"/>
            <c:bubble3D val="0"/>
            <c:spPr>
              <a:solidFill>
                <a:srgbClr val="2F6B4F"/>
              </a:solidFill>
              <a:effectLst/>
            </c:spPr>
          </c:dPt>
          <c:cat>
            <c:multiLvlStrRef>
              <c:f>Sheet1!$A$2:$A$3</c:f>
              <c:multiLvlStrCache>
                <c:ptCount val="2"/>
                <c:lvl>
                  <c:pt idx="0">
                    <c:v>Feb–Mar
US–Iran conflict</c:v>
                  </c:pt>
                  <c:pt idx="1">
                    <c:v>Q2
de-escalation</c:v>
                  </c:pt>
                </c:lvl>
              </c:multiLvlStrCache>
            </c:multiLvlStrRef>
          </c:cat>
          <c:val>
            <c:numRef>
              <c:f>Sheet1!$B$2:$B$3</c:f>
              <c:numCache>
                <c:formatCode>General</c:formatCode>
                <c:ptCount val="2"/>
                <c:pt idx="0">
                  <c:v>25</c:v>
                </c:pt>
                <c:pt idx="1">
                  <c:v>-53</c:v>
                </c:pt>
              </c:numCache>
            </c:numRef>
          </c:val>
        </c:ser>
        <c:dLbls>
          <c:numFmt formatCode="#,##0" sourceLinked="0"/>
          <c:txPr>
            <a:bodyPr/>
            <a:lstStyle/>
            <a:p>
              <a:pPr>
                <a:defRPr b="1" i="0" strike="noStrike" sz="1500" u="none">
                  <a:solidFill>
                    <a:srgbClr val="1B2A41"/>
                  </a:solidFill>
                  <a:latin typeface="Arial"/>
                </a:defRPr>
              </a:pPr>
            </a:p>
          </c:txPr>
          <c:showLegendKey val="0"/>
          <c:showVal val="1"/>
          <c:showCatName val="0"/>
          <c:showSerName val="0"/>
          <c:showPercent val="0"/>
          <c:showBubbleSize val="0"/>
          <c:showLeaderLines val="0"/>
        </c:dLbls>
        <c:gapWidth val="11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41"/>
                </a:solidFill>
                <a:latin typeface="Arial"/>
              </a:defRPr>
            </a:pPr>
            <a:endParaRPr lang="en-US"/>
          </a:p>
        </c:txPr>
        <c:crossAx val="2094734552"/>
        <c:crosses val="autoZero"/>
        <c:auto val="1"/>
        <c:lblAlgn val="ctr"/>
        <c:noMultiLvlLbl val="1"/>
      </c:catAx>
      <c:valAx>
        <c:axId val="2094734552"/>
        <c:scaling>
          <c:orientation val="minMax"/>
          <c:max val="35"/>
          <c:min val="-60"/>
        </c:scaling>
        <c:delete val="0"/>
        <c:axPos val="l"/>
        <c:majorGridlines>
          <c:spPr>
            <a:ln w="12700" cap="flat">
              <a:solidFill>
                <a:srgbClr val="D6DC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A9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YTD total return (%)</c:v>
                </c:pt>
              </c:strCache>
            </c:strRef>
          </c:tx>
          <c:spPr>
            <a:solidFill>
              <a:srgbClr val="6B7A90"/>
            </a:solidFill>
            <a:effectLst/>
          </c:spPr>
          <c:invertIfNegative val="0"/>
          <c:dLbls>
            <c:numFmt formatCode="0.00" sourceLinked="0"/>
            <c:txPr>
              <a:bodyPr/>
              <a:lstStyle/>
              <a:p>
                <a:pPr>
                  <a:defRPr b="1" i="0" strike="noStrike" sz="1400" u="none">
                    <a:solidFill>
                      <a:srgbClr val="1B2A41"/>
                    </a:solidFill>
                    <a:latin typeface="Arial"/>
                  </a:defRPr>
                </a:pPr>
              </a:p>
            </c:txPr>
            <c:showLegendKey val="0"/>
            <c:showVal val="1"/>
            <c:showCatName val="0"/>
            <c:showSerName val="0"/>
            <c:showPercent val="0"/>
            <c:showBubbleSize val="0"/>
            <c:showLeaderLines val="0"/>
          </c:dLbls>
          <c:dPt>
            <c:idx val="0"/>
            <c:invertIfNegative val="0"/>
            <c:bubble3D val="0"/>
            <c:spPr>
              <a:solidFill>
                <a:srgbClr val="6B7A90"/>
              </a:solidFill>
              <a:effectLst/>
            </c:spPr>
          </c:dPt>
          <c:dPt>
            <c:idx val="1"/>
            <c:invertIfNegative val="0"/>
            <c:bubble3D val="0"/>
            <c:spPr>
              <a:solidFill>
                <a:srgbClr val="24395B"/>
              </a:solidFill>
              <a:effectLst/>
            </c:spPr>
          </c:dPt>
          <c:dPt>
            <c:idx val="2"/>
            <c:invertIfNegative val="0"/>
            <c:bubble3D val="0"/>
            <c:spPr>
              <a:solidFill>
                <a:srgbClr val="2F6B4F"/>
              </a:solidFill>
              <a:effectLst/>
            </c:spPr>
          </c:dPt>
          <c:cat>
            <c:multiLvlStrRef>
              <c:f>Sheet1!$A$2:$A$4</c:f>
              <c:multiLvlStrCache>
                <c:ptCount val="3"/>
                <c:lvl>
                  <c:pt idx="0">
                    <c:v>Investment grade</c:v>
                  </c:pt>
                  <c:pt idx="1">
                    <c:v>Non-IG</c:v>
                  </c:pt>
                  <c:pt idx="2">
                    <c:v>CCC/C bucket</c:v>
                  </c:pt>
                </c:lvl>
              </c:multiLvlStrCache>
            </c:multiLvlStrRef>
          </c:cat>
          <c:val>
            <c:numRef>
              <c:f>Sheet1!$B$2:$B$4</c:f>
              <c:numCache>
                <c:formatCode>General</c:formatCode>
                <c:ptCount val="3"/>
                <c:pt idx="0">
                  <c:v>-0.52</c:v>
                </c:pt>
                <c:pt idx="1">
                  <c:v>5.71</c:v>
                </c:pt>
                <c:pt idx="2">
                  <c:v>20.12</c:v>
                </c:pt>
              </c:numCache>
            </c:numRef>
          </c:val>
        </c:ser>
        <c:dLbls>
          <c:numFmt formatCode="0.00" sourceLinked="0"/>
          <c:txPr>
            <a:bodyPr/>
            <a:lstStyle/>
            <a:p>
              <a:pPr>
                <a:defRPr b="1" i="0" strike="noStrike" sz="1400" u="none">
                  <a:solidFill>
                    <a:srgbClr val="1B2A41"/>
                  </a:solidFill>
                  <a:latin typeface="Arial"/>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41"/>
                </a:solidFill>
                <a:latin typeface="Arial"/>
              </a:defRPr>
            </a:pPr>
            <a:endParaRPr lang="en-US"/>
          </a:p>
        </c:txPr>
        <c:crossAx val="2094734552"/>
        <c:crosses val="autoZero"/>
        <c:auto val="1"/>
        <c:lblAlgn val="ctr"/>
        <c:noMultiLvlLbl val="1"/>
      </c:catAx>
      <c:valAx>
        <c:axId val="2094734552"/>
        <c:scaling>
          <c:orientation val="minMax"/>
          <c:max val="24"/>
          <c:min val="-5"/>
        </c:scaling>
        <c:delete val="0"/>
        <c:axPos val="l"/>
        <c:majorGridlines>
          <c:spPr>
            <a:ln w="12700" cap="flat">
              <a:solidFill>
                <a:srgbClr val="D6DC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A9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rule, not the forecast. 5.0 beats 4.50, the call clears before we debate anything. Then flip the burden: the inconsistency is 250bp against a 208 spot, not the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claim the market shrugged off the war - it did not, and someone will have the March prints. Own the round trip. It is a stronger story: the market tested the risk and re-priced it on de-escalation. Then land the tariff point - that risk is still ahead of us and we are not being paid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protects us. If we claim the index tightened despite rates, someone answers Venezuela and Ukraine and we lose the room. Say it first. It costs us the beta argument and it buys us everything on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justification. None of these four depend on winning the 250-versus-225 argument. Point 2 is the sharpest - if the hikes are priced into the 10y they are priced into 208, so marking the return down for them is double-counting. Close on the expression and on what would change our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640080" y="548640"/>
            <a:ext cx="108813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Attractive stands — on the test we set</a:t>
            </a:r>
            <a:endParaRPr lang="en-US" sz="4000" dirty="0"/>
          </a:p>
        </p:txBody>
      </p:sp>
      <p:sp>
        <p:nvSpPr>
          <p:cNvPr id="3" name="Text 1"/>
          <p:cNvSpPr txBox="1"/>
          <p:nvPr/>
        </p:nvSpPr>
        <p:spPr>
          <a:xfrm>
            <a:off x="640080" y="1371600"/>
            <a:ext cx="10881360" cy="365760"/>
          </a:xfrm>
          <a:prstGeom prst="rect">
            <a:avLst/>
          </a:prstGeom>
          <a:noFill/>
          <a:ln/>
        </p:spPr>
        <p:txBody>
          <a:bodyPr wrap="square" lIns="0" tIns="0" rIns="0" bIns="0" rtlCol="0" anchor="ctr"/>
          <a:lstStyle/>
          <a:p>
            <a:pPr indent="0" marL="0">
              <a:buNone/>
            </a:pPr>
            <a:r>
              <a:rPr lang="en-US" sz="1600" dirty="0">
                <a:solidFill>
                  <a:srgbClr val="AEBDD1"/>
                </a:solidFill>
                <a:latin typeface="Calibri" pitchFamily="34" charset="0"/>
                <a:ea typeface="Calibri" pitchFamily="34" charset="-122"/>
                <a:cs typeface="Calibri" pitchFamily="34" charset="-120"/>
              </a:rPr>
              <a:t>The revised Fed path cuts the median return. It does not break the rule we judge the call by.</a:t>
            </a:r>
            <a:endParaRPr lang="en-US" sz="1600" dirty="0"/>
          </a:p>
        </p:txBody>
      </p:sp>
      <p:sp>
        <p:nvSpPr>
          <p:cNvPr id="4" name="Shape 2"/>
          <p:cNvSpPr/>
          <p:nvPr/>
        </p:nvSpPr>
        <p:spPr>
          <a:xfrm>
            <a:off x="640080" y="2011680"/>
            <a:ext cx="2514600" cy="1572768"/>
          </a:xfrm>
          <a:prstGeom prst="roundRect">
            <a:avLst>
              <a:gd name="adj" fmla="val 4651"/>
            </a:avLst>
          </a:prstGeom>
          <a:solidFill>
            <a:srgbClr val="24395B"/>
          </a:solidFill>
          <a:ln w="12700">
            <a:solidFill>
              <a:srgbClr val="36506F"/>
            </a:solidFill>
            <a:prstDash val="solid"/>
          </a:ln>
        </p:spPr>
      </p:sp>
      <p:sp>
        <p:nvSpPr>
          <p:cNvPr id="5" name="Text 3"/>
          <p:cNvSpPr txBox="1"/>
          <p:nvPr/>
        </p:nvSpPr>
        <p:spPr>
          <a:xfrm>
            <a:off x="640080" y="2157984"/>
            <a:ext cx="2514600" cy="64008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208bp</a:t>
            </a:r>
            <a:endParaRPr lang="en-US" sz="3800" dirty="0"/>
          </a:p>
        </p:txBody>
      </p:sp>
      <p:sp>
        <p:nvSpPr>
          <p:cNvPr id="6" name="Text 4"/>
          <p:cNvSpPr txBox="1"/>
          <p:nvPr/>
        </p:nvSpPr>
        <p:spPr>
          <a:xfrm>
            <a:off x="777240" y="2843784"/>
            <a:ext cx="2240280" cy="621792"/>
          </a:xfrm>
          <a:prstGeom prst="rect">
            <a:avLst/>
          </a:prstGeom>
          <a:noFill/>
          <a:ln/>
        </p:spPr>
        <p:txBody>
          <a:bodyPr wrap="square" lIns="0" tIns="0" rIns="0" bIns="0" rtlCol="0" anchor="t"/>
          <a:lstStyle/>
          <a:p>
            <a:pPr algn="ctr" indent="0" marL="0">
              <a:buNone/>
            </a:pPr>
            <a:r>
              <a:rPr lang="en-US" sz="1100" dirty="0">
                <a:solidFill>
                  <a:srgbClr val="AEBDD1"/>
                </a:solidFill>
                <a:latin typeface="Calibri" pitchFamily="34" charset="0"/>
                <a:ea typeface="Calibri" pitchFamily="34" charset="-122"/>
                <a:cs typeface="Calibri" pitchFamily="34" charset="-120"/>
              </a:rPr>
              <a:t>EMBI Global spread today</a:t>
            </a:r>
            <a:endParaRPr lang="en-US" sz="1100" dirty="0"/>
          </a:p>
          <a:p>
            <a:pPr algn="ctr" indent="0" marL="0">
              <a:buNone/>
            </a:pPr>
            <a:r>
              <a:rPr lang="en-US" sz="1100" dirty="0">
                <a:solidFill>
                  <a:srgbClr val="AEBDD1"/>
                </a:solidFill>
                <a:latin typeface="Calibri" pitchFamily="34" charset="0"/>
                <a:ea typeface="Calibri" pitchFamily="34" charset="-122"/>
                <a:cs typeface="Calibri" pitchFamily="34" charset="-120"/>
              </a:rPr>
              <a:t>stripped basis</a:t>
            </a:r>
            <a:endParaRPr lang="en-US" sz="1100" dirty="0"/>
          </a:p>
        </p:txBody>
      </p:sp>
      <p:sp>
        <p:nvSpPr>
          <p:cNvPr id="7" name="Shape 5"/>
          <p:cNvSpPr/>
          <p:nvPr/>
        </p:nvSpPr>
        <p:spPr>
          <a:xfrm>
            <a:off x="3383280" y="2011680"/>
            <a:ext cx="2514600" cy="1572768"/>
          </a:xfrm>
          <a:prstGeom prst="roundRect">
            <a:avLst>
              <a:gd name="adj" fmla="val 4651"/>
            </a:avLst>
          </a:prstGeom>
          <a:solidFill>
            <a:srgbClr val="24395B"/>
          </a:solidFill>
          <a:ln w="12700">
            <a:solidFill>
              <a:srgbClr val="36506F"/>
            </a:solidFill>
            <a:prstDash val="solid"/>
          </a:ln>
        </p:spPr>
      </p:sp>
      <p:sp>
        <p:nvSpPr>
          <p:cNvPr id="8" name="Text 6"/>
          <p:cNvSpPr txBox="1"/>
          <p:nvPr/>
        </p:nvSpPr>
        <p:spPr>
          <a:xfrm>
            <a:off x="3383280" y="2157984"/>
            <a:ext cx="2514600" cy="64008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6.65%</a:t>
            </a:r>
            <a:endParaRPr lang="en-US" sz="3800" dirty="0"/>
          </a:p>
        </p:txBody>
      </p:sp>
      <p:sp>
        <p:nvSpPr>
          <p:cNvPr id="9" name="Text 7"/>
          <p:cNvSpPr txBox="1"/>
          <p:nvPr/>
        </p:nvSpPr>
        <p:spPr>
          <a:xfrm>
            <a:off x="3520440" y="2843784"/>
            <a:ext cx="2240280" cy="621792"/>
          </a:xfrm>
          <a:prstGeom prst="rect">
            <a:avLst/>
          </a:prstGeom>
          <a:noFill/>
          <a:ln/>
        </p:spPr>
        <p:txBody>
          <a:bodyPr wrap="square" lIns="0" tIns="0" rIns="0" bIns="0" rtlCol="0" anchor="t"/>
          <a:lstStyle/>
          <a:p>
            <a:pPr algn="ctr" indent="0" marL="0">
              <a:buNone/>
            </a:pPr>
            <a:r>
              <a:rPr lang="en-US" sz="1100" dirty="0">
                <a:solidFill>
                  <a:srgbClr val="AEBDD1"/>
                </a:solidFill>
                <a:latin typeface="Calibri" pitchFamily="34" charset="0"/>
                <a:ea typeface="Calibri" pitchFamily="34" charset="-122"/>
                <a:cs typeface="Calibri" pitchFamily="34" charset="-120"/>
              </a:rPr>
              <a:t>carry at spot</a:t>
            </a:r>
            <a:endParaRPr lang="en-US" sz="1100" dirty="0"/>
          </a:p>
        </p:txBody>
      </p:sp>
      <p:sp>
        <p:nvSpPr>
          <p:cNvPr id="10" name="Shape 8"/>
          <p:cNvSpPr/>
          <p:nvPr/>
        </p:nvSpPr>
        <p:spPr>
          <a:xfrm>
            <a:off x="6126480" y="2011680"/>
            <a:ext cx="2514600" cy="1572768"/>
          </a:xfrm>
          <a:prstGeom prst="roundRect">
            <a:avLst>
              <a:gd name="adj" fmla="val 4651"/>
            </a:avLst>
          </a:prstGeom>
          <a:solidFill>
            <a:srgbClr val="24395B"/>
          </a:solidFill>
          <a:ln w="12700">
            <a:solidFill>
              <a:srgbClr val="36506F"/>
            </a:solidFill>
            <a:prstDash val="solid"/>
          </a:ln>
        </p:spPr>
      </p:sp>
      <p:sp>
        <p:nvSpPr>
          <p:cNvPr id="11" name="Text 9"/>
          <p:cNvSpPr txBox="1"/>
          <p:nvPr/>
        </p:nvSpPr>
        <p:spPr>
          <a:xfrm>
            <a:off x="6126480" y="2157984"/>
            <a:ext cx="2514600" cy="640080"/>
          </a:xfrm>
          <a:prstGeom prst="rect">
            <a:avLst/>
          </a:prstGeom>
          <a:noFill/>
          <a:ln/>
        </p:spPr>
        <p:txBody>
          <a:bodyPr wrap="square" lIns="0" tIns="0" rIns="0" bIns="0" rtlCol="0" anchor="ctr"/>
          <a:lstStyle/>
          <a:p>
            <a:pPr algn="ctr" indent="0" marL="0">
              <a:buNone/>
            </a:pPr>
            <a:r>
              <a:rPr lang="en-US" sz="3800" b="1" dirty="0">
                <a:solidFill>
                  <a:srgbClr val="C9922C"/>
                </a:solidFill>
                <a:latin typeface="Cambria" pitchFamily="34" charset="0"/>
                <a:ea typeface="Cambria" pitchFamily="34" charset="-122"/>
                <a:cs typeface="Cambria" pitchFamily="34" charset="-120"/>
              </a:rPr>
              <a:t>5.0%</a:t>
            </a:r>
            <a:endParaRPr lang="en-US" sz="3800" dirty="0"/>
          </a:p>
        </p:txBody>
      </p:sp>
      <p:sp>
        <p:nvSpPr>
          <p:cNvPr id="12" name="Text 10"/>
          <p:cNvSpPr txBox="1"/>
          <p:nvPr/>
        </p:nvSpPr>
        <p:spPr>
          <a:xfrm>
            <a:off x="6263640" y="2843784"/>
            <a:ext cx="2240280" cy="621792"/>
          </a:xfrm>
          <a:prstGeom prst="rect">
            <a:avLst/>
          </a:prstGeom>
          <a:noFill/>
          <a:ln/>
        </p:spPr>
        <p:txBody>
          <a:bodyPr wrap="square" lIns="0" tIns="0" rIns="0" bIns="0" rtlCol="0" anchor="t"/>
          <a:lstStyle/>
          <a:p>
            <a:pPr algn="ctr" indent="0" marL="0">
              <a:buNone/>
            </a:pPr>
            <a:r>
              <a:rPr lang="en-US" sz="1100" dirty="0">
                <a:solidFill>
                  <a:srgbClr val="AEBDD1"/>
                </a:solidFill>
                <a:latin typeface="Calibri" pitchFamily="34" charset="0"/>
                <a:ea typeface="Calibri" pitchFamily="34" charset="-122"/>
                <a:cs typeface="Calibri" pitchFamily="34" charset="-120"/>
              </a:rPr>
              <a:t>median 12m return</a:t>
            </a:r>
            <a:endParaRPr lang="en-US" sz="1100" dirty="0"/>
          </a:p>
          <a:p>
            <a:pPr algn="ctr" indent="0" marL="0">
              <a:buNone/>
            </a:pPr>
            <a:r>
              <a:rPr lang="en-US" sz="1100" dirty="0">
                <a:solidFill>
                  <a:srgbClr val="AEBDD1"/>
                </a:solidFill>
                <a:latin typeface="Calibri" pitchFamily="34" charset="0"/>
                <a:ea typeface="Calibri" pitchFamily="34" charset="-122"/>
                <a:cs typeface="Calibri" pitchFamily="34" charset="-120"/>
              </a:rPr>
              <a:t>revised Fed path</a:t>
            </a:r>
            <a:endParaRPr lang="en-US" sz="1100" dirty="0"/>
          </a:p>
        </p:txBody>
      </p:sp>
      <p:sp>
        <p:nvSpPr>
          <p:cNvPr id="13" name="Shape 11"/>
          <p:cNvSpPr/>
          <p:nvPr/>
        </p:nvSpPr>
        <p:spPr>
          <a:xfrm>
            <a:off x="8869680" y="2011680"/>
            <a:ext cx="2514600" cy="1572768"/>
          </a:xfrm>
          <a:prstGeom prst="roundRect">
            <a:avLst>
              <a:gd name="adj" fmla="val 4651"/>
            </a:avLst>
          </a:prstGeom>
          <a:solidFill>
            <a:srgbClr val="24395B"/>
          </a:solidFill>
          <a:ln w="12700">
            <a:solidFill>
              <a:srgbClr val="36506F"/>
            </a:solidFill>
            <a:prstDash val="solid"/>
          </a:ln>
        </p:spPr>
      </p:sp>
      <p:sp>
        <p:nvSpPr>
          <p:cNvPr id="14" name="Text 12"/>
          <p:cNvSpPr txBox="1"/>
          <p:nvPr/>
        </p:nvSpPr>
        <p:spPr>
          <a:xfrm>
            <a:off x="8869680" y="2157984"/>
            <a:ext cx="2514600" cy="640080"/>
          </a:xfrm>
          <a:prstGeom prst="rect">
            <a:avLst/>
          </a:prstGeom>
          <a:noFill/>
          <a:ln/>
        </p:spPr>
        <p:txBody>
          <a:bodyPr wrap="square" lIns="0" tIns="0" rIns="0" bIns="0" rtlCol="0" anchor="ctr"/>
          <a:lstStyle/>
          <a:p>
            <a:pPr algn="ctr" indent="0" marL="0">
              <a:buNone/>
            </a:pPr>
            <a:r>
              <a:rPr lang="en-US" sz="3800" b="1" dirty="0">
                <a:solidFill>
                  <a:srgbClr val="AEBDD1"/>
                </a:solidFill>
                <a:latin typeface="Cambria" pitchFamily="34" charset="0"/>
                <a:ea typeface="Cambria" pitchFamily="34" charset="-122"/>
                <a:cs typeface="Cambria" pitchFamily="34" charset="-120"/>
              </a:rPr>
              <a:t>4.50%</a:t>
            </a:r>
            <a:endParaRPr lang="en-US" sz="3800" dirty="0"/>
          </a:p>
        </p:txBody>
      </p:sp>
      <p:sp>
        <p:nvSpPr>
          <p:cNvPr id="15" name="Text 13"/>
          <p:cNvSpPr txBox="1"/>
          <p:nvPr/>
        </p:nvSpPr>
        <p:spPr>
          <a:xfrm>
            <a:off x="9006840" y="2843784"/>
            <a:ext cx="2240280" cy="621792"/>
          </a:xfrm>
          <a:prstGeom prst="rect">
            <a:avLst/>
          </a:prstGeom>
          <a:noFill/>
          <a:ln/>
        </p:spPr>
        <p:txBody>
          <a:bodyPr wrap="square" lIns="0" tIns="0" rIns="0" bIns="0" rtlCol="0" anchor="t"/>
          <a:lstStyle/>
          <a:p>
            <a:pPr algn="ctr" indent="0" marL="0">
              <a:buNone/>
            </a:pPr>
            <a:r>
              <a:rPr lang="en-US" sz="1100" dirty="0">
                <a:solidFill>
                  <a:srgbClr val="AEBDD1"/>
                </a:solidFill>
                <a:latin typeface="Calibri" pitchFamily="34" charset="0"/>
                <a:ea typeface="Calibri" pitchFamily="34" charset="-122"/>
                <a:cs typeface="Calibri" pitchFamily="34" charset="-120"/>
              </a:rPr>
              <a:t>cash hurdle</a:t>
            </a:r>
            <a:endParaRPr lang="en-US" sz="1100" dirty="0"/>
          </a:p>
        </p:txBody>
      </p:sp>
      <p:sp>
        <p:nvSpPr>
          <p:cNvPr id="16" name="Shape 14"/>
          <p:cNvSpPr/>
          <p:nvPr/>
        </p:nvSpPr>
        <p:spPr>
          <a:xfrm>
            <a:off x="640080" y="3931920"/>
            <a:ext cx="5349240" cy="2011680"/>
          </a:xfrm>
          <a:prstGeom prst="roundRect">
            <a:avLst>
              <a:gd name="adj" fmla="val 3636"/>
            </a:avLst>
          </a:prstGeom>
          <a:solidFill>
            <a:srgbClr val="FFFFFF"/>
          </a:solidFill>
          <a:ln/>
        </p:spPr>
      </p:sp>
      <p:sp>
        <p:nvSpPr>
          <p:cNvPr id="17" name="Text 15"/>
          <p:cNvSpPr txBox="1"/>
          <p:nvPr/>
        </p:nvSpPr>
        <p:spPr>
          <a:xfrm>
            <a:off x="914400" y="4114800"/>
            <a:ext cx="4754880" cy="274320"/>
          </a:xfrm>
          <a:prstGeom prst="rect">
            <a:avLst/>
          </a:prstGeom>
          <a:noFill/>
          <a:ln/>
        </p:spPr>
        <p:txBody>
          <a:bodyPr wrap="square" lIns="0" tIns="0" rIns="0" bIns="0" rtlCol="0" anchor="ctr"/>
          <a:lstStyle/>
          <a:p>
            <a:pPr indent="0" marL="0">
              <a:buNone/>
            </a:pPr>
            <a:r>
              <a:rPr lang="en-US" sz="1300" b="1" dirty="0">
                <a:solidFill>
                  <a:srgbClr val="C9922C"/>
                </a:solidFill>
                <a:latin typeface="Calibri" pitchFamily="34" charset="0"/>
                <a:ea typeface="Calibri" pitchFamily="34" charset="-122"/>
                <a:cs typeface="Calibri" pitchFamily="34" charset="-120"/>
              </a:rPr>
              <a:t>Our rule</a:t>
            </a:r>
            <a:endParaRPr lang="en-US" sz="1300" dirty="0"/>
          </a:p>
        </p:txBody>
      </p:sp>
      <p:sp>
        <p:nvSpPr>
          <p:cNvPr id="18" name="Text 16"/>
          <p:cNvSpPr txBox="1"/>
          <p:nvPr/>
        </p:nvSpPr>
        <p:spPr>
          <a:xfrm>
            <a:off x="914400" y="4462272"/>
            <a:ext cx="4800600" cy="1280160"/>
          </a:xfrm>
          <a:prstGeom prst="rect">
            <a:avLst/>
          </a:prstGeom>
          <a:noFill/>
          <a:ln/>
        </p:spPr>
        <p:txBody>
          <a:bodyPr wrap="square" lIns="0" tIns="0" rIns="0" bIns="0" rtlCol="0" anchor="ctr"/>
          <a:lstStyle/>
          <a:p>
            <a:pPr indent="0" marL="0">
              <a:lnSpc>
                <a:spcPct val="120000"/>
              </a:lnSpc>
              <a:buNone/>
            </a:pPr>
            <a:r>
              <a:rPr lang="en-US" sz="1500" b="1" dirty="0">
                <a:solidFill>
                  <a:srgbClr val="1B2A41"/>
                </a:solidFill>
                <a:latin typeface="Calibri" pitchFamily="34" charset="0"/>
                <a:ea typeface="Calibri" pitchFamily="34" charset="-122"/>
                <a:cs typeface="Calibri" pitchFamily="34" charset="-120"/>
              </a:rPr>
              <a:t>Exceed cash and we are attractive. 5.0% &gt; 4.50%.</a:t>
            </a:r>
            <a:endParaRPr lang="en-US" sz="1500" dirty="0"/>
          </a:p>
          <a:p>
            <a:pPr indent="0" marL="0">
              <a:lnSpc>
                <a:spcPct val="120000"/>
              </a:lnSpc>
              <a:buNone/>
            </a:pPr>
            <a:r>
              <a:rPr lang="en-US" sz="1500" dirty="0">
                <a:solidFill>
                  <a:srgbClr val="1B2A41"/>
                </a:solidFill>
                <a:latin typeface="Calibri" pitchFamily="34" charset="0"/>
                <a:ea typeface="Calibri" pitchFamily="34" charset="-122"/>
                <a:cs typeface="Calibri" pitchFamily="34" charset="-120"/>
              </a:rPr>
              <a:t>The cushion narrowed. The direction did not. We say both.</a:t>
            </a:r>
            <a:endParaRPr lang="en-US" sz="1500" dirty="0"/>
          </a:p>
        </p:txBody>
      </p:sp>
      <p:sp>
        <p:nvSpPr>
          <p:cNvPr id="19" name="Shape 17"/>
          <p:cNvSpPr/>
          <p:nvPr/>
        </p:nvSpPr>
        <p:spPr>
          <a:xfrm>
            <a:off x="6355080" y="3931920"/>
            <a:ext cx="5166360" cy="2011680"/>
          </a:xfrm>
          <a:prstGeom prst="roundRect">
            <a:avLst>
              <a:gd name="adj" fmla="val 3636"/>
            </a:avLst>
          </a:prstGeom>
          <a:solidFill>
            <a:srgbClr val="24395B"/>
          </a:solidFill>
          <a:ln w="12700">
            <a:solidFill>
              <a:srgbClr val="36506F"/>
            </a:solidFill>
            <a:prstDash val="solid"/>
          </a:ln>
        </p:spPr>
      </p:sp>
      <p:sp>
        <p:nvSpPr>
          <p:cNvPr id="20" name="Text 18"/>
          <p:cNvSpPr txBox="1"/>
          <p:nvPr/>
        </p:nvSpPr>
        <p:spPr>
          <a:xfrm>
            <a:off x="6629400" y="4114800"/>
            <a:ext cx="4617720" cy="274320"/>
          </a:xfrm>
          <a:prstGeom prst="rect">
            <a:avLst/>
          </a:prstGeom>
          <a:noFill/>
          <a:ln/>
        </p:spPr>
        <p:txBody>
          <a:bodyPr wrap="square" lIns="0" tIns="0" rIns="0" bIns="0" rtlCol="0" anchor="ctr"/>
          <a:lstStyle/>
          <a:p>
            <a:pPr indent="0" marL="0">
              <a:buNone/>
            </a:pPr>
            <a:r>
              <a:rPr lang="en-US" sz="1300" b="1" dirty="0">
                <a:solidFill>
                  <a:srgbClr val="C9922C"/>
                </a:solidFill>
                <a:latin typeface="Calibri" pitchFamily="34" charset="0"/>
                <a:ea typeface="Calibri" pitchFamily="34" charset="-122"/>
                <a:cs typeface="Calibri" pitchFamily="34" charset="-120"/>
              </a:rPr>
              <a:t>It is the official forecast that is inconsistent</a:t>
            </a:r>
            <a:endParaRPr lang="en-US" sz="1300" dirty="0"/>
          </a:p>
        </p:txBody>
      </p:sp>
      <p:sp>
        <p:nvSpPr>
          <p:cNvPr id="21" name="Text 19"/>
          <p:cNvSpPr txBox="1"/>
          <p:nvPr/>
        </p:nvSpPr>
        <p:spPr>
          <a:xfrm>
            <a:off x="6629400" y="4462272"/>
            <a:ext cx="4617720" cy="1280160"/>
          </a:xfrm>
          <a:prstGeom prst="rect">
            <a:avLst/>
          </a:prstGeom>
          <a:noFill/>
          <a:ln/>
        </p:spPr>
        <p:txBody>
          <a:bodyPr wrap="square" lIns="0" tIns="0" rIns="0" bIns="0" rtlCol="0" anchor="ctr"/>
          <a:lstStyle/>
          <a:p>
            <a:pPr indent="0" marL="0">
              <a:lnSpc>
                <a:spcPct val="120000"/>
              </a:lnSpc>
              <a:buNone/>
            </a:pPr>
            <a:r>
              <a:rPr lang="en-US" sz="1500" b="1" dirty="0">
                <a:solidFill>
                  <a:srgbClr val="FFFFFF"/>
                </a:solidFill>
                <a:latin typeface="Calibri" pitchFamily="34" charset="0"/>
                <a:ea typeface="Calibri" pitchFamily="34" charset="-122"/>
                <a:cs typeface="Calibri" pitchFamily="34" charset="-120"/>
              </a:rPr>
              <a:t>250bp implies +42bp of widening from spot and returns 4.07% — below the cash hurdle.</a:t>
            </a:r>
            <a:endParaRPr lang="en-US" sz="1500" dirty="0"/>
          </a:p>
          <a:p>
            <a:pPr indent="0" marL="0">
              <a:lnSpc>
                <a:spcPct val="120000"/>
              </a:lnSpc>
              <a:buNone/>
            </a:pPr>
            <a:r>
              <a:rPr lang="en-US" sz="1500" dirty="0">
                <a:solidFill>
                  <a:srgbClr val="CBD6E4"/>
                </a:solidFill>
                <a:latin typeface="Calibri" pitchFamily="34" charset="0"/>
                <a:ea typeface="Calibri" pitchFamily="34" charset="-122"/>
                <a:cs typeface="Calibri" pitchFamily="34" charset="-120"/>
              </a:rPr>
              <a:t>Either that number moves or the recommendation does. We propose 225bp.</a:t>
            </a:r>
            <a:endParaRPr lang="en-US" sz="1500" dirty="0"/>
          </a:p>
        </p:txBody>
      </p:sp>
      <p:sp>
        <p:nvSpPr>
          <p:cNvPr id="22" name="Text 20"/>
          <p:cNvSpPr txBox="1"/>
          <p:nvPr/>
        </p:nvSpPr>
        <p:spPr>
          <a:xfrm>
            <a:off x="640080" y="6291072"/>
            <a:ext cx="10881360" cy="274320"/>
          </a:xfrm>
          <a:prstGeom prst="rect">
            <a:avLst/>
          </a:prstGeom>
          <a:noFill/>
          <a:ln/>
        </p:spPr>
        <p:txBody>
          <a:bodyPr wrap="square" lIns="0" tIns="0" rIns="0" bIns="0" rtlCol="0" anchor="ctr"/>
          <a:lstStyle/>
          <a:p>
            <a:pPr indent="0" marL="0">
              <a:buNone/>
            </a:pPr>
            <a:r>
              <a:rPr lang="en-US" sz="900" dirty="0">
                <a:solidFill>
                  <a:srgbClr val="93A1B5"/>
                </a:solidFill>
                <a:latin typeface="Calibri" pitchFamily="34" charset="0"/>
                <a:ea typeface="Calibri" pitchFamily="34" charset="-122"/>
                <a:cs typeface="Calibri" pitchFamily="34" charset="-120"/>
              </a:rPr>
              <a:t>Source: JPMorgan EMBI Global, 03-Sep-2026 regional file; spot 08-Sep-2026, stripped basis. Return = carry less duration-weighted spread and rate effects.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3600" b="1" dirty="0">
                <a:solidFill>
                  <a:srgbClr val="1B2A41"/>
                </a:solidFill>
                <a:latin typeface="Cambria" pitchFamily="34" charset="0"/>
                <a:ea typeface="Cambria" pitchFamily="34" charset="-122"/>
                <a:cs typeface="Cambria" pitchFamily="34" charset="-120"/>
              </a:rPr>
              <a:t>There was a risk-off. It reversed.</a:t>
            </a:r>
            <a:endParaRPr lang="en-US" sz="3600" dirty="0"/>
          </a:p>
        </p:txBody>
      </p:sp>
      <p:sp>
        <p:nvSpPr>
          <p:cNvPr id="3" name="Text 1"/>
          <p:cNvSpPr txBox="1"/>
          <p:nvPr/>
        </p:nvSpPr>
        <p:spPr>
          <a:xfrm>
            <a:off x="640080" y="1097280"/>
            <a:ext cx="10881360" cy="320040"/>
          </a:xfrm>
          <a:prstGeom prst="rect">
            <a:avLst/>
          </a:prstGeom>
          <a:noFill/>
          <a:ln/>
        </p:spPr>
        <p:txBody>
          <a:bodyPr wrap="square" lIns="0" tIns="0" rIns="0" bIns="0" rtlCol="0" anchor="ctr"/>
          <a:lstStyle/>
          <a:p>
            <a:pPr indent="0" marL="0">
              <a:buNone/>
            </a:pPr>
            <a:r>
              <a:rPr lang="en-US" sz="1500" dirty="0">
                <a:solidFill>
                  <a:srgbClr val="6B7A90"/>
                </a:solidFill>
                <a:latin typeface="Calibri" pitchFamily="34" charset="0"/>
                <a:ea typeface="Calibri" pitchFamily="34" charset="-122"/>
                <a:cs typeface="Calibri" pitchFamily="34" charset="-120"/>
              </a:rPr>
              <a:t>Year-to-date spreads are 10bp tighter. That is a round trip, not a market that ignored the news.</a:t>
            </a:r>
            <a:endParaRPr lang="en-US" sz="1500" dirty="0"/>
          </a:p>
        </p:txBody>
      </p:sp>
      <p:graphicFrame>
        <p:nvGraphicFramePr>
          <p:cNvPr id="4" name="Chart 0" descr=""/>
          <p:cNvGraphicFramePr/>
          <p:nvPr/>
        </p:nvGraphicFramePr>
        <p:xfrm>
          <a:off x="640080" y="1737360"/>
          <a:ext cx="5212080" cy="3017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40080" y="4800600"/>
            <a:ext cx="5212080" cy="548640"/>
          </a:xfrm>
          <a:prstGeom prst="rect">
            <a:avLst/>
          </a:prstGeom>
          <a:noFill/>
          <a:ln/>
        </p:spPr>
        <p:txBody>
          <a:bodyPr wrap="square" lIns="0" tIns="0" rIns="0" bIns="0" rtlCol="0" anchor="ctr"/>
          <a:lstStyle/>
          <a:p>
            <a:pPr indent="0" marL="0">
              <a:buNone/>
            </a:pPr>
            <a:r>
              <a:rPr lang="en-US" sz="1200" i="1" dirty="0">
                <a:solidFill>
                  <a:srgbClr val="24395B"/>
                </a:solidFill>
                <a:latin typeface="Calibri" pitchFamily="34" charset="0"/>
                <a:ea typeface="Calibri" pitchFamily="34" charset="-122"/>
                <a:cs typeface="Calibri" pitchFamily="34" charset="-120"/>
              </a:rPr>
              <a:t>Spreads reached 279bp on 27-Mar, then closed Q2 at 235bp on the US–Iran MoU that reopened Hormuz.</a:t>
            </a:r>
            <a:endParaRPr lang="en-US" sz="1200" dirty="0"/>
          </a:p>
        </p:txBody>
      </p:sp>
      <p:sp>
        <p:nvSpPr>
          <p:cNvPr id="6" name="Text 3"/>
          <p:cNvSpPr txBox="1"/>
          <p:nvPr/>
        </p:nvSpPr>
        <p:spPr>
          <a:xfrm>
            <a:off x="6309360" y="1737360"/>
            <a:ext cx="5212080" cy="274320"/>
          </a:xfrm>
          <a:prstGeom prst="rect">
            <a:avLst/>
          </a:prstGeom>
          <a:noFill/>
          <a:ln/>
        </p:spPr>
        <p:txBody>
          <a:bodyPr wrap="square" lIns="0" tIns="0" rIns="0" bIns="0" rtlCol="0" anchor="ctr"/>
          <a:lstStyle/>
          <a:p>
            <a:pPr indent="0" marL="0">
              <a:buNone/>
            </a:pPr>
            <a:r>
              <a:rPr lang="en-US" sz="1300" b="1" dirty="0">
                <a:solidFill>
                  <a:srgbClr val="C9922C"/>
                </a:solidFill>
                <a:latin typeface="Calibri" pitchFamily="34" charset="0"/>
                <a:ea typeface="Calibri" pitchFamily="34" charset="-122"/>
                <a:cs typeface="Calibri" pitchFamily="34" charset="-120"/>
              </a:rPr>
              <a:t>What carried spreads back</a:t>
            </a:r>
            <a:endParaRPr lang="en-US" sz="1300" dirty="0"/>
          </a:p>
        </p:txBody>
      </p:sp>
      <p:sp>
        <p:nvSpPr>
          <p:cNvPr id="7" name="Text 4"/>
          <p:cNvSpPr txBox="1"/>
          <p:nvPr/>
        </p:nvSpPr>
        <p:spPr>
          <a:xfrm>
            <a:off x="6309360" y="2103120"/>
            <a:ext cx="5212080" cy="192024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1B2A41"/>
                </a:solidFill>
                <a:latin typeface="Calibri" pitchFamily="34" charset="0"/>
                <a:ea typeface="Calibri" pitchFamily="34" charset="-122"/>
                <a:cs typeface="Calibri" pitchFamily="34" charset="-120"/>
              </a:rPr>
              <a:t>Geopolitical de-escalation — June MoU, Hormuz reopened, 60-day ceasefire</a:t>
            </a:r>
            <a:endParaRPr lang="en-US" sz="1400" dirty="0"/>
          </a:p>
          <a:p>
            <a:pPr marL="342900" indent="-342900">
              <a:spcAft>
                <a:spcPts val="800"/>
              </a:spcAft>
              <a:buSzPct val="100000"/>
              <a:buChar char="•"/>
            </a:pPr>
            <a:r>
              <a:rPr lang="en-US" sz="1400" dirty="0">
                <a:solidFill>
                  <a:srgbClr val="1B2A41"/>
                </a:solidFill>
                <a:latin typeface="Calibri" pitchFamily="34" charset="0"/>
                <a:ea typeface="Calibri" pitchFamily="34" charset="-122"/>
                <a:cs typeface="Calibri" pitchFamily="34" charset="-120"/>
              </a:rPr>
              <a:t>~$9bn of Q2 inflows into hard-currency EM funds</a:t>
            </a:r>
            <a:endParaRPr lang="en-US" sz="1400" dirty="0"/>
          </a:p>
          <a:p>
            <a:pPr marL="342900" indent="-342900">
              <a:spcAft>
                <a:spcPts val="800"/>
              </a:spcAft>
              <a:buSzPct val="100000"/>
              <a:buChar char="•"/>
            </a:pPr>
            <a:r>
              <a:rPr lang="en-US" sz="1400" dirty="0">
                <a:solidFill>
                  <a:srgbClr val="1B2A41"/>
                </a:solidFill>
                <a:latin typeface="Calibri" pitchFamily="34" charset="0"/>
                <a:ea typeface="Calibri" pitchFamily="34" charset="-122"/>
                <a:cs typeface="Calibri" pitchFamily="34" charset="-120"/>
              </a:rPr>
              <a:t>Strongest sovereign upgrade momentum among lower-rated issuers in over a decade</a:t>
            </a:r>
            <a:endParaRPr lang="en-US" sz="1400" dirty="0"/>
          </a:p>
          <a:p>
            <a:pPr marL="342900" indent="-342900">
              <a:spcAft>
                <a:spcPts val="800"/>
              </a:spcAft>
              <a:buSzPct val="100000"/>
              <a:buChar char="•"/>
            </a:pPr>
            <a:r>
              <a:rPr lang="en-US" sz="1400" dirty="0">
                <a:solidFill>
                  <a:srgbClr val="1B2A41"/>
                </a:solidFill>
                <a:latin typeface="Calibri" pitchFamily="34" charset="0"/>
                <a:ea typeface="Calibri" pitchFamily="34" charset="-122"/>
                <a:cs typeface="Calibri" pitchFamily="34" charset="-120"/>
              </a:rPr>
              <a:t>IMF programmes for Ukraine, Kenya and Sri Lanka; Fitch lifted South Africa to BB</a:t>
            </a:r>
            <a:endParaRPr lang="en-US" sz="1400" dirty="0"/>
          </a:p>
        </p:txBody>
      </p:sp>
      <p:sp>
        <p:nvSpPr>
          <p:cNvPr id="8" name="Shape 5"/>
          <p:cNvSpPr/>
          <p:nvPr/>
        </p:nvSpPr>
        <p:spPr>
          <a:xfrm>
            <a:off x="6309360" y="4206240"/>
            <a:ext cx="5212080" cy="1143000"/>
          </a:xfrm>
          <a:prstGeom prst="roundRect">
            <a:avLst>
              <a:gd name="adj" fmla="val 6400"/>
            </a:avLst>
          </a:prstGeom>
          <a:solidFill>
            <a:srgbClr val="F1F4F8"/>
          </a:solidFill>
          <a:ln/>
        </p:spPr>
      </p:sp>
      <p:sp>
        <p:nvSpPr>
          <p:cNvPr id="9" name="Text 6"/>
          <p:cNvSpPr txBox="1"/>
          <p:nvPr/>
        </p:nvSpPr>
        <p:spPr>
          <a:xfrm>
            <a:off x="6583680" y="4370832"/>
            <a:ext cx="4709160" cy="868680"/>
          </a:xfrm>
          <a:prstGeom prst="rect">
            <a:avLst/>
          </a:prstGeom>
          <a:noFill/>
          <a:ln/>
        </p:spPr>
        <p:txBody>
          <a:bodyPr wrap="square" lIns="0" tIns="0" rIns="0" bIns="0" rtlCol="0" anchor="ctr"/>
          <a:lstStyle/>
          <a:p>
            <a:pPr indent="0" marL="0">
              <a:lnSpc>
                <a:spcPct val="115000"/>
              </a:lnSpc>
              <a:buNone/>
            </a:pPr>
            <a:r>
              <a:rPr lang="en-US" sz="1400" b="1" dirty="0">
                <a:solidFill>
                  <a:srgbClr val="1B2A41"/>
                </a:solidFill>
                <a:latin typeface="Calibri" pitchFamily="34" charset="0"/>
                <a:ea typeface="Calibri" pitchFamily="34" charset="-122"/>
                <a:cs typeface="Calibri" pitchFamily="34" charset="-120"/>
              </a:rPr>
              <a:t>Tariffs are not yet in the price. </a:t>
            </a:r>
            <a:pPr indent="0" marL="0">
              <a:lnSpc>
                <a:spcPct val="115000"/>
              </a:lnSpc>
              <a:buNone/>
            </a:pPr>
            <a:r>
              <a:rPr lang="en-US" sz="1400" dirty="0">
                <a:solidFill>
                  <a:srgbClr val="1B2A41"/>
                </a:solidFill>
                <a:latin typeface="Calibri" pitchFamily="34" charset="0"/>
                <a:ea typeface="Calibri" pitchFamily="34" charset="-122"/>
                <a:cs typeface="Calibri" pitchFamily="34" charset="-120"/>
              </a:rPr>
              <a:t>They emerged late in Q2 and had not materially widened spreads. A risk we have not been paid for.</a:t>
            </a:r>
            <a:endParaRPr lang="en-US" sz="1400" dirty="0"/>
          </a:p>
        </p:txBody>
      </p:sp>
      <p:sp>
        <p:nvSpPr>
          <p:cNvPr id="10" name="Text 7"/>
          <p:cNvSpPr txBox="1"/>
          <p:nvPr/>
        </p:nvSpPr>
        <p:spPr>
          <a:xfrm>
            <a:off x="640080" y="6291072"/>
            <a:ext cx="10881360" cy="274320"/>
          </a:xfrm>
          <a:prstGeom prst="rect">
            <a:avLst/>
          </a:prstGeom>
          <a:noFill/>
          <a:ln/>
        </p:spPr>
        <p:txBody>
          <a:bodyPr wrap="square" lIns="0" tIns="0" rIns="0" bIns="0" rtlCol="0" anchor="ctr"/>
          <a:lstStyle/>
          <a:p>
            <a:pPr indent="0" marL="0">
              <a:buNone/>
            </a:pPr>
            <a:r>
              <a:rPr lang="en-US" sz="900" dirty="0">
                <a:solidFill>
                  <a:srgbClr val="93A1B5"/>
                </a:solidFill>
                <a:latin typeface="Calibri" pitchFamily="34" charset="0"/>
                <a:ea typeface="Calibri" pitchFamily="34" charset="-122"/>
                <a:cs typeface="Calibri" pitchFamily="34" charset="-120"/>
              </a:rPr>
              <a:t>Source: State Street EM Debt Commentary Q2 2026; Columbia Threadneedle, 30-Mar-2026. Levels are EMBI Global Diversified and are not directly comparable to our EMBI Global stripped-basis spot of 208bp.</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3600" b="1" dirty="0">
                <a:solidFill>
                  <a:srgbClr val="1B2A41"/>
                </a:solidFill>
                <a:latin typeface="Cambria" pitchFamily="34" charset="0"/>
                <a:ea typeface="Cambria" pitchFamily="34" charset="-122"/>
                <a:cs typeface="Cambria" pitchFamily="34" charset="-120"/>
              </a:rPr>
              <a:t>Where this year's return actually came from</a:t>
            </a:r>
            <a:endParaRPr lang="en-US" sz="3600" dirty="0"/>
          </a:p>
        </p:txBody>
      </p:sp>
      <p:sp>
        <p:nvSpPr>
          <p:cNvPr id="3" name="Text 1"/>
          <p:cNvSpPr txBox="1"/>
          <p:nvPr/>
        </p:nvSpPr>
        <p:spPr>
          <a:xfrm>
            <a:off x="640080" y="1097280"/>
            <a:ext cx="10881360" cy="320040"/>
          </a:xfrm>
          <a:prstGeom prst="rect">
            <a:avLst/>
          </a:prstGeom>
          <a:noFill/>
          <a:ln/>
        </p:spPr>
        <p:txBody>
          <a:bodyPr wrap="square" lIns="0" tIns="0" rIns="0" bIns="0" rtlCol="0" anchor="ctr"/>
          <a:lstStyle/>
          <a:p>
            <a:pPr indent="0" marL="0">
              <a:buNone/>
            </a:pPr>
            <a:r>
              <a:rPr lang="en-US" sz="1500" dirty="0">
                <a:solidFill>
                  <a:srgbClr val="6B7A90"/>
                </a:solidFill>
                <a:latin typeface="Calibri" pitchFamily="34" charset="0"/>
                <a:ea typeface="Calibri" pitchFamily="34" charset="-122"/>
                <a:cs typeface="Calibri" pitchFamily="34" charset="-120"/>
              </a:rPr>
              <a:t>Not a rate-insensitive index. A distressed recovery in a handful of names.</a:t>
            </a:r>
            <a:endParaRPr lang="en-US" sz="1500" dirty="0"/>
          </a:p>
        </p:txBody>
      </p:sp>
      <p:graphicFrame>
        <p:nvGraphicFramePr>
          <p:cNvPr id="4" name="Chart 0" descr=""/>
          <p:cNvGraphicFramePr/>
          <p:nvPr/>
        </p:nvGraphicFramePr>
        <p:xfrm>
          <a:off x="640080" y="1737360"/>
          <a:ext cx="548640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40080" y="4983480"/>
            <a:ext cx="5486400" cy="365760"/>
          </a:xfrm>
          <a:prstGeom prst="rect">
            <a:avLst/>
          </a:prstGeom>
          <a:noFill/>
          <a:ln/>
        </p:spPr>
        <p:txBody>
          <a:bodyPr wrap="square" lIns="0" tIns="0" rIns="0" bIns="0" rtlCol="0" anchor="ctr"/>
          <a:lstStyle/>
          <a:p>
            <a:pPr indent="0" marL="0">
              <a:buNone/>
            </a:pPr>
            <a:r>
              <a:rPr lang="en-US" sz="1100" i="1" dirty="0">
                <a:solidFill>
                  <a:srgbClr val="24395B"/>
                </a:solidFill>
                <a:latin typeface="Calibri" pitchFamily="34" charset="0"/>
                <a:ea typeface="Calibri" pitchFamily="34" charset="-122"/>
                <a:cs typeface="Calibri" pitchFamily="34" charset="-120"/>
              </a:rPr>
              <a:t>Venezuela +74.6%  ·  Lebanon +22.7%  ·  Gabon +18.0%  ·  Ukraine +13.2%  ·  Sri Lanka +12.5%</a:t>
            </a:r>
            <a:endParaRPr lang="en-US" sz="1100" dirty="0"/>
          </a:p>
        </p:txBody>
      </p:sp>
      <p:sp>
        <p:nvSpPr>
          <p:cNvPr id="6" name="Shape 3"/>
          <p:cNvSpPr/>
          <p:nvPr/>
        </p:nvSpPr>
        <p:spPr>
          <a:xfrm>
            <a:off x="6583680" y="1737360"/>
            <a:ext cx="4937760" cy="1024128"/>
          </a:xfrm>
          <a:prstGeom prst="roundRect">
            <a:avLst>
              <a:gd name="adj" fmla="val 7143"/>
            </a:avLst>
          </a:prstGeom>
          <a:solidFill>
            <a:srgbClr val="24395B"/>
          </a:solidFill>
          <a:ln/>
        </p:spPr>
      </p:sp>
      <p:sp>
        <p:nvSpPr>
          <p:cNvPr id="7" name="Text 4"/>
          <p:cNvSpPr txBox="1"/>
          <p:nvPr/>
        </p:nvSpPr>
        <p:spPr>
          <a:xfrm>
            <a:off x="6812280" y="1938528"/>
            <a:ext cx="1600200" cy="640080"/>
          </a:xfrm>
          <a:prstGeom prst="rect">
            <a:avLst/>
          </a:prstGeom>
          <a:noFill/>
          <a:ln/>
        </p:spPr>
        <p:txBody>
          <a:bodyPr wrap="square" lIns="0" tIns="0" rIns="0" bIns="0" rtlCol="0" anchor="ctr"/>
          <a:lstStyle/>
          <a:p>
            <a:pPr indent="0" marL="0">
              <a:buNone/>
            </a:pPr>
            <a:r>
              <a:rPr lang="en-US" sz="3000" b="1" dirty="0">
                <a:solidFill>
                  <a:srgbClr val="C9922C"/>
                </a:solidFill>
                <a:latin typeface="Cambria" pitchFamily="34" charset="0"/>
                <a:ea typeface="Cambria" pitchFamily="34" charset="-122"/>
                <a:cs typeface="Cambria" pitchFamily="34" charset="-120"/>
              </a:rPr>
              <a:t>8.9%</a:t>
            </a:r>
            <a:endParaRPr lang="en-US" sz="3000" dirty="0"/>
          </a:p>
        </p:txBody>
      </p:sp>
      <p:sp>
        <p:nvSpPr>
          <p:cNvPr id="8" name="Text 5"/>
          <p:cNvSpPr txBox="1"/>
          <p:nvPr/>
        </p:nvSpPr>
        <p:spPr>
          <a:xfrm>
            <a:off x="8458200" y="1975104"/>
            <a:ext cx="2880360" cy="594360"/>
          </a:xfrm>
          <a:prstGeom prst="rect">
            <a:avLst/>
          </a:prstGeom>
          <a:noFill/>
          <a:ln/>
        </p:spPr>
        <p:txBody>
          <a:bodyPr wrap="square" lIns="0" tIns="0" rIns="0" bIns="0" rtlCol="0" anchor="ctr"/>
          <a:lstStyle/>
          <a:p>
            <a:pPr indent="0" marL="0">
              <a:buNone/>
            </a:pPr>
            <a:r>
              <a:rPr lang="en-US" sz="1300" dirty="0">
                <a:solidFill>
                  <a:srgbClr val="CBD6E4"/>
                </a:solidFill>
                <a:latin typeface="Calibri" pitchFamily="34" charset="0"/>
                <a:ea typeface="Calibri" pitchFamily="34" charset="-122"/>
                <a:cs typeface="Calibri" pitchFamily="34" charset="-120"/>
              </a:rPr>
              <a:t>of the index is the</a:t>
            </a:r>
            <a:endParaRPr lang="en-US" sz="1300" dirty="0"/>
          </a:p>
          <a:p>
            <a:pPr indent="0" marL="0">
              <a:buNone/>
            </a:pPr>
            <a:r>
              <a:rPr lang="en-US" sz="1300" dirty="0">
                <a:solidFill>
                  <a:srgbClr val="CBD6E4"/>
                </a:solidFill>
                <a:latin typeface="Calibri" pitchFamily="34" charset="0"/>
                <a:ea typeface="Calibri" pitchFamily="34" charset="-122"/>
                <a:cs typeface="Calibri" pitchFamily="34" charset="-120"/>
              </a:rPr>
              <a:t>distressed cohort</a:t>
            </a:r>
            <a:endParaRPr lang="en-US" sz="1300" dirty="0"/>
          </a:p>
        </p:txBody>
      </p:sp>
      <p:sp>
        <p:nvSpPr>
          <p:cNvPr id="9" name="Shape 6"/>
          <p:cNvSpPr/>
          <p:nvPr/>
        </p:nvSpPr>
        <p:spPr>
          <a:xfrm>
            <a:off x="6583680" y="2907792"/>
            <a:ext cx="4937760" cy="1024128"/>
          </a:xfrm>
          <a:prstGeom prst="roundRect">
            <a:avLst>
              <a:gd name="adj" fmla="val 7143"/>
            </a:avLst>
          </a:prstGeom>
          <a:solidFill>
            <a:srgbClr val="24395B"/>
          </a:solidFill>
          <a:ln/>
        </p:spPr>
      </p:sp>
      <p:sp>
        <p:nvSpPr>
          <p:cNvPr id="10" name="Text 7"/>
          <p:cNvSpPr txBox="1"/>
          <p:nvPr/>
        </p:nvSpPr>
        <p:spPr>
          <a:xfrm>
            <a:off x="6812280" y="3108960"/>
            <a:ext cx="1600200" cy="640080"/>
          </a:xfrm>
          <a:prstGeom prst="rect">
            <a:avLst/>
          </a:prstGeom>
          <a:noFill/>
          <a:ln/>
        </p:spPr>
        <p:txBody>
          <a:bodyPr wrap="square" lIns="0" tIns="0" rIns="0" bIns="0" rtlCol="0" anchor="ctr"/>
          <a:lstStyle/>
          <a:p>
            <a:pPr indent="0" marL="0">
              <a:buNone/>
            </a:pPr>
            <a:r>
              <a:rPr lang="en-US" sz="3000" b="1" dirty="0">
                <a:solidFill>
                  <a:srgbClr val="C9922C"/>
                </a:solidFill>
                <a:latin typeface="Cambria" pitchFamily="34" charset="0"/>
                <a:ea typeface="Cambria" pitchFamily="34" charset="-122"/>
                <a:cs typeface="Cambria" pitchFamily="34" charset="-120"/>
              </a:rPr>
              <a:t>70%</a:t>
            </a:r>
            <a:endParaRPr lang="en-US" sz="3000" dirty="0"/>
          </a:p>
        </p:txBody>
      </p:sp>
      <p:sp>
        <p:nvSpPr>
          <p:cNvPr id="11" name="Text 8"/>
          <p:cNvSpPr txBox="1"/>
          <p:nvPr/>
        </p:nvSpPr>
        <p:spPr>
          <a:xfrm>
            <a:off x="8458200" y="3145536"/>
            <a:ext cx="2880360" cy="594360"/>
          </a:xfrm>
          <a:prstGeom prst="rect">
            <a:avLst/>
          </a:prstGeom>
          <a:noFill/>
          <a:ln/>
        </p:spPr>
        <p:txBody>
          <a:bodyPr wrap="square" lIns="0" tIns="0" rIns="0" bIns="0" rtlCol="0" anchor="ctr"/>
          <a:lstStyle/>
          <a:p>
            <a:pPr indent="0" marL="0">
              <a:buNone/>
            </a:pPr>
            <a:r>
              <a:rPr lang="en-US" sz="1300" dirty="0">
                <a:solidFill>
                  <a:srgbClr val="CBD6E4"/>
                </a:solidFill>
                <a:latin typeface="Calibri" pitchFamily="34" charset="0"/>
                <a:ea typeface="Calibri" pitchFamily="34" charset="-122"/>
                <a:cs typeface="Calibri" pitchFamily="34" charset="-120"/>
              </a:rPr>
              <a:t>of the index's return</a:t>
            </a:r>
            <a:endParaRPr lang="en-US" sz="1300" dirty="0"/>
          </a:p>
          <a:p>
            <a:pPr indent="0" marL="0">
              <a:buNone/>
            </a:pPr>
            <a:r>
              <a:rPr lang="en-US" sz="1300" dirty="0">
                <a:solidFill>
                  <a:srgbClr val="CBD6E4"/>
                </a:solidFill>
                <a:latin typeface="Calibri" pitchFamily="34" charset="0"/>
                <a:ea typeface="Calibri" pitchFamily="34" charset="-122"/>
                <a:cs typeface="Calibri" pitchFamily="34" charset="-120"/>
              </a:rPr>
              <a:t>came from it</a:t>
            </a:r>
            <a:endParaRPr lang="en-US" sz="1300" dirty="0"/>
          </a:p>
        </p:txBody>
      </p:sp>
      <p:sp>
        <p:nvSpPr>
          <p:cNvPr id="12" name="Shape 9"/>
          <p:cNvSpPr/>
          <p:nvPr/>
        </p:nvSpPr>
        <p:spPr>
          <a:xfrm>
            <a:off x="6583680" y="4078224"/>
            <a:ext cx="4937760" cy="1024128"/>
          </a:xfrm>
          <a:prstGeom prst="roundRect">
            <a:avLst>
              <a:gd name="adj" fmla="val 7143"/>
            </a:avLst>
          </a:prstGeom>
          <a:solidFill>
            <a:srgbClr val="F1F4F8"/>
          </a:solidFill>
          <a:ln/>
        </p:spPr>
      </p:sp>
      <p:sp>
        <p:nvSpPr>
          <p:cNvPr id="13" name="Text 10"/>
          <p:cNvSpPr txBox="1"/>
          <p:nvPr/>
        </p:nvSpPr>
        <p:spPr>
          <a:xfrm>
            <a:off x="6812280" y="4279392"/>
            <a:ext cx="1600200" cy="64008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+0.91%</a:t>
            </a:r>
            <a:endParaRPr lang="en-US" sz="3000" dirty="0"/>
          </a:p>
        </p:txBody>
      </p:sp>
      <p:sp>
        <p:nvSpPr>
          <p:cNvPr id="14" name="Text 11"/>
          <p:cNvSpPr txBox="1"/>
          <p:nvPr/>
        </p:nvSpPr>
        <p:spPr>
          <a:xfrm>
            <a:off x="8458200" y="4315968"/>
            <a:ext cx="2880360" cy="594360"/>
          </a:xfrm>
          <a:prstGeom prst="rect">
            <a:avLst/>
          </a:prstGeom>
          <a:noFill/>
          <a:ln/>
        </p:spPr>
        <p:txBody>
          <a:bodyPr wrap="square" lIns="0" tIns="0" rIns="0" bIns="0" rtlCol="0" anchor="ctr"/>
          <a:lstStyle/>
          <a:p>
            <a:pPr indent="0" marL="0">
              <a:buNone/>
            </a:pPr>
            <a:r>
              <a:rPr lang="en-US" sz="1300" dirty="0">
                <a:solidFill>
                  <a:srgbClr val="1B2A41"/>
                </a:solidFill>
                <a:latin typeface="Calibri" pitchFamily="34" charset="0"/>
                <a:ea typeface="Calibri" pitchFamily="34" charset="-122"/>
                <a:cs typeface="Calibri" pitchFamily="34" charset="-120"/>
              </a:rPr>
              <a:t>is what the other</a:t>
            </a:r>
            <a:endParaRPr lang="en-US" sz="1300" dirty="0"/>
          </a:p>
          <a:p>
            <a:pPr indent="0" marL="0">
              <a:buNone/>
            </a:pPr>
            <a:r>
              <a:rPr lang="en-US" sz="1300" dirty="0">
                <a:solidFill>
                  <a:srgbClr val="1B2A41"/>
                </a:solidFill>
                <a:latin typeface="Calibri" pitchFamily="34" charset="0"/>
                <a:ea typeface="Calibri" pitchFamily="34" charset="-122"/>
                <a:cs typeface="Calibri" pitchFamily="34" charset="-120"/>
              </a:rPr>
              <a:t>91% delivered</a:t>
            </a:r>
            <a:endParaRPr lang="en-US" sz="1300" dirty="0"/>
          </a:p>
        </p:txBody>
      </p:sp>
      <p:sp>
        <p:nvSpPr>
          <p:cNvPr id="15" name="Shape 12"/>
          <p:cNvSpPr/>
          <p:nvPr/>
        </p:nvSpPr>
        <p:spPr>
          <a:xfrm>
            <a:off x="6583680" y="5285232"/>
            <a:ext cx="4937760" cy="868680"/>
          </a:xfrm>
          <a:prstGeom prst="roundRect">
            <a:avLst>
              <a:gd name="adj" fmla="val 8421"/>
            </a:avLst>
          </a:prstGeom>
          <a:solidFill>
            <a:srgbClr val="FBEFEE"/>
          </a:solidFill>
          <a:ln/>
        </p:spPr>
      </p:sp>
      <p:sp>
        <p:nvSpPr>
          <p:cNvPr id="16" name="Text 13"/>
          <p:cNvSpPr txBox="1"/>
          <p:nvPr/>
        </p:nvSpPr>
        <p:spPr>
          <a:xfrm>
            <a:off x="6812280" y="5431536"/>
            <a:ext cx="4526280" cy="621792"/>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IG spread return was +0.46% in eight months. </a:t>
            </a:r>
            <a:pPr indent="0" marL="0">
              <a:buNone/>
            </a:pPr>
            <a:r>
              <a:rPr lang="en-US" sz="1300" dirty="0">
                <a:solidFill>
                  <a:srgbClr val="1B2A41"/>
                </a:solidFill>
                <a:latin typeface="Calibri" pitchFamily="34" charset="0"/>
                <a:ea typeface="Calibri" pitchFamily="34" charset="-122"/>
                <a:cs typeface="Calibri" pitchFamily="34" charset="-120"/>
              </a:rPr>
              <a:t>That is the clean read on rates — and it is flat.</a:t>
            </a:r>
            <a:endParaRPr lang="en-US" sz="1300" dirty="0"/>
          </a:p>
        </p:txBody>
      </p:sp>
      <p:sp>
        <p:nvSpPr>
          <p:cNvPr id="17" name="Text 14"/>
          <p:cNvSpPr txBox="1"/>
          <p:nvPr/>
        </p:nvSpPr>
        <p:spPr>
          <a:xfrm>
            <a:off x="640080" y="5486400"/>
            <a:ext cx="5486400" cy="640080"/>
          </a:xfrm>
          <a:prstGeom prst="rect">
            <a:avLst/>
          </a:prstGeom>
          <a:noFill/>
          <a:ln/>
        </p:spPr>
        <p:txBody>
          <a:bodyPr wrap="square" lIns="0" tIns="0" rIns="0" bIns="0" rtlCol="0" anchor="ctr"/>
          <a:lstStyle/>
          <a:p>
            <a:pPr indent="0" marL="0">
              <a:buNone/>
            </a:pPr>
            <a:r>
              <a:rPr lang="en-US" sz="1200" i="1" dirty="0">
                <a:solidFill>
                  <a:srgbClr val="6B7A90"/>
                </a:solidFill>
                <a:latin typeface="Calibri" pitchFamily="34" charset="0"/>
                <a:ea typeface="Calibri" pitchFamily="34" charset="-122"/>
                <a:cs typeface="Calibri" pitchFamily="34" charset="-120"/>
              </a:rPr>
              <a:t>Read honestly: this is not evidence that EM has decoupled from US rates, and it is not repeatable. The compression trade has largely happened.</a:t>
            </a:r>
            <a:endParaRPr lang="en-US" sz="1200" dirty="0"/>
          </a:p>
        </p:txBody>
      </p:sp>
      <p:sp>
        <p:nvSpPr>
          <p:cNvPr id="18" name="Text 15"/>
          <p:cNvSpPr txBox="1"/>
          <p:nvPr/>
        </p:nvSpPr>
        <p:spPr>
          <a:xfrm>
            <a:off x="640080" y="6291072"/>
            <a:ext cx="10881360" cy="274320"/>
          </a:xfrm>
          <a:prstGeom prst="rect">
            <a:avLst/>
          </a:prstGeom>
          <a:noFill/>
          <a:ln/>
        </p:spPr>
        <p:txBody>
          <a:bodyPr wrap="square" lIns="0" tIns="0" rIns="0" bIns="0" rtlCol="0" anchor="ctr"/>
          <a:lstStyle/>
          <a:p>
            <a:pPr indent="0" marL="0">
              <a:buNone/>
            </a:pPr>
            <a:r>
              <a:rPr lang="en-US" sz="900" dirty="0">
                <a:solidFill>
                  <a:srgbClr val="93A1B5"/>
                </a:solidFill>
                <a:latin typeface="Calibri" pitchFamily="34" charset="0"/>
                <a:ea typeface="Calibri" pitchFamily="34" charset="-122"/>
                <a:cs typeface="Calibri" pitchFamily="34" charset="-120"/>
              </a:rPr>
              <a:t>Source: JPMorgan EMBI Global, 03-Sep-2026 regional file; YTD total and spread-return attribution by credit bucket and country.</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3600" b="1" dirty="0">
                <a:solidFill>
                  <a:srgbClr val="1B2A41"/>
                </a:solidFill>
                <a:latin typeface="Cambria" pitchFamily="34" charset="0"/>
                <a:ea typeface="Cambria" pitchFamily="34" charset="-122"/>
                <a:cs typeface="Cambria" pitchFamily="34" charset="-120"/>
              </a:rPr>
              <a:t>Why we stay attractive</a:t>
            </a:r>
            <a:endParaRPr lang="en-US" sz="3600" dirty="0"/>
          </a:p>
        </p:txBody>
      </p:sp>
      <p:sp>
        <p:nvSpPr>
          <p:cNvPr id="3" name="Text 1"/>
          <p:cNvSpPr txBox="1"/>
          <p:nvPr/>
        </p:nvSpPr>
        <p:spPr>
          <a:xfrm>
            <a:off x="640080" y="1097280"/>
            <a:ext cx="10881360" cy="320040"/>
          </a:xfrm>
          <a:prstGeom prst="rect">
            <a:avLst/>
          </a:prstGeom>
          <a:noFill/>
          <a:ln/>
        </p:spPr>
        <p:txBody>
          <a:bodyPr wrap="square" lIns="0" tIns="0" rIns="0" bIns="0" rtlCol="0" anchor="ctr"/>
          <a:lstStyle/>
          <a:p>
            <a:pPr indent="0" marL="0">
              <a:buNone/>
            </a:pPr>
            <a:r>
              <a:rPr lang="en-US" sz="1500" dirty="0">
                <a:solidFill>
                  <a:srgbClr val="6B7A90"/>
                </a:solidFill>
                <a:latin typeface="Calibri" pitchFamily="34" charset="0"/>
                <a:ea typeface="Calibri" pitchFamily="34" charset="-122"/>
                <a:cs typeface="Calibri" pitchFamily="34" charset="-120"/>
              </a:rPr>
              <a:t>Four reasons that do not depend on the spread forecast we are arguing about.</a:t>
            </a:r>
            <a:endParaRPr lang="en-US" sz="1500" dirty="0"/>
          </a:p>
        </p:txBody>
      </p:sp>
      <p:sp>
        <p:nvSpPr>
          <p:cNvPr id="4" name="Shape 2"/>
          <p:cNvSpPr/>
          <p:nvPr/>
        </p:nvSpPr>
        <p:spPr>
          <a:xfrm>
            <a:off x="640080" y="1700784"/>
            <a:ext cx="384048" cy="384048"/>
          </a:xfrm>
          <a:prstGeom prst="ellipse">
            <a:avLst/>
          </a:prstGeom>
          <a:solidFill>
            <a:srgbClr val="24395B"/>
          </a:solidFill>
          <a:ln/>
        </p:spPr>
      </p:sp>
      <p:sp>
        <p:nvSpPr>
          <p:cNvPr id="5" name="Text 3"/>
          <p:cNvSpPr txBox="1"/>
          <p:nvPr/>
        </p:nvSpPr>
        <p:spPr>
          <a:xfrm>
            <a:off x="640080" y="1719072"/>
            <a:ext cx="384048"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170432" y="1645920"/>
            <a:ext cx="4846320" cy="292608"/>
          </a:xfrm>
          <a:prstGeom prst="rect">
            <a:avLst/>
          </a:prstGeom>
          <a:noFill/>
          <a:ln/>
        </p:spPr>
        <p:txBody>
          <a:bodyPr wrap="square" lIns="0" tIns="0" rIns="0" bIns="0" rtlCol="0" anchor="ctr"/>
          <a:lstStyle/>
          <a:p>
            <a:pPr indent="0" marL="0">
              <a:buNone/>
            </a:pPr>
            <a:r>
              <a:rPr lang="en-US" sz="1500" b="1" dirty="0">
                <a:solidFill>
                  <a:srgbClr val="1B2A41"/>
                </a:solidFill>
                <a:latin typeface="Calibri" pitchFamily="34" charset="0"/>
                <a:ea typeface="Calibri" pitchFamily="34" charset="-122"/>
                <a:cs typeface="Calibri" pitchFamily="34" charset="-120"/>
              </a:rPr>
              <a:t>Carry does the work.</a:t>
            </a:r>
            <a:endParaRPr lang="en-US" sz="1500" dirty="0"/>
          </a:p>
        </p:txBody>
      </p:sp>
      <p:sp>
        <p:nvSpPr>
          <p:cNvPr id="7" name="Text 5"/>
          <p:cNvSpPr txBox="1"/>
          <p:nvPr/>
        </p:nvSpPr>
        <p:spPr>
          <a:xfrm>
            <a:off x="1170432" y="1947672"/>
            <a:ext cx="4846320" cy="566928"/>
          </a:xfrm>
          <a:prstGeom prst="rect">
            <a:avLst/>
          </a:prstGeom>
          <a:noFill/>
          <a:ln/>
        </p:spPr>
        <p:txBody>
          <a:bodyPr wrap="square" lIns="0" tIns="0" rIns="0" bIns="0" rtlCol="0" anchor="ctr"/>
          <a:lstStyle/>
          <a:p>
            <a:pPr indent="0" marL="0">
              <a:lnSpc>
                <a:spcPct val="110000"/>
              </a:lnSpc>
              <a:buNone/>
            </a:pPr>
            <a:r>
              <a:rPr lang="en-US" sz="1250" dirty="0">
                <a:solidFill>
                  <a:srgbClr val="6B7A90"/>
                </a:solidFill>
                <a:latin typeface="Calibri" pitchFamily="34" charset="0"/>
                <a:ea typeface="Calibri" pitchFamily="34" charset="-122"/>
                <a:cs typeface="Calibri" pitchFamily="34" charset="-120"/>
              </a:rPr>
              <a:t>At unchanged spreads we earn 6.65% against cash at 4.50%. We are not relying on compression.</a:t>
            </a:r>
            <a:endParaRPr lang="en-US" sz="1250" dirty="0"/>
          </a:p>
        </p:txBody>
      </p:sp>
      <p:sp>
        <p:nvSpPr>
          <p:cNvPr id="8" name="Shape 6"/>
          <p:cNvSpPr/>
          <p:nvPr/>
        </p:nvSpPr>
        <p:spPr>
          <a:xfrm>
            <a:off x="640080" y="2752344"/>
            <a:ext cx="384048" cy="384048"/>
          </a:xfrm>
          <a:prstGeom prst="ellipse">
            <a:avLst/>
          </a:prstGeom>
          <a:solidFill>
            <a:srgbClr val="24395B"/>
          </a:solidFill>
          <a:ln/>
        </p:spPr>
      </p:sp>
      <p:sp>
        <p:nvSpPr>
          <p:cNvPr id="9" name="Text 7"/>
          <p:cNvSpPr txBox="1"/>
          <p:nvPr/>
        </p:nvSpPr>
        <p:spPr>
          <a:xfrm>
            <a:off x="640080" y="2770632"/>
            <a:ext cx="384048"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1170432" y="2697480"/>
            <a:ext cx="4846320" cy="292608"/>
          </a:xfrm>
          <a:prstGeom prst="rect">
            <a:avLst/>
          </a:prstGeom>
          <a:noFill/>
          <a:ln/>
        </p:spPr>
        <p:txBody>
          <a:bodyPr wrap="square" lIns="0" tIns="0" rIns="0" bIns="0" rtlCol="0" anchor="ctr"/>
          <a:lstStyle/>
          <a:p>
            <a:pPr indent="0" marL="0">
              <a:buNone/>
            </a:pPr>
            <a:r>
              <a:rPr lang="en-US" sz="1500" b="1" dirty="0">
                <a:solidFill>
                  <a:srgbClr val="1B2A41"/>
                </a:solidFill>
                <a:latin typeface="Calibri" pitchFamily="34" charset="0"/>
                <a:ea typeface="Calibri" pitchFamily="34" charset="-122"/>
                <a:cs typeface="Calibri" pitchFamily="34" charset="-120"/>
              </a:rPr>
              <a:t>The Fed path is largely discounted.</a:t>
            </a:r>
            <a:endParaRPr lang="en-US" sz="1500" dirty="0"/>
          </a:p>
        </p:txBody>
      </p:sp>
      <p:sp>
        <p:nvSpPr>
          <p:cNvPr id="11" name="Text 9"/>
          <p:cNvSpPr txBox="1"/>
          <p:nvPr/>
        </p:nvSpPr>
        <p:spPr>
          <a:xfrm>
            <a:off x="1170432" y="2999232"/>
            <a:ext cx="4846320" cy="566928"/>
          </a:xfrm>
          <a:prstGeom prst="rect">
            <a:avLst/>
          </a:prstGeom>
          <a:noFill/>
          <a:ln/>
        </p:spPr>
        <p:txBody>
          <a:bodyPr wrap="square" lIns="0" tIns="0" rIns="0" bIns="0" rtlCol="0" anchor="ctr"/>
          <a:lstStyle/>
          <a:p>
            <a:pPr indent="0" marL="0">
              <a:lnSpc>
                <a:spcPct val="110000"/>
              </a:lnSpc>
              <a:buNone/>
            </a:pPr>
            <a:r>
              <a:rPr lang="en-US" sz="1250" dirty="0">
                <a:solidFill>
                  <a:srgbClr val="6B7A90"/>
                </a:solidFill>
                <a:latin typeface="Calibri" pitchFamily="34" charset="0"/>
                <a:ea typeface="Calibri" pitchFamily="34" charset="-122"/>
                <a:cs typeface="Calibri" pitchFamily="34" charset="-120"/>
              </a:rPr>
              <a:t>It is in the 10-year, so it is in 208bp. We cannot mark the return down for an event already in the price.</a:t>
            </a:r>
            <a:endParaRPr lang="en-US" sz="1250" dirty="0"/>
          </a:p>
        </p:txBody>
      </p:sp>
      <p:sp>
        <p:nvSpPr>
          <p:cNvPr id="12" name="Shape 10"/>
          <p:cNvSpPr/>
          <p:nvPr/>
        </p:nvSpPr>
        <p:spPr>
          <a:xfrm>
            <a:off x="640080" y="3803904"/>
            <a:ext cx="384048" cy="384048"/>
          </a:xfrm>
          <a:prstGeom prst="ellipse">
            <a:avLst/>
          </a:prstGeom>
          <a:solidFill>
            <a:srgbClr val="24395B"/>
          </a:solidFill>
          <a:ln/>
        </p:spPr>
      </p:sp>
      <p:sp>
        <p:nvSpPr>
          <p:cNvPr id="13" name="Text 11"/>
          <p:cNvSpPr txBox="1"/>
          <p:nvPr/>
        </p:nvSpPr>
        <p:spPr>
          <a:xfrm>
            <a:off x="640080" y="3822192"/>
            <a:ext cx="384048"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170432" y="3749040"/>
            <a:ext cx="4846320" cy="292608"/>
          </a:xfrm>
          <a:prstGeom prst="rect">
            <a:avLst/>
          </a:prstGeom>
          <a:noFill/>
          <a:ln/>
        </p:spPr>
        <p:txBody>
          <a:bodyPr wrap="square" lIns="0" tIns="0" rIns="0" bIns="0" rtlCol="0" anchor="ctr"/>
          <a:lstStyle/>
          <a:p>
            <a:pPr indent="0" marL="0">
              <a:buNone/>
            </a:pPr>
            <a:r>
              <a:rPr lang="en-US" sz="1500" b="1" dirty="0">
                <a:solidFill>
                  <a:srgbClr val="1B2A41"/>
                </a:solidFill>
                <a:latin typeface="Calibri" pitchFamily="34" charset="0"/>
                <a:ea typeface="Calibri" pitchFamily="34" charset="-122"/>
                <a:cs typeface="Calibri" pitchFamily="34" charset="-120"/>
              </a:rPr>
              <a:t>We can absorb the residual.</a:t>
            </a:r>
            <a:endParaRPr lang="en-US" sz="1500" dirty="0"/>
          </a:p>
        </p:txBody>
      </p:sp>
      <p:sp>
        <p:nvSpPr>
          <p:cNvPr id="15" name="Text 13"/>
          <p:cNvSpPr txBox="1"/>
          <p:nvPr/>
        </p:nvSpPr>
        <p:spPr>
          <a:xfrm>
            <a:off x="1170432" y="4050792"/>
            <a:ext cx="4846320" cy="566928"/>
          </a:xfrm>
          <a:prstGeom prst="rect">
            <a:avLst/>
          </a:prstGeom>
          <a:noFill/>
          <a:ln/>
        </p:spPr>
        <p:txBody>
          <a:bodyPr wrap="square" lIns="0" tIns="0" rIns="0" bIns="0" rtlCol="0" anchor="ctr"/>
          <a:lstStyle/>
          <a:p>
            <a:pPr indent="0" marL="0">
              <a:lnSpc>
                <a:spcPct val="110000"/>
              </a:lnSpc>
              <a:buNone/>
            </a:pPr>
            <a:r>
              <a:rPr lang="en-US" sz="1250" dirty="0">
                <a:solidFill>
                  <a:srgbClr val="6B7A90"/>
                </a:solidFill>
                <a:latin typeface="Calibri" pitchFamily="34" charset="0"/>
                <a:ea typeface="Calibri" pitchFamily="34" charset="-122"/>
                <a:cs typeface="Calibri" pitchFamily="34" charset="-120"/>
              </a:rPr>
              <a:t>+35bp on the 10y before carry falls to cash. A further move of ~30bp is the realistic case.</a:t>
            </a:r>
            <a:endParaRPr lang="en-US" sz="1250" dirty="0"/>
          </a:p>
        </p:txBody>
      </p:sp>
      <p:sp>
        <p:nvSpPr>
          <p:cNvPr id="16" name="Shape 14"/>
          <p:cNvSpPr/>
          <p:nvPr/>
        </p:nvSpPr>
        <p:spPr>
          <a:xfrm>
            <a:off x="640080" y="4855464"/>
            <a:ext cx="384048" cy="384048"/>
          </a:xfrm>
          <a:prstGeom prst="ellipse">
            <a:avLst/>
          </a:prstGeom>
          <a:solidFill>
            <a:srgbClr val="24395B"/>
          </a:solidFill>
          <a:ln/>
        </p:spPr>
      </p:sp>
      <p:sp>
        <p:nvSpPr>
          <p:cNvPr id="17" name="Text 15"/>
          <p:cNvSpPr txBox="1"/>
          <p:nvPr/>
        </p:nvSpPr>
        <p:spPr>
          <a:xfrm>
            <a:off x="640080" y="4873752"/>
            <a:ext cx="384048"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1170432" y="4800600"/>
            <a:ext cx="4846320" cy="292608"/>
          </a:xfrm>
          <a:prstGeom prst="rect">
            <a:avLst/>
          </a:prstGeom>
          <a:noFill/>
          <a:ln/>
        </p:spPr>
        <p:txBody>
          <a:bodyPr wrap="square" lIns="0" tIns="0" rIns="0" bIns="0" rtlCol="0" anchor="ctr"/>
          <a:lstStyle/>
          <a:p>
            <a:pPr indent="0" marL="0">
              <a:buNone/>
            </a:pPr>
            <a:r>
              <a:rPr lang="en-US" sz="1500" b="1" dirty="0">
                <a:solidFill>
                  <a:srgbClr val="1B2A41"/>
                </a:solidFill>
                <a:latin typeface="Calibri" pitchFamily="34" charset="0"/>
                <a:ea typeface="Calibri" pitchFamily="34" charset="-122"/>
                <a:cs typeface="Calibri" pitchFamily="34" charset="-120"/>
              </a:rPr>
              <a:t>Risk-off is self-cushioning.</a:t>
            </a:r>
            <a:endParaRPr lang="en-US" sz="1500" dirty="0"/>
          </a:p>
        </p:txBody>
      </p:sp>
      <p:sp>
        <p:nvSpPr>
          <p:cNvPr id="19" name="Text 17"/>
          <p:cNvSpPr txBox="1"/>
          <p:nvPr/>
        </p:nvSpPr>
        <p:spPr>
          <a:xfrm>
            <a:off x="1170432" y="5102352"/>
            <a:ext cx="4846320" cy="566928"/>
          </a:xfrm>
          <a:prstGeom prst="rect">
            <a:avLst/>
          </a:prstGeom>
          <a:noFill/>
          <a:ln/>
        </p:spPr>
        <p:txBody>
          <a:bodyPr wrap="square" lIns="0" tIns="0" rIns="0" bIns="0" rtlCol="0" anchor="ctr"/>
          <a:lstStyle/>
          <a:p>
            <a:pPr indent="0" marL="0">
              <a:lnSpc>
                <a:spcPct val="110000"/>
              </a:lnSpc>
              <a:buNone/>
            </a:pPr>
            <a:r>
              <a:rPr lang="en-US" sz="1250" dirty="0">
                <a:solidFill>
                  <a:srgbClr val="6B7A90"/>
                </a:solidFill>
                <a:latin typeface="Calibri" pitchFamily="34" charset="0"/>
                <a:ea typeface="Calibri" pitchFamily="34" charset="-122"/>
                <a:cs typeface="Calibri" pitchFamily="34" charset="-120"/>
              </a:rPr>
              <a:t>Spreads widen when Treasuries rally. The rate leg pays for much of the spread leg.</a:t>
            </a:r>
            <a:endParaRPr lang="en-US" sz="1250" dirty="0"/>
          </a:p>
        </p:txBody>
      </p:sp>
      <p:sp>
        <p:nvSpPr>
          <p:cNvPr id="20" name="Text 18"/>
          <p:cNvSpPr txBox="1"/>
          <p:nvPr/>
        </p:nvSpPr>
        <p:spPr>
          <a:xfrm>
            <a:off x="6537960" y="1691640"/>
            <a:ext cx="4983480" cy="274320"/>
          </a:xfrm>
          <a:prstGeom prst="rect">
            <a:avLst/>
          </a:prstGeom>
          <a:noFill/>
          <a:ln/>
        </p:spPr>
        <p:txBody>
          <a:bodyPr wrap="square" lIns="0" tIns="0" rIns="0" bIns="0" rtlCol="0" anchor="ctr"/>
          <a:lstStyle/>
          <a:p>
            <a:pPr indent="0" marL="0">
              <a:buNone/>
            </a:pPr>
            <a:r>
              <a:rPr lang="en-US" sz="1300" b="1" dirty="0">
                <a:solidFill>
                  <a:srgbClr val="C9922C"/>
                </a:solidFill>
                <a:latin typeface="Calibri" pitchFamily="34" charset="0"/>
                <a:ea typeface="Calibri" pitchFamily="34" charset="-122"/>
                <a:cs typeface="Calibri" pitchFamily="34" charset="-120"/>
              </a:rPr>
              <a:t>What the scenarios pay</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537960" y="2029968"/>
          <a:ext cx="4983480" cy="914400"/>
        </p:xfrm>
        <a:graphic>
          <a:graphicData uri="http://schemas.openxmlformats.org/drawingml/2006/table">
            <a:tbl>
              <a:tblPr/>
              <a:tblGrid>
                <a:gridCol w="3429000"/>
                <a:gridCol w="1554480"/>
              </a:tblGrid>
              <a:tr h="429768">
                <a:tc>
                  <a:txBody>
                    <a:bodyPr/>
                    <a:lstStyle/>
                    <a:p>
                      <a:pPr algn="l" indent="0" marL="0">
                        <a:buNone/>
                      </a:pP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6B7A90"/>
                          </a:solidFill>
                          <a:latin typeface="Calibri" pitchFamily="34" charset="0"/>
                          <a:ea typeface="Calibri" pitchFamily="34" charset="-122"/>
                          <a:cs typeface="Calibri" pitchFamily="34" charset="-120"/>
                        </a:rPr>
                        <a:t>12m TR</a:t>
                      </a:r>
                      <a:endParaRPr lang="en-US" sz="110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FFFFFF"/>
                    </a:solidFill>
                  </a:tcPr>
                </a:tc>
              </a:tr>
              <a:tr h="429768">
                <a:tc>
                  <a:txBody>
                    <a:bodyPr/>
                    <a:lstStyle/>
                    <a:p>
                      <a:pPr algn="l" indent="0" marL="0">
                        <a:buNone/>
                      </a:pPr>
                      <a:r>
                        <a:rPr lang="en-US" sz="1250" dirty="0">
                          <a:solidFill>
                            <a:srgbClr val="1B2A41"/>
                          </a:solidFill>
                          <a:latin typeface="Calibri" pitchFamily="34" charset="0"/>
                          <a:ea typeface="Calibri" pitchFamily="34" charset="-122"/>
                          <a:cs typeface="Calibri" pitchFamily="34" charset="-120"/>
                        </a:rPr>
                        <a:t>10y +30bp, spreads unchanged</a:t>
                      </a:r>
                      <a:endParaRPr lang="en-US" sz="12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EDF4EF"/>
                    </a:solidFill>
                  </a:tcPr>
                </a:tc>
                <a:tc>
                  <a:txBody>
                    <a:bodyPr/>
                    <a:lstStyle/>
                    <a:p>
                      <a:pPr algn="l" indent="0" marL="0">
                        <a:buNone/>
                      </a:pPr>
                      <a:r>
                        <a:rPr lang="en-US" sz="1250" b="1" dirty="0">
                          <a:solidFill>
                            <a:srgbClr val="2F6B4F"/>
                          </a:solidFill>
                          <a:latin typeface="Calibri" pitchFamily="34" charset="0"/>
                          <a:ea typeface="Calibri" pitchFamily="34" charset="-122"/>
                          <a:cs typeface="Calibri" pitchFamily="34" charset="-120"/>
                        </a:rPr>
                        <a:t>4.79%</a:t>
                      </a:r>
                      <a:endParaRPr lang="en-US" sz="12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EDF4EF"/>
                    </a:solidFill>
                  </a:tcPr>
                </a:tc>
              </a:tr>
              <a:tr h="429768">
                <a:tc>
                  <a:txBody>
                    <a:bodyPr/>
                    <a:lstStyle/>
                    <a:p>
                      <a:pPr algn="l" indent="0" marL="0">
                        <a:buNone/>
                      </a:pPr>
                      <a:r>
                        <a:rPr lang="en-US" sz="1250" dirty="0">
                          <a:solidFill>
                            <a:srgbClr val="1B2A41"/>
                          </a:solidFill>
                          <a:latin typeface="Calibri" pitchFamily="34" charset="0"/>
                          <a:ea typeface="Calibri" pitchFamily="34" charset="-122"/>
                          <a:cs typeface="Calibri" pitchFamily="34" charset="-120"/>
                        </a:rPr>
                        <a:t>Spreads +50, 10y −25 (risk-off)</a:t>
                      </a:r>
                      <a:endParaRPr lang="en-US" sz="12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EDF4EF"/>
                    </a:solidFill>
                  </a:tcPr>
                </a:tc>
                <a:tc>
                  <a:txBody>
                    <a:bodyPr/>
                    <a:lstStyle/>
                    <a:p>
                      <a:pPr algn="l" indent="0" marL="0">
                        <a:buNone/>
                      </a:pPr>
                      <a:r>
                        <a:rPr lang="en-US" sz="1250" b="1" dirty="0">
                          <a:solidFill>
                            <a:srgbClr val="2F6B4F"/>
                          </a:solidFill>
                          <a:latin typeface="Calibri" pitchFamily="34" charset="0"/>
                          <a:ea typeface="Calibri" pitchFamily="34" charset="-122"/>
                          <a:cs typeface="Calibri" pitchFamily="34" charset="-120"/>
                        </a:rPr>
                        <a:t>5.13%</a:t>
                      </a:r>
                      <a:endParaRPr lang="en-US" sz="12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EDF4EF"/>
                    </a:solidFill>
                  </a:tcPr>
                </a:tc>
              </a:tr>
              <a:tr h="429768">
                <a:tc>
                  <a:txBody>
                    <a:bodyPr/>
                    <a:lstStyle/>
                    <a:p>
                      <a:pPr algn="l" indent="0" marL="0">
                        <a:buNone/>
                      </a:pPr>
                      <a:r>
                        <a:rPr lang="en-US" sz="1250" dirty="0">
                          <a:solidFill>
                            <a:srgbClr val="1B2A41"/>
                          </a:solidFill>
                          <a:latin typeface="Calibri" pitchFamily="34" charset="0"/>
                          <a:ea typeface="Calibri" pitchFamily="34" charset="-122"/>
                          <a:cs typeface="Calibri" pitchFamily="34" charset="-120"/>
                        </a:rPr>
                        <a:t>Spreads +50, 10y +50</a:t>
                      </a:r>
                      <a:endParaRPr lang="en-US" sz="12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FBEFEE"/>
                    </a:solidFill>
                  </a:tcPr>
                </a:tc>
                <a:tc>
                  <a:txBody>
                    <a:bodyPr/>
                    <a:lstStyle/>
                    <a:p>
                      <a:pPr algn="l" indent="0" marL="0">
                        <a:buNone/>
                      </a:pPr>
                      <a:r>
                        <a:rPr lang="en-US" sz="1250" b="1" dirty="0">
                          <a:solidFill>
                            <a:srgbClr val="A83A32"/>
                          </a:solidFill>
                          <a:latin typeface="Calibri" pitchFamily="34" charset="0"/>
                          <a:ea typeface="Calibri" pitchFamily="34" charset="-122"/>
                          <a:cs typeface="Calibri" pitchFamily="34" charset="-120"/>
                        </a:rPr>
                        <a:t>0.47%</a:t>
                      </a:r>
                      <a:endParaRPr lang="en-US" sz="12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FBEFEE"/>
                    </a:solidFill>
                  </a:tcPr>
                </a:tc>
              </a:tr>
              <a:tr h="429768">
                <a:tc>
                  <a:txBody>
                    <a:bodyPr/>
                    <a:lstStyle/>
                    <a:p>
                      <a:pPr algn="l" indent="0" marL="0">
                        <a:buNone/>
                      </a:pPr>
                      <a:r>
                        <a:rPr lang="en-US" sz="1250" dirty="0">
                          <a:solidFill>
                            <a:srgbClr val="1B2A41"/>
                          </a:solidFill>
                          <a:latin typeface="Calibri" pitchFamily="34" charset="0"/>
                          <a:ea typeface="Calibri" pitchFamily="34" charset="-122"/>
                          <a:cs typeface="Calibri" pitchFamily="34" charset="-120"/>
                        </a:rPr>
                        <a:t>Spreads +100, 10y +100 (2022)</a:t>
                      </a:r>
                      <a:endParaRPr lang="en-US" sz="12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FBEFEE"/>
                    </a:solidFill>
                  </a:tcPr>
                </a:tc>
                <a:tc>
                  <a:txBody>
                    <a:bodyPr/>
                    <a:lstStyle/>
                    <a:p>
                      <a:pPr algn="l" indent="0" marL="0">
                        <a:buNone/>
                      </a:pPr>
                      <a:r>
                        <a:rPr lang="en-US" sz="1250" b="1" dirty="0">
                          <a:solidFill>
                            <a:srgbClr val="A83A32"/>
                          </a:solidFill>
                          <a:latin typeface="Calibri" pitchFamily="34" charset="0"/>
                          <a:ea typeface="Calibri" pitchFamily="34" charset="-122"/>
                          <a:cs typeface="Calibri" pitchFamily="34" charset="-120"/>
                        </a:rPr>
                        <a:t>−5.70%</a:t>
                      </a:r>
                      <a:endParaRPr lang="en-US" sz="1250" dirty="0">
                        <a:latin typeface="Calibri" charset="0"/>
                        <a:ea typeface="Calibri" charset="0"/>
                        <a:cs typeface="Calibri" charset="0"/>
                      </a:endParaRPr>
                    </a:p>
                  </a:txBody>
                  <a:tcPr marL="91440" marR="91440" marT="45720" marB="45720" anchor="ctr">
                    <a:lnL w="12700" cap="flat" cmpd="sng" algn="ctr">
                      <a:solidFill>
                        <a:srgbClr val="D6DCE5"/>
                      </a:solidFill>
                      <a:prstDash val="solid"/>
                      <a:round/>
                      <a:headEnd type="none" w="med" len="med"/>
                      <a:tailEnd type="none" w="med" len="med"/>
                    </a:lnL>
                    <a:lnR w="12700" cap="flat" cmpd="sng" algn="ctr">
                      <a:solidFill>
                        <a:srgbClr val="D6DCE5"/>
                      </a:solidFill>
                      <a:prstDash val="solid"/>
                      <a:round/>
                      <a:headEnd type="none" w="med" len="med"/>
                      <a:tailEnd type="none" w="med" len="med"/>
                    </a:lnR>
                    <a:lnT w="12700" cap="flat" cmpd="sng" algn="ctr">
                      <a:solidFill>
                        <a:srgbClr val="D6DCE5"/>
                      </a:solidFill>
                      <a:prstDash val="solid"/>
                      <a:round/>
                      <a:headEnd type="none" w="med" len="med"/>
                      <a:tailEnd type="none" w="med" len="med"/>
                    </a:lnT>
                    <a:lnB w="12700" cap="flat" cmpd="sng" algn="ctr">
                      <a:solidFill>
                        <a:srgbClr val="D6DCE5"/>
                      </a:solidFill>
                      <a:prstDash val="solid"/>
                      <a:round/>
                      <a:headEnd type="none" w="med" len="med"/>
                      <a:tailEnd type="none" w="med" len="med"/>
                    </a:lnB>
                    <a:solidFill>
                      <a:srgbClr val="FBEFEE"/>
                    </a:solidFill>
                  </a:tcPr>
                </a:tc>
              </a:tr>
            </a:tbl>
          </a:graphicData>
        </a:graphic>
      </p:graphicFrame>
      <p:sp>
        <p:nvSpPr>
          <p:cNvPr id="22" name="Text 19"/>
          <p:cNvSpPr txBox="1"/>
          <p:nvPr/>
        </p:nvSpPr>
        <p:spPr>
          <a:xfrm>
            <a:off x="6537960" y="4315968"/>
            <a:ext cx="4983480" cy="640080"/>
          </a:xfrm>
          <a:prstGeom prst="rect">
            <a:avLst/>
          </a:prstGeom>
          <a:noFill/>
          <a:ln/>
        </p:spPr>
        <p:txBody>
          <a:bodyPr wrap="square" lIns="0" tIns="0" rIns="0" bIns="0" rtlCol="0" anchor="ctr"/>
          <a:lstStyle/>
          <a:p>
            <a:pPr indent="0" marL="0">
              <a:buNone/>
            </a:pPr>
            <a:r>
              <a:rPr lang="en-US" sz="1200" i="1" dirty="0">
                <a:solidFill>
                  <a:srgbClr val="24395B"/>
                </a:solidFill>
                <a:latin typeface="Calibri" pitchFamily="34" charset="0"/>
                <a:ea typeface="Calibri" pitchFamily="34" charset="-122"/>
                <a:cs typeface="Calibri" pitchFamily="34" charset="-120"/>
              </a:rPr>
              <a:t>The call breaks only if rates and spreads rise together — an inflation shock, not an EM credit event. That is the risk we are underwriting.</a:t>
            </a:r>
            <a:endParaRPr lang="en-US" sz="1200" dirty="0"/>
          </a:p>
        </p:txBody>
      </p:sp>
      <p:sp>
        <p:nvSpPr>
          <p:cNvPr id="23" name="Shape 20"/>
          <p:cNvSpPr/>
          <p:nvPr/>
        </p:nvSpPr>
        <p:spPr>
          <a:xfrm>
            <a:off x="6537960" y="4956048"/>
            <a:ext cx="4983480" cy="1188720"/>
          </a:xfrm>
          <a:prstGeom prst="roundRect">
            <a:avLst>
              <a:gd name="adj" fmla="val 6154"/>
            </a:avLst>
          </a:prstGeom>
          <a:solidFill>
            <a:srgbClr val="1B2A41"/>
          </a:solidFill>
          <a:ln/>
        </p:spPr>
      </p:sp>
      <p:sp>
        <p:nvSpPr>
          <p:cNvPr id="24" name="Text 21"/>
          <p:cNvSpPr txBox="1"/>
          <p:nvPr/>
        </p:nvSpPr>
        <p:spPr>
          <a:xfrm>
            <a:off x="6766560" y="5102352"/>
            <a:ext cx="4526280" cy="914400"/>
          </a:xfrm>
          <a:prstGeom prst="rect">
            <a:avLst/>
          </a:prstGeom>
          <a:noFill/>
          <a:ln/>
        </p:spPr>
        <p:txBody>
          <a:bodyPr wrap="square" lIns="0" tIns="0" rIns="0" bIns="0" rtlCol="0" anchor="ctr"/>
          <a:lstStyle/>
          <a:p>
            <a:pPr indent="0" marL="0">
              <a:lnSpc>
                <a:spcPct val="112000"/>
              </a:lnSpc>
              <a:buNone/>
            </a:pPr>
            <a:r>
              <a:rPr lang="en-US" sz="1250" b="1" dirty="0">
                <a:solidFill>
                  <a:srgbClr val="C9922C"/>
                </a:solidFill>
                <a:latin typeface="Calibri" pitchFamily="34" charset="0"/>
                <a:ea typeface="Calibri" pitchFamily="34" charset="-122"/>
                <a:cs typeface="Calibri" pitchFamily="34" charset="-120"/>
              </a:rPr>
              <a:t>Recommendation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Attractive, expressed in non-IG at shorter spread duration. Non-IG carries 8.01% with 5.35 rate duration, against IG at 5.97% and 6.78.</a:t>
            </a:r>
            <a:endParaRPr lang="en-US" sz="1250" dirty="0"/>
          </a:p>
        </p:txBody>
      </p:sp>
      <p:sp>
        <p:nvSpPr>
          <p:cNvPr id="25" name="Text 22"/>
          <p:cNvSpPr txBox="1"/>
          <p:nvPr/>
        </p:nvSpPr>
        <p:spPr>
          <a:xfrm>
            <a:off x="640080" y="5870448"/>
            <a:ext cx="5669280" cy="384048"/>
          </a:xfrm>
          <a:prstGeom prst="rect">
            <a:avLst/>
          </a:prstGeom>
          <a:noFill/>
          <a:ln/>
        </p:spPr>
        <p:txBody>
          <a:bodyPr wrap="square" lIns="0" tIns="0" rIns="0" bIns="0" rtlCol="0" anchor="ctr"/>
          <a:lstStyle/>
          <a:p>
            <a:pPr indent="0" marL="0">
              <a:buNone/>
            </a:pPr>
            <a:r>
              <a:rPr lang="en-US" sz="1150" b="1" dirty="0">
                <a:solidFill>
                  <a:srgbClr val="1B2A41"/>
                </a:solidFill>
                <a:latin typeface="Calibri" pitchFamily="34" charset="0"/>
                <a:ea typeface="Calibri" pitchFamily="34" charset="-122"/>
                <a:cs typeface="Calibri" pitchFamily="34" charset="-120"/>
              </a:rPr>
              <a:t>What would change our mind: the 10y through +35bp with spreads at or above 243bp, or tariffs landing before the carry is earned.</a:t>
            </a:r>
            <a:endParaRPr lang="en-US" sz="1150" dirty="0"/>
          </a:p>
        </p:txBody>
      </p:sp>
      <p:sp>
        <p:nvSpPr>
          <p:cNvPr id="26" name="Text 23"/>
          <p:cNvSpPr txBox="1"/>
          <p:nvPr/>
        </p:nvSpPr>
        <p:spPr>
          <a:xfrm>
            <a:off x="640080" y="6291072"/>
            <a:ext cx="10881360" cy="274320"/>
          </a:xfrm>
          <a:prstGeom prst="rect">
            <a:avLst/>
          </a:prstGeom>
          <a:noFill/>
          <a:ln/>
        </p:spPr>
        <p:txBody>
          <a:bodyPr wrap="square" lIns="0" tIns="0" rIns="0" bIns="0" rtlCol="0" anchor="ctr"/>
          <a:lstStyle/>
          <a:p>
            <a:pPr indent="0" marL="0">
              <a:buNone/>
            </a:pPr>
            <a:r>
              <a:rPr lang="en-US" sz="900" dirty="0">
                <a:solidFill>
                  <a:srgbClr val="93A1B5"/>
                </a:solidFill>
                <a:latin typeface="Calibri" pitchFamily="34" charset="0"/>
                <a:ea typeface="Calibri" pitchFamily="34" charset="-122"/>
                <a:cs typeface="Calibri" pitchFamily="34" charset="-120"/>
              </a:rPr>
              <a:t>Source: JPMorgan EMBI Global, 03-Sep-2026; sub-index figures as of that date, stripped basis. Cash hurdle 4.50%.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2026-09-08T15:59:50Z</dcterms:created>
  <dcterms:modified xsi:type="dcterms:W3CDTF">2026-09-08T15:59:50Z</dcterms:modified>
</cp:coreProperties>
</file>
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3405104" cy="7562088"/>
  <p:notesSz cx="7562088" cy="134051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3405104" cy="82296"/>
          </a:xfrm>
          <a:prstGeom prst="rect">
            <a:avLst/>
          </a:prstGeom>
          <a:solidFill>
            <a:srgbClr val="EC0016"/>
          </a:solidFill>
          <a:ln w="12700">
            <a:solidFill>
              <a:srgbClr val="333333"/>
            </a:solidFill>
            <a:prstDash val="solid"/>
          </a:ln>
        </p:spPr>
      </p:sp>
      <p:sp>
        <p:nvSpPr>
          <p:cNvPr id="3" name="Text 1"/>
          <p:cNvSpPr/>
          <p:nvPr/>
        </p:nvSpPr>
        <p:spPr>
          <a:xfrm>
            <a:off x="566928" y="2286000"/>
            <a:ext cx="12271248" cy="914400"/>
          </a:xfrm>
          <a:prstGeom prst="rect">
            <a:avLst/>
          </a:prstGeom>
          <a:noFill/>
          <a:ln/>
        </p:spPr>
        <p:txBody>
          <a:bodyPr wrap="square" lIns="0" tIns="0" rIns="0" bIns="0" rtlCol="0" anchor="ctr"/>
          <a:lstStyle/>
          <a:p>
            <a:pPr indent="0" marL="0">
              <a:buNone/>
            </a:pPr>
            <a:r>
              <a:rPr lang="en-US" sz="4000" b="1" dirty="0">
                <a:solidFill>
                  <a:srgbClr val="111111"/>
                </a:solidFill>
                <a:latin typeface="Arial" pitchFamily="34" charset="0"/>
                <a:ea typeface="Arial" pitchFamily="34" charset="-122"/>
                <a:cs typeface="Arial" pitchFamily="34" charset="-120"/>
              </a:rPr>
              <a:t>Andean Country Packs</a:t>
            </a:r>
            <a:endParaRPr lang="en-US" sz="4000" dirty="0"/>
          </a:p>
        </p:txBody>
      </p:sp>
      <p:sp>
        <p:nvSpPr>
          <p:cNvPr id="4" name="Shape 2"/>
          <p:cNvSpPr/>
          <p:nvPr/>
        </p:nvSpPr>
        <p:spPr>
          <a:xfrm>
            <a:off x="566928" y="3310128"/>
            <a:ext cx="2011680" cy="0"/>
          </a:xfrm>
          <a:prstGeom prst="line">
            <a:avLst/>
          </a:prstGeom>
          <a:noFill/>
          <a:ln w="38100">
            <a:solidFill>
              <a:srgbClr val="EC0016"/>
            </a:solidFill>
            <a:prstDash val="solid"/>
          </a:ln>
        </p:spPr>
      </p:sp>
      <p:sp>
        <p:nvSpPr>
          <p:cNvPr id="5" name="Text 3"/>
          <p:cNvSpPr/>
          <p:nvPr/>
        </p:nvSpPr>
        <p:spPr>
          <a:xfrm>
            <a:off x="566928" y="3474720"/>
            <a:ext cx="9573768" cy="822960"/>
          </a:xfrm>
          <a:prstGeom prst="rect">
            <a:avLst/>
          </a:prstGeom>
          <a:noFill/>
          <a:ln/>
        </p:spPr>
        <p:txBody>
          <a:bodyPr wrap="square" lIns="0" tIns="0" rIns="0" bIns="0" rtlCol="0" anchor="ctr"/>
          <a:lstStyle/>
          <a:p>
            <a:pPr indent="0" marL="0">
              <a:buNone/>
            </a:pPr>
            <a:r>
              <a:rPr lang="en-US" sz="1500" dirty="0">
                <a:solidFill>
                  <a:srgbClr val="555555"/>
                </a:solidFill>
                <a:latin typeface="Arial" pitchFamily="34" charset="0"/>
                <a:ea typeface="Arial" pitchFamily="34" charset="-122"/>
                <a:cs typeface="Arial" pitchFamily="34" charset="-120"/>
              </a:rPr>
              <a:t>Market awareness briefs for advisor planning</a:t>
            </a:r>
            <a:endParaRPr lang="en-US" sz="1500" dirty="0"/>
          </a:p>
          <a:p>
            <a:pPr indent="0" marL="0">
              <a:buNone/>
            </a:pPr>
            <a:r>
              <a:rPr lang="en-US" sz="1500" dirty="0">
                <a:solidFill>
                  <a:srgbClr val="555555"/>
                </a:solidFill>
                <a:latin typeface="Arial" pitchFamily="34" charset="0"/>
                <a:ea typeface="Arial" pitchFamily="34" charset="-122"/>
                <a:cs typeface="Arial" pitchFamily="34" charset="-120"/>
              </a:rPr>
              <a:t>Chile · Peru · Ecuador · Bolivia</a:t>
            </a:r>
            <a:endParaRPr lang="en-US" sz="1500" dirty="0"/>
          </a:p>
        </p:txBody>
      </p:sp>
      <p:sp>
        <p:nvSpPr>
          <p:cNvPr id="6" name="Text 4"/>
          <p:cNvSpPr/>
          <p:nvPr/>
        </p:nvSpPr>
        <p:spPr>
          <a:xfrm>
            <a:off x="566928" y="6510528"/>
            <a:ext cx="12271248" cy="640080"/>
          </a:xfrm>
          <a:prstGeom prst="rect">
            <a:avLst/>
          </a:prstGeom>
          <a:noFill/>
          <a:ln/>
        </p:spPr>
        <p:txBody>
          <a:bodyPr wrap="square" lIns="0" tIns="0" rIns="0" bIns="0" rtlCol="0" anchor="ctr"/>
          <a:lstStyle/>
          <a:p>
            <a:pPr indent="0" marL="0">
              <a:buNone/>
            </a:pPr>
            <a:r>
              <a:rPr lang="en-US" sz="900" dirty="0">
                <a:solidFill>
                  <a:srgbClr val="BBBBBB"/>
                </a:solidFill>
                <a:latin typeface="Arial" pitchFamily="34" charset="0"/>
                <a:ea typeface="Arial" pitchFamily="34" charset="-122"/>
                <a:cs typeface="Arial" pitchFamily="34" charset="-120"/>
              </a:rPr>
              <a:t>Built 2026-10-22.  INTERNAL — pending supervisory review. Factual reference only; contains no recommendations or suitability views.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HOW TO USE THIS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What this pack is, and what it is not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097280"/>
            <a:ext cx="10552176" cy="384048"/>
          </a:xfrm>
          <a:prstGeom prst="rect">
            <a:avLst/>
          </a:prstGeom>
          <a:noFill/>
          <a:ln/>
        </p:spPr>
        <p:txBody>
          <a:bodyPr wrap="square" lIns="0" tIns="0" rIns="0" bIns="0" rtlCol="0" anchor="ctr"/>
          <a:lstStyle/>
          <a:p>
            <a:pPr indent="0" marL="0">
              <a:buNone/>
            </a:pPr>
            <a:r>
              <a:rPr lang="en-US" sz="1150" i="1" dirty="0">
                <a:solidFill>
                  <a:srgbClr val="555555"/>
                </a:solidFill>
                <a:latin typeface="Arial" pitchFamily="34" charset="0"/>
                <a:ea typeface="Arial" pitchFamily="34" charset="-122"/>
                <a:cs typeface="Arial" pitchFamily="34" charset="-120"/>
              </a:rPr>
              <a:t>Read this slide before anything else.</a:t>
            </a:r>
            <a:endParaRPr lang="en-US" sz="1150" dirty="0"/>
          </a:p>
        </p:txBody>
      </p:sp>
      <p:sp>
        <p:nvSpPr>
          <p:cNvPr id="8" name="Text 6"/>
          <p:cNvSpPr/>
          <p:nvPr/>
        </p:nvSpPr>
        <p:spPr>
          <a:xfrm>
            <a:off x="566928" y="1655064"/>
            <a:ext cx="3520440" cy="161848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What this is</a:t>
            </a:r>
            <a:endParaRPr lang="en-US" sz="1250" dirty="0"/>
          </a:p>
        </p:txBody>
      </p:sp>
      <p:sp>
        <p:nvSpPr>
          <p:cNvPr id="9" name="Text 7"/>
          <p:cNvSpPr/>
          <p:nvPr/>
        </p:nvSpPr>
        <p:spPr>
          <a:xfrm>
            <a:off x="4270248" y="1655064"/>
            <a:ext cx="8567928" cy="161848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A factual market-awareness reference for advisors planning client activity across the four Andean markets: what each economy actually runs on, which sectors hold the wealth, which families and companies matter, and the published institutional routes that reach them.</a:t>
            </a:r>
            <a:endParaRPr lang="en-US" sz="1150" dirty="0"/>
          </a:p>
        </p:txBody>
      </p:sp>
      <p:sp>
        <p:nvSpPr>
          <p:cNvPr id="10" name="Shape 8"/>
          <p:cNvSpPr/>
          <p:nvPr/>
        </p:nvSpPr>
        <p:spPr>
          <a:xfrm>
            <a:off x="566928" y="3310128"/>
            <a:ext cx="12271248" cy="0"/>
          </a:xfrm>
          <a:prstGeom prst="line">
            <a:avLst/>
          </a:prstGeom>
          <a:noFill/>
          <a:ln w="9525">
            <a:solidFill>
              <a:srgbClr val="DDDDDD"/>
            </a:solidFill>
            <a:prstDash val="solid"/>
          </a:ln>
        </p:spPr>
      </p:sp>
      <p:sp>
        <p:nvSpPr>
          <p:cNvPr id="11" name="Text 9"/>
          <p:cNvSpPr/>
          <p:nvPr/>
        </p:nvSpPr>
        <p:spPr>
          <a:xfrm>
            <a:off x="566928" y="3419856"/>
            <a:ext cx="3520440" cy="161848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What this is not</a:t>
            </a:r>
            <a:endParaRPr lang="en-US" sz="1250" dirty="0"/>
          </a:p>
        </p:txBody>
      </p:sp>
      <p:sp>
        <p:nvSpPr>
          <p:cNvPr id="12" name="Text 10"/>
          <p:cNvSpPr/>
          <p:nvPr/>
        </p:nvSpPr>
        <p:spPr>
          <a:xfrm>
            <a:off x="4270248" y="3419856"/>
            <a:ext cx="8567928" cy="161848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It contains no recommendations, no suitability views, no positioning claims and no statements about which institutions hold which mandates. Nothing in this pack should be read as investment advice.</a:t>
            </a:r>
            <a:endParaRPr lang="en-US" sz="1150" dirty="0"/>
          </a:p>
        </p:txBody>
      </p:sp>
      <p:sp>
        <p:nvSpPr>
          <p:cNvPr id="13" name="Shape 11"/>
          <p:cNvSpPr/>
          <p:nvPr/>
        </p:nvSpPr>
        <p:spPr>
          <a:xfrm>
            <a:off x="566928" y="5074920"/>
            <a:ext cx="12271248" cy="0"/>
          </a:xfrm>
          <a:prstGeom prst="line">
            <a:avLst/>
          </a:prstGeom>
          <a:noFill/>
          <a:ln w="9525">
            <a:solidFill>
              <a:srgbClr val="DDDDDD"/>
            </a:solidFill>
            <a:prstDash val="solid"/>
          </a:ln>
        </p:spPr>
      </p:sp>
      <p:sp>
        <p:nvSpPr>
          <p:cNvPr id="14" name="Text 12"/>
          <p:cNvSpPr/>
          <p:nvPr/>
        </p:nvSpPr>
        <p:spPr>
          <a:xfrm>
            <a:off x="566928" y="5184648"/>
            <a:ext cx="3520440" cy="161848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What we refuse to assert</a:t>
            </a:r>
            <a:endParaRPr lang="en-US" sz="1250" dirty="0"/>
          </a:p>
        </p:txBody>
      </p:sp>
      <p:sp>
        <p:nvSpPr>
          <p:cNvPr id="15" name="Text 13"/>
          <p:cNvSpPr/>
          <p:nvPr/>
        </p:nvSpPr>
        <p:spPr>
          <a:xfrm>
            <a:off x="4270248" y="5184648"/>
            <a:ext cx="8567928" cy="161848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Personal banking relationships, personal contact details, and anything sourced from LinkedIn. None of it is public, and inferring it in a supervised document is a liability. The published institutional map replaces it throughout.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HOW TO USE THIS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What this pack is, and what it is not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How to read the grades</a:t>
            </a:r>
            <a:endParaRPr lang="en-US" sz="1250" dirty="0"/>
          </a:p>
        </p:txBody>
      </p:sp>
      <p:sp>
        <p:nvSpPr>
          <p:cNvPr id="8" name="Text 6"/>
          <p:cNvSpPr/>
          <p:nvPr/>
        </p:nvSpPr>
        <p:spPr>
          <a:xfrm>
            <a:off x="4270248" y="1271016"/>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A = primary document or named agency action.  B = well-established public record.  C = widely reported, not independently verified — check before client use.  X = contradicted, stale or disputed — do not use without checking. Shaded rows are X.</a:t>
            </a:r>
            <a:endParaRPr lang="en-US" sz="1150" dirty="0"/>
          </a:p>
        </p:txBody>
      </p:sp>
      <p:sp>
        <p:nvSpPr>
          <p:cNvPr id="9" name="Shape 7"/>
          <p:cNvSpPr/>
          <p:nvPr/>
        </p:nvSpPr>
        <p:spPr>
          <a:xfrm>
            <a:off x="566928" y="3054096"/>
            <a:ext cx="12271248" cy="0"/>
          </a:xfrm>
          <a:prstGeom prst="line">
            <a:avLst/>
          </a:prstGeom>
          <a:noFill/>
          <a:ln w="9525">
            <a:solidFill>
              <a:srgbClr val="DDDDDD"/>
            </a:solidFill>
            <a:prstDash val="solid"/>
          </a:ln>
        </p:spPr>
      </p:sp>
      <p:sp>
        <p:nvSpPr>
          <p:cNvPr id="10" name="Text 8"/>
          <p:cNvSpPr/>
          <p:nvPr/>
        </p:nvSpPr>
        <p:spPr>
          <a:xfrm>
            <a:off x="566928" y="3163824"/>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Where the detail lives</a:t>
            </a:r>
            <a:endParaRPr lang="en-US" sz="1250" dirty="0"/>
          </a:p>
        </p:txBody>
      </p:sp>
      <p:sp>
        <p:nvSpPr>
          <p:cNvPr id="11" name="Text 9"/>
          <p:cNvSpPr/>
          <p:nvPr/>
        </p:nvSpPr>
        <p:spPr>
          <a:xfrm>
            <a:off x="4270248" y="3163824"/>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Each market has its own folder with a brief and a workbook. The workbooks carry the full text, are filterable, and are the working documents. These slides are the orientation layer.</a:t>
            </a:r>
            <a:endParaRPr lang="en-US" sz="1150" dirty="0"/>
          </a:p>
        </p:txBody>
      </p:sp>
      <p:sp>
        <p:nvSpPr>
          <p:cNvPr id="12" name="Shape 10"/>
          <p:cNvSpPr/>
          <p:nvPr/>
        </p:nvSpPr>
        <p:spPr>
          <a:xfrm>
            <a:off x="566928" y="4946904"/>
            <a:ext cx="12271248" cy="0"/>
          </a:xfrm>
          <a:prstGeom prst="line">
            <a:avLst/>
          </a:prstGeom>
          <a:noFill/>
          <a:ln w="9525">
            <a:solidFill>
              <a:srgbClr val="DDDDDD"/>
            </a:solidFill>
            <a:prstDash val="solid"/>
          </a:ln>
        </p:spPr>
      </p:sp>
      <p:sp>
        <p:nvSpPr>
          <p:cNvPr id="13" name="Text 11"/>
          <p:cNvSpPr/>
          <p:nvPr/>
        </p:nvSpPr>
        <p:spPr>
          <a:xfrm>
            <a:off x="566928" y="5056632"/>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Before any client use</a:t>
            </a:r>
            <a:endParaRPr lang="en-US" sz="1250" dirty="0"/>
          </a:p>
        </p:txBody>
      </p:sp>
      <p:sp>
        <p:nvSpPr>
          <p:cNvPr id="14" name="Text 12"/>
          <p:cNvSpPr/>
          <p:nvPr/>
        </p:nvSpPr>
        <p:spPr>
          <a:xfrm>
            <a:off x="4270248" y="5056632"/>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Check the Gaps slides. Several rows are deliberately unfilled rather than estimated. Three of the four governments took office in the last twelve months and two of the four economies changed exchange-rate or tax regimes in 2026; anything dated should be re-checked before it is quoted.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THE FOUR MARKETS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Side by side, on what matters to an advisor</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097280"/>
            <a:ext cx="10552176" cy="384048"/>
          </a:xfrm>
          <a:prstGeom prst="rect">
            <a:avLst/>
          </a:prstGeom>
          <a:noFill/>
          <a:ln/>
        </p:spPr>
        <p:txBody>
          <a:bodyPr wrap="square" lIns="0" tIns="0" rIns="0" bIns="0" rtlCol="0" anchor="ctr"/>
          <a:lstStyle/>
          <a:p>
            <a:pPr indent="0" marL="0">
              <a:buNone/>
            </a:pPr>
            <a:r>
              <a:rPr lang="en-US" sz="1150" i="1" dirty="0">
                <a:solidFill>
                  <a:srgbClr val="555555"/>
                </a:solidFill>
                <a:latin typeface="Arial" pitchFamily="34" charset="0"/>
                <a:ea typeface="Arial" pitchFamily="34" charset="-122"/>
                <a:cs typeface="Arial" pitchFamily="34" charset="-120"/>
              </a:rPr>
              <a:t>Deliberately excludes debt ratios and fiscal metrics. This is advisor awareness, not sovereign credit.</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2271248" cy="914400"/>
        </p:xfrm>
        <a:graphic>
          <a:graphicData uri="http://schemas.openxmlformats.org/drawingml/2006/table">
            <a:tbl>
              <a:tblPr/>
              <a:tblGrid>
                <a:gridCol w="1554480"/>
                <a:gridCol w="1920240"/>
                <a:gridCol w="2286000"/>
                <a:gridCol w="1737360"/>
                <a:gridCol w="822960"/>
                <a:gridCol w="393192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Country</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Currency / FX</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Capital mobility</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Tax basis</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Rem. %GDP</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drives it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Peso (CLP) — Free float</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Open; no controls; reporting to BCCh above USD 10,000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Worldwide for residents (3-year territorial window for new arrivals)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~0 (net sender)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Copper and lithium exports, pension-fund capital markets, retail and forestry multinationals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Sol (PEN) — Free float with BCRP intervention</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Fully open; no exchange or capital controls (constitutional guarantee)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Worldwide for domiciled; territorial for non-domiciled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Copper and gold exports, agro-exports, domestic consumption; El Nino and politics are the swing factors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US dollar (USD) — Full dollarisation since 2000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Open, but 5% ISD on outflows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Worldwide for residents (foreign income taxed abroad generally exempt)</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Shrimp, oil, mining and banana exports; remittances; a thin state under an IMF programme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Boliviano (BOB) — Managed float since 29 Jun 2026 (fixed at 6.96 from 2011)</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Open de jure; dollar rationing 2023-mid 2026 now being unwound under IMF programme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Territorial (source income); wealth tax on worldwide net assets above Bs 30m</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~2-3</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Mining exports, Santa Cruz agribusiness and a shrinking gas sector; public spending now contracting under an IMF EFF</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834640"/>
            <a:ext cx="12271248" cy="237744"/>
          </a:xfrm>
          <a:prstGeom prst="rect">
            <a:avLst/>
          </a:prstGeom>
          <a:noFill/>
          <a:ln/>
        </p:spPr>
        <p:txBody>
          <a:bodyPr wrap="square" lIns="0" tIns="0" rIns="0" bIns="0" rtlCol="0" anchor="ctr"/>
          <a:lstStyle/>
          <a:p>
            <a:pPr indent="0" marL="0">
              <a:buNone/>
            </a:pPr>
            <a:r>
              <a:rPr lang="en-US" sz="950" b="1" spc="140" kern="0" dirty="0">
                <a:solidFill>
                  <a:srgbClr val="555555"/>
                </a:solidFill>
                <a:latin typeface="Arial" pitchFamily="34" charset="0"/>
                <a:ea typeface="Arial" pitchFamily="34" charset="-122"/>
                <a:cs typeface="Arial" pitchFamily="34" charset="-120"/>
              </a:rPr>
              <a:t>SECTION ONE</a:t>
            </a:r>
            <a:endParaRPr lang="en-US" sz="950" dirty="0"/>
          </a:p>
        </p:txBody>
      </p:sp>
      <p:sp>
        <p:nvSpPr>
          <p:cNvPr id="4" name="Text 2"/>
          <p:cNvSpPr/>
          <p:nvPr/>
        </p:nvSpPr>
        <p:spPr>
          <a:xfrm>
            <a:off x="566928" y="3127248"/>
            <a:ext cx="9820656"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The numbers</a:t>
            </a:r>
            <a:endParaRPr lang="en-US" sz="3000" dirty="0"/>
          </a:p>
        </p:txBody>
      </p:sp>
      <p:sp>
        <p:nvSpPr>
          <p:cNvPr id="5" name="Shape 3"/>
          <p:cNvSpPr/>
          <p:nvPr/>
        </p:nvSpPr>
        <p:spPr>
          <a:xfrm>
            <a:off x="566928" y="3968496"/>
            <a:ext cx="1645920" cy="0"/>
          </a:xfrm>
          <a:prstGeom prst="line">
            <a:avLst/>
          </a:prstGeom>
          <a:noFill/>
          <a:ln w="31750">
            <a:solidFill>
              <a:srgbClr val="EC0016"/>
            </a:solidFill>
            <a:prstDash val="solid"/>
          </a:ln>
        </p:spPr>
      </p:sp>
      <p:sp>
        <p:nvSpPr>
          <p:cNvPr id="6" name="Text 4"/>
          <p:cNvSpPr/>
          <p:nvPr/>
        </p:nvSpPr>
        <p:spPr>
          <a:xfrm>
            <a:off x="566928" y="4114800"/>
            <a:ext cx="8833104" cy="731520"/>
          </a:xfrm>
          <a:prstGeom prst="rect">
            <a:avLst/>
          </a:prstGeom>
          <a:noFill/>
          <a:ln/>
        </p:spPr>
        <p:txBody>
          <a:bodyPr wrap="square" lIns="0" tIns="0" rIns="0" bIns="0" rtlCol="0" anchor="ctr"/>
          <a:lstStyle/>
          <a:p>
            <a:pPr indent="0" marL="0">
              <a:buNone/>
            </a:pPr>
            <a:r>
              <a:rPr lang="en-US" sz="1250" dirty="0">
                <a:solidFill>
                  <a:srgbClr val="555555"/>
                </a:solidFill>
                <a:latin typeface="Arial" pitchFamily="34" charset="0"/>
                <a:ea typeface="Arial" pitchFamily="34" charset="-122"/>
                <a:cs typeface="Arial" pitchFamily="34" charset="-120"/>
              </a:rPr>
              <a:t>Measured against ECLAC's 2.2% for Latin America and the Caribbean in 2026, and 2.5% for South America.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THE NUMBERS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Size, growth and inflation vs the region</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097280"/>
            <a:ext cx="10552176" cy="384048"/>
          </a:xfrm>
          <a:prstGeom prst="rect">
            <a:avLst/>
          </a:prstGeom>
          <a:noFill/>
          <a:ln/>
        </p:spPr>
        <p:txBody>
          <a:bodyPr wrap="square" lIns="0" tIns="0" rIns="0" bIns="0" rtlCol="0" anchor="ctr"/>
          <a:lstStyle/>
          <a:p>
            <a:pPr indent="0" marL="0">
              <a:buNone/>
            </a:pPr>
            <a:r>
              <a:rPr lang="en-US" sz="1150" i="1" dirty="0">
                <a:solidFill>
                  <a:srgbClr val="555555"/>
                </a:solidFill>
                <a:latin typeface="Arial" pitchFamily="34" charset="0"/>
                <a:ea typeface="Arial" pitchFamily="34" charset="-122"/>
                <a:cs typeface="Arial" pitchFamily="34" charset="-120"/>
              </a:rPr>
              <a:t>Benchmark: ECLAC, August 2026 update (Estudio Economico 2026, 20 Aug 2026). LatAm &amp; Caribbean 2.2% in 2026 (2.4% in 2025, 2.5% in 2027); South America 2.5%; ECLAC's own 2026 figures: Peru 3.2%, Ecuador 2.4%, Chile 1.6%, Bolivia 0.5%; median inflation ~3%.</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2271248" cy="914400"/>
        </p:xfrm>
        <a:graphic>
          <a:graphicData uri="http://schemas.openxmlformats.org/drawingml/2006/table">
            <a:tbl>
              <a:tblPr/>
              <a:tblGrid>
                <a:gridCol w="1691640"/>
                <a:gridCol w="1371600"/>
                <a:gridCol w="1371600"/>
                <a:gridCol w="1371600"/>
                <a:gridCol w="1234440"/>
                <a:gridCol w="1600200"/>
                <a:gridCol w="2331720"/>
                <a:gridCol w="566928"/>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Country</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GDP USD bn</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GDP/capita</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2025</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2026f</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vs LatAm</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Inflation</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Conf.</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~340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~17,000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2.5%</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0.25-0.75% (BCCh) /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Below</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4.1% (Sep-2026)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~300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~8,700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3.4%</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3.0-3.2%</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Above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4.5% (Sep-2026)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~130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~7,200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2.5-2.7%</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Slightly above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1.3% (Sep-2026)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~55-60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~4,500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-3.0% (IMF) / +0.5%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Below</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5.7% (Sep-2026)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THE NUMBERS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How to read this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This set does not outperform the region; it straddles it</a:t>
            </a:r>
            <a:endParaRPr lang="en-US" sz="1250" dirty="0"/>
          </a:p>
        </p:txBody>
      </p:sp>
      <p:sp>
        <p:nvSpPr>
          <p:cNvPr id="8" name="Text 6"/>
          <p:cNvSpPr/>
          <p:nvPr/>
        </p:nvSpPr>
        <p:spPr>
          <a:xfrm>
            <a:off x="4270248" y="1271016"/>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Peru (3.0-3.2%) and Ecuador (ECLAC 2.4%) sit above the 2.2% regional figure. Chile has stalled below 1% in 2026 on every forecaster's numbers and Bolivia is in its second year of contraction on the IMF's. Unlike the northern seven, the headline here is dispersion, not speed.</a:t>
            </a:r>
            <a:endParaRPr lang="en-US" sz="1150" dirty="0"/>
          </a:p>
        </p:txBody>
      </p:sp>
      <p:sp>
        <p:nvSpPr>
          <p:cNvPr id="9" name="Shape 7"/>
          <p:cNvSpPr/>
          <p:nvPr/>
        </p:nvSpPr>
        <p:spPr>
          <a:xfrm>
            <a:off x="566928" y="3054096"/>
            <a:ext cx="12271248" cy="0"/>
          </a:xfrm>
          <a:prstGeom prst="line">
            <a:avLst/>
          </a:prstGeom>
          <a:noFill/>
          <a:ln w="9525">
            <a:solidFill>
              <a:srgbClr val="DDDDDD"/>
            </a:solidFill>
            <a:prstDash val="solid"/>
          </a:ln>
        </p:spPr>
      </p:sp>
      <p:sp>
        <p:nvSpPr>
          <p:cNvPr id="10" name="Text 8"/>
          <p:cNvSpPr/>
          <p:nvPr/>
        </p:nvSpPr>
        <p:spPr>
          <a:xfrm>
            <a:off x="566928" y="3163824"/>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Chile and Peru are the same size and nothing like each other per head</a:t>
            </a:r>
            <a:endParaRPr lang="en-US" sz="1250" dirty="0"/>
          </a:p>
        </p:txBody>
      </p:sp>
      <p:sp>
        <p:nvSpPr>
          <p:cNvPr id="11" name="Text 9"/>
          <p:cNvSpPr/>
          <p:nvPr/>
        </p:nvSpPr>
        <p:spPr>
          <a:xfrm>
            <a:off x="4270248" y="3163824"/>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Both are roughly USD 300-340bn economies. Chile reaches that on 20 million people and ~USD 17,000 per head; Peru on 34 million and ~USD 8,700. Ecuador (~USD 130bn, ~USD 7,000) and Bolivia (~USD 55-60bn, ~USD 4,500) are a tier below on both measures.</a:t>
            </a:r>
            <a:endParaRPr lang="en-US" sz="1150" dirty="0"/>
          </a:p>
        </p:txBody>
      </p:sp>
      <p:sp>
        <p:nvSpPr>
          <p:cNvPr id="12" name="Shape 10"/>
          <p:cNvSpPr/>
          <p:nvPr/>
        </p:nvSpPr>
        <p:spPr>
          <a:xfrm>
            <a:off x="566928" y="4946904"/>
            <a:ext cx="12271248" cy="0"/>
          </a:xfrm>
          <a:prstGeom prst="line">
            <a:avLst/>
          </a:prstGeom>
          <a:noFill/>
          <a:ln w="9525">
            <a:solidFill>
              <a:srgbClr val="DDDDDD"/>
            </a:solidFill>
            <a:prstDash val="solid"/>
          </a:ln>
        </p:spPr>
      </p:sp>
      <p:sp>
        <p:nvSpPr>
          <p:cNvPr id="13" name="Text 11"/>
          <p:cNvSpPr/>
          <p:nvPr/>
        </p:nvSpPr>
        <p:spPr>
          <a:xfrm>
            <a:off x="566928" y="5056632"/>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Inflation is above target in the three countries that have a target</a:t>
            </a:r>
            <a:endParaRPr lang="en-US" sz="1250" dirty="0"/>
          </a:p>
        </p:txBody>
      </p:sp>
      <p:sp>
        <p:nvSpPr>
          <p:cNvPr id="14" name="Text 12"/>
          <p:cNvSpPr/>
          <p:nvPr/>
        </p:nvSpPr>
        <p:spPr>
          <a:xfrm>
            <a:off x="4270248" y="5056632"/>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Chile 4.1% against 3%, Peru 4.5% against 1-3%, with policy rates parked at 4.5% and 4.25% since late 2025. Ecuador is dollarised and imports US prices. Bolivia is the outlier in the other direction: 20.4% in 2025 falling to 5.7% by September 2026 as the recession bites and the float settles.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THE NUMBERS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How to read this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Two of the four changed regime in 2026</a:t>
            </a:r>
            <a:endParaRPr lang="en-US" sz="1250" dirty="0"/>
          </a:p>
        </p:txBody>
      </p:sp>
      <p:sp>
        <p:nvSpPr>
          <p:cNvPr id="8" name="Text 6"/>
          <p:cNvSpPr/>
          <p:nvPr/>
        </p:nvSpPr>
        <p:spPr>
          <a:xfrm>
            <a:off x="4270248" y="1271016"/>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Bolivia abandoned its 15-year 6.96 peg on 29 June 2026 and entered a USD 1.9bn IMF programme on 2 October. Chile legislated a corporate-tax cut, the repeal of the capital-gains tax on listed shares and a 12-month repatriation window (Ley de Reconstruccion Nacional, 9 October 2026). Anything an advisor learned about either country before mid-2026 needs re-checking.</a:t>
            </a:r>
            <a:endParaRPr lang="en-US" sz="1150" dirty="0"/>
          </a:p>
        </p:txBody>
      </p:sp>
      <p:sp>
        <p:nvSpPr>
          <p:cNvPr id="9" name="Shape 7"/>
          <p:cNvSpPr/>
          <p:nvPr/>
        </p:nvSpPr>
        <p:spPr>
          <a:xfrm>
            <a:off x="566928" y="3054096"/>
            <a:ext cx="12271248" cy="0"/>
          </a:xfrm>
          <a:prstGeom prst="line">
            <a:avLst/>
          </a:prstGeom>
          <a:noFill/>
          <a:ln w="9525">
            <a:solidFill>
              <a:srgbClr val="DDDDDD"/>
            </a:solidFill>
            <a:prstDash val="solid"/>
          </a:ln>
        </p:spPr>
      </p:sp>
      <p:sp>
        <p:nvSpPr>
          <p:cNvPr id="10" name="Text 8"/>
          <p:cNvSpPr/>
          <p:nvPr/>
        </p:nvSpPr>
        <p:spPr>
          <a:xfrm>
            <a:off x="566928" y="3163824"/>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Copper is the common thread, and it is not evenly spread</a:t>
            </a:r>
            <a:endParaRPr lang="en-US" sz="1250" dirty="0"/>
          </a:p>
        </p:txBody>
      </p:sp>
      <p:sp>
        <p:nvSpPr>
          <p:cNvPr id="11" name="Text 9"/>
          <p:cNvSpPr/>
          <p:nvPr/>
        </p:nvSpPr>
        <p:spPr>
          <a:xfrm>
            <a:off x="4270248" y="3163824"/>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Chile and Peru are the world's first and third copper producers and copper is roughly half of each country's goods exports. Ecuador and Bolivia are at the start of that curve: Ecuador has two industrial-scale mines and is reopening its cadastre, Bolivia has silver, zinc and a lithium programme that has yet to produce at scale.</a:t>
            </a:r>
            <a:endParaRPr lang="en-US" sz="1150" dirty="0"/>
          </a:p>
        </p:txBody>
      </p:sp>
      <p:sp>
        <p:nvSpPr>
          <p:cNvPr id="12" name="Shape 10"/>
          <p:cNvSpPr/>
          <p:nvPr/>
        </p:nvSpPr>
        <p:spPr>
          <a:xfrm>
            <a:off x="566928" y="4946904"/>
            <a:ext cx="12271248" cy="0"/>
          </a:xfrm>
          <a:prstGeom prst="line">
            <a:avLst/>
          </a:prstGeom>
          <a:noFill/>
          <a:ln w="9525">
            <a:solidFill>
              <a:srgbClr val="DDDDDD"/>
            </a:solidFill>
            <a:prstDash val="solid"/>
          </a:ln>
        </p:spPr>
      </p:sp>
      <p:sp>
        <p:nvSpPr>
          <p:cNvPr id="13" name="Text 11"/>
          <p:cNvSpPr/>
          <p:nvPr/>
        </p:nvSpPr>
        <p:spPr>
          <a:xfrm>
            <a:off x="566928" y="5056632"/>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The ratings ladder runs the full length of the scale</a:t>
            </a:r>
            <a:endParaRPr lang="en-US" sz="1250" dirty="0"/>
          </a:p>
        </p:txBody>
      </p:sp>
      <p:sp>
        <p:nvSpPr>
          <p:cNvPr id="14" name="Text 12"/>
          <p:cNvSpPr/>
          <p:nvPr/>
        </p:nvSpPr>
        <p:spPr>
          <a:xfrm>
            <a:off x="4270248" y="5056632"/>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Chile (A2/A/A-) is the highest-rated sovereign in Latin America; Peru (Baa1/BBB-/BBB) is investment grade at all three agencies; Ecuador is single-B territory with an IMF programme; Bolivia is Caa2/CCC+/CCC after three upgrades in 2026 from the floor. Four markets, four different conversations about sovereign risk.</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834640"/>
            <a:ext cx="12271248" cy="237744"/>
          </a:xfrm>
          <a:prstGeom prst="rect">
            <a:avLst/>
          </a:prstGeom>
          <a:noFill/>
          <a:ln/>
        </p:spPr>
        <p:txBody>
          <a:bodyPr wrap="square" lIns="0" tIns="0" rIns="0" bIns="0" rtlCol="0" anchor="ctr"/>
          <a:lstStyle/>
          <a:p>
            <a:pPr indent="0" marL="0">
              <a:buNone/>
            </a:pPr>
            <a:r>
              <a:rPr lang="en-US" sz="950" b="1" spc="140" kern="0" dirty="0">
                <a:solidFill>
                  <a:srgbClr val="555555"/>
                </a:solidFill>
                <a:latin typeface="Arial" pitchFamily="34" charset="0"/>
                <a:ea typeface="Arial" pitchFamily="34" charset="-122"/>
                <a:cs typeface="Arial" pitchFamily="34" charset="-120"/>
              </a:rPr>
              <a:t>SECTION TWO</a:t>
            </a:r>
            <a:endParaRPr lang="en-US" sz="950" dirty="0"/>
          </a:p>
        </p:txBody>
      </p:sp>
      <p:sp>
        <p:nvSpPr>
          <p:cNvPr id="4" name="Text 2"/>
          <p:cNvSpPr/>
          <p:nvPr/>
        </p:nvSpPr>
        <p:spPr>
          <a:xfrm>
            <a:off x="566928" y="3127248"/>
            <a:ext cx="9820656"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Who is in charge</a:t>
            </a:r>
            <a:endParaRPr lang="en-US" sz="3000" dirty="0"/>
          </a:p>
        </p:txBody>
      </p:sp>
      <p:sp>
        <p:nvSpPr>
          <p:cNvPr id="5" name="Shape 3"/>
          <p:cNvSpPr/>
          <p:nvPr/>
        </p:nvSpPr>
        <p:spPr>
          <a:xfrm>
            <a:off x="566928" y="3968496"/>
            <a:ext cx="1645920" cy="0"/>
          </a:xfrm>
          <a:prstGeom prst="line">
            <a:avLst/>
          </a:prstGeom>
          <a:noFill/>
          <a:ln w="31750">
            <a:solidFill>
              <a:srgbClr val="EC0016"/>
            </a:solidFill>
            <a:prstDash val="solid"/>
          </a:ln>
        </p:spPr>
      </p:sp>
      <p:sp>
        <p:nvSpPr>
          <p:cNvPr id="6" name="Text 4"/>
          <p:cNvSpPr/>
          <p:nvPr/>
        </p:nvSpPr>
        <p:spPr>
          <a:xfrm>
            <a:off x="566928" y="4114800"/>
            <a:ext cx="8833104" cy="731520"/>
          </a:xfrm>
          <a:prstGeom prst="rect">
            <a:avLst/>
          </a:prstGeom>
          <a:noFill/>
          <a:ln/>
        </p:spPr>
        <p:txBody>
          <a:bodyPr wrap="square" lIns="0" tIns="0" rIns="0" bIns="0" rtlCol="0" anchor="ctr"/>
          <a:lstStyle/>
          <a:p>
            <a:pPr indent="0" marL="0">
              <a:buNone/>
            </a:pPr>
            <a:r>
              <a:rPr lang="en-US" sz="1250" dirty="0">
                <a:solidFill>
                  <a:srgbClr val="555555"/>
                </a:solidFill>
                <a:latin typeface="Arial" pitchFamily="34" charset="0"/>
                <a:ea typeface="Arial" pitchFamily="34" charset="-122"/>
                <a:cs typeface="Arial" pitchFamily="34" charset="-120"/>
              </a:rPr>
              <a:t>Orientation and the capacity to deliver are separate questions. The gap between them is where the risk sits.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WHO IS IN CHARGE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The four administrations</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2271248" cy="914400"/>
        </p:xfrm>
        <a:graphic>
          <a:graphicData uri="http://schemas.openxmlformats.org/drawingml/2006/table">
            <a:tbl>
              <a:tblPr/>
              <a:tblGrid>
                <a:gridCol w="1920240"/>
                <a:gridCol w="2926080"/>
                <a:gridCol w="3108960"/>
                <a:gridCol w="2377440"/>
                <a:gridCol w="1938528"/>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Country</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President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Party / movement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Took office</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Term ends</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Jose Antonio Kast</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Partido Republicano</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11 Mar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2030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Keiko Fujimori</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Fuerza Popular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28 Jul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2031</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Daniel Noboa Azin</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ADN - Accion Democratica Nacional</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24 May 2025 (second term; first 23 Nov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2029</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Rodrigo Paz Pereira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PDC (Partido Democrata Cristiano)</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8 Nov 2025</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2030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WHO IS IN CHARGE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Orientation and governability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269290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Chile — Jose Antonio Kast</a:t>
            </a:r>
            <a:endParaRPr lang="en-US" sz="1250" dirty="0"/>
          </a:p>
        </p:txBody>
      </p:sp>
      <p:sp>
        <p:nvSpPr>
          <p:cNvPr id="8" name="Text 6"/>
          <p:cNvSpPr/>
          <p:nvPr/>
        </p:nvSpPr>
        <p:spPr>
          <a:xfrm>
            <a:off x="4270248" y="1271016"/>
            <a:ext cx="8567928" cy="269290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Right of centre, security-first and pro-investment. In the first seven months the government cut ministry budgets 3%, launched a 'Border Shield' plan with a 10km exclusion zone against irregular migration, withdrew 43 environmental decrees for review, and passed the 'Ley de Reconstruccion Nacional y Desarrollo Economico y Social' (promulgated 9 October 2026): corporate tax down from 27% to 25.5% (2027), 24% (2028) and 23% (2029); repeal of the 10% capital-gains tax on listed shares from 1 January 2027; tax-invariability contracts of 10-20 years for large investments; faster environmental permitting; a one-year 12-month repatriation window at 10% (7% if reinvested for five years). Finance Minister Jorge Quiroz (independent economist). Economy and Mining are held by one bi-minister, Daniel Mas. Approval fell from 57% at inauguration to ~35-40% by August 2026 (CEP, Cadem, Criteria). First reshuffle 19 May 2026 (Security and Spokesperson). || GOVERNABILITY: Constrained. Chamber of Deputies (155; 78 for a majority): Kast's 'Cambio por Chile' 42 (Republicanos 31, Libertarios 8, Social Cristiano 3) + traditional right 'Chile Grande y Unido' 34 (UDI 18, RN 13, Evopoli 2, Democratas 1) = 76; left 'Unidad por Chile' 61 (Frente Amplio 17, PS 11, PC 11, DC 8, PPD 9, PL 3, PR 2); Partido de la Gente 14; Greens/Regionalists 3; independent 1. Senate (50; 26 for a majority): right 25 (Chile Grande y Unido 17 + Cambio por Chile 8), Unidad por Chile 20, Greens/Regionalists 3, independents 2. The Partido de la Gente (Parisi) is the swing bloc in the Chamber. … (full text in the workbook)</a:t>
            </a:r>
            <a:endParaRPr lang="en-US" sz="1150" dirty="0"/>
          </a:p>
        </p:txBody>
      </p:sp>
      <p:sp>
        <p:nvSpPr>
          <p:cNvPr id="9" name="Shape 7"/>
          <p:cNvSpPr/>
          <p:nvPr/>
        </p:nvSpPr>
        <p:spPr>
          <a:xfrm>
            <a:off x="566928" y="4000500"/>
            <a:ext cx="12271248" cy="0"/>
          </a:xfrm>
          <a:prstGeom prst="line">
            <a:avLst/>
          </a:prstGeom>
          <a:noFill/>
          <a:ln w="9525">
            <a:solidFill>
              <a:srgbClr val="DDDDDD"/>
            </a:solidFill>
            <a:prstDash val="solid"/>
          </a:ln>
        </p:spPr>
      </p:sp>
      <p:sp>
        <p:nvSpPr>
          <p:cNvPr id="10" name="Text 8"/>
          <p:cNvSpPr/>
          <p:nvPr/>
        </p:nvSpPr>
        <p:spPr>
          <a:xfrm>
            <a:off x="566928" y="4110228"/>
            <a:ext cx="3520440" cy="269290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Peru — Keiko Fujimori</a:t>
            </a:r>
            <a:endParaRPr lang="en-US" sz="1250" dirty="0"/>
          </a:p>
        </p:txBody>
      </p:sp>
      <p:sp>
        <p:nvSpPr>
          <p:cNvPr id="11" name="Text 9"/>
          <p:cNvSpPr/>
          <p:nvPr/>
        </p:nvSpPr>
        <p:spPr>
          <a:xfrm>
            <a:off x="4270248" y="4110228"/>
            <a:ext cx="8567928" cy="269290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Market-oriented, pro-mining, security-first. Prime minister Luis Galarreta (also first vice-president) framed the agenda as 'destrabar inversiones, generar empleo, crecimiento'. Economy minister Elmer Cuba, a former BCRP board member, has kept the 1.8% of GDP deficit ceiling for 2026, announced a countercyclical package for El Nino, fuel prices and tighter global financing, and said the fiscal rules will be rewritten (2028 target likely eased from 1.0% to 1.2% of GDP). Julio Velarde remains BCRP governor. Foreign minister Carlos Espa has said the government will deepen US security cooperation while keeping China as the main trade partner, and Fujimori has expressed interest in the US-proposed 'Escudo de las Americas'. || GOVERNABILITY: Constrained but workable. Senate (60): Fuerza Popular 22, Juntos por el Peru 14, Renovacion Popular 8, Partido del Buen Gobierno 7, Partido Civico Obras 5, Ahora Nacion 4. Chamber of Deputies (130): Fuerza Popular 41, Juntos por el Peru 32, Partido del Buen Gobierno 18, Renovacion Popular 15, Partido Civico Obras 14, Ahora Nacion 10. Fuerza Popular plus Renovacion Popular reaches exactly 30 of 60 senators and 56 of 130 deputies; adding Buen Gobierno gives 37 and 74. Moody's notes the executive-legislative relationship is more balanced than in 2021-26, but parties remain weak. Congress has removed two presidents in the last twelve months.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WHO IS IN CHARGE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Orientation and governability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269290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Ecuador — Daniel Noboa Azin</a:t>
            </a:r>
            <a:endParaRPr lang="en-US" sz="1250" dirty="0"/>
          </a:p>
        </p:txBody>
      </p:sp>
      <p:sp>
        <p:nvSpPr>
          <p:cNvPr id="8" name="Text 6"/>
          <p:cNvSpPr/>
          <p:nvPr/>
        </p:nvSpPr>
        <p:spPr>
          <a:xfrm>
            <a:off x="4270248" y="1271016"/>
            <a:ext cx="8567928" cy="269290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Market-oriented, security-first, and personalist. He has kept VAT at 15% (raised April 2024), ended the diesel subsidy by Decree 126 (12 Sep 2025) and held the line through a month-long CONAIE strike, signed a Reciprocal Trade Agreement with the US (13 Mar 2026) that commits Ecuador to open tenders for the Sacha oil field, and pushed a mining-and-electricity law through in Feb 2026. He governs heavily by executive decree and 'urgent economic' bills; the Constitutional Court annulled two of them on 26 Sep 2025 for bundling unrelated matters. He campaigned for a constituent assembly and foreign military bases and lost both questions on 16 Nov 2025. || GOVERNABILITY: Working but thin. 151-seat Assembly: ADN won 66-67 seats in Feb 2025 against 66-67 for Revolucion Ciudadana (RC); ADN started the period on 14 May 2025 with 68 and built a bloc of up to ~84 by absorbing 5 RC defectors, 6 of 9 Pachakutik members, 1 PSC and 4-5 independents. Absolute majority is 77; qualified majority is 101, which ADN lacks. Assembly president: Mishel Mancheno (ADN) since 9 Jun 2026 after Niels Olsen resigned to run for Guayas prefect; authorities are re-elected 14 May 2027. The Constitutional Court is the effective check on the executive.</a:t>
            </a:r>
            <a:endParaRPr lang="en-US" sz="1150" dirty="0"/>
          </a:p>
        </p:txBody>
      </p:sp>
      <p:sp>
        <p:nvSpPr>
          <p:cNvPr id="9" name="Shape 7"/>
          <p:cNvSpPr/>
          <p:nvPr/>
        </p:nvSpPr>
        <p:spPr>
          <a:xfrm>
            <a:off x="566928" y="4000500"/>
            <a:ext cx="12271248" cy="0"/>
          </a:xfrm>
          <a:prstGeom prst="line">
            <a:avLst/>
          </a:prstGeom>
          <a:noFill/>
          <a:ln w="9525">
            <a:solidFill>
              <a:srgbClr val="DDDDDD"/>
            </a:solidFill>
            <a:prstDash val="solid"/>
          </a:ln>
        </p:spPr>
      </p:sp>
      <p:sp>
        <p:nvSpPr>
          <p:cNvPr id="10" name="Text 8"/>
          <p:cNvSpPr/>
          <p:nvPr/>
        </p:nvSpPr>
        <p:spPr>
          <a:xfrm>
            <a:off x="566928" y="4110228"/>
            <a:ext cx="3520440" cy="269290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Bolivia — Rodrigo Paz Pereira</a:t>
            </a:r>
            <a:endParaRPr lang="en-US" sz="1250" dirty="0"/>
          </a:p>
        </p:txBody>
      </p:sp>
      <p:sp>
        <p:nvSpPr>
          <p:cNvPr id="11" name="Text 9"/>
          <p:cNvSpPr/>
          <p:nvPr/>
        </p:nvSpPr>
        <p:spPr>
          <a:xfrm>
            <a:off x="4270248" y="4110228"/>
            <a:ext cx="8567928" cy="269290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Centre-right, fiscal-adjustment, 'capitalismo para todos'. In 11 months the government has: declared an economic emergency (Decree 5503, Dec 2025) and cut fuel subsidies in two steps (gasoline to Bs 6.96 and diesel to Bs 9.80 in Dec 2025; diesel to import parity Bs 17.95 on 18 Sep 2026); floated the currency (29 Jun 2026); ended BCB financing of the Treasury; abolished the ITF (Law 1717); signed and legislated an IMF EFF (Law 1765); returned to Eurobond markets (USD 1bn, May 2026); and sent investment, hydrocarbons and mining bills to the Assembly. Not yet achieved: repeal of the wealth tax, a new hydrocarbons law, a lithium law, SOE restructuring. || GOVERNABILITY: Constrained. PDC has 49/130 deputies and 16/36 senators; Libre 39/12; Unidad 26/7; APB-Sumate 5/1; Alianza Popular 8/0; MAS 2/0. No majority in either chamber. The IMF law and ITF repeal passed with opposition votes; the wealth-tax repeal stalled in committee (Feb 2026); the Assembly censured and removed Economy Minister Espinoza (Aug 2026). The government won only 2 of 9 governorships in the March-April 2026 subnational elections (Santa Cruz went to Libre's Juan Pablo Velasco). A state of exception was extended for 90 days on 17 Sep 2026. Fuel-price protests by the COB, transport unions and Evo Morales supporters recur.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WHO IS IN CHARGE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How to read this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Three of four governments are less than a year old, and all four lean right or centre-right</a:t>
            </a:r>
            <a:endParaRPr lang="en-US" sz="1250" dirty="0"/>
          </a:p>
        </p:txBody>
      </p:sp>
      <p:sp>
        <p:nvSpPr>
          <p:cNvPr id="8" name="Text 6"/>
          <p:cNvSpPr/>
          <p:nvPr/>
        </p:nvSpPr>
        <p:spPr>
          <a:xfrm>
            <a:off x="4270248" y="1271016"/>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Kast in Chile (March 2026), Fujimori in Peru (July 2026) and Paz in Bolivia (November 2025) all replaced governments of the left or centre-left. Noboa in Ecuador was re-elected in April 2025. There is no left-governed market in this set as of October 2026, which was not true two years ago.</a:t>
            </a:r>
            <a:endParaRPr lang="en-US" sz="1150" dirty="0"/>
          </a:p>
        </p:txBody>
      </p:sp>
      <p:sp>
        <p:nvSpPr>
          <p:cNvPr id="9" name="Shape 7"/>
          <p:cNvSpPr/>
          <p:nvPr/>
        </p:nvSpPr>
        <p:spPr>
          <a:xfrm>
            <a:off x="566928" y="3054096"/>
            <a:ext cx="12271248" cy="0"/>
          </a:xfrm>
          <a:prstGeom prst="line">
            <a:avLst/>
          </a:prstGeom>
          <a:noFill/>
          <a:ln w="9525">
            <a:solidFill>
              <a:srgbClr val="DDDDDD"/>
            </a:solidFill>
            <a:prstDash val="solid"/>
          </a:ln>
        </p:spPr>
      </p:sp>
      <p:sp>
        <p:nvSpPr>
          <p:cNvPr id="10" name="Text 8"/>
          <p:cNvSpPr/>
          <p:nvPr/>
        </p:nvSpPr>
        <p:spPr>
          <a:xfrm>
            <a:off x="566928" y="3163824"/>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None of the three new presidents has a legislative majority</a:t>
            </a:r>
            <a:endParaRPr lang="en-US" sz="1250" dirty="0"/>
          </a:p>
        </p:txBody>
      </p:sp>
      <p:sp>
        <p:nvSpPr>
          <p:cNvPr id="11" name="Text 9"/>
          <p:cNvSpPr/>
          <p:nvPr/>
        </p:nvSpPr>
        <p:spPr>
          <a:xfrm>
            <a:off x="4270248" y="3163824"/>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Kast's right bloc holds 76 of 155 deputies and 25 of 50 senators. Fujimori's Fuerza Popular holds 22 of 60 senators and 41 of 130 deputies and needs Renovacion Popular to reach 30 of 60. Paz's PDC holds 49 of 130 deputies and 16 of 36 senators and faces a hostile vice-president. Orientation is clear; delivery depends on arithmetic.</a:t>
            </a:r>
            <a:endParaRPr lang="en-US" sz="1150" dirty="0"/>
          </a:p>
        </p:txBody>
      </p:sp>
      <p:sp>
        <p:nvSpPr>
          <p:cNvPr id="12" name="Shape 10"/>
          <p:cNvSpPr/>
          <p:nvPr/>
        </p:nvSpPr>
        <p:spPr>
          <a:xfrm>
            <a:off x="566928" y="4946904"/>
            <a:ext cx="12271248" cy="0"/>
          </a:xfrm>
          <a:prstGeom prst="line">
            <a:avLst/>
          </a:prstGeom>
          <a:noFill/>
          <a:ln w="9525">
            <a:solidFill>
              <a:srgbClr val="DDDDDD"/>
            </a:solidFill>
            <a:prstDash val="solid"/>
          </a:ln>
        </p:spPr>
      </p:sp>
      <p:sp>
        <p:nvSpPr>
          <p:cNvPr id="13" name="Text 11"/>
          <p:cNvSpPr/>
          <p:nvPr/>
        </p:nvSpPr>
        <p:spPr>
          <a:xfrm>
            <a:off x="566928" y="5056632"/>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Ecuador is the exception on governability and the rule on everything else</a:t>
            </a:r>
            <a:endParaRPr lang="en-US" sz="1250" dirty="0"/>
          </a:p>
        </p:txBody>
      </p:sp>
      <p:sp>
        <p:nvSpPr>
          <p:cNvPr id="14" name="Text 12"/>
          <p:cNvSpPr/>
          <p:nvPr/>
        </p:nvSpPr>
        <p:spPr>
          <a:xfrm>
            <a:off x="4270248" y="5056632"/>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Noboa is the only one of the four with a working majority in the legislature (ADN and allies, ~84 of 151 against 77 needed), and he has used it on VAT, the diesel subsidy and a mining law. But he lost his November 2025 referendum, lacks the 101 votes for constitutional change, and the binding constraints are security, oil output and an IMF programme running behind schedule.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WHO IS IN CHARGE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How to read this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269290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Where the policy question is not ideological</a:t>
            </a:r>
            <a:endParaRPr lang="en-US" sz="1250" dirty="0"/>
          </a:p>
        </p:txBody>
      </p:sp>
      <p:sp>
        <p:nvSpPr>
          <p:cNvPr id="8" name="Text 6"/>
          <p:cNvSpPr/>
          <p:nvPr/>
        </p:nvSpPr>
        <p:spPr>
          <a:xfrm>
            <a:off x="4270248" y="1271016"/>
            <a:ext cx="8567928" cy="269290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Bolivia's is whether the fuel-price steps due at year-end survive the street and the December IMF review. Peru's is El Nino 2026-27, which the BCRP now rates 'extraordinary', and the rewrite of the fiscal rule. Chile's is whether a sub-1% year is cyclical or structural. Ecuador's is security and oil.</a:t>
            </a:r>
            <a:endParaRPr lang="en-US" sz="1150" dirty="0"/>
          </a:p>
        </p:txBody>
      </p:sp>
      <p:sp>
        <p:nvSpPr>
          <p:cNvPr id="9" name="Shape 7"/>
          <p:cNvSpPr/>
          <p:nvPr/>
        </p:nvSpPr>
        <p:spPr>
          <a:xfrm>
            <a:off x="566928" y="4000500"/>
            <a:ext cx="12271248" cy="0"/>
          </a:xfrm>
          <a:prstGeom prst="line">
            <a:avLst/>
          </a:prstGeom>
          <a:noFill/>
          <a:ln w="9525">
            <a:solidFill>
              <a:srgbClr val="DDDDDD"/>
            </a:solidFill>
            <a:prstDash val="solid"/>
          </a:ln>
        </p:spPr>
      </p:sp>
      <p:sp>
        <p:nvSpPr>
          <p:cNvPr id="10" name="Text 8"/>
          <p:cNvSpPr/>
          <p:nvPr/>
        </p:nvSpPr>
        <p:spPr>
          <a:xfrm>
            <a:off x="566928" y="4110228"/>
            <a:ext cx="3520440" cy="2692908"/>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Elections are behind this set, with one exception worth noting</a:t>
            </a:r>
            <a:endParaRPr lang="en-US" sz="1250" dirty="0"/>
          </a:p>
        </p:txBody>
      </p:sp>
      <p:sp>
        <p:nvSpPr>
          <p:cNvPr id="11" name="Text 9"/>
          <p:cNvSpPr/>
          <p:nvPr/>
        </p:nvSpPr>
        <p:spPr>
          <a:xfrm>
            <a:off x="4270248" y="4110228"/>
            <a:ext cx="8567928" cy="2692908"/>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Chile votes in November 2029, Ecuador in 2029, Bolivia in 2030 and Peru in April 2031; the only near-term test is Ecuador's local elections on 14 February 2027. Peru's history argues against reading a 2031 date as five years of stability: it has had seven presidents since 2016.</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834640"/>
            <a:ext cx="12271248" cy="237744"/>
          </a:xfrm>
          <a:prstGeom prst="rect">
            <a:avLst/>
          </a:prstGeom>
          <a:noFill/>
          <a:ln/>
        </p:spPr>
        <p:txBody>
          <a:bodyPr wrap="square" lIns="0" tIns="0" rIns="0" bIns="0" rtlCol="0" anchor="ctr"/>
          <a:lstStyle/>
          <a:p>
            <a:pPr indent="0" marL="0">
              <a:buNone/>
            </a:pPr>
            <a:r>
              <a:rPr lang="en-US" sz="950" b="1" spc="140" kern="0" dirty="0">
                <a:solidFill>
                  <a:srgbClr val="555555"/>
                </a:solidFill>
                <a:latin typeface="Arial" pitchFamily="34" charset="0"/>
                <a:ea typeface="Arial" pitchFamily="34" charset="-122"/>
                <a:cs typeface="Arial" pitchFamily="34" charset="-120"/>
              </a:rPr>
              <a:t>SECTION THREE</a:t>
            </a:r>
            <a:endParaRPr lang="en-US" sz="950" dirty="0"/>
          </a:p>
        </p:txBody>
      </p:sp>
      <p:sp>
        <p:nvSpPr>
          <p:cNvPr id="4" name="Text 2"/>
          <p:cNvSpPr/>
          <p:nvPr/>
        </p:nvSpPr>
        <p:spPr>
          <a:xfrm>
            <a:off x="566928" y="3127248"/>
            <a:ext cx="9820656"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The lens</a:t>
            </a:r>
            <a:endParaRPr lang="en-US" sz="3000" dirty="0"/>
          </a:p>
        </p:txBody>
      </p:sp>
      <p:sp>
        <p:nvSpPr>
          <p:cNvPr id="5" name="Shape 3"/>
          <p:cNvSpPr/>
          <p:nvPr/>
        </p:nvSpPr>
        <p:spPr>
          <a:xfrm>
            <a:off x="566928" y="3968496"/>
            <a:ext cx="1645920" cy="0"/>
          </a:xfrm>
          <a:prstGeom prst="line">
            <a:avLst/>
          </a:prstGeom>
          <a:noFill/>
          <a:ln w="31750">
            <a:solidFill>
              <a:srgbClr val="EC0016"/>
            </a:solidFill>
            <a:prstDash val="solid"/>
          </a:ln>
        </p:spPr>
      </p:sp>
      <p:sp>
        <p:nvSpPr>
          <p:cNvPr id="6" name="Text 4"/>
          <p:cNvSpPr/>
          <p:nvPr/>
        </p:nvSpPr>
        <p:spPr>
          <a:xfrm>
            <a:off x="566928" y="4114800"/>
            <a:ext cx="8833104" cy="731520"/>
          </a:xfrm>
          <a:prstGeom prst="rect">
            <a:avLst/>
          </a:prstGeom>
          <a:noFill/>
          <a:ln/>
        </p:spPr>
        <p:txBody>
          <a:bodyPr wrap="square" lIns="0" tIns="0" rIns="0" bIns="0" rtlCol="0" anchor="ctr"/>
          <a:lstStyle/>
          <a:p>
            <a:pPr indent="0" marL="0">
              <a:buNone/>
            </a:pPr>
            <a:r>
              <a:rPr lang="en-US" sz="1250" dirty="0">
                <a:solidFill>
                  <a:srgbClr val="555555"/>
                </a:solidFill>
                <a:latin typeface="Arial" pitchFamily="34" charset="0"/>
                <a:ea typeface="Arial" pitchFamily="34" charset="-122"/>
                <a:cs typeface="Arial" pitchFamily="34" charset="-120"/>
              </a:rPr>
              <a:t>Things that are true across all four markets, and the ways they differ from the northern seven.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THE LENS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What an advisor actually needs to know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Currency is a real question here, not a formality</a:t>
            </a:r>
            <a:endParaRPr lang="en-US" sz="1250" dirty="0"/>
          </a:p>
        </p:txBody>
      </p:sp>
      <p:sp>
        <p:nvSpPr>
          <p:cNvPr id="8" name="Text 6"/>
          <p:cNvSpPr/>
          <p:nvPr/>
        </p:nvSpPr>
        <p:spPr>
          <a:xfrm>
            <a:off x="4270248" y="1271016"/>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Only Ecuador is dollarised. Chile and Peru float, and both currencies moved materially in 2025-26 (the sol among the strongest EM currencies in 2025; the peso strengthened ~100 pesos on copper). Bolivia's float is four months old and the official and parallel rates have only just converged. A dollar client's local holdings carry FX risk in three of the four.</a:t>
            </a:r>
            <a:endParaRPr lang="en-US" sz="1150" dirty="0"/>
          </a:p>
        </p:txBody>
      </p:sp>
      <p:sp>
        <p:nvSpPr>
          <p:cNvPr id="9" name="Shape 7"/>
          <p:cNvSpPr/>
          <p:nvPr/>
        </p:nvSpPr>
        <p:spPr>
          <a:xfrm>
            <a:off x="566928" y="3054096"/>
            <a:ext cx="12271248" cy="0"/>
          </a:xfrm>
          <a:prstGeom prst="line">
            <a:avLst/>
          </a:prstGeom>
          <a:noFill/>
          <a:ln w="9525">
            <a:solidFill>
              <a:srgbClr val="DDDDDD"/>
            </a:solidFill>
            <a:prstDash val="solid"/>
          </a:ln>
        </p:spPr>
      </p:sp>
      <p:sp>
        <p:nvSpPr>
          <p:cNvPr id="10" name="Text 8"/>
          <p:cNvSpPr/>
          <p:nvPr/>
        </p:nvSpPr>
        <p:spPr>
          <a:xfrm>
            <a:off x="566928" y="3163824"/>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Worldwide taxation is the norm, and reporting is heavier than in the north</a:t>
            </a:r>
            <a:endParaRPr lang="en-US" sz="1250" dirty="0"/>
          </a:p>
        </p:txBody>
      </p:sp>
      <p:sp>
        <p:nvSpPr>
          <p:cNvPr id="11" name="Text 9"/>
          <p:cNvSpPr/>
          <p:nvPr/>
        </p:nvSpPr>
        <p:spPr>
          <a:xfrm>
            <a:off x="4270248" y="3163824"/>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Chile, Peru and Ecuador tax residents on worldwide income; Chile has an annual foreign-asset declaration (DJ 1929) and CFC rules; Ecuador layers an outflow tax (ISD) on top. Bolivia is the one territorial system in the set, but its IGF wealth tax reaches worldwide net assets above Bs 30m and is still on the books.</a:t>
            </a:r>
            <a:endParaRPr lang="en-US" sz="1150" dirty="0"/>
          </a:p>
        </p:txBody>
      </p:sp>
      <p:sp>
        <p:nvSpPr>
          <p:cNvPr id="12" name="Shape 10"/>
          <p:cNvSpPr/>
          <p:nvPr/>
        </p:nvSpPr>
        <p:spPr>
          <a:xfrm>
            <a:off x="566928" y="4946904"/>
            <a:ext cx="12271248" cy="0"/>
          </a:xfrm>
          <a:prstGeom prst="line">
            <a:avLst/>
          </a:prstGeom>
          <a:noFill/>
          <a:ln w="9525">
            <a:solidFill>
              <a:srgbClr val="DDDDDD"/>
            </a:solidFill>
            <a:prstDash val="solid"/>
          </a:ln>
        </p:spPr>
      </p:sp>
      <p:sp>
        <p:nvSpPr>
          <p:cNvPr id="13" name="Text 11"/>
          <p:cNvSpPr/>
          <p:nvPr/>
        </p:nvSpPr>
        <p:spPr>
          <a:xfrm>
            <a:off x="566928" y="5056632"/>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There is real listed equity here, unlike most of the north</a:t>
            </a:r>
            <a:endParaRPr lang="en-US" sz="1250" dirty="0"/>
          </a:p>
        </p:txBody>
      </p:sp>
      <p:sp>
        <p:nvSpPr>
          <p:cNvPr id="14" name="Text 12"/>
          <p:cNvSpPr/>
          <p:nvPr/>
        </p:nvSpPr>
        <p:spPr>
          <a:xfrm>
            <a:off x="4270248" y="5056632"/>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Chile and Peru have deep local markets, NYSE-listed banks and miners, and country ETFs (ECH, EPU). The nuam integration of the Santiago, Lima and Bogota exchanges goes live in stages through 2027. Ecuador and Bolivia are bond markets: the sovereign Eurobond is the instrument an advisor will actually be asked about.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THE LENS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What an advisor actually needs to know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271016"/>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Pension funds are the capital market in Chile and Peru, and politics has reached them</a:t>
            </a:r>
            <a:endParaRPr lang="en-US" sz="1250" dirty="0"/>
          </a:p>
        </p:txBody>
      </p:sp>
      <p:sp>
        <p:nvSpPr>
          <p:cNvPr id="8" name="Text 6"/>
          <p:cNvSpPr/>
          <p:nvPr/>
        </p:nvSpPr>
        <p:spPr>
          <a:xfrm>
            <a:off x="4270248" y="1271016"/>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Chile's AFPs manage ~USD 229bn and are moving to generational funds in 2027; Peru's Congress has authorised eight extraordinary withdrawals since 2020 and mandatory affiliation returns in June 2027. Bolivia nationalised its AFPs into the Gestora Publica in 2023. Any family with a Peruvian or Chilean operating business sits inside this system as an issuer.</a:t>
            </a:r>
            <a:endParaRPr lang="en-US" sz="1150" dirty="0"/>
          </a:p>
        </p:txBody>
      </p:sp>
      <p:sp>
        <p:nvSpPr>
          <p:cNvPr id="9" name="Shape 7"/>
          <p:cNvSpPr/>
          <p:nvPr/>
        </p:nvSpPr>
        <p:spPr>
          <a:xfrm>
            <a:off x="566928" y="3054096"/>
            <a:ext cx="12271248" cy="0"/>
          </a:xfrm>
          <a:prstGeom prst="line">
            <a:avLst/>
          </a:prstGeom>
          <a:noFill/>
          <a:ln w="9525">
            <a:solidFill>
              <a:srgbClr val="DDDDDD"/>
            </a:solidFill>
            <a:prstDash val="solid"/>
          </a:ln>
        </p:spPr>
      </p:sp>
      <p:sp>
        <p:nvSpPr>
          <p:cNvPr id="10" name="Text 8"/>
          <p:cNvSpPr/>
          <p:nvPr/>
        </p:nvSpPr>
        <p:spPr>
          <a:xfrm>
            <a:off x="566928" y="3163824"/>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Wealth is family-held, but the families are more often listed</a:t>
            </a:r>
            <a:endParaRPr lang="en-US" sz="1250" dirty="0"/>
          </a:p>
        </p:txBody>
      </p:sp>
      <p:sp>
        <p:nvSpPr>
          <p:cNvPr id="11" name="Text 9"/>
          <p:cNvSpPr/>
          <p:nvPr/>
        </p:nvSpPr>
        <p:spPr>
          <a:xfrm>
            <a:off x="4270248" y="3163824"/>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The conglomerate structure is the same as the north: multi-generational, several unrelated sectors, a holding above. The difference is that Luksic, Matte, Angelini, Romero, Breca, Rodriguez-Pastor and Benavides control NYSE- or locally-listed vehicles with published ownership, which grades higher than anything in Guatemala or El Salvador. Ecuador and Bolivia look more like the north.</a:t>
            </a:r>
            <a:endParaRPr lang="en-US" sz="1150" dirty="0"/>
          </a:p>
        </p:txBody>
      </p:sp>
      <p:sp>
        <p:nvSpPr>
          <p:cNvPr id="12" name="Shape 10"/>
          <p:cNvSpPr/>
          <p:nvPr/>
        </p:nvSpPr>
        <p:spPr>
          <a:xfrm>
            <a:off x="566928" y="4946904"/>
            <a:ext cx="12271248" cy="0"/>
          </a:xfrm>
          <a:prstGeom prst="line">
            <a:avLst/>
          </a:prstGeom>
          <a:noFill/>
          <a:ln w="9525">
            <a:solidFill>
              <a:srgbClr val="DDDDDD"/>
            </a:solidFill>
            <a:prstDash val="solid"/>
          </a:ln>
        </p:spPr>
      </p:sp>
      <p:sp>
        <p:nvSpPr>
          <p:cNvPr id="13" name="Text 11"/>
          <p:cNvSpPr/>
          <p:nvPr/>
        </p:nvSpPr>
        <p:spPr>
          <a:xfrm>
            <a:off x="566928" y="5056632"/>
            <a:ext cx="3520440" cy="1746504"/>
          </a:xfrm>
          <a:prstGeom prst="rect">
            <a:avLst/>
          </a:prstGeom>
          <a:noFill/>
          <a:ln/>
        </p:spPr>
        <p:txBody>
          <a:bodyPr wrap="square" lIns="0" tIns="0" rIns="0" bIns="0" rtlCol="0" anchor="t"/>
          <a:lstStyle/>
          <a:p>
            <a:pPr indent="0" marL="0">
              <a:buNone/>
            </a:pPr>
            <a:r>
              <a:rPr lang="en-US" sz="1250" b="1" dirty="0">
                <a:solidFill>
                  <a:srgbClr val="EC0016"/>
                </a:solidFill>
                <a:latin typeface="Arial" pitchFamily="34" charset="0"/>
                <a:ea typeface="Arial" pitchFamily="34" charset="-122"/>
                <a:cs typeface="Arial" pitchFamily="34" charset="-120"/>
              </a:rPr>
              <a:t>Succession and ownership events are visible and dated</a:t>
            </a:r>
            <a:endParaRPr lang="en-US" sz="1250" dirty="0"/>
          </a:p>
        </p:txBody>
      </p:sp>
      <p:sp>
        <p:nvSpPr>
          <p:cNvPr id="14" name="Text 12"/>
          <p:cNvSpPr/>
          <p:nvPr/>
        </p:nvSpPr>
        <p:spPr>
          <a:xfrm>
            <a:off x="4270248" y="5056632"/>
            <a:ext cx="8567928" cy="1746504"/>
          </a:xfrm>
          <a:prstGeom prst="rect">
            <a:avLst/>
          </a:prstGeom>
          <a:noFill/>
          <a:ln/>
        </p:spPr>
        <p:txBody>
          <a:bodyPr wrap="square" lIns="0" tIns="0" rIns="0" bIns="0" rtlCol="0" anchor="t"/>
          <a:lstStyle/>
          <a:p>
            <a:pPr indent="0" marL="0">
              <a:buNone/>
            </a:pPr>
            <a:r>
              <a:rPr lang="en-US" sz="1150" dirty="0">
                <a:solidFill>
                  <a:srgbClr val="111111"/>
                </a:solidFill>
                <a:latin typeface="Arial" pitchFamily="34" charset="0"/>
                <a:ea typeface="Arial" pitchFamily="34" charset="-122"/>
                <a:cs typeface="Arial" pitchFamily="34" charset="-120"/>
              </a:rPr>
              <a:t>Falabella's shareholder pact ended in July 2025 and the families have been selling; Horst Paulmann died in March 2025 and Manfred chairs Cencosud; Manuel Romero Valdez took over Grupo Romero in January 2026; the Hochschild family sold control of Pacasmayo to Holcim in March 2026; BISA's chairman resigned in September 2026. The calendar tab tracks what is on the public record.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834640"/>
            <a:ext cx="12271248" cy="237744"/>
          </a:xfrm>
          <a:prstGeom prst="rect">
            <a:avLst/>
          </a:prstGeom>
          <a:noFill/>
          <a:ln/>
        </p:spPr>
        <p:txBody>
          <a:bodyPr wrap="square" lIns="0" tIns="0" rIns="0" bIns="0" rtlCol="0" anchor="ctr"/>
          <a:lstStyle/>
          <a:p>
            <a:pPr indent="0" marL="0">
              <a:buNone/>
            </a:pPr>
            <a:r>
              <a:rPr lang="en-US" sz="950" b="1" spc="140" kern="0" dirty="0">
                <a:solidFill>
                  <a:srgbClr val="555555"/>
                </a:solidFill>
                <a:latin typeface="Arial" pitchFamily="34" charset="0"/>
                <a:ea typeface="Arial" pitchFamily="34" charset="-122"/>
                <a:cs typeface="Arial" pitchFamily="34" charset="-120"/>
              </a:rPr>
              <a:t>SECTION FOUR</a:t>
            </a:r>
            <a:endParaRPr lang="en-US" sz="950" dirty="0"/>
          </a:p>
        </p:txBody>
      </p:sp>
      <p:sp>
        <p:nvSpPr>
          <p:cNvPr id="4" name="Text 2"/>
          <p:cNvSpPr/>
          <p:nvPr/>
        </p:nvSpPr>
        <p:spPr>
          <a:xfrm>
            <a:off x="566928" y="3127248"/>
            <a:ext cx="9820656"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How the wealth is organised</a:t>
            </a:r>
            <a:endParaRPr lang="en-US" sz="3000" dirty="0"/>
          </a:p>
        </p:txBody>
      </p:sp>
      <p:sp>
        <p:nvSpPr>
          <p:cNvPr id="5" name="Shape 3"/>
          <p:cNvSpPr/>
          <p:nvPr/>
        </p:nvSpPr>
        <p:spPr>
          <a:xfrm>
            <a:off x="566928" y="3968496"/>
            <a:ext cx="1645920" cy="0"/>
          </a:xfrm>
          <a:prstGeom prst="line">
            <a:avLst/>
          </a:prstGeom>
          <a:noFill/>
          <a:ln w="31750">
            <a:solidFill>
              <a:srgbClr val="EC0016"/>
            </a:solidFill>
            <a:prstDash val="solid"/>
          </a:ln>
        </p:spPr>
      </p:sp>
      <p:sp>
        <p:nvSpPr>
          <p:cNvPr id="6" name="Text 4"/>
          <p:cNvSpPr/>
          <p:nvPr/>
        </p:nvSpPr>
        <p:spPr>
          <a:xfrm>
            <a:off x="566928" y="4114800"/>
            <a:ext cx="8833104" cy="731520"/>
          </a:xfrm>
          <a:prstGeom prst="rect">
            <a:avLst/>
          </a:prstGeom>
          <a:noFill/>
          <a:ln/>
        </p:spPr>
        <p:txBody>
          <a:bodyPr wrap="square" lIns="0" tIns="0" rIns="0" bIns="0" rtlCol="0" anchor="ctr"/>
          <a:lstStyle/>
          <a:p>
            <a:pPr indent="0" marL="0">
              <a:buNone/>
            </a:pPr>
            <a:r>
              <a:rPr lang="en-US" sz="1250" dirty="0">
                <a:solidFill>
                  <a:srgbClr val="555555"/>
                </a:solidFill>
                <a:latin typeface="Arial" pitchFamily="34" charset="0"/>
                <a:ea typeface="Arial" pitchFamily="34" charset="-122"/>
                <a:cs typeface="Arial" pitchFamily="34" charset="-120"/>
              </a:rPr>
              <a:t>Read this before the country decks. It explains the shape of everything that follows.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STRUCTURE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The shape of business in these markets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658368" y="1243584"/>
            <a:ext cx="12088368" cy="5678424"/>
          </a:xfrm>
          <a:prstGeom prst="rect">
            <a:avLst/>
          </a:prstGeom>
          <a:noFill/>
          <a:ln/>
        </p:spPr>
        <p:txBody>
          <a:bodyPr wrap="square" lIns="0" tIns="0" rIns="0" bIns="0" rtlCol="0" anchor="t"/>
          <a:lstStyle/>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The dominant form is still the multi-generational family conglomerate: one family, several operating companies across unrelated sectors, a holding company above them. The difference from the north is that in Chile and Peru the holding or its principal subsidiaries are usually listed, so ownership and board composition are on the public record.</a:t>
            </a:r>
            <a:endParaRPr lang="en-US" sz="1300" dirty="0"/>
          </a:p>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Chile's groups are organised around a handful of listed holdings: Quinenco (Luksic), Empresas Copec (Angelini), CMPC and Bicecorp (Matte), Cencosud (Paulmann), Falabella (Solari, Del Rio, Cuneo). Peru's around Credicorp (Romero), Breca (unlisted holding; BBVA Peru, Minsur, Rimac), Intercorp (Rodriguez-Pastor) and Buenaventura (Benavides).</a:t>
            </a:r>
            <a:endParaRPr lang="en-US" sz="1300" dirty="0"/>
          </a:p>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Foreign ownership of banks is extensive but not total. Chile: Santander, Itau and Scotiabank are foreign; BCI, Banco de Chile and BICE are family-associated. Peru: BCP and Interbank are family-associated; BBVA Peru is a 50/50 BBVA-Breca holding; Scotiabank Peru is Canadian. Ecuador: the large banks are domestic and family-associated (Pichincha, Guayaquil, Bolivariano) with Produbanco under Promerica. Bolivia: the largest bank is the state's; Credicorp's BCP Bolivia is the only significant foreign-controlled bank.</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STRUCTURE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The shape of business in these markets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658368" y="1243584"/>
            <a:ext cx="12088368" cy="5678424"/>
          </a:xfrm>
          <a:prstGeom prst="rect">
            <a:avLst/>
          </a:prstGeom>
          <a:noFill/>
          <a:ln/>
        </p:spPr>
        <p:txBody>
          <a:bodyPr wrap="square" lIns="0" tIns="0" rIns="0" bIns="0" rtlCol="0" anchor="t"/>
          <a:lstStyle/>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Cross-border ownership runs along the Pacific. Peruvian groups own Bolivia's cement (Gloria/Consorcio Cementero del Sur), dairy (PIL Andina) and a bank (BCP Bolivia); Chilean retailers (Cencosud, Falabella, Ripley) own Peruvian retail; Credicorp and Intercorp operate in Chile, Colombia and Panama. A Lima family conversation often has a Santa Cruz or Santiago leg.</a:t>
            </a:r>
            <a:endParaRPr lang="en-US" sz="1300" dirty="0"/>
          </a:p>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Mining wealth has a specific shape: the mine is usually foreign-owned (BHP, Anglo American, Freeport, Glencore, MMG, Lundin) and the local wealth sits in the contractors, engineering firms, ports and logistics around it, plus the handful of locally-controlled miners (Antofagasta plc, Buenaventura, Minsur, Hochschild). Public equity screens will find the foreign majors and miss the local wealth.</a:t>
            </a:r>
            <a:endParaRPr lang="en-US" sz="1300" dirty="0"/>
          </a:p>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Succession is live across the set, as in the north, but it is documented: pact expiries, chairman changes and control sales are filed with the CMF, SMV and exchanges rather than inferred.</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ACCESS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How we map access — and what we refuse to assert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658368" y="1243584"/>
            <a:ext cx="12088368" cy="5678424"/>
          </a:xfrm>
          <a:prstGeom prst="rect">
            <a:avLst/>
          </a:prstGeom>
          <a:noFill/>
          <a:ln/>
        </p:spPr>
        <p:txBody>
          <a:bodyPr wrap="square" lIns="0" tIns="0" rIns="0" bIns="0" rtlCol="0" anchor="t"/>
          <a:lstStyle/>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We do not assert who banks with whom. It is not public, and inferring it in a supervised document is a liability.</a:t>
            </a:r>
            <a:endParaRPr lang="en-US" sz="1300" dirty="0"/>
          </a:p>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We do not use LinkedIn, personal contact details, or personal relationships.</a:t>
            </a:r>
            <a:endParaRPr lang="en-US" sz="1300" dirty="0"/>
          </a:p>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What we use instead is the published institutional map: board seats, apex business association roles, foundation leadership, endowed university positions and scholarships, published awards, and named adviser, bookrunner, arranger and lender roles on disclosed transactions.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ACCESS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How we map access — and what we refuse to assert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658368" y="1243584"/>
            <a:ext cx="12088368" cy="5678424"/>
          </a:xfrm>
          <a:prstGeom prst="rect">
            <a:avLst/>
          </a:prstGeom>
          <a:noFill/>
          <a:ln/>
        </p:spPr>
        <p:txBody>
          <a:bodyPr wrap="square" lIns="0" tIns="0" rIns="0" bIns="0" rtlCol="0" anchor="t"/>
          <a:lstStyle/>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That material is verifiable, citable, and survives a compliance review. It is also better material: it tells you where somebody will physically be, and in what capacity.</a:t>
            </a:r>
            <a:endParaRPr lang="en-US" sz="1300" dirty="0"/>
          </a:p>
          <a:p>
            <a:pPr marL="342900" indent="-342900">
              <a:lnSpc>
                <a:spcPct val="115000"/>
              </a:lnSpc>
              <a:spcAft>
                <a:spcPts val="1300"/>
              </a:spcAft>
              <a:buSzPct val="100000"/>
              <a:buChar char="•"/>
            </a:pPr>
            <a:r>
              <a:rPr lang="en-US" sz="1300" dirty="0">
                <a:solidFill>
                  <a:srgbClr val="111111"/>
                </a:solidFill>
                <a:latin typeface="Arial" pitchFamily="34" charset="0"/>
                <a:ea typeface="Arial" pitchFamily="34" charset="-122"/>
                <a:cs typeface="Arial" pitchFamily="34" charset="-120"/>
              </a:rPr>
              <a:t>Every access route in this pack carries a confidence grade. Grade C routes are leads, not facts.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834640"/>
            <a:ext cx="12271248" cy="237744"/>
          </a:xfrm>
          <a:prstGeom prst="rect">
            <a:avLst/>
          </a:prstGeom>
          <a:noFill/>
          <a:ln/>
        </p:spPr>
        <p:txBody>
          <a:bodyPr wrap="square" lIns="0" tIns="0" rIns="0" bIns="0" rtlCol="0" anchor="ctr"/>
          <a:lstStyle/>
          <a:p>
            <a:pPr indent="0" marL="0">
              <a:buNone/>
            </a:pPr>
            <a:r>
              <a:rPr lang="en-US" sz="950" b="1" spc="140" kern="0" dirty="0">
                <a:solidFill>
                  <a:srgbClr val="555555"/>
                </a:solidFill>
                <a:latin typeface="Arial" pitchFamily="34" charset="0"/>
                <a:ea typeface="Arial" pitchFamily="34" charset="-122"/>
                <a:cs typeface="Arial" pitchFamily="34" charset="-120"/>
              </a:rPr>
              <a:t>SECTION FIVE</a:t>
            </a:r>
            <a:endParaRPr lang="en-US" sz="950" dirty="0"/>
          </a:p>
        </p:txBody>
      </p:sp>
      <p:sp>
        <p:nvSpPr>
          <p:cNvPr id="4" name="Text 2"/>
          <p:cNvSpPr/>
          <p:nvPr/>
        </p:nvSpPr>
        <p:spPr>
          <a:xfrm>
            <a:off x="566928" y="3127248"/>
            <a:ext cx="9820656" cy="73152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Reference</a:t>
            </a:r>
            <a:endParaRPr lang="en-US" sz="3000" dirty="0"/>
          </a:p>
        </p:txBody>
      </p:sp>
      <p:sp>
        <p:nvSpPr>
          <p:cNvPr id="5" name="Shape 3"/>
          <p:cNvSpPr/>
          <p:nvPr/>
        </p:nvSpPr>
        <p:spPr>
          <a:xfrm>
            <a:off x="566928" y="3968496"/>
            <a:ext cx="1645920" cy="0"/>
          </a:xfrm>
          <a:prstGeom prst="line">
            <a:avLst/>
          </a:prstGeom>
          <a:noFill/>
          <a:ln w="31750">
            <a:solidFill>
              <a:srgbClr val="EC0016"/>
            </a:solidFill>
            <a:prstDash val="solid"/>
          </a:ln>
        </p:spPr>
      </p:sp>
      <p:sp>
        <p:nvSpPr>
          <p:cNvPr id="6" name="Text 4"/>
          <p:cNvSpPr/>
          <p:nvPr/>
        </p:nvSpPr>
        <p:spPr>
          <a:xfrm>
            <a:off x="566928" y="4114800"/>
            <a:ext cx="8833104" cy="731520"/>
          </a:xfrm>
          <a:prstGeom prst="rect">
            <a:avLst/>
          </a:prstGeom>
          <a:noFill/>
          <a:ln/>
        </p:spPr>
        <p:txBody>
          <a:bodyPr wrap="square" lIns="0" tIns="0" rIns="0" bIns="0" rtlCol="0" anchor="ctr"/>
          <a:lstStyle/>
          <a:p>
            <a:pPr indent="0" marL="0">
              <a:buNone/>
            </a:pPr>
            <a:r>
              <a:rPr lang="en-US" sz="1250" dirty="0">
                <a:solidFill>
                  <a:srgbClr val="555555"/>
                </a:solidFill>
                <a:latin typeface="Arial" pitchFamily="34" charset="0"/>
                <a:ea typeface="Arial" pitchFamily="34" charset="-122"/>
                <a:cs typeface="Arial" pitchFamily="34" charset="-120"/>
              </a:rPr>
              <a:t>Ratings, calendar, traps and gaps.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Sovereign ratings</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097280"/>
            <a:ext cx="10552176" cy="384048"/>
          </a:xfrm>
          <a:prstGeom prst="rect">
            <a:avLst/>
          </a:prstGeom>
          <a:noFill/>
          <a:ln/>
        </p:spPr>
        <p:txBody>
          <a:bodyPr wrap="square" lIns="0" tIns="0" rIns="0" bIns="0" rtlCol="0" anchor="ctr"/>
          <a:lstStyle/>
          <a:p>
            <a:pPr indent="0" marL="0">
              <a:buNone/>
            </a:pPr>
            <a:r>
              <a:rPr lang="en-US" sz="1150" i="1" dirty="0">
                <a:solidFill>
                  <a:srgbClr val="555555"/>
                </a:solidFill>
                <a:latin typeface="Arial" pitchFamily="34" charset="0"/>
                <a:ea typeface="Arial" pitchFamily="34" charset="-122"/>
                <a:cs typeface="Arial" pitchFamily="34" charset="-120"/>
              </a:rPr>
              <a:t>Orientation only. Shaded rows are stale or disputed.</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2271248" cy="914400"/>
        </p:xfrm>
        <a:graphic>
          <a:graphicData uri="http://schemas.openxmlformats.org/drawingml/2006/table">
            <a:tbl>
              <a:tblPr/>
              <a:tblGrid>
                <a:gridCol w="2011680"/>
                <a:gridCol w="2011680"/>
                <a:gridCol w="2011680"/>
                <a:gridCol w="2011680"/>
                <a:gridCol w="1463040"/>
                <a:gridCol w="73152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Country</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Moody's</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S&amp;P</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Fitch</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Verified</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Conf.</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A2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 / Stable (A+ local currency)</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Oct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Baa1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BBB-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BBB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Oct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Caa1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Oct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Caa2 / Positive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CCC+ / Stable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CCC (no outlook assigned at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Oct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Dated events on the public record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2271248" cy="914400"/>
        </p:xfrm>
        <a:graphic>
          <a:graphicData uri="http://schemas.openxmlformats.org/drawingml/2006/table">
            <a:tbl>
              <a:tblPr/>
              <a:tblGrid>
                <a:gridCol w="2103120"/>
                <a:gridCol w="1645920"/>
                <a:gridCol w="3840480"/>
                <a:gridCol w="46634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Date</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Event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Why it matters</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Late Oct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Banco Central de Chile monetary policy meeting</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TPM 4.5% since 16 Dec 2025; consensus for a hold. Exact date per BCCh calendar.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4 Nov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Superintendencia de Pensiones derivatives limits take effect for AFPs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Forces partial unwind of US-rate swap positions that produced ~USD 7.7bn of losses to September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By 30 Nov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Congress must dispatch the 2027 Budget Law</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Submitted early October: spending +1.5% real, effective deficit 1.8% of GDP, 2026 growth 0.7%, 2027 growth 3.3%.</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12 Nov 2026 and 10 Dec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BCRP monetary policy meetings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Rate at 4.25% with inflation at 4.5%; market split between hold and hike. December meeting coincides with the next Reporte de Inflacion.</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30 Nov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Constitutional deadline for Congress to pass the 2027 budget (S/ 266.5bn, +3.5%)</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First budget of the Fujimori government; built on a 1.4% of GDP deficit. Also pending: the ~S/ 8bn 2026 supplementary credit and the fiscal-rule rewrite announced by minister Cuba. Separately, the final tranche of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Dec 2026 - Mar 2027</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El Nino 2026-27 (BCRP: 'extraordinary' scenario)</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Estimated cost ~0.9% of GDP in 2026 and ~1.1% in 2027; President Fujimori has said it will be the strongest on record. Fishing, agro-exports and northern infrastructure are exposed.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Dated events on the public record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2271248" cy="914400"/>
        </p:xfrm>
        <a:graphic>
          <a:graphicData uri="http://schemas.openxmlformats.org/drawingml/2006/table">
            <a:tbl>
              <a:tblPr/>
              <a:tblGrid>
                <a:gridCol w="2103120"/>
                <a:gridCol w="1645920"/>
                <a:gridCol w="3840480"/>
                <a:gridCol w="46634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Date</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Event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Why it matters</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31 Oct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2027 budget (proforma) due to the National Assembly</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BCE assumptions: oil USD 66/bbl, 463 kb/d. First budget of the new finance minister. The government's separate target of 500 kb/d by Dec 2026 looks out of reach (Jan-Aug 2026 ~461 kb/d).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Q4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IMF sixth review of the EFF (~USD 390m)</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Slipped from September; end-2025 targets were missed and waivers granted in April. Remaining reviews Mar 2027, Sep 2027, Mar 2028 (programme end).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14 Feb 2027</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Local elections (prefects, mayors, councils) and CPCCS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First electoral test after the November 2025 referendum defeat; several ADN legislators are leaving the Assembly to run.</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End Oct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IMF structural benchmarks: medium-term fiscal strategy; base-money monitoring published; crisis-preparedness working group</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Test date for the first review.</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Dec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IMF Executive Board: first EFF review</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Based on end-Sep 2026 quantitative criteria. Also due by end-Dec: 2027 budget aligned with the programme, BCB stress test, FX intervention framework.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Mid-Dec 2026 (approx.)</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State of exception expires unless renewed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Extended 90 days on 17 Sep 2026 by 100 of 158 votes.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Names commonly cited that are wrong (1/3)</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097280"/>
            <a:ext cx="10552176" cy="384048"/>
          </a:xfrm>
          <a:prstGeom prst="rect">
            <a:avLst/>
          </a:prstGeom>
          <a:noFill/>
          <a:ln/>
        </p:spPr>
        <p:txBody>
          <a:bodyPr wrap="square" lIns="0" tIns="0" rIns="0" bIns="0" rtlCol="0" anchor="ctr"/>
          <a:lstStyle/>
          <a:p>
            <a:pPr indent="0" marL="0">
              <a:buNone/>
            </a:pPr>
            <a:r>
              <a:rPr lang="en-US" sz="1150" i="1" dirty="0">
                <a:solidFill>
                  <a:srgbClr val="555555"/>
                </a:solidFill>
                <a:latin typeface="Arial" pitchFamily="34" charset="0"/>
                <a:ea typeface="Arial" pitchFamily="34" charset="-122"/>
                <a:cs typeface="Arial" pitchFamily="34" charset="-120"/>
              </a:rPr>
              <a:t>Check before quoting a company or a shareholding in a client meeting.</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2271248" cy="914400"/>
        </p:xfrm>
        <a:graphic>
          <a:graphicData uri="http://schemas.openxmlformats.org/drawingml/2006/table">
            <a:tbl>
              <a:tblPr/>
              <a:tblGrid>
                <a:gridCol w="2926080"/>
                <a:gridCol w="2377440"/>
                <a:gridCol w="69494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Name commonly cited</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is actually true</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Codelco equity</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Codelco is wholly state-owned with no listed shares; exposure is through its USD bonds (USD 24.7bn of debt at end-2025).</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Itau Chile / Itau CorpBanca / CorpBanca ADR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NYSE ADR voluntarily delisted November 2023, programme terminated 5 February 2024; Santiago listing only. CorpBanca brand gone since 2016; Saieh stake lost in Chapter 11.</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Enersis / Enel Americas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Enersis split into Enel Chile and Enel Americas in 2016; Enel Americas left the NYSE in June 2022. Only Enel Chile (ENIC) trades in New York.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LATAM 'bankrupt'</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LATAM emerged from Chapter 11 in November 2022 and relisted on the NYSE on 25 July 2024 (LTM). The pre-2020 ADR holders were wiped out; the current security is new.</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Grana y Montero</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Renamed AENZA in 2020; family out; NYSE ADS withdrawn; AFPs and IG4 Capital are the shareholders; Lava Jato collaboration agreement in force.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Telefonica del 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Sold to Integra Tec (Argentina) in April 2025 for ~EUR 0.9m, renamed Integratel Peru, in INDECOPI insolvency. Telefonica SA has exited.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Names commonly cited that are wrong (2/3)</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2271248" cy="914400"/>
        </p:xfrm>
        <a:graphic>
          <a:graphicData uri="http://schemas.openxmlformats.org/drawingml/2006/table">
            <a:tbl>
              <a:tblPr/>
              <a:tblGrid>
                <a:gridCol w="2926080"/>
                <a:gridCol w="2377440"/>
                <a:gridCol w="69494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Name commonly cited</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is actually true</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Cementos Pacasmayo (NYSE: CPAC)</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Holcim acquired the Hochschild family's 50.01% control in March 2026 and intends to delist from the NYSE after the mandatory tender offer.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Volcan 'is Glencore'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Glencore sold its 55% of Class A shares to Integra Capital (via Transition Metals AG) in May 2024. Volcan's 40% of Chancay sits in a spun-off vehicle, Inversiones Portuarias Chancay; COSCO holds 60%.</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Backus, Lindley, Wong as Peruvian family companies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Peru</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Owned by AB InBev, Arca Continental and Cencosud respectively; the families sold in 2005, 2015 and 2007.</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Banco Pichincha ADR / any Ecuadorian bank ADR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None exists. Bank shares are registered on BVQ/BVG and barely trade.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 via ILF, EPU or an 'Ecuador ETF'</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 is in no MSCI index and no equity ETF. The only index exposure is sovereign debt in EMBI-type bond indices.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Adventus Mining / Curipamba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Acquired by Silvercorp (SVM) in July 2024; the project is now El Domo. TSXV: ADZN is gone.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Names commonly cited that are wrong (3/3)</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2271248" cy="914400"/>
        </p:xfrm>
        <a:graphic>
          <a:graphicData uri="http://schemas.openxmlformats.org/drawingml/2006/table">
            <a:tbl>
              <a:tblPr/>
              <a:tblGrid>
                <a:gridCol w="2926080"/>
                <a:gridCol w="2377440"/>
                <a:gridCol w="69494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Name commonly cited</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is actually true</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Grupo Noboa listed / Dinadec as an independent company</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The President's family group is private. Dinadec is AB InBev's Ecuadorian distribution arm.</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Glencore in 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Glencore sold Bolivar, Porco and related assets to Santacruz Silver (TSXV: SCZ) in 2021-22. The listed Bolivian silver exposure is Santacruz, Andean Precious Metals and New Pacific, not Glencore.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Sumitomo owns San Cristobal</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Sumitomo sold Minera San Cristobal to the private Canadian San Cristobal Mining Inc. in 2023. A 2021 'sale to Bolivian businessmen' was denied by Sumitomo and did not happen.</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Fino is Alicorp / Grupo Romero</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IASA (Fino) was transferred to ASAI Capital Holdings (Carlos Kempff) in Nov 2024. SOBOCE likewise is no longer Doria Medina's: sold to Grupo Gloria's cement arm in 2014.</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 is pegged at 6.96 and the ITF applies to dollar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Bolivia</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Both ended in 2026: the float began 29 Jun 2026 and Law 1717 abolished the ITF in April 2026. The IGF wealth tax, by contrast, is still in force.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What we do not have (1/2)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097280"/>
            <a:ext cx="10552176" cy="384048"/>
          </a:xfrm>
          <a:prstGeom prst="rect">
            <a:avLst/>
          </a:prstGeom>
          <a:noFill/>
          <a:ln/>
        </p:spPr>
        <p:txBody>
          <a:bodyPr wrap="square" lIns="0" tIns="0" rIns="0" bIns="0" rtlCol="0" anchor="ctr"/>
          <a:lstStyle/>
          <a:p>
            <a:pPr indent="0" marL="0">
              <a:buNone/>
            </a:pPr>
            <a:r>
              <a:rPr lang="en-US" sz="1150" i="1" dirty="0">
                <a:solidFill>
                  <a:srgbClr val="555555"/>
                </a:solidFill>
                <a:latin typeface="Arial" pitchFamily="34" charset="0"/>
                <a:ea typeface="Arial" pitchFamily="34" charset="-122"/>
                <a:cs typeface="Arial" pitchFamily="34" charset="-120"/>
              </a:rPr>
              <a:t>Honest flagging. Nothing here has been filled with a modelled proxy.</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2271248" cy="914400"/>
        </p:xfrm>
        <a:graphic>
          <a:graphicData uri="http://schemas.openxmlformats.org/drawingml/2006/table">
            <a:tbl>
              <a:tblPr/>
              <a:tblGrid>
                <a:gridCol w="3017520"/>
                <a:gridCol w="1188720"/>
                <a:gridCol w="4297680"/>
                <a:gridCol w="37490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Item</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How to close it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HNWI and UHNWI headcount by country</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Not held. Knight Frank and Capgemini country tables are paywalled.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License the data. Do not infer or model it.</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Equity valuation multiples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Deliberately omitted from this pack.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Holt or Bloomberg pull if the desk wants them.</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Confidence distribution of the family-group rows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All</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Chile: 0A/11B/4C/0X; Peru: 2A/10B/2C/0X; Ecuador: 0A/9B/5C/0X; Bolivia: 1A/8B/5C/0X. Bolivia and Ecuador carry the most C rows: family cap tables there are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Corporate registry searches (CMF, SMV, SCVS, Fundempresa) before any client use of a C row.</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Exact date of the October 2026 BCCh rate meeting and its outcome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CL</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Not confirmed; September 2026 was the last verified hold at 4.5%.</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Check bcentral.cl press releases on or after the late-October meeting.</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Reported US tariff increase on Chile (12.5%, 24 July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CL</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Appears in one secondary source only; not corroborated by Fitch, S&amp;P or Hacienda material reviewed.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Verify against USTR/Federal Register and Chile's Subrei before any use.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ECLAC August 2026 South America subregional growth figure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The CEPAL press release could not be retrieved (site error); El Peruano's report conflates the 2.2% LatAm figure with South America. Peru's own 3.2%/3.3%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Pull 'Estudio Economico de America Latina y el Caribe 2026' table from cepal.org.</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REFERENCE</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What we do not have (2/2)</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243584"/>
          <a:ext cx="12271248" cy="914400"/>
        </p:xfrm>
        <a:graphic>
          <a:graphicData uri="http://schemas.openxmlformats.org/drawingml/2006/table">
            <a:tbl>
              <a:tblPr/>
              <a:tblGrid>
                <a:gridCol w="3017520"/>
                <a:gridCol w="1188720"/>
                <a:gridCol w="4297680"/>
                <a:gridCol w="3749040"/>
              </a:tblGrid>
              <a:tr h="0">
                <a:tc>
                  <a:txBody>
                    <a:bodyPr/>
                    <a:lstStyle/>
                    <a:p>
                      <a:pPr indent="0" marL="0">
                        <a:buNone/>
                      </a:pPr>
                      <a:r>
                        <a:rPr lang="en-US" sz="950" b="1" dirty="0">
                          <a:solidFill>
                            <a:srgbClr val="FFFFFF"/>
                          </a:solidFill>
                          <a:latin typeface="Arial" pitchFamily="34" charset="0"/>
                          <a:ea typeface="Arial" pitchFamily="34" charset="-122"/>
                          <a:cs typeface="Arial" pitchFamily="34" charset="-120"/>
                        </a:rPr>
                        <a:t>Item</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Market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How to close it</a:t>
                      </a:r>
                      <a:endParaRPr lang="en-US" sz="950" dirty="0">
                        <a:latin typeface="Arial" charset="0"/>
                        <a:ea typeface="Arial" charset="0"/>
                        <a:cs typeface="Arial" charset="0"/>
                      </a:endParaRPr>
                    </a:p>
                  </a:txBody>
                  <a:tcPr marL="76200" marR="762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C0016"/>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Fitch and S&amp;P 2026 rating actions</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PE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No 2026 sovereign action found at either agency; latest confirmed actions are Fitch BBB stable (Oct 2025) and S&amp;P BBB- stable (Dec 2025). Both agencies … (full text in the workbook)</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Check fitchratings.com and spglobal.com issuer pages for any Q4 2026 action before client use.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ECLAC August 2026 South America subregional figure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Not retrieved; April 2026 release had South America 2.4% and Ecuador 2.4% (Ecuador unchanged in August).</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Read the Estudio Economico de America Latina y el Caribe 2026 press release (cepal.org, 20 Aug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IMF WEO October 2026 numbers for Ecuador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EC</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Not retrieved; pack uses WEO April 2026 (3.7% / 2.5% / 2.5%; inflation 0.7% / 2.9% / 1.6%).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WEO DataMapper, October 2026 vintage.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Status of the IGF wealth-tax repeal after March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Repeal bill rejected in committee Feb 2026; no later enactment found. Treated as still in force.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Check Gaceta Oficial and SIN notices for any law abrogating Ley 1357; confirm FY2026 filing calendar.</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11111"/>
                          </a:solidFill>
                          <a:latin typeface="Arial" pitchFamily="34" charset="0"/>
                          <a:ea typeface="Arial" pitchFamily="34" charset="-122"/>
                          <a:cs typeface="Arial" pitchFamily="34" charset="-120"/>
                        </a:rPr>
                        <a:t>Current BCB policy (repo) rate</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BO</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12.25% as of March 2026 (Harvard Growth Lab). Later moves not verified.</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900" dirty="0">
                          <a:solidFill>
                            <a:srgbClr val="111111"/>
                          </a:solidFill>
                          <a:latin typeface="Arial" pitchFamily="34" charset="0"/>
                          <a:ea typeface="Arial" pitchFamily="34" charset="-122"/>
                          <a:cs typeface="Arial" pitchFamily="34" charset="-120"/>
                        </a:rPr>
                        <a:t>BCB weekly operations bulletin or the IMF first-review staff report (Dec 2026).</a:t>
                      </a:r>
                      <a:endParaRPr lang="en-US" sz="900" dirty="0">
                        <a:latin typeface="Arial" charset="0"/>
                        <a:ea typeface="Arial" charset="0"/>
                        <a:cs typeface="Arial" charset="0"/>
                      </a:endParaRPr>
                    </a:p>
                  </a:txBody>
                  <a:tcPr marL="76200" marR="76200" marT="50800" marB="5080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3405104" cy="50292"/>
          </a:xfrm>
          <a:prstGeom prst="rect">
            <a:avLst/>
          </a:prstGeom>
          <a:solidFill>
            <a:srgbClr val="EC0016"/>
          </a:solidFill>
          <a:ln w="12700">
            <a:solidFill>
              <a:srgbClr val="333333"/>
            </a:solidFill>
            <a:prstDash val="solid"/>
          </a:ln>
        </p:spPr>
      </p:sp>
      <p:sp>
        <p:nvSpPr>
          <p:cNvPr id="3" name="Text 1"/>
          <p:cNvSpPr/>
          <p:nvPr/>
        </p:nvSpPr>
        <p:spPr>
          <a:xfrm>
            <a:off x="566928" y="219456"/>
            <a:ext cx="8586216" cy="219456"/>
          </a:xfrm>
          <a:prstGeom prst="rect">
            <a:avLst/>
          </a:prstGeom>
          <a:noFill/>
          <a:ln/>
        </p:spPr>
        <p:txBody>
          <a:bodyPr wrap="square" lIns="0" tIns="0" rIns="0" bIns="0" rtlCol="0" anchor="ctr"/>
          <a:lstStyle/>
          <a:p>
            <a:pPr indent="0" marL="0">
              <a:buNone/>
            </a:pPr>
            <a:r>
              <a:rPr lang="en-US" sz="900" b="1" spc="140" kern="0" dirty="0">
                <a:solidFill>
                  <a:srgbClr val="555555"/>
                </a:solidFill>
                <a:latin typeface="Arial" pitchFamily="34" charset="0"/>
                <a:ea typeface="Arial" pitchFamily="34" charset="-122"/>
                <a:cs typeface="Arial" pitchFamily="34" charset="-120"/>
              </a:rPr>
              <a:t>SOURCES</a:t>
            </a:r>
            <a:endParaRPr lang="en-US" sz="900" dirty="0"/>
          </a:p>
        </p:txBody>
      </p:sp>
      <p:sp>
        <p:nvSpPr>
          <p:cNvPr id="4" name="Text 2"/>
          <p:cNvSpPr/>
          <p:nvPr/>
        </p:nvSpPr>
        <p:spPr>
          <a:xfrm>
            <a:off x="566928" y="7141464"/>
            <a:ext cx="12271248" cy="201168"/>
          </a:xfrm>
          <a:prstGeom prst="rect">
            <a:avLst/>
          </a:prstGeom>
          <a:noFill/>
          <a:ln/>
        </p:spPr>
        <p:txBody>
          <a:bodyPr wrap="square" lIns="0" tIns="0" rIns="0" bIns="0" rtlCol="0" anchor="ctr"/>
          <a:lstStyle/>
          <a:p>
            <a:pPr algn="l" indent="0" marL="0">
              <a:buNone/>
            </a:pPr>
            <a:r>
              <a:rPr lang="en-US" sz="750" dirty="0">
                <a:solidFill>
                  <a:srgbClr val="BBBBBB"/>
                </a:solidFill>
                <a:latin typeface="Arial" pitchFamily="34" charset="0"/>
                <a:ea typeface="Arial" pitchFamily="34" charset="-122"/>
                <a:cs typeface="Arial" pitchFamily="34" charset="-120"/>
              </a:rPr>
              <a:t>INTERNAL — pending supervisory review. Factual reference only; contains no recommendations or suitability views.</a:t>
            </a:r>
            <a:endParaRPr lang="en-US" sz="750" dirty="0"/>
          </a:p>
        </p:txBody>
      </p:sp>
      <p:sp>
        <p:nvSpPr>
          <p:cNvPr id="5" name="Text 3"/>
          <p:cNvSpPr/>
          <p:nvPr/>
        </p:nvSpPr>
        <p:spPr>
          <a:xfrm>
            <a:off x="566928" y="512064"/>
            <a:ext cx="12271248" cy="45720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Sources</a:t>
            </a:r>
            <a:endParaRPr lang="en-US" sz="2400" dirty="0"/>
          </a:p>
        </p:txBody>
      </p:sp>
      <p:sp>
        <p:nvSpPr>
          <p:cNvPr id="6" name="Shape 4"/>
          <p:cNvSpPr/>
          <p:nvPr/>
        </p:nvSpPr>
        <p:spPr>
          <a:xfrm>
            <a:off x="566928" y="1024128"/>
            <a:ext cx="1371600" cy="0"/>
          </a:xfrm>
          <a:prstGeom prst="line">
            <a:avLst/>
          </a:prstGeom>
          <a:noFill/>
          <a:ln w="28575">
            <a:solidFill>
              <a:srgbClr val="EC0016"/>
            </a:solidFill>
            <a:prstDash val="solid"/>
          </a:ln>
        </p:spPr>
      </p:sp>
      <p:sp>
        <p:nvSpPr>
          <p:cNvPr id="7" name="Text 5"/>
          <p:cNvSpPr/>
          <p:nvPr/>
        </p:nvSpPr>
        <p:spPr>
          <a:xfrm>
            <a:off x="566928" y="1097280"/>
            <a:ext cx="10552176" cy="384048"/>
          </a:xfrm>
          <a:prstGeom prst="rect">
            <a:avLst/>
          </a:prstGeom>
          <a:noFill/>
          <a:ln/>
        </p:spPr>
        <p:txBody>
          <a:bodyPr wrap="square" lIns="0" tIns="0" rIns="0" bIns="0" rtlCol="0" anchor="ctr"/>
          <a:lstStyle/>
          <a:p>
            <a:pPr indent="0" marL="0">
              <a:buNone/>
            </a:pPr>
            <a:r>
              <a:rPr lang="en-US" sz="1150" i="1" dirty="0">
                <a:solidFill>
                  <a:srgbClr val="555555"/>
                </a:solidFill>
                <a:latin typeface="Arial" pitchFamily="34" charset="0"/>
                <a:ea typeface="Arial" pitchFamily="34" charset="-122"/>
                <a:cs typeface="Arial" pitchFamily="34" charset="-120"/>
              </a:rPr>
              <a:t>Primary documents and named agency actions first.</a:t>
            </a:r>
            <a:endParaRPr lang="en-US" sz="1150" dirty="0"/>
          </a:p>
        </p:txBody>
      </p:sp>
      <p:sp>
        <p:nvSpPr>
          <p:cNvPr id="8" name="Text 6"/>
          <p:cNvSpPr/>
          <p:nvPr/>
        </p:nvSpPr>
        <p:spPr>
          <a:xfrm>
            <a:off x="658368" y="1627632"/>
            <a:ext cx="12088368" cy="5294376"/>
          </a:xfrm>
          <a:prstGeom prst="rect">
            <a:avLst/>
          </a:prstGeom>
          <a:noFill/>
          <a:ln/>
        </p:spPr>
        <p:txBody>
          <a:bodyPr wrap="square" lIns="0" tIns="0" rIns="0" bIns="0" rtlCol="0" anchor="t"/>
          <a:lstStyle/>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Chile — Banco Central de Chile — IPoM September 2026 (as reported by Emol, El Dinamo, La Republica, 9 Sep 2026) — 2026-28 growth ranges, inflation path, Q2 GDP, unemployment, TPM hold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Chile — Banco Central de Chile — RPM communiques January and March 2026; September 2026 minutes (La Republica, 16 Sep 2026) — TPM 4.5%, unanimous holds, meeting calendar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Chile — Banco Central de Chile — TPM cut to 4.5%, 16 Dec 2025 (El Mostrador / Chocale) — Last rate move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Peru — El Peruano - Keiko Fujimori jura como presidenta de la Republica 2026-2031 — inauguration (official gazette)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Peru — BCRP - Resumen Informativo Semanal, 23 Apr 2026 — dollarisation 22.1%/31.8%, FX intervention YTD, reserves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Peru — MEF - Informe anual del Fondo de Estabilizacion Fiscal 2025 (8 May 2026) — FEF balance USD 3.21bn end-2025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Ecuador — IMF - Press Releases 25/433 (Fourth Review, 18 Dec 2025) and 26/099 (Fifth Review SLA, 31 Mar 2026) — Programme size, disbursements, IMF fiscal/debt/reserve projections, growth 2024-26; fifth review, USD 394m, market return, structural benchmarks, missed end-2025 targets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Ecuador — Rating actions: MEF Boletines 040 (21 Nov 2025) and 101 (13 Aug 2026); Primicias on Fitch (25 Feb 2026); La Republica on Moody's (27 Jan 2026); Rio Times/FXEmpire on S&amp;P history — Moody's Caa1 (26 Jan 2026); S&amp;P B stable (Aug 2026) and outlook change (20 Aug 2025); Fitch B- instrument (Nov 2025) and IDR (Feb 2026); reserves USD 11.3bn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Ecuador — Primicias - Resultados definitivos consulta popular y referendum (1 Dec 2025) — Referendum results and turnout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Bolivia — INE Bolivia - IPC septiembre 2026 (via El Deber / Infobae, 6 Oct 2026) — inflation monthly, YTD, 12-month, 2025 annual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Bolivia — INE Bolivia - PIB 2025 (via Brujula Digital, 21 Apr 2026) — 2025 GDP -1.58%, sector breakdown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Bolivia — IMF Country Report 26/259 - Bolivia: Request for EFF (Oct 2026) — programme terms, macro projections, debt, deficit, reserves, structural benchmarks, review schedule (Oct 2026)</a:t>
            </a:r>
            <a:endParaRPr lang="en-US" sz="1050" dirty="0"/>
          </a:p>
          <a:p>
            <a:pPr marL="342900" indent="-342900">
              <a:lnSpc>
                <a:spcPct val="115000"/>
              </a:lnSpc>
              <a:spcAft>
                <a:spcPts val="1300"/>
              </a:spcAft>
              <a:buSzPct val="100000"/>
              <a:buChar char="•"/>
            </a:pPr>
            <a:r>
              <a:rPr lang="en-US" sz="1050" dirty="0">
                <a:solidFill>
                  <a:srgbClr val="111111"/>
                </a:solidFill>
                <a:latin typeface="Arial" pitchFamily="34" charset="0"/>
                <a:ea typeface="Arial" pitchFamily="34" charset="-122"/>
                <a:cs typeface="Arial" pitchFamily="34" charset="-120"/>
              </a:rPr>
              <a:t>Full source list with URLs: Sources tab of this workbook and of each country workbook.</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2026-10-22T12:41:01Z</dcterms:created>
  <dcterms:modified xsi:type="dcterms:W3CDTF">2026-10-22T12:41:01Z</dcterms:modified>
</cp:coreProperties>
</file>
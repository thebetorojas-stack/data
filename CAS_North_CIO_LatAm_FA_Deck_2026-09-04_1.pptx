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notesMasterIdLst>
    <p:notesMasterId r:id="rId5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notesMaster" Target="notesMasters/notes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Master analytical deck for the CAS North advisor team. A shorter client-facing version is issued separately. Everything here is sourced and dated. Nothing is a recommendation.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Item (d) deliberately is not a separate section. El Salvador and Guyana get the same treatment as the other five because a prospect in either market will not accept being an appendix.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fourth point is the one that earns net new money. A rate view is a conversation anyone can have. A dated statutory change that costs a client money if ignored is a reason they take the 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Dollarisation, two investment-grade ratings and the regional-headquarters regime remain the classic Panama pitch. But this is a credit-differentiated story now, not a credit-benign one — a fallen-angel-in-progress candidate whose index eligibility is fragile.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best rating momentum in the sample, and the strongest currency. The risks are the mirror image of the strengths: deflation and appreciation squeezing the export base, and FDI that is being sustained by reinvestment rather than new money.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compelling rising-star candidate in the set. Pitch the balance sheet and the rule-of-law improvement; stress-test the remittance line, and price in policy paralysis as the June 2027 campaign begins.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highest-beta name here, and the one your clients will ask about. Ten slides of annex follow, because the honest answer to most Colombian questions in September 2026 is 'not yet decided' — and that is itself the conversation.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steadiest credit here. The live risks are the tax take, the expected peso give-back in the second half, and Haiti next door.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Suitable only for clients who can hold single-B risk. But the family groups here are buying assets across the region, which makes them prospects regardless of the sovereign.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 a core allocation. A satellite or thematic one, sized for binary geopolitical risk — and exposure for most clients runs through Exxon, Chevron, CNOOC or the drillers rather than through anything Guyanese.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Law 526 published in Gaceta Oficial 30534-B on 28 May 2026. Implementing regulation Executive Decree 32, Gaceta 30603-B, reported 3 September 2026. This is the single most actionable item in the pack for an existing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'why' column for each risk is on the Risks tab of the workbook.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566928" y="1188720"/>
            <a:ext cx="512064" cy="512064"/>
          </a:xfrm>
          <a:prstGeom prst="ellipse">
            <a:avLst/>
          </a:prstGeom>
          <a:solidFill>
            <a:srgbClr val="4E93A3"/>
          </a:solidFill>
          <a:ln/>
        </p:spPr>
      </p:sp>
      <p:sp>
        <p:nvSpPr>
          <p:cNvPr id="3" name="Text 1"/>
          <p:cNvSpPr txBox="1"/>
          <p:nvPr/>
        </p:nvSpPr>
        <p:spPr>
          <a:xfrm>
            <a:off x="566928" y="118872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a:t>
            </a:r>
            <a:endParaRPr lang="en-US" sz="1500" dirty="0"/>
          </a:p>
        </p:txBody>
      </p:sp>
      <p:sp>
        <p:nvSpPr>
          <p:cNvPr id="4" name="Shape 2"/>
          <p:cNvSpPr/>
          <p:nvPr/>
        </p:nvSpPr>
        <p:spPr>
          <a:xfrm>
            <a:off x="1225296" y="1188720"/>
            <a:ext cx="512064" cy="512064"/>
          </a:xfrm>
          <a:prstGeom prst="ellipse">
            <a:avLst/>
          </a:prstGeom>
          <a:solidFill>
            <a:srgbClr val="156A7A"/>
          </a:solidFill>
          <a:ln/>
        </p:spPr>
      </p:sp>
      <p:sp>
        <p:nvSpPr>
          <p:cNvPr id="5" name="Text 3"/>
          <p:cNvSpPr txBox="1"/>
          <p:nvPr/>
        </p:nvSpPr>
        <p:spPr>
          <a:xfrm>
            <a:off x="1225296" y="118872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CR</a:t>
            </a:r>
            <a:endParaRPr lang="en-US" sz="1500" dirty="0"/>
          </a:p>
        </p:txBody>
      </p:sp>
      <p:sp>
        <p:nvSpPr>
          <p:cNvPr id="6" name="Shape 4"/>
          <p:cNvSpPr/>
          <p:nvPr/>
        </p:nvSpPr>
        <p:spPr>
          <a:xfrm>
            <a:off x="1883664" y="1188720"/>
            <a:ext cx="512064" cy="512064"/>
          </a:xfrm>
          <a:prstGeom prst="ellipse">
            <a:avLst/>
          </a:prstGeom>
          <a:solidFill>
            <a:srgbClr val="4E93A3"/>
          </a:solidFill>
          <a:ln/>
        </p:spPr>
      </p:sp>
      <p:sp>
        <p:nvSpPr>
          <p:cNvPr id="7" name="Text 5"/>
          <p:cNvSpPr txBox="1"/>
          <p:nvPr/>
        </p:nvSpPr>
        <p:spPr>
          <a:xfrm>
            <a:off x="1883664" y="118872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GT</a:t>
            </a:r>
            <a:endParaRPr lang="en-US" sz="1500" dirty="0"/>
          </a:p>
        </p:txBody>
      </p:sp>
      <p:sp>
        <p:nvSpPr>
          <p:cNvPr id="8" name="Shape 6"/>
          <p:cNvSpPr/>
          <p:nvPr/>
        </p:nvSpPr>
        <p:spPr>
          <a:xfrm>
            <a:off x="2542032" y="1188720"/>
            <a:ext cx="512064" cy="512064"/>
          </a:xfrm>
          <a:prstGeom prst="ellipse">
            <a:avLst/>
          </a:prstGeom>
          <a:solidFill>
            <a:srgbClr val="D99A2B"/>
          </a:solidFill>
          <a:ln/>
        </p:spPr>
      </p:sp>
      <p:sp>
        <p:nvSpPr>
          <p:cNvPr id="9" name="Text 7"/>
          <p:cNvSpPr txBox="1"/>
          <p:nvPr/>
        </p:nvSpPr>
        <p:spPr>
          <a:xfrm>
            <a:off x="2542032" y="118872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a:t>
            </a:r>
            <a:endParaRPr lang="en-US" sz="1500" dirty="0"/>
          </a:p>
        </p:txBody>
      </p:sp>
      <p:sp>
        <p:nvSpPr>
          <p:cNvPr id="10" name="Shape 8"/>
          <p:cNvSpPr/>
          <p:nvPr/>
        </p:nvSpPr>
        <p:spPr>
          <a:xfrm>
            <a:off x="3200400" y="1188720"/>
            <a:ext cx="512064" cy="512064"/>
          </a:xfrm>
          <a:prstGeom prst="ellipse">
            <a:avLst/>
          </a:prstGeom>
          <a:solidFill>
            <a:srgbClr val="4E93A3"/>
          </a:solidFill>
          <a:ln/>
        </p:spPr>
      </p:sp>
      <p:sp>
        <p:nvSpPr>
          <p:cNvPr id="11" name="Text 9"/>
          <p:cNvSpPr txBox="1"/>
          <p:nvPr/>
        </p:nvSpPr>
        <p:spPr>
          <a:xfrm>
            <a:off x="3200400" y="118872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DO</a:t>
            </a:r>
            <a:endParaRPr lang="en-US" sz="1500" dirty="0"/>
          </a:p>
        </p:txBody>
      </p:sp>
      <p:sp>
        <p:nvSpPr>
          <p:cNvPr id="12" name="Shape 10"/>
          <p:cNvSpPr/>
          <p:nvPr/>
        </p:nvSpPr>
        <p:spPr>
          <a:xfrm>
            <a:off x="3858768" y="1188720"/>
            <a:ext cx="512064" cy="512064"/>
          </a:xfrm>
          <a:prstGeom prst="ellipse">
            <a:avLst/>
          </a:prstGeom>
          <a:solidFill>
            <a:srgbClr val="156A7A"/>
          </a:solidFill>
          <a:ln/>
        </p:spPr>
      </p:sp>
      <p:sp>
        <p:nvSpPr>
          <p:cNvPr id="13" name="Text 11"/>
          <p:cNvSpPr txBox="1"/>
          <p:nvPr/>
        </p:nvSpPr>
        <p:spPr>
          <a:xfrm>
            <a:off x="3858768" y="118872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SV</a:t>
            </a:r>
            <a:endParaRPr lang="en-US" sz="1500" dirty="0"/>
          </a:p>
        </p:txBody>
      </p:sp>
      <p:sp>
        <p:nvSpPr>
          <p:cNvPr id="14" name="Shape 12"/>
          <p:cNvSpPr/>
          <p:nvPr/>
        </p:nvSpPr>
        <p:spPr>
          <a:xfrm>
            <a:off x="4517136" y="1188720"/>
            <a:ext cx="512064" cy="512064"/>
          </a:xfrm>
          <a:prstGeom prst="ellipse">
            <a:avLst/>
          </a:prstGeom>
          <a:solidFill>
            <a:srgbClr val="4E93A3"/>
          </a:solidFill>
          <a:ln/>
        </p:spPr>
      </p:sp>
      <p:sp>
        <p:nvSpPr>
          <p:cNvPr id="15" name="Text 13"/>
          <p:cNvSpPr txBox="1"/>
          <p:nvPr/>
        </p:nvSpPr>
        <p:spPr>
          <a:xfrm>
            <a:off x="4517136" y="1188720"/>
            <a:ext cx="512064" cy="51206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GY</a:t>
            </a:r>
            <a:endParaRPr lang="en-US" sz="1500" dirty="0"/>
          </a:p>
        </p:txBody>
      </p:sp>
      <p:sp>
        <p:nvSpPr>
          <p:cNvPr id="16" name="Text 14"/>
          <p:cNvSpPr txBox="1"/>
          <p:nvPr/>
        </p:nvSpPr>
        <p:spPr>
          <a:xfrm>
            <a:off x="566928" y="2084832"/>
            <a:ext cx="9509760" cy="1700784"/>
          </a:xfrm>
          <a:prstGeom prst="rect">
            <a:avLst/>
          </a:prstGeom>
          <a:noFill/>
          <a:ln/>
        </p:spPr>
        <p:txBody>
          <a:bodyPr wrap="square" lIns="0" tIns="0" rIns="0" bIns="0" rtlCol="0" anchor="t"/>
          <a:lstStyle/>
          <a:p>
            <a:pPr indent="0" marL="0">
              <a:lnSpc>
                <a:spcPct val="102000"/>
              </a:lnSpc>
              <a:buNone/>
            </a:pPr>
            <a:r>
              <a:rPr lang="en-US" sz="4400" b="1" dirty="0">
                <a:solidFill>
                  <a:srgbClr val="FFFFFF"/>
                </a:solidFill>
                <a:latin typeface="Cambria" pitchFamily="34" charset="0"/>
                <a:ea typeface="Cambria" pitchFamily="34" charset="-122"/>
                <a:cs typeface="Cambria" pitchFamily="34" charset="-120"/>
              </a:rPr>
              <a:t>Central America, the Caribbean</a:t>
            </a:r>
            <a:endParaRPr lang="en-US" sz="4400" dirty="0"/>
          </a:p>
          <a:p>
            <a:pPr indent="0" marL="0">
              <a:lnSpc>
                <a:spcPct val="102000"/>
              </a:lnSpc>
              <a:buNone/>
            </a:pPr>
            <a:r>
              <a:rPr lang="en-US" sz="4400" b="1" dirty="0">
                <a:solidFill>
                  <a:srgbClr val="FFFFFF"/>
                </a:solidFill>
                <a:latin typeface="Cambria" pitchFamily="34" charset="0"/>
                <a:ea typeface="Cambria" pitchFamily="34" charset="-122"/>
                <a:cs typeface="Cambria" pitchFamily="34" charset="-120"/>
              </a:rPr>
              <a:t>and Colombia</a:t>
            </a:r>
            <a:endParaRPr lang="en-US" sz="4400" dirty="0"/>
          </a:p>
        </p:txBody>
      </p:sp>
      <p:sp>
        <p:nvSpPr>
          <p:cNvPr id="17" name="Text 15"/>
          <p:cNvSpPr txBox="1"/>
          <p:nvPr/>
        </p:nvSpPr>
        <p:spPr>
          <a:xfrm>
            <a:off x="566928" y="3858768"/>
            <a:ext cx="9509760" cy="384048"/>
          </a:xfrm>
          <a:prstGeom prst="rect">
            <a:avLst/>
          </a:prstGeom>
          <a:noFill/>
          <a:ln/>
        </p:spPr>
        <p:txBody>
          <a:bodyPr wrap="square" lIns="0" tIns="0" rIns="0" bIns="0" rtlCol="0" anchor="ctr"/>
          <a:lstStyle/>
          <a:p>
            <a:pPr indent="0" marL="0">
              <a:buNone/>
            </a:pPr>
            <a:r>
              <a:rPr lang="en-US" sz="1600" dirty="0">
                <a:solidFill>
                  <a:srgbClr val="F0D9A8"/>
                </a:solidFill>
                <a:latin typeface="Calibri" pitchFamily="34" charset="0"/>
                <a:ea typeface="Calibri" pitchFamily="34" charset="-122"/>
                <a:cs typeface="Calibri" pitchFamily="34" charset="-120"/>
              </a:rPr>
              <a:t>Where the wealth is made, what the rules are, and what to say about it</a:t>
            </a:r>
            <a:endParaRPr lang="en-US" sz="1600" dirty="0"/>
          </a:p>
        </p:txBody>
      </p:sp>
      <p:sp>
        <p:nvSpPr>
          <p:cNvPr id="18" name="Shape 16"/>
          <p:cNvSpPr/>
          <p:nvPr/>
        </p:nvSpPr>
        <p:spPr>
          <a:xfrm>
            <a:off x="566928" y="4443984"/>
            <a:ext cx="3108960" cy="14630"/>
          </a:xfrm>
          <a:prstGeom prst="rect">
            <a:avLst/>
          </a:prstGeom>
          <a:solidFill>
            <a:srgbClr val="D99A2B"/>
          </a:solidFill>
          <a:ln/>
        </p:spPr>
      </p:sp>
      <p:sp>
        <p:nvSpPr>
          <p:cNvPr id="19" name="Text 17"/>
          <p:cNvSpPr txBox="1"/>
          <p:nvPr/>
        </p:nvSpPr>
        <p:spPr>
          <a:xfrm>
            <a:off x="566928" y="4645152"/>
            <a:ext cx="6766560" cy="914400"/>
          </a:xfrm>
          <a:prstGeom prst="rect">
            <a:avLst/>
          </a:prstGeom>
          <a:noFill/>
          <a:ln/>
        </p:spPr>
        <p:txBody>
          <a:bodyPr wrap="square" lIns="0" tIns="0" rIns="0" bIns="0" rtlCol="0" anchor="ctr"/>
          <a:lstStyle/>
          <a:p>
            <a:pPr indent="0" marL="0">
              <a:lnSpc>
                <a:spcPct val="125000"/>
              </a:lnSpc>
              <a:buNone/>
            </a:pPr>
            <a:r>
              <a:rPr lang="en-US" sz="1150" b="1" dirty="0">
                <a:solidFill>
                  <a:srgbClr val="AFC4C9"/>
                </a:solidFill>
                <a:latin typeface="Calibri" pitchFamily="34" charset="0"/>
                <a:ea typeface="Calibri" pitchFamily="34" charset="-122"/>
                <a:cs typeface="Calibri" pitchFamily="34" charset="-120"/>
              </a:rPr>
              <a:t>Prepared for Raphael Kirschstein, Head Central America &amp; the Caribbean</a:t>
            </a:r>
            <a:endParaRPr lang="en-US" sz="1150" dirty="0"/>
          </a:p>
          <a:p>
            <a:pPr indent="0" marL="0">
              <a:lnSpc>
                <a:spcPct val="125000"/>
              </a:lnSpc>
              <a:buNone/>
            </a:pPr>
            <a:r>
              <a:rPr lang="en-US" sz="1150" dirty="0">
                <a:solidFill>
                  <a:srgbClr val="AFC4C9"/>
                </a:solidFill>
                <a:latin typeface="Calibri" pitchFamily="34" charset="0"/>
                <a:ea typeface="Calibri" pitchFamily="34" charset="-122"/>
                <a:cs typeface="Calibri" pitchFamily="34" charset="-120"/>
              </a:rPr>
              <a:t>CAS North + CIO LatAm  ·  4 September 2026</a:t>
            </a:r>
            <a:endParaRPr lang="en-US" sz="1150" dirty="0"/>
          </a:p>
          <a:p>
            <a:pPr indent="0" marL="0">
              <a:lnSpc>
                <a:spcPct val="125000"/>
              </a:lnSpc>
              <a:buNone/>
            </a:pPr>
            <a:r>
              <a:rPr lang="en-US" sz="1150" dirty="0">
                <a:solidFill>
                  <a:srgbClr val="AFC4C9"/>
                </a:solidFill>
                <a:latin typeface="Calibri" pitchFamily="34" charset="0"/>
                <a:ea typeface="Calibri" pitchFamily="34" charset="-122"/>
                <a:cs typeface="Calibri" pitchFamily="34" charset="-120"/>
              </a:rPr>
              <a:t>Alberto Rojas, CIO Americas — Emerging Markets Strategy</a:t>
            </a:r>
            <a:endParaRPr lang="en-US" sz="1150" dirty="0"/>
          </a:p>
        </p:txBody>
      </p:sp>
      <p:sp>
        <p:nvSpPr>
          <p:cNvPr id="20" name="Text 18"/>
          <p:cNvSpPr txBox="1"/>
          <p:nvPr/>
        </p:nvSpPr>
        <p:spPr>
          <a:xfrm>
            <a:off x="7418527" y="5870448"/>
            <a:ext cx="4206240" cy="274320"/>
          </a:xfrm>
          <a:prstGeom prst="rect">
            <a:avLst/>
          </a:prstGeom>
          <a:noFill/>
          <a:ln/>
        </p:spPr>
        <p:txBody>
          <a:bodyPr wrap="square" lIns="0" tIns="0" rIns="0" bIns="0" rtlCol="0" anchor="ctr"/>
          <a:lstStyle/>
          <a:p>
            <a:pPr algn="r" indent="0" marL="0">
              <a:buNone/>
            </a:pPr>
            <a:r>
              <a:rPr lang="en-US" sz="1050" b="1" spc="120" kern="0" dirty="0">
                <a:solidFill>
                  <a:srgbClr val="D99A2B"/>
                </a:solidFill>
                <a:latin typeface="Calibri" pitchFamily="34" charset="0"/>
                <a:ea typeface="Calibri" pitchFamily="34" charset="-122"/>
                <a:cs typeface="Calibri" pitchFamily="34" charset="-120"/>
              </a:rPr>
              <a:t>INTERNAL DRAFT — NOT FOR DISTRIBUTION</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THE BRIEF OF 3 SEPTEMBER</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What was asked, and where it lives</a:t>
            </a:r>
            <a:endParaRPr lang="en-US" sz="3000" dirty="0"/>
          </a:p>
        </p:txBody>
      </p:sp>
      <p:sp>
        <p:nvSpPr>
          <p:cNvPr id="4" name="Shape 2"/>
          <p:cNvSpPr/>
          <p:nvPr/>
        </p:nvSpPr>
        <p:spPr>
          <a:xfrm>
            <a:off x="566928" y="1408176"/>
            <a:ext cx="11057839" cy="621792"/>
          </a:xfrm>
          <a:prstGeom prst="roundRect">
            <a:avLst>
              <a:gd name="adj" fmla="val 8824"/>
            </a:avLst>
          </a:prstGeom>
          <a:solidFill>
            <a:srgbClr val="EDF1F2"/>
          </a:solidFill>
          <a:ln w="6350">
            <a:solidFill>
              <a:srgbClr val="EDF1F2"/>
            </a:solidFill>
            <a:prstDash val="solid"/>
          </a:ln>
        </p:spPr>
      </p:sp>
      <p:sp>
        <p:nvSpPr>
          <p:cNvPr id="5" name="Shape 3"/>
          <p:cNvSpPr/>
          <p:nvPr/>
        </p:nvSpPr>
        <p:spPr>
          <a:xfrm>
            <a:off x="749808" y="1527048"/>
            <a:ext cx="384048" cy="384048"/>
          </a:xfrm>
          <a:prstGeom prst="ellipse">
            <a:avLst/>
          </a:prstGeom>
          <a:solidFill>
            <a:srgbClr val="156A7A"/>
          </a:solidFill>
          <a:ln/>
        </p:spPr>
      </p:sp>
      <p:sp>
        <p:nvSpPr>
          <p:cNvPr id="6" name="Text 4"/>
          <p:cNvSpPr txBox="1"/>
          <p:nvPr/>
        </p:nvSpPr>
        <p:spPr>
          <a:xfrm>
            <a:off x="749808" y="152704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a:t>
            </a:r>
            <a:endParaRPr lang="en-US" sz="1200" dirty="0"/>
          </a:p>
        </p:txBody>
      </p:sp>
      <p:sp>
        <p:nvSpPr>
          <p:cNvPr id="7" name="Text 5"/>
          <p:cNvSpPr txBox="1"/>
          <p:nvPr/>
        </p:nvSpPr>
        <p:spPr>
          <a:xfrm>
            <a:off x="1280160" y="1463040"/>
            <a:ext cx="2286000" cy="512064"/>
          </a:xfrm>
          <a:prstGeom prst="rect">
            <a:avLst/>
          </a:prstGeom>
          <a:noFill/>
          <a:ln/>
        </p:spPr>
        <p:txBody>
          <a:bodyPr wrap="square" lIns="0" tIns="0" rIns="0" bIns="0" rtlCol="0" anchor="ctr"/>
          <a:lstStyle/>
          <a:p>
            <a:pPr indent="0" marL="0">
              <a:buNone/>
            </a:pPr>
            <a:r>
              <a:rPr lang="en-US" sz="1250" b="1" dirty="0">
                <a:solidFill>
                  <a:srgbClr val="0B3B45"/>
                </a:solidFill>
                <a:latin typeface="Calibri" pitchFamily="34" charset="0"/>
                <a:ea typeface="Calibri" pitchFamily="34" charset="-122"/>
                <a:cs typeface="Calibri" pitchFamily="34" charset="-120"/>
              </a:rPr>
              <a:t>Economic standing</a:t>
            </a:r>
            <a:endParaRPr lang="en-US" sz="1250" dirty="0"/>
          </a:p>
        </p:txBody>
      </p:sp>
      <p:sp>
        <p:nvSpPr>
          <p:cNvPr id="8" name="Text 6"/>
          <p:cNvSpPr txBox="1"/>
          <p:nvPr/>
        </p:nvSpPr>
        <p:spPr>
          <a:xfrm>
            <a:off x="3621024" y="1463040"/>
            <a:ext cx="6126480" cy="512064"/>
          </a:xfrm>
          <a:prstGeom prst="rect">
            <a:avLst/>
          </a:prstGeom>
          <a:noFill/>
          <a:ln/>
        </p:spPr>
        <p:txBody>
          <a:bodyPr wrap="square" lIns="0" tIns="0" rIns="0" bIns="0" rtlCol="0" anchor="ctr"/>
          <a:lstStyle/>
          <a:p>
            <a:pPr indent="0" marL="0">
              <a:buNone/>
            </a:pPr>
            <a:r>
              <a:rPr lang="en-US" sz="1100" dirty="0">
                <a:solidFill>
                  <a:srgbClr val="35545C"/>
                </a:solidFill>
                <a:latin typeface="Calibri" pitchFamily="34" charset="0"/>
                <a:ea typeface="Calibri" pitchFamily="34" charset="-122"/>
                <a:cs typeface="Calibri" pitchFamily="34" charset="-120"/>
              </a:rPr>
              <a:t>GDP, FX, fiscal, debt, FDI, ratings, political stability</a:t>
            </a:r>
            <a:endParaRPr lang="en-US" sz="1100" dirty="0"/>
          </a:p>
        </p:txBody>
      </p:sp>
      <p:sp>
        <p:nvSpPr>
          <p:cNvPr id="9" name="Text 7"/>
          <p:cNvSpPr txBox="1"/>
          <p:nvPr/>
        </p:nvSpPr>
        <p:spPr>
          <a:xfrm>
            <a:off x="9802368" y="1463040"/>
            <a:ext cx="1691640" cy="512064"/>
          </a:xfrm>
          <a:prstGeom prst="rect">
            <a:avLst/>
          </a:prstGeom>
          <a:noFill/>
          <a:ln/>
        </p:spPr>
        <p:txBody>
          <a:bodyPr wrap="square" lIns="0" tIns="0" rIns="0" bIns="0" rtlCol="0" anchor="ctr"/>
          <a:lstStyle/>
          <a:p>
            <a:pPr algn="r" indent="0" marL="0">
              <a:buNone/>
            </a:pPr>
            <a:r>
              <a:rPr lang="en-US" sz="1050" b="1" dirty="0">
                <a:solidFill>
                  <a:srgbClr val="156A7A"/>
                </a:solidFill>
                <a:latin typeface="Calibri" pitchFamily="34" charset="0"/>
                <a:ea typeface="Calibri" pitchFamily="34" charset="-122"/>
                <a:cs typeface="Calibri" pitchFamily="34" charset="-120"/>
              </a:rPr>
              <a:t>Part one</a:t>
            </a:r>
            <a:endParaRPr lang="en-US" sz="1050" dirty="0"/>
          </a:p>
        </p:txBody>
      </p:sp>
      <p:sp>
        <p:nvSpPr>
          <p:cNvPr id="10" name="Shape 8"/>
          <p:cNvSpPr/>
          <p:nvPr/>
        </p:nvSpPr>
        <p:spPr>
          <a:xfrm>
            <a:off x="566928" y="2130552"/>
            <a:ext cx="11057839" cy="621792"/>
          </a:xfrm>
          <a:prstGeom prst="roundRect">
            <a:avLst>
              <a:gd name="adj" fmla="val 8824"/>
            </a:avLst>
          </a:prstGeom>
          <a:solidFill>
            <a:srgbClr val="EDF1F2"/>
          </a:solidFill>
          <a:ln w="6350">
            <a:solidFill>
              <a:srgbClr val="EDF1F2"/>
            </a:solidFill>
            <a:prstDash val="solid"/>
          </a:ln>
        </p:spPr>
      </p:sp>
      <p:sp>
        <p:nvSpPr>
          <p:cNvPr id="11" name="Shape 9"/>
          <p:cNvSpPr/>
          <p:nvPr/>
        </p:nvSpPr>
        <p:spPr>
          <a:xfrm>
            <a:off x="749808" y="2249424"/>
            <a:ext cx="384048" cy="384048"/>
          </a:xfrm>
          <a:prstGeom prst="ellipse">
            <a:avLst/>
          </a:prstGeom>
          <a:solidFill>
            <a:srgbClr val="156A7A"/>
          </a:solidFill>
          <a:ln/>
        </p:spPr>
      </p:sp>
      <p:sp>
        <p:nvSpPr>
          <p:cNvPr id="12" name="Text 10"/>
          <p:cNvSpPr txBox="1"/>
          <p:nvPr/>
        </p:nvSpPr>
        <p:spPr>
          <a:xfrm>
            <a:off x="749808" y="2249424"/>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b</a:t>
            </a:r>
            <a:endParaRPr lang="en-US" sz="1200" dirty="0"/>
          </a:p>
        </p:txBody>
      </p:sp>
      <p:sp>
        <p:nvSpPr>
          <p:cNvPr id="13" name="Text 11"/>
          <p:cNvSpPr txBox="1"/>
          <p:nvPr/>
        </p:nvSpPr>
        <p:spPr>
          <a:xfrm>
            <a:off x="1280160" y="2185416"/>
            <a:ext cx="2286000" cy="512064"/>
          </a:xfrm>
          <a:prstGeom prst="rect">
            <a:avLst/>
          </a:prstGeom>
          <a:noFill/>
          <a:ln/>
        </p:spPr>
        <p:txBody>
          <a:bodyPr wrap="square" lIns="0" tIns="0" rIns="0" bIns="0" rtlCol="0" anchor="ctr"/>
          <a:lstStyle/>
          <a:p>
            <a:pPr indent="0" marL="0">
              <a:buNone/>
            </a:pPr>
            <a:r>
              <a:rPr lang="en-US" sz="1250" b="1" dirty="0">
                <a:solidFill>
                  <a:srgbClr val="0B3B45"/>
                </a:solidFill>
                <a:latin typeface="Calibri" pitchFamily="34" charset="0"/>
                <a:ea typeface="Calibri" pitchFamily="34" charset="-122"/>
                <a:cs typeface="Calibri" pitchFamily="34" charset="-120"/>
              </a:rPr>
              <a:t>Government policies</a:t>
            </a:r>
            <a:endParaRPr lang="en-US" sz="1250" dirty="0"/>
          </a:p>
        </p:txBody>
      </p:sp>
      <p:sp>
        <p:nvSpPr>
          <p:cNvPr id="14" name="Text 12"/>
          <p:cNvSpPr txBox="1"/>
          <p:nvPr/>
        </p:nvSpPr>
        <p:spPr>
          <a:xfrm>
            <a:off x="3621024" y="2185416"/>
            <a:ext cx="6126480" cy="512064"/>
          </a:xfrm>
          <a:prstGeom prst="rect">
            <a:avLst/>
          </a:prstGeom>
          <a:noFill/>
          <a:ln/>
        </p:spPr>
        <p:txBody>
          <a:bodyPr wrap="square" lIns="0" tIns="0" rIns="0" bIns="0" rtlCol="0" anchor="ctr"/>
          <a:lstStyle/>
          <a:p>
            <a:pPr indent="0" marL="0">
              <a:buNone/>
            </a:pPr>
            <a:r>
              <a:rPr lang="en-US" sz="1100" dirty="0">
                <a:solidFill>
                  <a:srgbClr val="35545C"/>
                </a:solidFill>
                <a:latin typeface="Calibri" pitchFamily="34" charset="0"/>
                <a:ea typeface="Calibri" pitchFamily="34" charset="-122"/>
                <a:cs typeface="Calibri" pitchFamily="34" charset="-120"/>
              </a:rPr>
              <a:t>Free zones, HQ regimes, PPPs, the named project pipeline</a:t>
            </a:r>
            <a:endParaRPr lang="en-US" sz="1100" dirty="0"/>
          </a:p>
        </p:txBody>
      </p:sp>
      <p:sp>
        <p:nvSpPr>
          <p:cNvPr id="15" name="Text 13"/>
          <p:cNvSpPr txBox="1"/>
          <p:nvPr/>
        </p:nvSpPr>
        <p:spPr>
          <a:xfrm>
            <a:off x="9802368" y="2185416"/>
            <a:ext cx="1691640" cy="512064"/>
          </a:xfrm>
          <a:prstGeom prst="rect">
            <a:avLst/>
          </a:prstGeom>
          <a:noFill/>
          <a:ln/>
        </p:spPr>
        <p:txBody>
          <a:bodyPr wrap="square" lIns="0" tIns="0" rIns="0" bIns="0" rtlCol="0" anchor="ctr"/>
          <a:lstStyle/>
          <a:p>
            <a:pPr algn="r" indent="0" marL="0">
              <a:buNone/>
            </a:pPr>
            <a:r>
              <a:rPr lang="en-US" sz="1050" b="1" dirty="0">
                <a:solidFill>
                  <a:srgbClr val="156A7A"/>
                </a:solidFill>
                <a:latin typeface="Calibri" pitchFamily="34" charset="0"/>
                <a:ea typeface="Calibri" pitchFamily="34" charset="-122"/>
                <a:cs typeface="Calibri" pitchFamily="34" charset="-120"/>
              </a:rPr>
              <a:t>Part two</a:t>
            </a:r>
            <a:endParaRPr lang="en-US" sz="1050" dirty="0"/>
          </a:p>
        </p:txBody>
      </p:sp>
      <p:sp>
        <p:nvSpPr>
          <p:cNvPr id="16" name="Shape 14"/>
          <p:cNvSpPr/>
          <p:nvPr/>
        </p:nvSpPr>
        <p:spPr>
          <a:xfrm>
            <a:off x="566928" y="2852928"/>
            <a:ext cx="11057839" cy="621792"/>
          </a:xfrm>
          <a:prstGeom prst="roundRect">
            <a:avLst>
              <a:gd name="adj" fmla="val 8824"/>
            </a:avLst>
          </a:prstGeom>
          <a:solidFill>
            <a:srgbClr val="EDF1F2"/>
          </a:solidFill>
          <a:ln w="6350">
            <a:solidFill>
              <a:srgbClr val="EDF1F2"/>
            </a:solidFill>
            <a:prstDash val="solid"/>
          </a:ln>
        </p:spPr>
      </p:sp>
      <p:sp>
        <p:nvSpPr>
          <p:cNvPr id="17" name="Shape 15"/>
          <p:cNvSpPr/>
          <p:nvPr/>
        </p:nvSpPr>
        <p:spPr>
          <a:xfrm>
            <a:off x="749808" y="2971800"/>
            <a:ext cx="384048" cy="384048"/>
          </a:xfrm>
          <a:prstGeom prst="ellipse">
            <a:avLst/>
          </a:prstGeom>
          <a:solidFill>
            <a:srgbClr val="156A7A"/>
          </a:solidFill>
          <a:ln/>
        </p:spPr>
      </p:sp>
      <p:sp>
        <p:nvSpPr>
          <p:cNvPr id="18" name="Text 16"/>
          <p:cNvSpPr txBox="1"/>
          <p:nvPr/>
        </p:nvSpPr>
        <p:spPr>
          <a:xfrm>
            <a:off x="749808" y="2971800"/>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a:t>
            </a:r>
            <a:endParaRPr lang="en-US" sz="1200" dirty="0"/>
          </a:p>
        </p:txBody>
      </p:sp>
      <p:sp>
        <p:nvSpPr>
          <p:cNvPr id="19" name="Text 17"/>
          <p:cNvSpPr txBox="1"/>
          <p:nvPr/>
        </p:nvSpPr>
        <p:spPr>
          <a:xfrm>
            <a:off x="1280160" y="2907792"/>
            <a:ext cx="2286000" cy="512064"/>
          </a:xfrm>
          <a:prstGeom prst="rect">
            <a:avLst/>
          </a:prstGeom>
          <a:noFill/>
          <a:ln/>
        </p:spPr>
        <p:txBody>
          <a:bodyPr wrap="square" lIns="0" tIns="0" rIns="0" bIns="0" rtlCol="0" anchor="ctr"/>
          <a:lstStyle/>
          <a:p>
            <a:pPr indent="0" marL="0">
              <a:buNone/>
            </a:pPr>
            <a:r>
              <a:rPr lang="en-US" sz="1250" b="1" dirty="0">
                <a:solidFill>
                  <a:srgbClr val="0B3B45"/>
                </a:solidFill>
                <a:latin typeface="Calibri" pitchFamily="34" charset="0"/>
                <a:ea typeface="Calibri" pitchFamily="34" charset="-122"/>
                <a:cs typeface="Calibri" pitchFamily="34" charset="-120"/>
              </a:rPr>
              <a:t>Main private industries</a:t>
            </a:r>
            <a:endParaRPr lang="en-US" sz="1250" dirty="0"/>
          </a:p>
        </p:txBody>
      </p:sp>
      <p:sp>
        <p:nvSpPr>
          <p:cNvPr id="20" name="Text 18"/>
          <p:cNvSpPr txBox="1"/>
          <p:nvPr/>
        </p:nvSpPr>
        <p:spPr>
          <a:xfrm>
            <a:off x="3621024" y="2907792"/>
            <a:ext cx="6126480" cy="512064"/>
          </a:xfrm>
          <a:prstGeom prst="rect">
            <a:avLst/>
          </a:prstGeom>
          <a:noFill/>
          <a:ln/>
        </p:spPr>
        <p:txBody>
          <a:bodyPr wrap="square" lIns="0" tIns="0" rIns="0" bIns="0" rtlCol="0" anchor="ctr"/>
          <a:lstStyle/>
          <a:p>
            <a:pPr indent="0" marL="0">
              <a:buNone/>
            </a:pPr>
            <a:r>
              <a:rPr lang="en-US" sz="1100" dirty="0">
                <a:solidFill>
                  <a:srgbClr val="35545C"/>
                </a:solidFill>
                <a:latin typeface="Calibri" pitchFamily="34" charset="0"/>
                <a:ea typeface="Calibri" pitchFamily="34" charset="-122"/>
                <a:cs typeface="Calibri" pitchFamily="34" charset="-120"/>
              </a:rPr>
              <a:t>Sector engines, GDP weight, named local participants</a:t>
            </a:r>
            <a:endParaRPr lang="en-US" sz="1100" dirty="0"/>
          </a:p>
        </p:txBody>
      </p:sp>
      <p:sp>
        <p:nvSpPr>
          <p:cNvPr id="21" name="Text 19"/>
          <p:cNvSpPr txBox="1"/>
          <p:nvPr/>
        </p:nvSpPr>
        <p:spPr>
          <a:xfrm>
            <a:off x="9802368" y="2907792"/>
            <a:ext cx="1691640" cy="512064"/>
          </a:xfrm>
          <a:prstGeom prst="rect">
            <a:avLst/>
          </a:prstGeom>
          <a:noFill/>
          <a:ln/>
        </p:spPr>
        <p:txBody>
          <a:bodyPr wrap="square" lIns="0" tIns="0" rIns="0" bIns="0" rtlCol="0" anchor="ctr"/>
          <a:lstStyle/>
          <a:p>
            <a:pPr algn="r" indent="0" marL="0">
              <a:buNone/>
            </a:pPr>
            <a:r>
              <a:rPr lang="en-US" sz="1050" b="1" dirty="0">
                <a:solidFill>
                  <a:srgbClr val="156A7A"/>
                </a:solidFill>
                <a:latin typeface="Calibri" pitchFamily="34" charset="0"/>
                <a:ea typeface="Calibri" pitchFamily="34" charset="-122"/>
                <a:cs typeface="Calibri" pitchFamily="34" charset="-120"/>
              </a:rPr>
              <a:t>Part three</a:t>
            </a:r>
            <a:endParaRPr lang="en-US" sz="1050" dirty="0"/>
          </a:p>
        </p:txBody>
      </p:sp>
      <p:sp>
        <p:nvSpPr>
          <p:cNvPr id="22" name="Shape 20"/>
          <p:cNvSpPr/>
          <p:nvPr/>
        </p:nvSpPr>
        <p:spPr>
          <a:xfrm>
            <a:off x="566928" y="3575304"/>
            <a:ext cx="11057839" cy="621792"/>
          </a:xfrm>
          <a:prstGeom prst="roundRect">
            <a:avLst>
              <a:gd name="adj" fmla="val 8824"/>
            </a:avLst>
          </a:prstGeom>
          <a:solidFill>
            <a:srgbClr val="EDF1F2"/>
          </a:solidFill>
          <a:ln w="6350">
            <a:solidFill>
              <a:srgbClr val="EDF1F2"/>
            </a:solidFill>
            <a:prstDash val="solid"/>
          </a:ln>
        </p:spPr>
      </p:sp>
      <p:sp>
        <p:nvSpPr>
          <p:cNvPr id="23" name="Shape 21"/>
          <p:cNvSpPr/>
          <p:nvPr/>
        </p:nvSpPr>
        <p:spPr>
          <a:xfrm>
            <a:off x="749808" y="3694176"/>
            <a:ext cx="384048" cy="384048"/>
          </a:xfrm>
          <a:prstGeom prst="ellipse">
            <a:avLst/>
          </a:prstGeom>
          <a:solidFill>
            <a:srgbClr val="4E93A3"/>
          </a:solidFill>
          <a:ln/>
        </p:spPr>
      </p:sp>
      <p:sp>
        <p:nvSpPr>
          <p:cNvPr id="24" name="Text 22"/>
          <p:cNvSpPr txBox="1"/>
          <p:nvPr/>
        </p:nvSpPr>
        <p:spPr>
          <a:xfrm>
            <a:off x="749808" y="3694176"/>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
            </a:r>
            <a:endParaRPr lang="en-US" sz="1200" dirty="0"/>
          </a:p>
        </p:txBody>
      </p:sp>
      <p:sp>
        <p:nvSpPr>
          <p:cNvPr id="25" name="Text 23"/>
          <p:cNvSpPr txBox="1"/>
          <p:nvPr/>
        </p:nvSpPr>
        <p:spPr>
          <a:xfrm>
            <a:off x="1280160" y="3630168"/>
            <a:ext cx="2286000" cy="512064"/>
          </a:xfrm>
          <a:prstGeom prst="rect">
            <a:avLst/>
          </a:prstGeom>
          <a:noFill/>
          <a:ln/>
        </p:spPr>
        <p:txBody>
          <a:bodyPr wrap="square" lIns="0" tIns="0" rIns="0" bIns="0" rtlCol="0" anchor="ctr"/>
          <a:lstStyle/>
          <a:p>
            <a:pPr indent="0" marL="0">
              <a:buNone/>
            </a:pPr>
            <a:r>
              <a:rPr lang="en-US" sz="1250" b="1" dirty="0">
                <a:solidFill>
                  <a:srgbClr val="0B3B45"/>
                </a:solidFill>
                <a:latin typeface="Calibri" pitchFamily="34" charset="0"/>
                <a:ea typeface="Calibri" pitchFamily="34" charset="-122"/>
                <a:cs typeface="Calibri" pitchFamily="34" charset="-120"/>
              </a:rPr>
              <a:t>El Salvador and Guyana</a:t>
            </a:r>
            <a:endParaRPr lang="en-US" sz="1250" dirty="0"/>
          </a:p>
        </p:txBody>
      </p:sp>
      <p:sp>
        <p:nvSpPr>
          <p:cNvPr id="26" name="Text 24"/>
          <p:cNvSpPr txBox="1"/>
          <p:nvPr/>
        </p:nvSpPr>
        <p:spPr>
          <a:xfrm>
            <a:off x="3621024" y="3630168"/>
            <a:ext cx="6126480" cy="512064"/>
          </a:xfrm>
          <a:prstGeom prst="rect">
            <a:avLst/>
          </a:prstGeom>
          <a:noFill/>
          <a:ln/>
        </p:spPr>
        <p:txBody>
          <a:bodyPr wrap="square" lIns="0" tIns="0" rIns="0" bIns="0" rtlCol="0" anchor="ctr"/>
          <a:lstStyle/>
          <a:p>
            <a:pPr indent="0" marL="0">
              <a:buNone/>
            </a:pPr>
            <a:r>
              <a:rPr lang="en-US" sz="1100" dirty="0">
                <a:solidFill>
                  <a:srgbClr val="35545C"/>
                </a:solidFill>
                <a:latin typeface="Calibri" pitchFamily="34" charset="0"/>
                <a:ea typeface="Calibri" pitchFamily="34" charset="-122"/>
                <a:cs typeface="Calibri" pitchFamily="34" charset="-120"/>
              </a:rPr>
              <a:t>Treated as full members of the set, not an appendix</a:t>
            </a:r>
            <a:endParaRPr lang="en-US" sz="1100" dirty="0"/>
          </a:p>
        </p:txBody>
      </p:sp>
      <p:sp>
        <p:nvSpPr>
          <p:cNvPr id="27" name="Text 25"/>
          <p:cNvSpPr txBox="1"/>
          <p:nvPr/>
        </p:nvSpPr>
        <p:spPr>
          <a:xfrm>
            <a:off x="9802368" y="3630168"/>
            <a:ext cx="1691640" cy="512064"/>
          </a:xfrm>
          <a:prstGeom prst="rect">
            <a:avLst/>
          </a:prstGeom>
          <a:noFill/>
          <a:ln/>
        </p:spPr>
        <p:txBody>
          <a:bodyPr wrap="square" lIns="0" tIns="0" rIns="0" bIns="0" rtlCol="0" anchor="ctr"/>
          <a:lstStyle/>
          <a:p>
            <a:pPr algn="r" indent="0" marL="0">
              <a:buNone/>
            </a:pPr>
            <a:r>
              <a:rPr lang="en-US" sz="1050" b="1" dirty="0">
                <a:solidFill>
                  <a:srgbClr val="4E93A3"/>
                </a:solidFill>
                <a:latin typeface="Calibri" pitchFamily="34" charset="0"/>
                <a:ea typeface="Calibri" pitchFamily="34" charset="-122"/>
                <a:cs typeface="Calibri" pitchFamily="34" charset="-120"/>
              </a:rPr>
              <a:t>Throughout</a:t>
            </a:r>
            <a:endParaRPr lang="en-US" sz="1050" dirty="0"/>
          </a:p>
        </p:txBody>
      </p:sp>
      <p:sp>
        <p:nvSpPr>
          <p:cNvPr id="28" name="Shape 26"/>
          <p:cNvSpPr/>
          <p:nvPr/>
        </p:nvSpPr>
        <p:spPr>
          <a:xfrm>
            <a:off x="566928" y="4297680"/>
            <a:ext cx="11057839" cy="621792"/>
          </a:xfrm>
          <a:prstGeom prst="roundRect">
            <a:avLst>
              <a:gd name="adj" fmla="val 8824"/>
            </a:avLst>
          </a:prstGeom>
          <a:solidFill>
            <a:srgbClr val="EDF1F2"/>
          </a:solidFill>
          <a:ln w="6350">
            <a:solidFill>
              <a:srgbClr val="EDF1F2"/>
            </a:solidFill>
            <a:prstDash val="solid"/>
          </a:ln>
        </p:spPr>
      </p:sp>
      <p:sp>
        <p:nvSpPr>
          <p:cNvPr id="29" name="Shape 27"/>
          <p:cNvSpPr/>
          <p:nvPr/>
        </p:nvSpPr>
        <p:spPr>
          <a:xfrm>
            <a:off x="749808" y="4416552"/>
            <a:ext cx="384048" cy="384048"/>
          </a:xfrm>
          <a:prstGeom prst="ellipse">
            <a:avLst/>
          </a:prstGeom>
          <a:solidFill>
            <a:srgbClr val="4E93A3"/>
          </a:solidFill>
          <a:ln/>
        </p:spPr>
      </p:sp>
      <p:sp>
        <p:nvSpPr>
          <p:cNvPr id="30" name="Text 28"/>
          <p:cNvSpPr txBox="1"/>
          <p:nvPr/>
        </p:nvSpPr>
        <p:spPr>
          <a:xfrm>
            <a:off x="749808" y="4416552"/>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a:t>
            </a:r>
            <a:endParaRPr lang="en-US" sz="1200" dirty="0"/>
          </a:p>
        </p:txBody>
      </p:sp>
      <p:sp>
        <p:nvSpPr>
          <p:cNvPr id="31" name="Text 29"/>
          <p:cNvSpPr txBox="1"/>
          <p:nvPr/>
        </p:nvSpPr>
        <p:spPr>
          <a:xfrm>
            <a:off x="1280160" y="4352544"/>
            <a:ext cx="2286000" cy="512064"/>
          </a:xfrm>
          <a:prstGeom prst="rect">
            <a:avLst/>
          </a:prstGeom>
          <a:noFill/>
          <a:ln/>
        </p:spPr>
        <p:txBody>
          <a:bodyPr wrap="square" lIns="0" tIns="0" rIns="0" bIns="0" rtlCol="0" anchor="ctr"/>
          <a:lstStyle/>
          <a:p>
            <a:pPr indent="0" marL="0">
              <a:buNone/>
            </a:pPr>
            <a:r>
              <a:rPr lang="en-US" sz="1250" b="1" dirty="0">
                <a:solidFill>
                  <a:srgbClr val="0B3B45"/>
                </a:solidFill>
                <a:latin typeface="Calibri" pitchFamily="34" charset="0"/>
                <a:ea typeface="Calibri" pitchFamily="34" charset="-122"/>
                <a:cs typeface="Calibri" pitchFamily="34" charset="-120"/>
              </a:rPr>
              <a:t>Listed companies</a:t>
            </a:r>
            <a:endParaRPr lang="en-US" sz="1250" dirty="0"/>
          </a:p>
        </p:txBody>
      </p:sp>
      <p:sp>
        <p:nvSpPr>
          <p:cNvPr id="32" name="Text 30"/>
          <p:cNvSpPr txBox="1"/>
          <p:nvPr/>
        </p:nvSpPr>
        <p:spPr>
          <a:xfrm>
            <a:off x="3621024" y="4352544"/>
            <a:ext cx="6126480" cy="512064"/>
          </a:xfrm>
          <a:prstGeom prst="rect">
            <a:avLst/>
          </a:prstGeom>
          <a:noFill/>
          <a:ln/>
        </p:spPr>
        <p:txBody>
          <a:bodyPr wrap="square" lIns="0" tIns="0" rIns="0" bIns="0" rtlCol="0" anchor="ctr"/>
          <a:lstStyle/>
          <a:p>
            <a:pPr indent="0" marL="0">
              <a:buNone/>
            </a:pPr>
            <a:r>
              <a:rPr lang="en-US" sz="1100" dirty="0">
                <a:solidFill>
                  <a:srgbClr val="35545C"/>
                </a:solidFill>
                <a:latin typeface="Calibri" pitchFamily="34" charset="0"/>
                <a:ea typeface="Calibri" pitchFamily="34" charset="-122"/>
                <a:cs typeface="Calibri" pitchFamily="34" charset="-120"/>
              </a:rPr>
              <a:t>Named exposure map — no valuation work, no recommendations</a:t>
            </a:r>
            <a:endParaRPr lang="en-US" sz="1100" dirty="0"/>
          </a:p>
        </p:txBody>
      </p:sp>
      <p:sp>
        <p:nvSpPr>
          <p:cNvPr id="33" name="Text 31"/>
          <p:cNvSpPr txBox="1"/>
          <p:nvPr/>
        </p:nvSpPr>
        <p:spPr>
          <a:xfrm>
            <a:off x="9802368" y="4352544"/>
            <a:ext cx="1691640" cy="512064"/>
          </a:xfrm>
          <a:prstGeom prst="rect">
            <a:avLst/>
          </a:prstGeom>
          <a:noFill/>
          <a:ln/>
        </p:spPr>
        <p:txBody>
          <a:bodyPr wrap="square" lIns="0" tIns="0" rIns="0" bIns="0" rtlCol="0" anchor="ctr"/>
          <a:lstStyle/>
          <a:p>
            <a:pPr algn="r" indent="0" marL="0">
              <a:buNone/>
            </a:pPr>
            <a:r>
              <a:rPr lang="en-US" sz="1050" b="1" dirty="0">
                <a:solidFill>
                  <a:srgbClr val="4E93A3"/>
                </a:solidFill>
                <a:latin typeface="Calibri" pitchFamily="34" charset="0"/>
                <a:ea typeface="Calibri" pitchFamily="34" charset="-122"/>
                <a:cs typeface="Calibri" pitchFamily="34" charset="-120"/>
              </a:rPr>
              <a:t>Part four</a:t>
            </a:r>
            <a:endParaRPr lang="en-US" sz="1050" dirty="0"/>
          </a:p>
        </p:txBody>
      </p:sp>
      <p:sp>
        <p:nvSpPr>
          <p:cNvPr id="34" name="Shape 32"/>
          <p:cNvSpPr/>
          <p:nvPr/>
        </p:nvSpPr>
        <p:spPr>
          <a:xfrm>
            <a:off x="566928" y="5020056"/>
            <a:ext cx="11057839" cy="621792"/>
          </a:xfrm>
          <a:prstGeom prst="roundRect">
            <a:avLst>
              <a:gd name="adj" fmla="val 8824"/>
            </a:avLst>
          </a:prstGeom>
          <a:solidFill>
            <a:srgbClr val="FBF3E3"/>
          </a:solidFill>
          <a:ln w="6350">
            <a:solidFill>
              <a:srgbClr val="FBF3E3"/>
            </a:solidFill>
            <a:prstDash val="solid"/>
          </a:ln>
        </p:spPr>
      </p:sp>
      <p:sp>
        <p:nvSpPr>
          <p:cNvPr id="35" name="Shape 33"/>
          <p:cNvSpPr/>
          <p:nvPr/>
        </p:nvSpPr>
        <p:spPr>
          <a:xfrm>
            <a:off x="749808" y="5138928"/>
            <a:ext cx="384048" cy="384048"/>
          </a:xfrm>
          <a:prstGeom prst="ellipse">
            <a:avLst/>
          </a:prstGeom>
          <a:solidFill>
            <a:srgbClr val="D99A2B"/>
          </a:solidFill>
          <a:ln/>
        </p:spPr>
      </p:sp>
      <p:sp>
        <p:nvSpPr>
          <p:cNvPr id="36" name="Text 34"/>
          <p:cNvSpPr txBox="1"/>
          <p:nvPr/>
        </p:nvSpPr>
        <p:spPr>
          <a:xfrm>
            <a:off x="749808" y="5138928"/>
            <a:ext cx="384048"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37" name="Text 35"/>
          <p:cNvSpPr txBox="1"/>
          <p:nvPr/>
        </p:nvSpPr>
        <p:spPr>
          <a:xfrm>
            <a:off x="1280160" y="5074920"/>
            <a:ext cx="2286000" cy="512064"/>
          </a:xfrm>
          <a:prstGeom prst="rect">
            <a:avLst/>
          </a:prstGeom>
          <a:noFill/>
          <a:ln/>
        </p:spPr>
        <p:txBody>
          <a:bodyPr wrap="square" lIns="0" tIns="0" rIns="0" bIns="0" rtlCol="0" anchor="ctr"/>
          <a:lstStyle/>
          <a:p>
            <a:pPr indent="0" marL="0">
              <a:buNone/>
            </a:pPr>
            <a:r>
              <a:rPr lang="en-US" sz="1250" b="1" dirty="0">
                <a:solidFill>
                  <a:srgbClr val="0B3B45"/>
                </a:solidFill>
                <a:latin typeface="Calibri" pitchFamily="34" charset="0"/>
                <a:ea typeface="Calibri" pitchFamily="34" charset="-122"/>
                <a:cs typeface="Calibri" pitchFamily="34" charset="-120"/>
              </a:rPr>
              <a:t>Colombia</a:t>
            </a:r>
            <a:endParaRPr lang="en-US" sz="1250" dirty="0"/>
          </a:p>
        </p:txBody>
      </p:sp>
      <p:sp>
        <p:nvSpPr>
          <p:cNvPr id="38" name="Text 36"/>
          <p:cNvSpPr txBox="1"/>
          <p:nvPr/>
        </p:nvSpPr>
        <p:spPr>
          <a:xfrm>
            <a:off x="3621024" y="5074920"/>
            <a:ext cx="6126480" cy="512064"/>
          </a:xfrm>
          <a:prstGeom prst="rect">
            <a:avLst/>
          </a:prstGeom>
          <a:noFill/>
          <a:ln/>
        </p:spPr>
        <p:txBody>
          <a:bodyPr wrap="square" lIns="0" tIns="0" rIns="0" bIns="0" rtlCol="0" anchor="ctr"/>
          <a:lstStyle/>
          <a:p>
            <a:pPr indent="0" marL="0">
              <a:buNone/>
            </a:pPr>
            <a:r>
              <a:rPr lang="en-US" sz="1100" dirty="0">
                <a:solidFill>
                  <a:srgbClr val="35545C"/>
                </a:solidFill>
                <a:latin typeface="Calibri" pitchFamily="34" charset="0"/>
                <a:ea typeface="Calibri" pitchFamily="34" charset="-122"/>
                <a:cs typeface="Calibri" pitchFamily="34" charset="-120"/>
              </a:rPr>
              <a:t>Your stated priority. A full annex, because the ground moved in August</a:t>
            </a:r>
            <a:endParaRPr lang="en-US" sz="1100" dirty="0"/>
          </a:p>
        </p:txBody>
      </p:sp>
      <p:sp>
        <p:nvSpPr>
          <p:cNvPr id="39" name="Text 37"/>
          <p:cNvSpPr txBox="1"/>
          <p:nvPr/>
        </p:nvSpPr>
        <p:spPr>
          <a:xfrm>
            <a:off x="9802368" y="5074920"/>
            <a:ext cx="1691640" cy="512064"/>
          </a:xfrm>
          <a:prstGeom prst="rect">
            <a:avLst/>
          </a:prstGeom>
          <a:noFill/>
          <a:ln/>
        </p:spPr>
        <p:txBody>
          <a:bodyPr wrap="square" lIns="0" tIns="0" rIns="0" bIns="0" rtlCol="0" anchor="ctr"/>
          <a:lstStyle/>
          <a:p>
            <a:pPr algn="r" indent="0" marL="0">
              <a:buNone/>
            </a:pPr>
            <a:r>
              <a:rPr lang="en-US" sz="1050" b="1" dirty="0">
                <a:solidFill>
                  <a:srgbClr val="D99A2B"/>
                </a:solidFill>
                <a:latin typeface="Calibri" pitchFamily="34" charset="0"/>
                <a:ea typeface="Calibri" pitchFamily="34" charset="-122"/>
                <a:cs typeface="Calibri" pitchFamily="34" charset="-120"/>
              </a:rPr>
              <a:t>The annex</a:t>
            </a:r>
            <a:endParaRPr lang="en-US" sz="1050" dirty="0"/>
          </a:p>
        </p:txBody>
      </p:sp>
      <p:sp>
        <p:nvSpPr>
          <p:cNvPr id="40" name="Text 38"/>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41" name="Text 39"/>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D99A2B"/>
                </a:solidFill>
                <a:latin typeface="Calibri" pitchFamily="34" charset="0"/>
                <a:ea typeface="Calibri" pitchFamily="34" charset="-122"/>
                <a:cs typeface="Calibri" pitchFamily="34" charset="-120"/>
              </a:rPr>
              <a:t>IF YOU READ ONE SLIDE</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short version</a:t>
            </a:r>
            <a:endParaRPr lang="en-US" sz="3000" dirty="0"/>
          </a:p>
        </p:txBody>
      </p:sp>
      <p:sp>
        <p:nvSpPr>
          <p:cNvPr id="4" name="Shape 2"/>
          <p:cNvSpPr/>
          <p:nvPr/>
        </p:nvSpPr>
        <p:spPr>
          <a:xfrm>
            <a:off x="566928" y="1426464"/>
            <a:ext cx="402336" cy="402336"/>
          </a:xfrm>
          <a:prstGeom prst="ellipse">
            <a:avLst/>
          </a:prstGeom>
          <a:solidFill>
            <a:srgbClr val="D99A2B"/>
          </a:solidFill>
          <a:ln/>
        </p:spPr>
      </p:sp>
      <p:sp>
        <p:nvSpPr>
          <p:cNvPr id="5" name="Text 3"/>
          <p:cNvSpPr txBox="1"/>
          <p:nvPr/>
        </p:nvSpPr>
        <p:spPr>
          <a:xfrm>
            <a:off x="566928" y="142646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170432" y="1389888"/>
            <a:ext cx="1024128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These are seven different credits, not one region.</a:t>
            </a:r>
            <a:endParaRPr lang="en-US" sz="1600" dirty="0"/>
          </a:p>
        </p:txBody>
      </p:sp>
      <p:sp>
        <p:nvSpPr>
          <p:cNvPr id="7" name="Text 5"/>
          <p:cNvSpPr txBox="1"/>
          <p:nvPr/>
        </p:nvSpPr>
        <p:spPr>
          <a:xfrm>
            <a:off x="1170432" y="1719072"/>
            <a:ext cx="10241280" cy="713232"/>
          </a:xfrm>
          <a:prstGeom prst="rect">
            <a:avLst/>
          </a:prstGeom>
          <a:noFill/>
          <a:ln/>
        </p:spPr>
        <p:txBody>
          <a:bodyPr wrap="square" lIns="0" tIns="0" rIns="0" bIns="0" rtlCol="0" anchor="t"/>
          <a:lstStyle/>
          <a:p>
            <a:pPr indent="0" marL="0">
              <a:lnSpc>
                <a:spcPct val="116000"/>
              </a:lnSpc>
              <a:buNone/>
            </a:pPr>
            <a:r>
              <a:rPr lang="en-US" sz="1150" dirty="0">
                <a:solidFill>
                  <a:srgbClr val="B8CBD0"/>
                </a:solidFill>
                <a:latin typeface="Calibri" pitchFamily="34" charset="0"/>
                <a:ea typeface="Calibri" pitchFamily="34" charset="-122"/>
                <a:cs typeface="Calibri" pitchFamily="34" charset="-120"/>
              </a:rPr>
              <a:t>Guatemala carries 27% debt-to-GDP and a structural current-account surplus. El Salvador carries 87% and a quarter of GDP arriving as remittances. Treating them as one allocation is the commonest mistake made about this set.</a:t>
            </a:r>
            <a:endParaRPr lang="en-US" sz="1150" dirty="0"/>
          </a:p>
        </p:txBody>
      </p:sp>
      <p:sp>
        <p:nvSpPr>
          <p:cNvPr id="8" name="Shape 6"/>
          <p:cNvSpPr/>
          <p:nvPr/>
        </p:nvSpPr>
        <p:spPr>
          <a:xfrm>
            <a:off x="566928" y="2633472"/>
            <a:ext cx="402336" cy="402336"/>
          </a:xfrm>
          <a:prstGeom prst="ellipse">
            <a:avLst/>
          </a:prstGeom>
          <a:solidFill>
            <a:srgbClr val="D99A2B"/>
          </a:solidFill>
          <a:ln/>
        </p:spPr>
      </p:sp>
      <p:sp>
        <p:nvSpPr>
          <p:cNvPr id="9" name="Text 7"/>
          <p:cNvSpPr txBox="1"/>
          <p:nvPr/>
        </p:nvSpPr>
        <p:spPr>
          <a:xfrm>
            <a:off x="566928" y="263347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1170432" y="2596896"/>
            <a:ext cx="1024128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ratings are diverging, sharply.</a:t>
            </a:r>
            <a:endParaRPr lang="en-US" sz="1600" dirty="0"/>
          </a:p>
        </p:txBody>
      </p:sp>
      <p:sp>
        <p:nvSpPr>
          <p:cNvPr id="11" name="Text 9"/>
          <p:cNvSpPr txBox="1"/>
          <p:nvPr/>
        </p:nvSpPr>
        <p:spPr>
          <a:xfrm>
            <a:off x="1170432" y="2926080"/>
            <a:ext cx="10241280" cy="713232"/>
          </a:xfrm>
          <a:prstGeom prst="rect">
            <a:avLst/>
          </a:prstGeom>
          <a:noFill/>
          <a:ln/>
        </p:spPr>
        <p:txBody>
          <a:bodyPr wrap="square" lIns="0" tIns="0" rIns="0" bIns="0" rtlCol="0" anchor="t"/>
          <a:lstStyle/>
          <a:p>
            <a:pPr indent="0" marL="0">
              <a:lnSpc>
                <a:spcPct val="116000"/>
              </a:lnSpc>
              <a:buNone/>
            </a:pPr>
            <a:r>
              <a:rPr lang="en-US" sz="1150" dirty="0">
                <a:solidFill>
                  <a:srgbClr val="B8CBD0"/>
                </a:solidFill>
                <a:latin typeface="Calibri" pitchFamily="34" charset="0"/>
                <a:ea typeface="Calibri" pitchFamily="34" charset="-122"/>
                <a:cs typeface="Calibri" pitchFamily="34" charset="-120"/>
              </a:rPr>
              <a:t>Six upgrades across the sample since late 2024 — El Salvador, Guatemala, the Dominican Republic and Costa Rica twice. Four downgrades, every one of them Colombia. Panama sits one notch from losing investment grade at two agencies and has already lost it at the third.</a:t>
            </a:r>
            <a:endParaRPr lang="en-US" sz="1150" dirty="0"/>
          </a:p>
        </p:txBody>
      </p:sp>
      <p:sp>
        <p:nvSpPr>
          <p:cNvPr id="12" name="Shape 10"/>
          <p:cNvSpPr/>
          <p:nvPr/>
        </p:nvSpPr>
        <p:spPr>
          <a:xfrm>
            <a:off x="566928" y="3840480"/>
            <a:ext cx="402336" cy="402336"/>
          </a:xfrm>
          <a:prstGeom prst="ellipse">
            <a:avLst/>
          </a:prstGeom>
          <a:solidFill>
            <a:srgbClr val="D99A2B"/>
          </a:solidFill>
          <a:ln/>
        </p:spPr>
      </p:sp>
      <p:sp>
        <p:nvSpPr>
          <p:cNvPr id="13" name="Text 11"/>
          <p:cNvSpPr txBox="1"/>
          <p:nvPr/>
        </p:nvSpPr>
        <p:spPr>
          <a:xfrm>
            <a:off x="566928" y="384048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1170432" y="3803904"/>
            <a:ext cx="1024128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2026 currency rally was the free money, and it is spent.</a:t>
            </a:r>
            <a:endParaRPr lang="en-US" sz="1600" dirty="0"/>
          </a:p>
        </p:txBody>
      </p:sp>
      <p:sp>
        <p:nvSpPr>
          <p:cNvPr id="15" name="Text 13"/>
          <p:cNvSpPr txBox="1"/>
          <p:nvPr/>
        </p:nvSpPr>
        <p:spPr>
          <a:xfrm>
            <a:off x="1170432" y="4133088"/>
            <a:ext cx="10241280" cy="713232"/>
          </a:xfrm>
          <a:prstGeom prst="rect">
            <a:avLst/>
          </a:prstGeom>
          <a:noFill/>
          <a:ln/>
        </p:spPr>
        <p:txBody>
          <a:bodyPr wrap="square" lIns="0" tIns="0" rIns="0" bIns="0" rtlCol="0" anchor="t"/>
          <a:lstStyle/>
          <a:p>
            <a:pPr indent="0" marL="0">
              <a:lnSpc>
                <a:spcPct val="116000"/>
              </a:lnSpc>
              <a:buNone/>
            </a:pPr>
            <a:r>
              <a:rPr lang="en-US" sz="1150" dirty="0">
                <a:solidFill>
                  <a:srgbClr val="B8CBD0"/>
                </a:solidFill>
                <a:latin typeface="Calibri" pitchFamily="34" charset="0"/>
                <a:ea typeface="Calibri" pitchFamily="34" charset="-122"/>
                <a:cs typeface="Calibri" pitchFamily="34" charset="-120"/>
              </a:rPr>
              <a:t>The peso is up 16% this year, the colón 10% over twelve months. For dollar-based clients that was a large unhedged tailwind. Analysts call the peso rally largely exhausted, and BanRep is buying dollars against it.</a:t>
            </a:r>
            <a:endParaRPr lang="en-US" sz="1150" dirty="0"/>
          </a:p>
        </p:txBody>
      </p:sp>
      <p:sp>
        <p:nvSpPr>
          <p:cNvPr id="16" name="Shape 14"/>
          <p:cNvSpPr/>
          <p:nvPr/>
        </p:nvSpPr>
        <p:spPr>
          <a:xfrm>
            <a:off x="566928" y="5047488"/>
            <a:ext cx="402336" cy="402336"/>
          </a:xfrm>
          <a:prstGeom prst="ellipse">
            <a:avLst/>
          </a:prstGeom>
          <a:solidFill>
            <a:srgbClr val="D99A2B"/>
          </a:solidFill>
          <a:ln/>
        </p:spPr>
      </p:sp>
      <p:sp>
        <p:nvSpPr>
          <p:cNvPr id="17" name="Text 15"/>
          <p:cNvSpPr txBox="1"/>
          <p:nvPr/>
        </p:nvSpPr>
        <p:spPr>
          <a:xfrm>
            <a:off x="566928" y="5047488"/>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170432" y="5010912"/>
            <a:ext cx="1024128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The best openings are structural, not directional.</a:t>
            </a:r>
            <a:endParaRPr lang="en-US" sz="1600" dirty="0"/>
          </a:p>
        </p:txBody>
      </p:sp>
      <p:sp>
        <p:nvSpPr>
          <p:cNvPr id="19" name="Text 17"/>
          <p:cNvSpPr txBox="1"/>
          <p:nvPr/>
        </p:nvSpPr>
        <p:spPr>
          <a:xfrm>
            <a:off x="1170432" y="5340096"/>
            <a:ext cx="10241280" cy="713232"/>
          </a:xfrm>
          <a:prstGeom prst="rect">
            <a:avLst/>
          </a:prstGeom>
          <a:noFill/>
          <a:ln/>
        </p:spPr>
        <p:txBody>
          <a:bodyPr wrap="square" lIns="0" tIns="0" rIns="0" bIns="0" rtlCol="0" anchor="t"/>
          <a:lstStyle/>
          <a:p>
            <a:pPr indent="0" marL="0">
              <a:lnSpc>
                <a:spcPct val="116000"/>
              </a:lnSpc>
              <a:buNone/>
            </a:pPr>
            <a:r>
              <a:rPr lang="en-US" sz="1150" dirty="0">
                <a:solidFill>
                  <a:srgbClr val="B8CBD0"/>
                </a:solidFill>
                <a:latin typeface="Calibri" pitchFamily="34" charset="0"/>
                <a:ea typeface="Calibri" pitchFamily="34" charset="-122"/>
                <a:cs typeface="Calibri" pitchFamily="34" charset="-120"/>
              </a:rPr>
              <a:t>Panama's new economic-substance law taxes a passive shell at 15% from FY2027 where the rate was zero. Colombia's wealth tax cannot be planned around until the Constitutional Court rules. Neither of those is a market call — both are reasons to open a file.</a:t>
            </a:r>
            <a:endParaRPr lang="en-US" sz="1150" dirty="0"/>
          </a:p>
        </p:txBody>
      </p:sp>
      <p:sp>
        <p:nvSpPr>
          <p:cNvPr id="20" name="Text 18"/>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E8B92"/>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21" name="Text 19"/>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E8B92"/>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(A)</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The seven markets at a glance</a:t>
            </a:r>
            <a:endParaRPr lang="en-US" sz="3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1426464"/>
          <a:ext cx="11057839" cy="914400"/>
        </p:xfrm>
        <a:graphic>
          <a:graphicData uri="http://schemas.openxmlformats.org/drawingml/2006/table">
            <a:tbl>
              <a:tblPr/>
              <a:tblGrid>
                <a:gridCol w="1481328"/>
                <a:gridCol w="786384"/>
                <a:gridCol w="896112"/>
                <a:gridCol w="768096"/>
                <a:gridCol w="786384"/>
                <a:gridCol w="786384"/>
                <a:gridCol w="859536"/>
                <a:gridCol w="786384"/>
                <a:gridCol w="786384"/>
                <a:gridCol w="932688"/>
                <a:gridCol w="2185416"/>
              </a:tblGrid>
              <a:tr h="44322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GDP 25</a:t>
                      </a:r>
                      <a:endParaRPr lang="en-US" sz="850" dirty="0">
                        <a:latin typeface="Calibri" charset="0"/>
                        <a:ea typeface="Calibri" charset="0"/>
                        <a:cs typeface="Calibri" charset="0"/>
                      </a:endParaRPr>
                    </a:p>
                    <a:p>
                      <a:pPr algn="l" indent="0" marL="0">
                        <a:buNone/>
                      </a:pPr>
                      <a:r>
                        <a:rPr lang="en-US" sz="850" b="1" dirty="0">
                          <a:solidFill>
                            <a:srgbClr val="FFFFFF"/>
                          </a:solidFill>
                          <a:latin typeface="Calibri" pitchFamily="34" charset="0"/>
                          <a:ea typeface="Calibri" pitchFamily="34" charset="-122"/>
                          <a:cs typeface="Calibri" pitchFamily="34" charset="-120"/>
                        </a:rPr>
                        <a:t>$bn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GDP/cap</a:t>
                      </a:r>
                      <a:endParaRPr lang="en-US" sz="850" dirty="0">
                        <a:latin typeface="Calibri" charset="0"/>
                        <a:ea typeface="Calibri" charset="0"/>
                        <a:cs typeface="Calibri" charset="0"/>
                      </a:endParaRPr>
                    </a:p>
                    <a:p>
                      <a:pPr algn="l" indent="0" marL="0">
                        <a:buNone/>
                      </a:pPr>
                      <a:r>
                        <a:rPr lang="en-US" sz="850" b="1" dirty="0">
                          <a:solidFill>
                            <a:srgbClr val="FFFFFF"/>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Growth</a:t>
                      </a:r>
                      <a:endParaRPr lang="en-US" sz="850" dirty="0">
                        <a:latin typeface="Calibri" charset="0"/>
                        <a:ea typeface="Calibri" charset="0"/>
                        <a:cs typeface="Calibri" charset="0"/>
                      </a:endParaRPr>
                    </a:p>
                    <a:p>
                      <a:pPr algn="l" indent="0" marL="0">
                        <a:buNone/>
                      </a:pPr>
                      <a:r>
                        <a:rPr lang="en-US" sz="850" b="1" dirty="0">
                          <a:solidFill>
                            <a:srgbClr val="FFFFFF"/>
                          </a:solidFill>
                          <a:latin typeface="Calibri" pitchFamily="34" charset="0"/>
                          <a:ea typeface="Calibri" pitchFamily="34" charset="-122"/>
                          <a:cs typeface="Calibri" pitchFamily="34" charset="-120"/>
                        </a:rPr>
                        <a:t>26f %</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Policy</a:t>
                      </a:r>
                      <a:endParaRPr lang="en-US" sz="850" dirty="0">
                        <a:latin typeface="Calibri" charset="0"/>
                        <a:ea typeface="Calibri" charset="0"/>
                        <a:cs typeface="Calibri" charset="0"/>
                      </a:endParaRPr>
                    </a:p>
                    <a:p>
                      <a:pPr algn="l" indent="0" marL="0">
                        <a:buNone/>
                      </a:pPr>
                      <a:r>
                        <a:rPr lang="en-US" sz="850" b="1" dirty="0">
                          <a:solidFill>
                            <a:srgbClr val="FFFFFF"/>
                          </a:solidFill>
                          <a:latin typeface="Calibri" pitchFamily="34" charset="0"/>
                          <a:ea typeface="Calibri" pitchFamily="34" charset="-122"/>
                          <a:cs typeface="Calibri" pitchFamily="34" charset="-120"/>
                        </a:rPr>
                        <a:t>rate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Real</a:t>
                      </a:r>
                      <a:endParaRPr lang="en-US" sz="850" dirty="0">
                        <a:latin typeface="Calibri" charset="0"/>
                        <a:ea typeface="Calibri" charset="0"/>
                        <a:cs typeface="Calibri" charset="0"/>
                      </a:endParaRPr>
                    </a:p>
                    <a:p>
                      <a:pPr algn="l" indent="0" marL="0">
                        <a:buNone/>
                      </a:pPr>
                      <a:r>
                        <a:rPr lang="en-US" sz="850" b="1" dirty="0">
                          <a:solidFill>
                            <a:srgbClr val="FFFFFF"/>
                          </a:solidFill>
                          <a:latin typeface="Calibri" pitchFamily="34" charset="0"/>
                          <a:ea typeface="Calibri" pitchFamily="34" charset="-122"/>
                          <a:cs typeface="Calibri" pitchFamily="34" charset="-120"/>
                        </a:rPr>
                        <a:t>rate pp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Fiscal 25</a:t>
                      </a:r>
                      <a:endParaRPr lang="en-US" sz="850" dirty="0">
                        <a:latin typeface="Calibri" charset="0"/>
                        <a:ea typeface="Calibri" charset="0"/>
                        <a:cs typeface="Calibri" charset="0"/>
                      </a:endParaRPr>
                    </a:p>
                    <a:p>
                      <a:pPr algn="l" indent="0" marL="0">
                        <a:buNone/>
                      </a:pPr>
                      <a:r>
                        <a:rPr lang="en-US" sz="850" b="1" dirty="0">
                          <a:solidFill>
                            <a:srgbClr val="FFFFFF"/>
                          </a:solidFill>
                          <a:latin typeface="Calibri" pitchFamily="34" charset="0"/>
                          <a:ea typeface="Calibri" pitchFamily="34" charset="-122"/>
                          <a:cs typeface="Calibri" pitchFamily="34" charset="-120"/>
                        </a:rPr>
                        <a:t>%GDP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Debt 25</a:t>
                      </a:r>
                      <a:endParaRPr lang="en-US" sz="850" dirty="0">
                        <a:latin typeface="Calibri" charset="0"/>
                        <a:ea typeface="Calibri" charset="0"/>
                        <a:cs typeface="Calibri" charset="0"/>
                      </a:endParaRPr>
                    </a:p>
                    <a:p>
                      <a:pPr algn="l" indent="0" marL="0">
                        <a:buNone/>
                      </a:pPr>
                      <a:r>
                        <a:rPr lang="en-US" sz="850" b="1" dirty="0">
                          <a:solidFill>
                            <a:srgbClr val="FFFFFF"/>
                          </a:solidFill>
                          <a:latin typeface="Calibri" pitchFamily="34" charset="0"/>
                          <a:ea typeface="Calibri" pitchFamily="34" charset="-122"/>
                          <a:cs typeface="Calibri" pitchFamily="34" charset="-120"/>
                        </a:rPr>
                        <a:t>%GDP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C/A 25</a:t>
                      </a:r>
                      <a:endParaRPr lang="en-US" sz="850" dirty="0">
                        <a:latin typeface="Calibri" charset="0"/>
                        <a:ea typeface="Calibri" charset="0"/>
                        <a:cs typeface="Calibri" charset="0"/>
                      </a:endParaRPr>
                    </a:p>
                    <a:p>
                      <a:pPr algn="l" indent="0" marL="0">
                        <a:buNone/>
                      </a:pPr>
                      <a:r>
                        <a:rPr lang="en-US" sz="850" b="1" dirty="0">
                          <a:solidFill>
                            <a:srgbClr val="FFFFFF"/>
                          </a:solidFill>
                          <a:latin typeface="Calibri" pitchFamily="34" charset="0"/>
                          <a:ea typeface="Calibri" pitchFamily="34" charset="-122"/>
                          <a:cs typeface="Calibri" pitchFamily="34" charset="-120"/>
                        </a:rPr>
                        <a:t>%GDP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Remit.</a:t>
                      </a:r>
                      <a:endParaRPr lang="en-US" sz="850" dirty="0">
                        <a:latin typeface="Calibri" charset="0"/>
                        <a:ea typeface="Calibri" charset="0"/>
                        <a:cs typeface="Calibri" charset="0"/>
                      </a:endParaRPr>
                    </a:p>
                    <a:p>
                      <a:pPr algn="l" indent="0" marL="0">
                        <a:buNone/>
                      </a:pPr>
                      <a:r>
                        <a:rPr lang="en-US" sz="850" b="1" dirty="0">
                          <a:solidFill>
                            <a:srgbClr val="FFFFFF"/>
                          </a:solidFill>
                          <a:latin typeface="Calibri" pitchFamily="34" charset="0"/>
                          <a:ea typeface="Calibri" pitchFamily="34" charset="-122"/>
                          <a:cs typeface="Calibri" pitchFamily="34" charset="-120"/>
                        </a:rPr>
                        <a:t>%GDP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Moody's / S&amp;P / Fitch</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319756">
                <a:tc>
                  <a:txBody>
                    <a:bodyPr/>
                    <a:lstStyle/>
                    <a:p>
                      <a:pPr indent="0" marL="0">
                        <a:buNone/>
                      </a:pPr>
                      <a:r>
                        <a:rPr lang="en-US" sz="1000" b="1" dirty="0">
                          <a:solidFill>
                            <a:srgbClr val="0B3B45"/>
                          </a:solidFill>
                          <a:latin typeface="Calibri" pitchFamily="34" charset="0"/>
                          <a:ea typeface="Calibri" pitchFamily="34" charset="-122"/>
                          <a:cs typeface="Calibri" pitchFamily="34" charset="-120"/>
                        </a:rPr>
                        <a:t>Panama</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n/p</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19,630</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3.9</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66</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3E7C59"/>
                          </a:solidFill>
                          <a:latin typeface="Calibri" pitchFamily="34" charset="0"/>
                          <a:ea typeface="Calibri" pitchFamily="34" charset="-122"/>
                          <a:cs typeface="Calibri" pitchFamily="34" charset="-120"/>
                        </a:rPr>
                        <a:t>0.8</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Baa3 / BBB- / BB+</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19756">
                <a:tc>
                  <a:txBody>
                    <a:bodyPr/>
                    <a:lstStyle/>
                    <a:p>
                      <a:pPr indent="0" marL="0">
                        <a:buNone/>
                      </a:pPr>
                      <a:r>
                        <a:rPr lang="en-US" sz="1000" b="1" dirty="0">
                          <a:solidFill>
                            <a:srgbClr val="156A7A"/>
                          </a:solidFill>
                          <a:latin typeface="Calibri" pitchFamily="34" charset="0"/>
                          <a:ea typeface="Calibri" pitchFamily="34" charset="-122"/>
                          <a:cs typeface="Calibri" pitchFamily="34" charset="-120"/>
                        </a:rPr>
                        <a:t>Costa Rica</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103</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19,162</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3.6</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3.00%</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3.3</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-3.4</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-0.7</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Ba2 / BB / BB-</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19756">
                <a:tc>
                  <a:txBody>
                    <a:bodyPr/>
                    <a:lstStyle/>
                    <a:p>
                      <a:pPr indent="0" marL="0">
                        <a:buNone/>
                      </a:pPr>
                      <a:r>
                        <a:rPr lang="en-US" sz="1000" b="1" dirty="0">
                          <a:solidFill>
                            <a:srgbClr val="2C6470"/>
                          </a:solidFill>
                          <a:latin typeface="Calibri" pitchFamily="34" charset="0"/>
                          <a:ea typeface="Calibri" pitchFamily="34" charset="-122"/>
                          <a:cs typeface="Calibri" pitchFamily="34" charset="-120"/>
                        </a:rPr>
                        <a:t>Guatemala</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121</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6,489</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3.50%</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0.6</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-1.9</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27</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3E7C59"/>
                          </a:solidFill>
                          <a:latin typeface="Calibri" pitchFamily="34" charset="0"/>
                          <a:ea typeface="Calibri" pitchFamily="34" charset="-122"/>
                          <a:cs typeface="Calibri" pitchFamily="34" charset="-120"/>
                        </a:rPr>
                        <a:t>4.7</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20.7</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Ba1 / BB+ / BB</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19756">
                <a:tc>
                  <a:txBody>
                    <a:bodyPr/>
                    <a:lstStyle/>
                    <a:p>
                      <a:pPr indent="0" marL="0">
                        <a:buNone/>
                      </a:pPr>
                      <a:r>
                        <a:rPr lang="en-US" sz="1000" b="1" dirty="0">
                          <a:solidFill>
                            <a:srgbClr val="8A5F12"/>
                          </a:solidFill>
                          <a:latin typeface="Calibri" pitchFamily="34" charset="0"/>
                          <a:ea typeface="Calibri" pitchFamily="34" charset="-122"/>
                          <a:cs typeface="Calibri" pitchFamily="34" charset="-120"/>
                        </a:rPr>
                        <a:t>Colombia</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457</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8,623</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2.5</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12.00%</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6.0</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b="1" dirty="0">
                          <a:solidFill>
                            <a:srgbClr val="A8322D"/>
                          </a:solidFill>
                          <a:latin typeface="Calibri" pitchFamily="34" charset="0"/>
                          <a:ea typeface="Calibri" pitchFamily="34" charset="-122"/>
                          <a:cs typeface="Calibri" pitchFamily="34" charset="-120"/>
                        </a:rPr>
                        <a:t>-6.4</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65</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-2.4</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2.9</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Baa3 / BB- / BB</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19756">
                <a:tc>
                  <a:txBody>
                    <a:bodyPr/>
                    <a:lstStyle/>
                    <a:p>
                      <a:pPr indent="0" marL="0">
                        <a:buNone/>
                      </a:pPr>
                      <a:r>
                        <a:rPr lang="en-US" sz="1000" b="1" dirty="0">
                          <a:solidFill>
                            <a:srgbClr val="2E6F6B"/>
                          </a:solidFill>
                          <a:latin typeface="Calibri" pitchFamily="34" charset="0"/>
                          <a:ea typeface="Calibri" pitchFamily="34" charset="-122"/>
                          <a:cs typeface="Calibri" pitchFamily="34" charset="-120"/>
                        </a:rPr>
                        <a:t>Dominican Rep.</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128</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11,749</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3.6</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5.25%</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-0.2</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-3.6</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58</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9.3</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Ba2 / BB / BB-</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19756">
                <a:tc>
                  <a:txBody>
                    <a:bodyPr/>
                    <a:lstStyle/>
                    <a:p>
                      <a:pPr indent="0" marL="0">
                        <a:buNone/>
                      </a:pPr>
                      <a:r>
                        <a:rPr lang="en-US" sz="1000" b="1" dirty="0">
                          <a:solidFill>
                            <a:srgbClr val="7A5C3E"/>
                          </a:solidFill>
                          <a:latin typeface="Calibri" pitchFamily="34" charset="0"/>
                          <a:ea typeface="Calibri" pitchFamily="34" charset="-122"/>
                          <a:cs typeface="Calibri" pitchFamily="34" charset="-120"/>
                        </a:rPr>
                        <a:t>El Salvador</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37</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5,839</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4.5</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-2.8</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A8322D"/>
                          </a:solidFill>
                          <a:latin typeface="Calibri" pitchFamily="34" charset="0"/>
                          <a:ea typeface="Calibri" pitchFamily="34" charset="-122"/>
                          <a:cs typeface="Calibri" pitchFamily="34" charset="-120"/>
                        </a:rPr>
                        <a:t>87</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-1.2</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24.0</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B3 / B- / B-</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19756">
                <a:tc>
                  <a:txBody>
                    <a:bodyPr/>
                    <a:lstStyle/>
                    <a:p>
                      <a:pPr indent="0" marL="0">
                        <a:buNone/>
                      </a:pPr>
                      <a:r>
                        <a:rPr lang="en-US" sz="1000" b="1" dirty="0">
                          <a:solidFill>
                            <a:srgbClr val="3E5C7A"/>
                          </a:solidFill>
                          <a:latin typeface="Calibri" pitchFamily="34" charset="0"/>
                          <a:ea typeface="Calibri" pitchFamily="34" charset="-122"/>
                          <a:cs typeface="Calibri" pitchFamily="34" charset="-120"/>
                        </a:rPr>
                        <a:t>Guyana</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27</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26,994</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16.2</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b="1" dirty="0">
                          <a:solidFill>
                            <a:srgbClr val="A8322D"/>
                          </a:solidFill>
                          <a:latin typeface="Calibri" pitchFamily="34" charset="0"/>
                          <a:ea typeface="Calibri" pitchFamily="34" charset="-122"/>
                          <a:cs typeface="Calibri" pitchFamily="34" charset="-120"/>
                        </a:rPr>
                        <a:t>-5.4</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29</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3E7C59"/>
                          </a:solidFill>
                          <a:latin typeface="Calibri" pitchFamily="34" charset="0"/>
                          <a:ea typeface="Calibri" pitchFamily="34" charset="-122"/>
                          <a:cs typeface="Calibri" pitchFamily="34" charset="-120"/>
                        </a:rPr>
                        <a:t>12.9</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Unrated / Unrated / Unrated</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364004"/>
            <a:ext cx="11057839" cy="1188720"/>
          </a:xfrm>
          <a:prstGeom prst="roundRect">
            <a:avLst>
              <a:gd name="adj" fmla="val 4615"/>
            </a:avLst>
          </a:prstGeom>
          <a:solidFill>
            <a:srgbClr val="EDF1F2"/>
          </a:solidFill>
          <a:ln w="6350">
            <a:solidFill>
              <a:srgbClr val="EDF1F2"/>
            </a:solidFill>
            <a:prstDash val="solid"/>
          </a:ln>
        </p:spPr>
      </p:sp>
      <p:sp>
        <p:nvSpPr>
          <p:cNvPr id="6" name="Text 3"/>
          <p:cNvSpPr txBox="1"/>
          <p:nvPr/>
        </p:nvSpPr>
        <p:spPr>
          <a:xfrm>
            <a:off x="804672" y="4510308"/>
            <a:ext cx="10582351" cy="201168"/>
          </a:xfrm>
          <a:prstGeom prst="rect">
            <a:avLst/>
          </a:prstGeom>
          <a:noFill/>
          <a:ln/>
        </p:spPr>
        <p:txBody>
          <a:bodyPr wrap="square" lIns="0" tIns="0" rIns="0" bIns="0" rtlCol="0" anchor="ctr"/>
          <a:lstStyle/>
          <a:p>
            <a:pPr indent="0" marL="0">
              <a:buNone/>
            </a:pPr>
            <a:r>
              <a:rPr lang="en-US" sz="900" b="1" spc="140" kern="0" dirty="0">
                <a:solidFill>
                  <a:srgbClr val="156A7A"/>
                </a:solidFill>
                <a:latin typeface="Calibri" pitchFamily="34" charset="0"/>
                <a:ea typeface="Calibri" pitchFamily="34" charset="-122"/>
                <a:cs typeface="Calibri" pitchFamily="34" charset="-120"/>
              </a:rPr>
              <a:t>READ THE EXTREMES, NOT THE AVERAGE</a:t>
            </a:r>
            <a:endParaRPr lang="en-US" sz="900" dirty="0"/>
          </a:p>
        </p:txBody>
      </p:sp>
      <p:sp>
        <p:nvSpPr>
          <p:cNvPr id="7" name="Text 4"/>
          <p:cNvSpPr txBox="1"/>
          <p:nvPr/>
        </p:nvSpPr>
        <p:spPr>
          <a:xfrm>
            <a:off x="804672" y="4729764"/>
            <a:ext cx="10582351" cy="658368"/>
          </a:xfrm>
          <a:prstGeom prst="rect">
            <a:avLst/>
          </a:prstGeom>
          <a:noFill/>
          <a:ln/>
        </p:spPr>
        <p:txBody>
          <a:bodyPr wrap="square" lIns="0" tIns="0" rIns="0" bIns="0" rtlCol="0" anchor="t"/>
          <a:lstStyle/>
          <a:p>
            <a:pPr indent="0" marL="0">
              <a:lnSpc>
                <a:spcPct val="115000"/>
              </a:lnSpc>
              <a:buNone/>
            </a:pPr>
            <a:r>
              <a:rPr lang="en-US" sz="1150" dirty="0">
                <a:solidFill>
                  <a:srgbClr val="0B3B45"/>
                </a:solidFill>
                <a:latin typeface="Calibri" pitchFamily="34" charset="0"/>
                <a:ea typeface="Calibri" pitchFamily="34" charset="-122"/>
                <a:cs typeface="Calibri" pitchFamily="34" charset="-120"/>
              </a:rPr>
              <a:t>Guatemala and Guyana run current-account surpluses; the other five do not. Guatemala's debt is a third of El Salvador's. Colombia is the only market in the set that is raising rates, and it carries the widest deficit. Panama and El Salvador have no policy rate at all — both are dollarised, which removes currency risk and removes the devaluation valve at the same time. Panama's 2025 nominal GDP is genuinely unpublished: it is absent from the IMF WEO dataset, so any Panama "IMF" figure in circulation should be treated with suspicion.</a:t>
            </a:r>
            <a:endParaRPr lang="en-US" sz="1150" dirty="0"/>
          </a:p>
        </p:txBody>
      </p:sp>
      <p:sp>
        <p:nvSpPr>
          <p:cNvPr id="8" name="Text 5"/>
          <p:cNvSpPr txBox="1"/>
          <p:nvPr/>
        </p:nvSpPr>
        <p:spPr>
          <a:xfrm>
            <a:off x="566928" y="6217920"/>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IMF WEO April 2026; World Bank MPO April 2026; national central banks; agency releases. Colombia fiscal figures are MinHacienda outturns and CARF projections. The Costa Rican and Guatemalan Fitch ratings shown are unresolved between two sources — see slide 6.</a:t>
            </a:r>
            <a:endParaRPr lang="en-US" sz="800" dirty="0"/>
          </a:p>
        </p:txBody>
      </p:sp>
      <p:sp>
        <p:nvSpPr>
          <p:cNvPr id="9" name="Text 6"/>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10" name="Text 7"/>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(A)</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Debt, growth and the shape of the set</a:t>
            </a:r>
            <a:endParaRPr lang="en-US" sz="3000" dirty="0"/>
          </a:p>
        </p:txBody>
      </p:sp>
      <p:sp>
        <p:nvSpPr>
          <p:cNvPr id="4" name="Text 2"/>
          <p:cNvSpPr txBox="1"/>
          <p:nvPr/>
        </p:nvSpPr>
        <p:spPr>
          <a:xfrm>
            <a:off x="566928" y="1389888"/>
            <a:ext cx="5120640" cy="256032"/>
          </a:xfrm>
          <a:prstGeom prst="rect">
            <a:avLst/>
          </a:prstGeom>
          <a:noFill/>
          <a:ln/>
        </p:spPr>
        <p:txBody>
          <a:bodyPr wrap="square" lIns="0" tIns="0" rIns="0" bIns="0" rtlCol="0" anchor="ctr"/>
          <a:lstStyle/>
          <a:p>
            <a:pPr indent="0" marL="0">
              <a:buNone/>
            </a:pPr>
            <a:r>
              <a:rPr lang="en-US" sz="1100" b="1" dirty="0">
                <a:solidFill>
                  <a:srgbClr val="0B3B45"/>
                </a:solidFill>
                <a:latin typeface="Calibri" pitchFamily="34" charset="0"/>
                <a:ea typeface="Calibri" pitchFamily="34" charset="-122"/>
                <a:cs typeface="Calibri" pitchFamily="34" charset="-120"/>
              </a:rPr>
              <a:t>Gross public debt, 2025, % of GDP</a:t>
            </a:r>
            <a:endParaRPr lang="en-US" sz="1100" dirty="0"/>
          </a:p>
        </p:txBody>
      </p:sp>
      <p:sp>
        <p:nvSpPr>
          <p:cNvPr id="5" name="Text 3"/>
          <p:cNvSpPr txBox="1"/>
          <p:nvPr/>
        </p:nvSpPr>
        <p:spPr>
          <a:xfrm>
            <a:off x="566928" y="1737360"/>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El Salvador</a:t>
            </a:r>
            <a:endParaRPr lang="en-US" sz="1000" dirty="0"/>
          </a:p>
        </p:txBody>
      </p:sp>
      <p:sp>
        <p:nvSpPr>
          <p:cNvPr id="6" name="Shape 4"/>
          <p:cNvSpPr/>
          <p:nvPr/>
        </p:nvSpPr>
        <p:spPr>
          <a:xfrm>
            <a:off x="2057400" y="1817827"/>
            <a:ext cx="3154680" cy="204826"/>
          </a:xfrm>
          <a:prstGeom prst="rect">
            <a:avLst/>
          </a:prstGeom>
          <a:solidFill>
            <a:srgbClr val="EDF1F2"/>
          </a:solidFill>
          <a:ln/>
        </p:spPr>
      </p:sp>
      <p:sp>
        <p:nvSpPr>
          <p:cNvPr id="7" name="Shape 5"/>
          <p:cNvSpPr/>
          <p:nvPr/>
        </p:nvSpPr>
        <p:spPr>
          <a:xfrm>
            <a:off x="2057400" y="1817827"/>
            <a:ext cx="2895664" cy="204826"/>
          </a:xfrm>
          <a:prstGeom prst="rect">
            <a:avLst/>
          </a:prstGeom>
          <a:solidFill>
            <a:srgbClr val="A8322D"/>
          </a:solidFill>
          <a:ln/>
        </p:spPr>
      </p:sp>
      <p:sp>
        <p:nvSpPr>
          <p:cNvPr id="8" name="Text 6"/>
          <p:cNvSpPr txBox="1"/>
          <p:nvPr/>
        </p:nvSpPr>
        <p:spPr>
          <a:xfrm>
            <a:off x="5285232" y="1737360"/>
            <a:ext cx="566928" cy="365760"/>
          </a:xfrm>
          <a:prstGeom prst="rect">
            <a:avLst/>
          </a:prstGeom>
          <a:noFill/>
          <a:ln/>
        </p:spPr>
        <p:txBody>
          <a:bodyPr wrap="square" lIns="0" tIns="0" rIns="0" bIns="0" rtlCol="0" anchor="ctr"/>
          <a:lstStyle/>
          <a:p>
            <a:pPr indent="0" marL="0">
              <a:buNone/>
            </a:pPr>
            <a:r>
              <a:rPr lang="en-US" sz="1000" b="1" dirty="0">
                <a:solidFill>
                  <a:srgbClr val="A8322D"/>
                </a:solidFill>
                <a:latin typeface="Calibri" pitchFamily="34" charset="0"/>
                <a:ea typeface="Calibri" pitchFamily="34" charset="-122"/>
                <a:cs typeface="Calibri" pitchFamily="34" charset="-120"/>
              </a:rPr>
              <a:t>87%</a:t>
            </a:r>
            <a:endParaRPr lang="en-US" sz="1000" dirty="0"/>
          </a:p>
        </p:txBody>
      </p:sp>
      <p:sp>
        <p:nvSpPr>
          <p:cNvPr id="9" name="Text 7"/>
          <p:cNvSpPr txBox="1"/>
          <p:nvPr/>
        </p:nvSpPr>
        <p:spPr>
          <a:xfrm>
            <a:off x="566928" y="2139696"/>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Panama</a:t>
            </a:r>
            <a:endParaRPr lang="en-US" sz="1000" dirty="0"/>
          </a:p>
        </p:txBody>
      </p:sp>
      <p:sp>
        <p:nvSpPr>
          <p:cNvPr id="10" name="Shape 8"/>
          <p:cNvSpPr/>
          <p:nvPr/>
        </p:nvSpPr>
        <p:spPr>
          <a:xfrm>
            <a:off x="2057400" y="2220163"/>
            <a:ext cx="3154680" cy="204826"/>
          </a:xfrm>
          <a:prstGeom prst="rect">
            <a:avLst/>
          </a:prstGeom>
          <a:solidFill>
            <a:srgbClr val="EDF1F2"/>
          </a:solidFill>
          <a:ln/>
        </p:spPr>
      </p:sp>
      <p:sp>
        <p:nvSpPr>
          <p:cNvPr id="11" name="Shape 9"/>
          <p:cNvSpPr/>
          <p:nvPr/>
        </p:nvSpPr>
        <p:spPr>
          <a:xfrm>
            <a:off x="2057400" y="2220163"/>
            <a:ext cx="2178390" cy="204826"/>
          </a:xfrm>
          <a:prstGeom prst="rect">
            <a:avLst/>
          </a:prstGeom>
          <a:solidFill>
            <a:srgbClr val="156A7A"/>
          </a:solidFill>
          <a:ln/>
        </p:spPr>
      </p:sp>
      <p:sp>
        <p:nvSpPr>
          <p:cNvPr id="12" name="Text 10"/>
          <p:cNvSpPr txBox="1"/>
          <p:nvPr/>
        </p:nvSpPr>
        <p:spPr>
          <a:xfrm>
            <a:off x="5285232" y="2139696"/>
            <a:ext cx="566928" cy="365760"/>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66%</a:t>
            </a:r>
            <a:endParaRPr lang="en-US" sz="1000" dirty="0"/>
          </a:p>
        </p:txBody>
      </p:sp>
      <p:sp>
        <p:nvSpPr>
          <p:cNvPr id="13" name="Text 11"/>
          <p:cNvSpPr txBox="1"/>
          <p:nvPr/>
        </p:nvSpPr>
        <p:spPr>
          <a:xfrm>
            <a:off x="566928" y="2542032"/>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Colombia</a:t>
            </a:r>
            <a:endParaRPr lang="en-US" sz="1000" dirty="0"/>
          </a:p>
        </p:txBody>
      </p:sp>
      <p:sp>
        <p:nvSpPr>
          <p:cNvPr id="14" name="Shape 12"/>
          <p:cNvSpPr/>
          <p:nvPr/>
        </p:nvSpPr>
        <p:spPr>
          <a:xfrm>
            <a:off x="2057400" y="2622499"/>
            <a:ext cx="3154680" cy="204826"/>
          </a:xfrm>
          <a:prstGeom prst="rect">
            <a:avLst/>
          </a:prstGeom>
          <a:solidFill>
            <a:srgbClr val="EDF1F2"/>
          </a:solidFill>
          <a:ln/>
        </p:spPr>
      </p:sp>
      <p:sp>
        <p:nvSpPr>
          <p:cNvPr id="15" name="Shape 13"/>
          <p:cNvSpPr/>
          <p:nvPr/>
        </p:nvSpPr>
        <p:spPr>
          <a:xfrm>
            <a:off x="2057400" y="2622499"/>
            <a:ext cx="2148503" cy="204826"/>
          </a:xfrm>
          <a:prstGeom prst="rect">
            <a:avLst/>
          </a:prstGeom>
          <a:solidFill>
            <a:srgbClr val="156A7A"/>
          </a:solidFill>
          <a:ln/>
        </p:spPr>
      </p:sp>
      <p:sp>
        <p:nvSpPr>
          <p:cNvPr id="16" name="Text 14"/>
          <p:cNvSpPr txBox="1"/>
          <p:nvPr/>
        </p:nvSpPr>
        <p:spPr>
          <a:xfrm>
            <a:off x="5285232" y="2542032"/>
            <a:ext cx="566928" cy="365760"/>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65%</a:t>
            </a:r>
            <a:endParaRPr lang="en-US" sz="1000" dirty="0"/>
          </a:p>
        </p:txBody>
      </p:sp>
      <p:sp>
        <p:nvSpPr>
          <p:cNvPr id="17" name="Text 15"/>
          <p:cNvSpPr txBox="1"/>
          <p:nvPr/>
        </p:nvSpPr>
        <p:spPr>
          <a:xfrm>
            <a:off x="566928" y="2944368"/>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Costa Rica</a:t>
            </a:r>
            <a:endParaRPr lang="en-US" sz="1000" dirty="0"/>
          </a:p>
        </p:txBody>
      </p:sp>
      <p:sp>
        <p:nvSpPr>
          <p:cNvPr id="18" name="Shape 16"/>
          <p:cNvSpPr/>
          <p:nvPr/>
        </p:nvSpPr>
        <p:spPr>
          <a:xfrm>
            <a:off x="2057400" y="3024835"/>
            <a:ext cx="3154680" cy="204826"/>
          </a:xfrm>
          <a:prstGeom prst="rect">
            <a:avLst/>
          </a:prstGeom>
          <a:solidFill>
            <a:srgbClr val="EDF1F2"/>
          </a:solidFill>
          <a:ln/>
        </p:spPr>
      </p:sp>
      <p:sp>
        <p:nvSpPr>
          <p:cNvPr id="19" name="Shape 17"/>
          <p:cNvSpPr/>
          <p:nvPr/>
        </p:nvSpPr>
        <p:spPr>
          <a:xfrm>
            <a:off x="2057400" y="3024835"/>
            <a:ext cx="2005712" cy="204826"/>
          </a:xfrm>
          <a:prstGeom prst="rect">
            <a:avLst/>
          </a:prstGeom>
          <a:solidFill>
            <a:srgbClr val="156A7A"/>
          </a:solidFill>
          <a:ln/>
        </p:spPr>
      </p:sp>
      <p:sp>
        <p:nvSpPr>
          <p:cNvPr id="20" name="Text 18"/>
          <p:cNvSpPr txBox="1"/>
          <p:nvPr/>
        </p:nvSpPr>
        <p:spPr>
          <a:xfrm>
            <a:off x="5285232" y="2944368"/>
            <a:ext cx="566928" cy="365760"/>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60%</a:t>
            </a:r>
            <a:endParaRPr lang="en-US" sz="1000" dirty="0"/>
          </a:p>
        </p:txBody>
      </p:sp>
      <p:sp>
        <p:nvSpPr>
          <p:cNvPr id="21" name="Text 19"/>
          <p:cNvSpPr txBox="1"/>
          <p:nvPr/>
        </p:nvSpPr>
        <p:spPr>
          <a:xfrm>
            <a:off x="566928" y="3346704"/>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Dominican Rep.</a:t>
            </a:r>
            <a:endParaRPr lang="en-US" sz="1000" dirty="0"/>
          </a:p>
        </p:txBody>
      </p:sp>
      <p:sp>
        <p:nvSpPr>
          <p:cNvPr id="22" name="Shape 20"/>
          <p:cNvSpPr/>
          <p:nvPr/>
        </p:nvSpPr>
        <p:spPr>
          <a:xfrm>
            <a:off x="2057400" y="3427171"/>
            <a:ext cx="3154680" cy="204826"/>
          </a:xfrm>
          <a:prstGeom prst="rect">
            <a:avLst/>
          </a:prstGeom>
          <a:solidFill>
            <a:srgbClr val="EDF1F2"/>
          </a:solidFill>
          <a:ln/>
        </p:spPr>
      </p:sp>
      <p:sp>
        <p:nvSpPr>
          <p:cNvPr id="23" name="Shape 21"/>
          <p:cNvSpPr/>
          <p:nvPr/>
        </p:nvSpPr>
        <p:spPr>
          <a:xfrm>
            <a:off x="2057400" y="3427171"/>
            <a:ext cx="1922694" cy="204826"/>
          </a:xfrm>
          <a:prstGeom prst="rect">
            <a:avLst/>
          </a:prstGeom>
          <a:solidFill>
            <a:srgbClr val="156A7A"/>
          </a:solidFill>
          <a:ln/>
        </p:spPr>
      </p:sp>
      <p:sp>
        <p:nvSpPr>
          <p:cNvPr id="24" name="Text 22"/>
          <p:cNvSpPr txBox="1"/>
          <p:nvPr/>
        </p:nvSpPr>
        <p:spPr>
          <a:xfrm>
            <a:off x="5285232" y="3346704"/>
            <a:ext cx="566928" cy="365760"/>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58%</a:t>
            </a:r>
            <a:endParaRPr lang="en-US" sz="1000" dirty="0"/>
          </a:p>
        </p:txBody>
      </p:sp>
      <p:sp>
        <p:nvSpPr>
          <p:cNvPr id="25" name="Text 23"/>
          <p:cNvSpPr txBox="1"/>
          <p:nvPr/>
        </p:nvSpPr>
        <p:spPr>
          <a:xfrm>
            <a:off x="566928" y="3749040"/>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Guyana</a:t>
            </a:r>
            <a:endParaRPr lang="en-US" sz="1000" dirty="0"/>
          </a:p>
        </p:txBody>
      </p:sp>
      <p:sp>
        <p:nvSpPr>
          <p:cNvPr id="26" name="Shape 24"/>
          <p:cNvSpPr/>
          <p:nvPr/>
        </p:nvSpPr>
        <p:spPr>
          <a:xfrm>
            <a:off x="2057400" y="3829507"/>
            <a:ext cx="3154680" cy="204826"/>
          </a:xfrm>
          <a:prstGeom prst="rect">
            <a:avLst/>
          </a:prstGeom>
          <a:solidFill>
            <a:srgbClr val="EDF1F2"/>
          </a:solidFill>
          <a:ln/>
        </p:spPr>
      </p:sp>
      <p:sp>
        <p:nvSpPr>
          <p:cNvPr id="27" name="Shape 25"/>
          <p:cNvSpPr/>
          <p:nvPr/>
        </p:nvSpPr>
        <p:spPr>
          <a:xfrm>
            <a:off x="2057400" y="3829507"/>
            <a:ext cx="949725" cy="204826"/>
          </a:xfrm>
          <a:prstGeom prst="rect">
            <a:avLst/>
          </a:prstGeom>
          <a:solidFill>
            <a:srgbClr val="3E7C59"/>
          </a:solidFill>
          <a:ln/>
        </p:spPr>
      </p:sp>
      <p:sp>
        <p:nvSpPr>
          <p:cNvPr id="28" name="Text 26"/>
          <p:cNvSpPr txBox="1"/>
          <p:nvPr/>
        </p:nvSpPr>
        <p:spPr>
          <a:xfrm>
            <a:off x="5285232" y="3749040"/>
            <a:ext cx="566928" cy="365760"/>
          </a:xfrm>
          <a:prstGeom prst="rect">
            <a:avLst/>
          </a:prstGeom>
          <a:noFill/>
          <a:ln/>
        </p:spPr>
        <p:txBody>
          <a:bodyPr wrap="square" lIns="0" tIns="0" rIns="0" bIns="0" rtlCol="0" anchor="ctr"/>
          <a:lstStyle/>
          <a:p>
            <a:pPr indent="0" marL="0">
              <a:buNone/>
            </a:pPr>
            <a:r>
              <a:rPr lang="en-US" sz="1000" b="1" dirty="0">
                <a:solidFill>
                  <a:srgbClr val="3E7C59"/>
                </a:solidFill>
                <a:latin typeface="Calibri" pitchFamily="34" charset="0"/>
                <a:ea typeface="Calibri" pitchFamily="34" charset="-122"/>
                <a:cs typeface="Calibri" pitchFamily="34" charset="-120"/>
              </a:rPr>
              <a:t>29%</a:t>
            </a:r>
            <a:endParaRPr lang="en-US" sz="1000" dirty="0"/>
          </a:p>
        </p:txBody>
      </p:sp>
      <p:sp>
        <p:nvSpPr>
          <p:cNvPr id="29" name="Text 27"/>
          <p:cNvSpPr txBox="1"/>
          <p:nvPr/>
        </p:nvSpPr>
        <p:spPr>
          <a:xfrm>
            <a:off x="566928" y="4151376"/>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Guatemala</a:t>
            </a:r>
            <a:endParaRPr lang="en-US" sz="1000" dirty="0"/>
          </a:p>
        </p:txBody>
      </p:sp>
      <p:sp>
        <p:nvSpPr>
          <p:cNvPr id="30" name="Shape 28"/>
          <p:cNvSpPr/>
          <p:nvPr/>
        </p:nvSpPr>
        <p:spPr>
          <a:xfrm>
            <a:off x="2057400" y="4231843"/>
            <a:ext cx="3154680" cy="204826"/>
          </a:xfrm>
          <a:prstGeom prst="rect">
            <a:avLst/>
          </a:prstGeom>
          <a:solidFill>
            <a:srgbClr val="EDF1F2"/>
          </a:solidFill>
          <a:ln/>
        </p:spPr>
      </p:sp>
      <p:sp>
        <p:nvSpPr>
          <p:cNvPr id="31" name="Shape 29"/>
          <p:cNvSpPr/>
          <p:nvPr/>
        </p:nvSpPr>
        <p:spPr>
          <a:xfrm>
            <a:off x="2057400" y="4231843"/>
            <a:ext cx="886631" cy="204826"/>
          </a:xfrm>
          <a:prstGeom prst="rect">
            <a:avLst/>
          </a:prstGeom>
          <a:solidFill>
            <a:srgbClr val="3E7C59"/>
          </a:solidFill>
          <a:ln/>
        </p:spPr>
      </p:sp>
      <p:sp>
        <p:nvSpPr>
          <p:cNvPr id="32" name="Text 30"/>
          <p:cNvSpPr txBox="1"/>
          <p:nvPr/>
        </p:nvSpPr>
        <p:spPr>
          <a:xfrm>
            <a:off x="5285232" y="4151376"/>
            <a:ext cx="566928" cy="365760"/>
          </a:xfrm>
          <a:prstGeom prst="rect">
            <a:avLst/>
          </a:prstGeom>
          <a:noFill/>
          <a:ln/>
        </p:spPr>
        <p:txBody>
          <a:bodyPr wrap="square" lIns="0" tIns="0" rIns="0" bIns="0" rtlCol="0" anchor="ctr"/>
          <a:lstStyle/>
          <a:p>
            <a:pPr indent="0" marL="0">
              <a:buNone/>
            </a:pPr>
            <a:r>
              <a:rPr lang="en-US" sz="1000" b="1" dirty="0">
                <a:solidFill>
                  <a:srgbClr val="3E7C59"/>
                </a:solidFill>
                <a:latin typeface="Calibri" pitchFamily="34" charset="0"/>
                <a:ea typeface="Calibri" pitchFamily="34" charset="-122"/>
                <a:cs typeface="Calibri" pitchFamily="34" charset="-120"/>
              </a:rPr>
              <a:t>27%</a:t>
            </a:r>
            <a:endParaRPr lang="en-US" sz="1000" dirty="0"/>
          </a:p>
        </p:txBody>
      </p:sp>
      <p:sp>
        <p:nvSpPr>
          <p:cNvPr id="33" name="Text 31"/>
          <p:cNvSpPr txBox="1"/>
          <p:nvPr/>
        </p:nvSpPr>
        <p:spPr>
          <a:xfrm>
            <a:off x="6419088" y="1389888"/>
            <a:ext cx="5120640" cy="256032"/>
          </a:xfrm>
          <a:prstGeom prst="rect">
            <a:avLst/>
          </a:prstGeom>
          <a:noFill/>
          <a:ln/>
        </p:spPr>
        <p:txBody>
          <a:bodyPr wrap="square" lIns="0" tIns="0" rIns="0" bIns="0" rtlCol="0" anchor="ctr"/>
          <a:lstStyle/>
          <a:p>
            <a:pPr indent="0" marL="0">
              <a:buNone/>
            </a:pPr>
            <a:r>
              <a:rPr lang="en-US" sz="1100" b="1" dirty="0">
                <a:solidFill>
                  <a:srgbClr val="0B3B45"/>
                </a:solidFill>
                <a:latin typeface="Calibri" pitchFamily="34" charset="0"/>
                <a:ea typeface="Calibri" pitchFamily="34" charset="-122"/>
                <a:cs typeface="Calibri" pitchFamily="34" charset="-120"/>
              </a:rPr>
              <a:t>Real GDP growth, 2026 forecast, %</a:t>
            </a:r>
            <a:endParaRPr lang="en-US" sz="1100" dirty="0"/>
          </a:p>
        </p:txBody>
      </p:sp>
      <p:sp>
        <p:nvSpPr>
          <p:cNvPr id="34" name="Text 32"/>
          <p:cNvSpPr txBox="1"/>
          <p:nvPr/>
        </p:nvSpPr>
        <p:spPr>
          <a:xfrm>
            <a:off x="6419088" y="1737360"/>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Guyana</a:t>
            </a:r>
            <a:endParaRPr lang="en-US" sz="1000" dirty="0"/>
          </a:p>
        </p:txBody>
      </p:sp>
      <p:sp>
        <p:nvSpPr>
          <p:cNvPr id="35" name="Shape 33"/>
          <p:cNvSpPr/>
          <p:nvPr/>
        </p:nvSpPr>
        <p:spPr>
          <a:xfrm>
            <a:off x="7909560" y="1817827"/>
            <a:ext cx="3154680" cy="204826"/>
          </a:xfrm>
          <a:prstGeom prst="rect">
            <a:avLst/>
          </a:prstGeom>
          <a:solidFill>
            <a:srgbClr val="EDF1F2"/>
          </a:solidFill>
          <a:ln/>
        </p:spPr>
      </p:sp>
      <p:sp>
        <p:nvSpPr>
          <p:cNvPr id="36" name="Shape 34"/>
          <p:cNvSpPr/>
          <p:nvPr/>
        </p:nvSpPr>
        <p:spPr>
          <a:xfrm>
            <a:off x="7909560" y="1817827"/>
            <a:ext cx="3006224" cy="204826"/>
          </a:xfrm>
          <a:prstGeom prst="rect">
            <a:avLst/>
          </a:prstGeom>
          <a:solidFill>
            <a:srgbClr val="D99A2B"/>
          </a:solidFill>
          <a:ln/>
        </p:spPr>
      </p:sp>
      <p:sp>
        <p:nvSpPr>
          <p:cNvPr id="37" name="Text 35"/>
          <p:cNvSpPr txBox="1"/>
          <p:nvPr/>
        </p:nvSpPr>
        <p:spPr>
          <a:xfrm>
            <a:off x="11137392" y="1737360"/>
            <a:ext cx="566928" cy="365760"/>
          </a:xfrm>
          <a:prstGeom prst="rect">
            <a:avLst/>
          </a:prstGeom>
          <a:noFill/>
          <a:ln/>
        </p:spPr>
        <p:txBody>
          <a:bodyPr wrap="square" lIns="0" tIns="0" rIns="0" bIns="0" rtlCol="0" anchor="ctr"/>
          <a:lstStyle/>
          <a:p>
            <a:pPr indent="0" marL="0">
              <a:buNone/>
            </a:pPr>
            <a:r>
              <a:rPr lang="en-US" sz="1000" b="1" dirty="0">
                <a:solidFill>
                  <a:srgbClr val="D99A2B"/>
                </a:solidFill>
                <a:latin typeface="Calibri" pitchFamily="34" charset="0"/>
                <a:ea typeface="Calibri" pitchFamily="34" charset="-122"/>
                <a:cs typeface="Calibri" pitchFamily="34" charset="-120"/>
              </a:rPr>
              <a:t>16.2%</a:t>
            </a:r>
            <a:endParaRPr lang="en-US" sz="1000" dirty="0"/>
          </a:p>
        </p:txBody>
      </p:sp>
      <p:sp>
        <p:nvSpPr>
          <p:cNvPr id="38" name="Text 36"/>
          <p:cNvSpPr txBox="1"/>
          <p:nvPr/>
        </p:nvSpPr>
        <p:spPr>
          <a:xfrm>
            <a:off x="6419088" y="2139696"/>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El Salvador</a:t>
            </a:r>
            <a:endParaRPr lang="en-US" sz="1000" dirty="0"/>
          </a:p>
        </p:txBody>
      </p:sp>
      <p:sp>
        <p:nvSpPr>
          <p:cNvPr id="39" name="Shape 37"/>
          <p:cNvSpPr/>
          <p:nvPr/>
        </p:nvSpPr>
        <p:spPr>
          <a:xfrm>
            <a:off x="7909560" y="2220163"/>
            <a:ext cx="3154680" cy="204826"/>
          </a:xfrm>
          <a:prstGeom prst="rect">
            <a:avLst/>
          </a:prstGeom>
          <a:solidFill>
            <a:srgbClr val="EDF1F2"/>
          </a:solidFill>
          <a:ln/>
        </p:spPr>
      </p:sp>
      <p:sp>
        <p:nvSpPr>
          <p:cNvPr id="40" name="Shape 38"/>
          <p:cNvSpPr/>
          <p:nvPr/>
        </p:nvSpPr>
        <p:spPr>
          <a:xfrm>
            <a:off x="7909560" y="2220163"/>
            <a:ext cx="835062" cy="204826"/>
          </a:xfrm>
          <a:prstGeom prst="rect">
            <a:avLst/>
          </a:prstGeom>
          <a:solidFill>
            <a:srgbClr val="156A7A"/>
          </a:solidFill>
          <a:ln/>
        </p:spPr>
      </p:sp>
      <p:sp>
        <p:nvSpPr>
          <p:cNvPr id="41" name="Text 39"/>
          <p:cNvSpPr txBox="1"/>
          <p:nvPr/>
        </p:nvSpPr>
        <p:spPr>
          <a:xfrm>
            <a:off x="11137392" y="2139696"/>
            <a:ext cx="566928" cy="365760"/>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4.5%</a:t>
            </a:r>
            <a:endParaRPr lang="en-US" sz="1000" dirty="0"/>
          </a:p>
        </p:txBody>
      </p:sp>
      <p:sp>
        <p:nvSpPr>
          <p:cNvPr id="42" name="Text 40"/>
          <p:cNvSpPr txBox="1"/>
          <p:nvPr/>
        </p:nvSpPr>
        <p:spPr>
          <a:xfrm>
            <a:off x="6419088" y="2542032"/>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Panama</a:t>
            </a:r>
            <a:endParaRPr lang="en-US" sz="1000" dirty="0"/>
          </a:p>
        </p:txBody>
      </p:sp>
      <p:sp>
        <p:nvSpPr>
          <p:cNvPr id="43" name="Shape 41"/>
          <p:cNvSpPr/>
          <p:nvPr/>
        </p:nvSpPr>
        <p:spPr>
          <a:xfrm>
            <a:off x="7909560" y="2622499"/>
            <a:ext cx="3154680" cy="204826"/>
          </a:xfrm>
          <a:prstGeom prst="rect">
            <a:avLst/>
          </a:prstGeom>
          <a:solidFill>
            <a:srgbClr val="EDF1F2"/>
          </a:solidFill>
          <a:ln/>
        </p:spPr>
      </p:sp>
      <p:sp>
        <p:nvSpPr>
          <p:cNvPr id="44" name="Shape 42"/>
          <p:cNvSpPr/>
          <p:nvPr/>
        </p:nvSpPr>
        <p:spPr>
          <a:xfrm>
            <a:off x="7909560" y="2622499"/>
            <a:ext cx="723721" cy="204826"/>
          </a:xfrm>
          <a:prstGeom prst="rect">
            <a:avLst/>
          </a:prstGeom>
          <a:solidFill>
            <a:srgbClr val="156A7A"/>
          </a:solidFill>
          <a:ln/>
        </p:spPr>
      </p:sp>
      <p:sp>
        <p:nvSpPr>
          <p:cNvPr id="45" name="Text 43"/>
          <p:cNvSpPr txBox="1"/>
          <p:nvPr/>
        </p:nvSpPr>
        <p:spPr>
          <a:xfrm>
            <a:off x="11137392" y="2542032"/>
            <a:ext cx="566928" cy="365760"/>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3.9%</a:t>
            </a:r>
            <a:endParaRPr lang="en-US" sz="1000" dirty="0"/>
          </a:p>
        </p:txBody>
      </p:sp>
      <p:sp>
        <p:nvSpPr>
          <p:cNvPr id="46" name="Text 44"/>
          <p:cNvSpPr txBox="1"/>
          <p:nvPr/>
        </p:nvSpPr>
        <p:spPr>
          <a:xfrm>
            <a:off x="6419088" y="2944368"/>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Guatemala</a:t>
            </a:r>
            <a:endParaRPr lang="en-US" sz="1000" dirty="0"/>
          </a:p>
        </p:txBody>
      </p:sp>
      <p:sp>
        <p:nvSpPr>
          <p:cNvPr id="47" name="Shape 45"/>
          <p:cNvSpPr/>
          <p:nvPr/>
        </p:nvSpPr>
        <p:spPr>
          <a:xfrm>
            <a:off x="7909560" y="3024835"/>
            <a:ext cx="3154680" cy="204826"/>
          </a:xfrm>
          <a:prstGeom prst="rect">
            <a:avLst/>
          </a:prstGeom>
          <a:solidFill>
            <a:srgbClr val="EDF1F2"/>
          </a:solidFill>
          <a:ln/>
        </p:spPr>
      </p:sp>
      <p:sp>
        <p:nvSpPr>
          <p:cNvPr id="48" name="Shape 46"/>
          <p:cNvSpPr/>
          <p:nvPr/>
        </p:nvSpPr>
        <p:spPr>
          <a:xfrm>
            <a:off x="7909560" y="3024835"/>
            <a:ext cx="686607" cy="204826"/>
          </a:xfrm>
          <a:prstGeom prst="rect">
            <a:avLst/>
          </a:prstGeom>
          <a:solidFill>
            <a:srgbClr val="156A7A"/>
          </a:solidFill>
          <a:ln/>
        </p:spPr>
      </p:sp>
      <p:sp>
        <p:nvSpPr>
          <p:cNvPr id="49" name="Text 47"/>
          <p:cNvSpPr txBox="1"/>
          <p:nvPr/>
        </p:nvSpPr>
        <p:spPr>
          <a:xfrm>
            <a:off x="11137392" y="2944368"/>
            <a:ext cx="566928" cy="365760"/>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3.7%</a:t>
            </a:r>
            <a:endParaRPr lang="en-US" sz="1000" dirty="0"/>
          </a:p>
        </p:txBody>
      </p:sp>
      <p:sp>
        <p:nvSpPr>
          <p:cNvPr id="50" name="Text 48"/>
          <p:cNvSpPr txBox="1"/>
          <p:nvPr/>
        </p:nvSpPr>
        <p:spPr>
          <a:xfrm>
            <a:off x="6419088" y="3346704"/>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Costa Rica</a:t>
            </a:r>
            <a:endParaRPr lang="en-US" sz="1000" dirty="0"/>
          </a:p>
        </p:txBody>
      </p:sp>
      <p:sp>
        <p:nvSpPr>
          <p:cNvPr id="51" name="Shape 49"/>
          <p:cNvSpPr/>
          <p:nvPr/>
        </p:nvSpPr>
        <p:spPr>
          <a:xfrm>
            <a:off x="7909560" y="3427171"/>
            <a:ext cx="3154680" cy="204826"/>
          </a:xfrm>
          <a:prstGeom prst="rect">
            <a:avLst/>
          </a:prstGeom>
          <a:solidFill>
            <a:srgbClr val="EDF1F2"/>
          </a:solidFill>
          <a:ln/>
        </p:spPr>
      </p:sp>
      <p:sp>
        <p:nvSpPr>
          <p:cNvPr id="52" name="Shape 50"/>
          <p:cNvSpPr/>
          <p:nvPr/>
        </p:nvSpPr>
        <p:spPr>
          <a:xfrm>
            <a:off x="7909560" y="3427171"/>
            <a:ext cx="668050" cy="204826"/>
          </a:xfrm>
          <a:prstGeom prst="rect">
            <a:avLst/>
          </a:prstGeom>
          <a:solidFill>
            <a:srgbClr val="156A7A"/>
          </a:solidFill>
          <a:ln/>
        </p:spPr>
      </p:sp>
      <p:sp>
        <p:nvSpPr>
          <p:cNvPr id="53" name="Text 51"/>
          <p:cNvSpPr txBox="1"/>
          <p:nvPr/>
        </p:nvSpPr>
        <p:spPr>
          <a:xfrm>
            <a:off x="11137392" y="3346704"/>
            <a:ext cx="566928" cy="365760"/>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3.6%</a:t>
            </a:r>
            <a:endParaRPr lang="en-US" sz="1000" dirty="0"/>
          </a:p>
        </p:txBody>
      </p:sp>
      <p:sp>
        <p:nvSpPr>
          <p:cNvPr id="54" name="Text 52"/>
          <p:cNvSpPr txBox="1"/>
          <p:nvPr/>
        </p:nvSpPr>
        <p:spPr>
          <a:xfrm>
            <a:off x="6419088" y="3749040"/>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Dominican Rep.</a:t>
            </a:r>
            <a:endParaRPr lang="en-US" sz="1000" dirty="0"/>
          </a:p>
        </p:txBody>
      </p:sp>
      <p:sp>
        <p:nvSpPr>
          <p:cNvPr id="55" name="Shape 53"/>
          <p:cNvSpPr/>
          <p:nvPr/>
        </p:nvSpPr>
        <p:spPr>
          <a:xfrm>
            <a:off x="7909560" y="3829507"/>
            <a:ext cx="3154680" cy="204826"/>
          </a:xfrm>
          <a:prstGeom prst="rect">
            <a:avLst/>
          </a:prstGeom>
          <a:solidFill>
            <a:srgbClr val="EDF1F2"/>
          </a:solidFill>
          <a:ln/>
        </p:spPr>
      </p:sp>
      <p:sp>
        <p:nvSpPr>
          <p:cNvPr id="56" name="Shape 54"/>
          <p:cNvSpPr/>
          <p:nvPr/>
        </p:nvSpPr>
        <p:spPr>
          <a:xfrm>
            <a:off x="7909560" y="3829507"/>
            <a:ext cx="668050" cy="204826"/>
          </a:xfrm>
          <a:prstGeom prst="rect">
            <a:avLst/>
          </a:prstGeom>
          <a:solidFill>
            <a:srgbClr val="156A7A"/>
          </a:solidFill>
          <a:ln/>
        </p:spPr>
      </p:sp>
      <p:sp>
        <p:nvSpPr>
          <p:cNvPr id="57" name="Text 55"/>
          <p:cNvSpPr txBox="1"/>
          <p:nvPr/>
        </p:nvSpPr>
        <p:spPr>
          <a:xfrm>
            <a:off x="11137392" y="3749040"/>
            <a:ext cx="566928" cy="365760"/>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3.6%</a:t>
            </a:r>
            <a:endParaRPr lang="en-US" sz="1000" dirty="0"/>
          </a:p>
        </p:txBody>
      </p:sp>
      <p:sp>
        <p:nvSpPr>
          <p:cNvPr id="58" name="Text 56"/>
          <p:cNvSpPr txBox="1"/>
          <p:nvPr/>
        </p:nvSpPr>
        <p:spPr>
          <a:xfrm>
            <a:off x="6419088" y="4151376"/>
            <a:ext cx="1417320" cy="365760"/>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Colombia</a:t>
            </a:r>
            <a:endParaRPr lang="en-US" sz="1000" dirty="0"/>
          </a:p>
        </p:txBody>
      </p:sp>
      <p:sp>
        <p:nvSpPr>
          <p:cNvPr id="59" name="Shape 57"/>
          <p:cNvSpPr/>
          <p:nvPr/>
        </p:nvSpPr>
        <p:spPr>
          <a:xfrm>
            <a:off x="7909560" y="4231843"/>
            <a:ext cx="3154680" cy="204826"/>
          </a:xfrm>
          <a:prstGeom prst="rect">
            <a:avLst/>
          </a:prstGeom>
          <a:solidFill>
            <a:srgbClr val="EDF1F2"/>
          </a:solidFill>
          <a:ln/>
        </p:spPr>
      </p:sp>
      <p:sp>
        <p:nvSpPr>
          <p:cNvPr id="60" name="Shape 58"/>
          <p:cNvSpPr/>
          <p:nvPr/>
        </p:nvSpPr>
        <p:spPr>
          <a:xfrm>
            <a:off x="7909560" y="4231843"/>
            <a:ext cx="463924" cy="204826"/>
          </a:xfrm>
          <a:prstGeom prst="rect">
            <a:avLst/>
          </a:prstGeom>
          <a:solidFill>
            <a:srgbClr val="156A7A"/>
          </a:solidFill>
          <a:ln/>
        </p:spPr>
      </p:sp>
      <p:sp>
        <p:nvSpPr>
          <p:cNvPr id="61" name="Text 59"/>
          <p:cNvSpPr txBox="1"/>
          <p:nvPr/>
        </p:nvSpPr>
        <p:spPr>
          <a:xfrm>
            <a:off x="11137392" y="4151376"/>
            <a:ext cx="566928" cy="365760"/>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2.5%</a:t>
            </a:r>
            <a:endParaRPr lang="en-US" sz="1000" dirty="0"/>
          </a:p>
        </p:txBody>
      </p:sp>
      <p:sp>
        <p:nvSpPr>
          <p:cNvPr id="62" name="Shape 60"/>
          <p:cNvSpPr/>
          <p:nvPr/>
        </p:nvSpPr>
        <p:spPr>
          <a:xfrm>
            <a:off x="566928" y="4791456"/>
            <a:ext cx="5212080" cy="1152144"/>
          </a:xfrm>
          <a:prstGeom prst="roundRect">
            <a:avLst>
              <a:gd name="adj" fmla="val 4762"/>
            </a:avLst>
          </a:prstGeom>
          <a:solidFill>
            <a:srgbClr val="EDF1F2"/>
          </a:solidFill>
          <a:ln w="6350">
            <a:solidFill>
              <a:srgbClr val="EDF1F2"/>
            </a:solidFill>
            <a:prstDash val="solid"/>
          </a:ln>
        </p:spPr>
      </p:sp>
      <p:sp>
        <p:nvSpPr>
          <p:cNvPr id="63" name="Text 61"/>
          <p:cNvSpPr txBox="1"/>
          <p:nvPr/>
        </p:nvSpPr>
        <p:spPr>
          <a:xfrm>
            <a:off x="768096" y="4937760"/>
            <a:ext cx="4809744" cy="896112"/>
          </a:xfrm>
          <a:prstGeom prst="rect">
            <a:avLst/>
          </a:prstGeom>
          <a:noFill/>
          <a:ln/>
        </p:spPr>
        <p:txBody>
          <a:bodyPr wrap="square" lIns="0" tIns="0" rIns="0" bIns="0" rtlCol="0" anchor="t"/>
          <a:lstStyle/>
          <a:p>
            <a:pPr indent="0" marL="0">
              <a:lnSpc>
                <a:spcPct val="116000"/>
              </a:lnSpc>
              <a:buNone/>
            </a:pPr>
            <a:r>
              <a:rPr lang="en-US" sz="1050" dirty="0">
                <a:solidFill>
                  <a:srgbClr val="0B3B45"/>
                </a:solidFill>
                <a:latin typeface="Calibri" pitchFamily="34" charset="0"/>
                <a:ea typeface="Calibri" pitchFamily="34" charset="-122"/>
                <a:cs typeface="Calibri" pitchFamily="34" charset="-120"/>
              </a:rPr>
              <a:t>El Salvador is the only sovereign here carrying a documented primary surplus — 2.9% of GDP, widening to 3.7% by 2027 under the IMF programme. It also carries the heaviest debt. Both facts are true, and a client needs both.</a:t>
            </a:r>
            <a:endParaRPr lang="en-US" sz="1050" dirty="0"/>
          </a:p>
        </p:txBody>
      </p:sp>
      <p:sp>
        <p:nvSpPr>
          <p:cNvPr id="64" name="Shape 62"/>
          <p:cNvSpPr/>
          <p:nvPr/>
        </p:nvSpPr>
        <p:spPr>
          <a:xfrm>
            <a:off x="6419088" y="4791456"/>
            <a:ext cx="5212080" cy="1152144"/>
          </a:xfrm>
          <a:prstGeom prst="roundRect">
            <a:avLst>
              <a:gd name="adj" fmla="val 4762"/>
            </a:avLst>
          </a:prstGeom>
          <a:solidFill>
            <a:srgbClr val="FBF3E3"/>
          </a:solidFill>
          <a:ln w="6350">
            <a:solidFill>
              <a:srgbClr val="FBF3E3"/>
            </a:solidFill>
            <a:prstDash val="solid"/>
          </a:ln>
        </p:spPr>
      </p:sp>
      <p:sp>
        <p:nvSpPr>
          <p:cNvPr id="65" name="Text 63"/>
          <p:cNvSpPr txBox="1"/>
          <p:nvPr/>
        </p:nvSpPr>
        <p:spPr>
          <a:xfrm>
            <a:off x="6620256" y="4937760"/>
            <a:ext cx="4809744" cy="896112"/>
          </a:xfrm>
          <a:prstGeom prst="rect">
            <a:avLst/>
          </a:prstGeom>
          <a:noFill/>
          <a:ln/>
        </p:spPr>
        <p:txBody>
          <a:bodyPr wrap="square" lIns="0" tIns="0" rIns="0" bIns="0" rtlCol="0" anchor="t"/>
          <a:lstStyle/>
          <a:p>
            <a:pPr indent="0" marL="0">
              <a:lnSpc>
                <a:spcPct val="116000"/>
              </a:lnSpc>
              <a:buNone/>
            </a:pPr>
            <a:r>
              <a:rPr lang="en-US" sz="1050" dirty="0">
                <a:solidFill>
                  <a:srgbClr val="0B3B45"/>
                </a:solidFill>
                <a:latin typeface="Calibri" pitchFamily="34" charset="0"/>
                <a:ea typeface="Calibri" pitchFamily="34" charset="-122"/>
                <a:cs typeface="Calibri" pitchFamily="34" charset="-120"/>
              </a:rPr>
              <a:t>Guyana's 16% is not comparable to anybody else's number. It is one oil field, five floating production vessels and a population of one million. Per-capita income has already passed Costa Rica and Panama.</a:t>
            </a:r>
            <a:endParaRPr lang="en-US" sz="1050" dirty="0"/>
          </a:p>
        </p:txBody>
      </p:sp>
      <p:sp>
        <p:nvSpPr>
          <p:cNvPr id="66" name="Text 64"/>
          <p:cNvSpPr txBox="1"/>
          <p:nvPr/>
        </p:nvSpPr>
        <p:spPr>
          <a:xfrm>
            <a:off x="566928" y="6217920"/>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World Bank MPO April 2026; IMF WEO April 2026; IMF Article IV.</a:t>
            </a:r>
            <a:endParaRPr lang="en-US" sz="800" dirty="0"/>
          </a:p>
        </p:txBody>
      </p:sp>
      <p:sp>
        <p:nvSpPr>
          <p:cNvPr id="67" name="Text 65"/>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68" name="Text 66"/>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(A) · CREDIT</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Where each sovereign actually sits</a:t>
            </a:r>
            <a:endParaRPr lang="en-US" sz="3000" dirty="0"/>
          </a:p>
        </p:txBody>
      </p:sp>
      <p:sp>
        <p:nvSpPr>
          <p:cNvPr id="4" name="Text 2"/>
          <p:cNvSpPr txBox="1"/>
          <p:nvPr/>
        </p:nvSpPr>
        <p:spPr>
          <a:xfrm>
            <a:off x="566928" y="1353312"/>
            <a:ext cx="11057839" cy="310896"/>
          </a:xfrm>
          <a:prstGeom prst="rect">
            <a:avLst/>
          </a:prstGeom>
          <a:noFill/>
          <a:ln/>
        </p:spPr>
        <p:txBody>
          <a:bodyPr wrap="square" lIns="0" tIns="0" rIns="0" bIns="0" rtlCol="0" anchor="t"/>
          <a:lstStyle/>
          <a:p>
            <a:pPr indent="0" marL="0">
              <a:lnSpc>
                <a:spcPct val="116000"/>
              </a:lnSpc>
              <a:buNone/>
            </a:pPr>
            <a:r>
              <a:rPr lang="en-US" sz="1150" dirty="0">
                <a:solidFill>
                  <a:srgbClr val="35545C"/>
                </a:solidFill>
                <a:latin typeface="Calibri" pitchFamily="34" charset="0"/>
                <a:ea typeface="Calibri" pitchFamily="34" charset="-122"/>
                <a:cs typeface="Calibri" pitchFamily="34" charset="-120"/>
              </a:rPr>
              <a:t>Composite of the three agencies on a 21-point scale. 12 is the lowest investment-grade notch.</a:t>
            </a:r>
            <a:endParaRPr lang="en-US" sz="1150" dirty="0"/>
          </a:p>
        </p:txBody>
      </p:sp>
      <p:sp>
        <p:nvSpPr>
          <p:cNvPr id="5" name="Shape 3"/>
          <p:cNvSpPr/>
          <p:nvPr/>
        </p:nvSpPr>
        <p:spPr>
          <a:xfrm>
            <a:off x="7761224" y="1664208"/>
            <a:ext cx="18288" cy="3017520"/>
          </a:xfrm>
          <a:prstGeom prst="rect">
            <a:avLst/>
          </a:prstGeom>
          <a:solidFill>
            <a:srgbClr val="D99A2B"/>
          </a:solidFill>
          <a:ln/>
        </p:spPr>
      </p:sp>
      <p:sp>
        <p:nvSpPr>
          <p:cNvPr id="6" name="Text 4"/>
          <p:cNvSpPr txBox="1"/>
          <p:nvPr/>
        </p:nvSpPr>
        <p:spPr>
          <a:xfrm>
            <a:off x="7825232" y="1426464"/>
            <a:ext cx="1645920" cy="219456"/>
          </a:xfrm>
          <a:prstGeom prst="rect">
            <a:avLst/>
          </a:prstGeom>
          <a:noFill/>
          <a:ln/>
        </p:spPr>
        <p:txBody>
          <a:bodyPr wrap="square" lIns="0" tIns="0" rIns="0" bIns="0" rtlCol="0" anchor="ctr"/>
          <a:lstStyle/>
          <a:p>
            <a:pPr indent="0" marL="0">
              <a:buNone/>
            </a:pPr>
            <a:r>
              <a:rPr lang="en-US" sz="900" b="1" dirty="0">
                <a:solidFill>
                  <a:srgbClr val="D99A2B"/>
                </a:solidFill>
                <a:latin typeface="Calibri" pitchFamily="34" charset="0"/>
                <a:ea typeface="Calibri" pitchFamily="34" charset="-122"/>
                <a:cs typeface="Calibri" pitchFamily="34" charset="-120"/>
              </a:rPr>
              <a:t>investment grade</a:t>
            </a:r>
            <a:endParaRPr lang="en-US" sz="900" dirty="0"/>
          </a:p>
        </p:txBody>
      </p:sp>
      <p:sp>
        <p:nvSpPr>
          <p:cNvPr id="7" name="Text 5"/>
          <p:cNvSpPr txBox="1"/>
          <p:nvPr/>
        </p:nvSpPr>
        <p:spPr>
          <a:xfrm>
            <a:off x="566928" y="1773936"/>
            <a:ext cx="1920240" cy="310896"/>
          </a:xfrm>
          <a:prstGeom prst="rect">
            <a:avLst/>
          </a:prstGeom>
          <a:noFill/>
          <a:ln/>
        </p:spPr>
        <p:txBody>
          <a:bodyPr wrap="square" lIns="0" tIns="0" rIns="0" bIns="0" rtlCol="0" anchor="ctr"/>
          <a:lstStyle/>
          <a:p>
            <a:pPr indent="0" marL="0">
              <a:buNone/>
            </a:pPr>
            <a:r>
              <a:rPr lang="en-US" sz="1100" b="1" dirty="0">
                <a:solidFill>
                  <a:srgbClr val="0B3B45"/>
                </a:solidFill>
                <a:latin typeface="Calibri" pitchFamily="34" charset="0"/>
                <a:ea typeface="Calibri" pitchFamily="34" charset="-122"/>
                <a:cs typeface="Calibri" pitchFamily="34" charset="-120"/>
              </a:rPr>
              <a:t>Panama</a:t>
            </a:r>
            <a:endParaRPr lang="en-US" sz="1100" dirty="0"/>
          </a:p>
        </p:txBody>
      </p:sp>
      <p:sp>
        <p:nvSpPr>
          <p:cNvPr id="8" name="Shape 6"/>
          <p:cNvSpPr/>
          <p:nvPr/>
        </p:nvSpPr>
        <p:spPr>
          <a:xfrm>
            <a:off x="7028688" y="1915668"/>
            <a:ext cx="741680" cy="27432"/>
          </a:xfrm>
          <a:prstGeom prst="rect">
            <a:avLst/>
          </a:prstGeom>
          <a:solidFill>
            <a:srgbClr val="C3CFD2"/>
          </a:solidFill>
          <a:ln/>
        </p:spPr>
      </p:sp>
      <p:sp>
        <p:nvSpPr>
          <p:cNvPr id="9" name="Shape 7"/>
          <p:cNvSpPr/>
          <p:nvPr/>
        </p:nvSpPr>
        <p:spPr>
          <a:xfrm>
            <a:off x="7665212" y="1824228"/>
            <a:ext cx="210312" cy="210312"/>
          </a:xfrm>
          <a:prstGeom prst="ellipse">
            <a:avLst/>
          </a:prstGeom>
          <a:solidFill>
            <a:srgbClr val="3E7C59"/>
          </a:solidFill>
          <a:ln/>
        </p:spPr>
      </p:sp>
      <p:sp>
        <p:nvSpPr>
          <p:cNvPr id="10" name="Text 8"/>
          <p:cNvSpPr txBox="1"/>
          <p:nvPr/>
        </p:nvSpPr>
        <p:spPr>
          <a:xfrm>
            <a:off x="7665212" y="18242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a:t>
            </a:r>
            <a:endParaRPr lang="en-US" sz="750" dirty="0"/>
          </a:p>
        </p:txBody>
      </p:sp>
      <p:sp>
        <p:nvSpPr>
          <p:cNvPr id="11" name="Shape 9"/>
          <p:cNvSpPr/>
          <p:nvPr/>
        </p:nvSpPr>
        <p:spPr>
          <a:xfrm>
            <a:off x="7902956" y="1824228"/>
            <a:ext cx="210312" cy="210312"/>
          </a:xfrm>
          <a:prstGeom prst="ellipse">
            <a:avLst/>
          </a:prstGeom>
          <a:solidFill>
            <a:srgbClr val="3E7C59"/>
          </a:solidFill>
          <a:ln/>
        </p:spPr>
      </p:sp>
      <p:sp>
        <p:nvSpPr>
          <p:cNvPr id="12" name="Text 10"/>
          <p:cNvSpPr txBox="1"/>
          <p:nvPr/>
        </p:nvSpPr>
        <p:spPr>
          <a:xfrm>
            <a:off x="7902956" y="18242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a:t>
            </a:r>
            <a:endParaRPr lang="en-US" sz="750" dirty="0"/>
          </a:p>
        </p:txBody>
      </p:sp>
      <p:sp>
        <p:nvSpPr>
          <p:cNvPr id="13" name="Shape 11"/>
          <p:cNvSpPr/>
          <p:nvPr/>
        </p:nvSpPr>
        <p:spPr>
          <a:xfrm>
            <a:off x="6923532" y="1824228"/>
            <a:ext cx="210312" cy="210312"/>
          </a:xfrm>
          <a:prstGeom prst="ellipse">
            <a:avLst/>
          </a:prstGeom>
          <a:solidFill>
            <a:srgbClr val="156A7A"/>
          </a:solidFill>
          <a:ln/>
        </p:spPr>
      </p:sp>
      <p:sp>
        <p:nvSpPr>
          <p:cNvPr id="14" name="Text 12"/>
          <p:cNvSpPr txBox="1"/>
          <p:nvPr/>
        </p:nvSpPr>
        <p:spPr>
          <a:xfrm>
            <a:off x="6923532" y="18242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a:t>
            </a:r>
            <a:endParaRPr lang="en-US" sz="750" dirty="0"/>
          </a:p>
        </p:txBody>
      </p:sp>
      <p:sp>
        <p:nvSpPr>
          <p:cNvPr id="15" name="Text 13"/>
          <p:cNvSpPr txBox="1"/>
          <p:nvPr/>
        </p:nvSpPr>
        <p:spPr>
          <a:xfrm>
            <a:off x="9454896" y="1773936"/>
            <a:ext cx="2103120" cy="310896"/>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Baa3 / BBB- / BB+</a:t>
            </a:r>
            <a:endParaRPr lang="en-US" sz="1000" dirty="0"/>
          </a:p>
        </p:txBody>
      </p:sp>
      <p:sp>
        <p:nvSpPr>
          <p:cNvPr id="16" name="Text 14"/>
          <p:cNvSpPr txBox="1"/>
          <p:nvPr/>
        </p:nvSpPr>
        <p:spPr>
          <a:xfrm>
            <a:off x="566928" y="2231136"/>
            <a:ext cx="1920240" cy="310896"/>
          </a:xfrm>
          <a:prstGeom prst="rect">
            <a:avLst/>
          </a:prstGeom>
          <a:noFill/>
          <a:ln/>
        </p:spPr>
        <p:txBody>
          <a:bodyPr wrap="square" lIns="0" tIns="0" rIns="0" bIns="0" rtlCol="0" anchor="ctr"/>
          <a:lstStyle/>
          <a:p>
            <a:pPr indent="0" marL="0">
              <a:buNone/>
            </a:pPr>
            <a:r>
              <a:rPr lang="en-US" sz="1100" b="1" dirty="0">
                <a:solidFill>
                  <a:srgbClr val="2C6470"/>
                </a:solidFill>
                <a:latin typeface="Calibri" pitchFamily="34" charset="0"/>
                <a:ea typeface="Calibri" pitchFamily="34" charset="-122"/>
                <a:cs typeface="Calibri" pitchFamily="34" charset="-120"/>
              </a:rPr>
              <a:t>Guatemala</a:t>
            </a:r>
            <a:endParaRPr lang="en-US" sz="1100" dirty="0"/>
          </a:p>
        </p:txBody>
      </p:sp>
      <p:sp>
        <p:nvSpPr>
          <p:cNvPr id="17" name="Shape 15"/>
          <p:cNvSpPr/>
          <p:nvPr/>
        </p:nvSpPr>
        <p:spPr>
          <a:xfrm>
            <a:off x="6287008" y="2372868"/>
            <a:ext cx="741680" cy="27432"/>
          </a:xfrm>
          <a:prstGeom prst="rect">
            <a:avLst/>
          </a:prstGeom>
          <a:solidFill>
            <a:srgbClr val="C3CFD2"/>
          </a:solidFill>
          <a:ln/>
        </p:spPr>
      </p:sp>
      <p:sp>
        <p:nvSpPr>
          <p:cNvPr id="18" name="Shape 16"/>
          <p:cNvSpPr/>
          <p:nvPr/>
        </p:nvSpPr>
        <p:spPr>
          <a:xfrm>
            <a:off x="6923532" y="2281428"/>
            <a:ext cx="210312" cy="210312"/>
          </a:xfrm>
          <a:prstGeom prst="ellipse">
            <a:avLst/>
          </a:prstGeom>
          <a:solidFill>
            <a:srgbClr val="156A7A"/>
          </a:solidFill>
          <a:ln/>
        </p:spPr>
      </p:sp>
      <p:sp>
        <p:nvSpPr>
          <p:cNvPr id="19" name="Text 17"/>
          <p:cNvSpPr txBox="1"/>
          <p:nvPr/>
        </p:nvSpPr>
        <p:spPr>
          <a:xfrm>
            <a:off x="6923532" y="22814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a:t>
            </a:r>
            <a:endParaRPr lang="en-US" sz="750" dirty="0"/>
          </a:p>
        </p:txBody>
      </p:sp>
      <p:sp>
        <p:nvSpPr>
          <p:cNvPr id="20" name="Shape 18"/>
          <p:cNvSpPr/>
          <p:nvPr/>
        </p:nvSpPr>
        <p:spPr>
          <a:xfrm>
            <a:off x="7161276" y="2281428"/>
            <a:ext cx="210312" cy="210312"/>
          </a:xfrm>
          <a:prstGeom prst="ellipse">
            <a:avLst/>
          </a:prstGeom>
          <a:solidFill>
            <a:srgbClr val="156A7A"/>
          </a:solidFill>
          <a:ln/>
        </p:spPr>
      </p:sp>
      <p:sp>
        <p:nvSpPr>
          <p:cNvPr id="21" name="Text 19"/>
          <p:cNvSpPr txBox="1"/>
          <p:nvPr/>
        </p:nvSpPr>
        <p:spPr>
          <a:xfrm>
            <a:off x="7161276" y="22814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a:t>
            </a:r>
            <a:endParaRPr lang="en-US" sz="750" dirty="0"/>
          </a:p>
        </p:txBody>
      </p:sp>
      <p:sp>
        <p:nvSpPr>
          <p:cNvPr id="22" name="Shape 20"/>
          <p:cNvSpPr/>
          <p:nvPr/>
        </p:nvSpPr>
        <p:spPr>
          <a:xfrm>
            <a:off x="6181852" y="2281428"/>
            <a:ext cx="210312" cy="210312"/>
          </a:xfrm>
          <a:prstGeom prst="ellipse">
            <a:avLst/>
          </a:prstGeom>
          <a:solidFill>
            <a:srgbClr val="156A7A"/>
          </a:solidFill>
          <a:ln/>
        </p:spPr>
      </p:sp>
      <p:sp>
        <p:nvSpPr>
          <p:cNvPr id="23" name="Text 21"/>
          <p:cNvSpPr txBox="1"/>
          <p:nvPr/>
        </p:nvSpPr>
        <p:spPr>
          <a:xfrm>
            <a:off x="6181852" y="22814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a:t>
            </a:r>
            <a:endParaRPr lang="en-US" sz="750" dirty="0"/>
          </a:p>
        </p:txBody>
      </p:sp>
      <p:sp>
        <p:nvSpPr>
          <p:cNvPr id="24" name="Text 22"/>
          <p:cNvSpPr txBox="1"/>
          <p:nvPr/>
        </p:nvSpPr>
        <p:spPr>
          <a:xfrm>
            <a:off x="9454896" y="2231136"/>
            <a:ext cx="2103120" cy="310896"/>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Ba1 / BB+ / BB</a:t>
            </a:r>
            <a:endParaRPr lang="en-US" sz="1000" dirty="0"/>
          </a:p>
        </p:txBody>
      </p:sp>
      <p:sp>
        <p:nvSpPr>
          <p:cNvPr id="25" name="Text 23"/>
          <p:cNvSpPr txBox="1"/>
          <p:nvPr/>
        </p:nvSpPr>
        <p:spPr>
          <a:xfrm>
            <a:off x="566928" y="2688336"/>
            <a:ext cx="1920240" cy="310896"/>
          </a:xfrm>
          <a:prstGeom prst="rect">
            <a:avLst/>
          </a:prstGeom>
          <a:noFill/>
          <a:ln/>
        </p:spPr>
        <p:txBody>
          <a:bodyPr wrap="square" lIns="0" tIns="0" rIns="0" bIns="0" rtlCol="0" anchor="ctr"/>
          <a:lstStyle/>
          <a:p>
            <a:pPr indent="0" marL="0">
              <a:buNone/>
            </a:pPr>
            <a:r>
              <a:rPr lang="en-US" sz="1100" b="1" dirty="0">
                <a:solidFill>
                  <a:srgbClr val="8A5F12"/>
                </a:solidFill>
                <a:latin typeface="Calibri" pitchFamily="34" charset="0"/>
                <a:ea typeface="Calibri" pitchFamily="34" charset="-122"/>
                <a:cs typeface="Calibri" pitchFamily="34" charset="-120"/>
              </a:rPr>
              <a:t>Colombia</a:t>
            </a:r>
            <a:endParaRPr lang="en-US" sz="1100" dirty="0"/>
          </a:p>
        </p:txBody>
      </p:sp>
      <p:sp>
        <p:nvSpPr>
          <p:cNvPr id="26" name="Shape 24"/>
          <p:cNvSpPr/>
          <p:nvPr/>
        </p:nvSpPr>
        <p:spPr>
          <a:xfrm>
            <a:off x="5545328" y="2830068"/>
            <a:ext cx="2225040" cy="27432"/>
          </a:xfrm>
          <a:prstGeom prst="rect">
            <a:avLst/>
          </a:prstGeom>
          <a:solidFill>
            <a:srgbClr val="C3CFD2"/>
          </a:solidFill>
          <a:ln/>
        </p:spPr>
      </p:sp>
      <p:sp>
        <p:nvSpPr>
          <p:cNvPr id="27" name="Shape 25"/>
          <p:cNvSpPr/>
          <p:nvPr/>
        </p:nvSpPr>
        <p:spPr>
          <a:xfrm>
            <a:off x="7665212" y="2738628"/>
            <a:ext cx="210312" cy="210312"/>
          </a:xfrm>
          <a:prstGeom prst="ellipse">
            <a:avLst/>
          </a:prstGeom>
          <a:solidFill>
            <a:srgbClr val="3E7C59"/>
          </a:solidFill>
          <a:ln/>
        </p:spPr>
      </p:sp>
      <p:sp>
        <p:nvSpPr>
          <p:cNvPr id="28" name="Text 26"/>
          <p:cNvSpPr txBox="1"/>
          <p:nvPr/>
        </p:nvSpPr>
        <p:spPr>
          <a:xfrm>
            <a:off x="7665212" y="27386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a:t>
            </a:r>
            <a:endParaRPr lang="en-US" sz="750" dirty="0"/>
          </a:p>
        </p:txBody>
      </p:sp>
      <p:sp>
        <p:nvSpPr>
          <p:cNvPr id="29" name="Shape 27"/>
          <p:cNvSpPr/>
          <p:nvPr/>
        </p:nvSpPr>
        <p:spPr>
          <a:xfrm>
            <a:off x="5440172" y="2738628"/>
            <a:ext cx="210312" cy="210312"/>
          </a:xfrm>
          <a:prstGeom prst="ellipse">
            <a:avLst/>
          </a:prstGeom>
          <a:solidFill>
            <a:srgbClr val="156A7A"/>
          </a:solidFill>
          <a:ln/>
        </p:spPr>
      </p:sp>
      <p:sp>
        <p:nvSpPr>
          <p:cNvPr id="30" name="Text 28"/>
          <p:cNvSpPr txBox="1"/>
          <p:nvPr/>
        </p:nvSpPr>
        <p:spPr>
          <a:xfrm>
            <a:off x="5440172" y="27386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a:t>
            </a:r>
            <a:endParaRPr lang="en-US" sz="750" dirty="0"/>
          </a:p>
        </p:txBody>
      </p:sp>
      <p:sp>
        <p:nvSpPr>
          <p:cNvPr id="31" name="Shape 29"/>
          <p:cNvSpPr/>
          <p:nvPr/>
        </p:nvSpPr>
        <p:spPr>
          <a:xfrm>
            <a:off x="6181852" y="2738628"/>
            <a:ext cx="210312" cy="210312"/>
          </a:xfrm>
          <a:prstGeom prst="ellipse">
            <a:avLst/>
          </a:prstGeom>
          <a:solidFill>
            <a:srgbClr val="156A7A"/>
          </a:solidFill>
          <a:ln/>
        </p:spPr>
      </p:sp>
      <p:sp>
        <p:nvSpPr>
          <p:cNvPr id="32" name="Text 30"/>
          <p:cNvSpPr txBox="1"/>
          <p:nvPr/>
        </p:nvSpPr>
        <p:spPr>
          <a:xfrm>
            <a:off x="6181852" y="27386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a:t>
            </a:r>
            <a:endParaRPr lang="en-US" sz="750" dirty="0"/>
          </a:p>
        </p:txBody>
      </p:sp>
      <p:sp>
        <p:nvSpPr>
          <p:cNvPr id="33" name="Text 31"/>
          <p:cNvSpPr txBox="1"/>
          <p:nvPr/>
        </p:nvSpPr>
        <p:spPr>
          <a:xfrm>
            <a:off x="9454896" y="2688336"/>
            <a:ext cx="2103120" cy="310896"/>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Baa3 / BB- / BB</a:t>
            </a:r>
            <a:endParaRPr lang="en-US" sz="1000" dirty="0"/>
          </a:p>
        </p:txBody>
      </p:sp>
      <p:sp>
        <p:nvSpPr>
          <p:cNvPr id="34" name="Text 32"/>
          <p:cNvSpPr txBox="1"/>
          <p:nvPr/>
        </p:nvSpPr>
        <p:spPr>
          <a:xfrm>
            <a:off x="566928" y="3145536"/>
            <a:ext cx="1920240" cy="310896"/>
          </a:xfrm>
          <a:prstGeom prst="rect">
            <a:avLst/>
          </a:prstGeom>
          <a:noFill/>
          <a:ln/>
        </p:spPr>
        <p:txBody>
          <a:bodyPr wrap="square" lIns="0" tIns="0" rIns="0" bIns="0" rtlCol="0" anchor="ctr"/>
          <a:lstStyle/>
          <a:p>
            <a:pPr indent="0" marL="0">
              <a:buNone/>
            </a:pPr>
            <a:r>
              <a:rPr lang="en-US" sz="1100" b="1" dirty="0">
                <a:solidFill>
                  <a:srgbClr val="156A7A"/>
                </a:solidFill>
                <a:latin typeface="Calibri" pitchFamily="34" charset="0"/>
                <a:ea typeface="Calibri" pitchFamily="34" charset="-122"/>
                <a:cs typeface="Calibri" pitchFamily="34" charset="-120"/>
              </a:rPr>
              <a:t>Costa Rica</a:t>
            </a:r>
            <a:endParaRPr lang="en-US" sz="1100" dirty="0"/>
          </a:p>
        </p:txBody>
      </p:sp>
      <p:sp>
        <p:nvSpPr>
          <p:cNvPr id="35" name="Shape 33"/>
          <p:cNvSpPr/>
          <p:nvPr/>
        </p:nvSpPr>
        <p:spPr>
          <a:xfrm>
            <a:off x="5545328" y="3287268"/>
            <a:ext cx="741680" cy="27432"/>
          </a:xfrm>
          <a:prstGeom prst="rect">
            <a:avLst/>
          </a:prstGeom>
          <a:solidFill>
            <a:srgbClr val="C3CFD2"/>
          </a:solidFill>
          <a:ln/>
        </p:spPr>
      </p:sp>
      <p:sp>
        <p:nvSpPr>
          <p:cNvPr id="36" name="Shape 34"/>
          <p:cNvSpPr/>
          <p:nvPr/>
        </p:nvSpPr>
        <p:spPr>
          <a:xfrm>
            <a:off x="6181852" y="3195828"/>
            <a:ext cx="210312" cy="210312"/>
          </a:xfrm>
          <a:prstGeom prst="ellipse">
            <a:avLst/>
          </a:prstGeom>
          <a:solidFill>
            <a:srgbClr val="156A7A"/>
          </a:solidFill>
          <a:ln/>
        </p:spPr>
      </p:sp>
      <p:sp>
        <p:nvSpPr>
          <p:cNvPr id="37" name="Text 35"/>
          <p:cNvSpPr txBox="1"/>
          <p:nvPr/>
        </p:nvSpPr>
        <p:spPr>
          <a:xfrm>
            <a:off x="6181852" y="31958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a:t>
            </a:r>
            <a:endParaRPr lang="en-US" sz="750" dirty="0"/>
          </a:p>
        </p:txBody>
      </p:sp>
      <p:sp>
        <p:nvSpPr>
          <p:cNvPr id="38" name="Shape 36"/>
          <p:cNvSpPr/>
          <p:nvPr/>
        </p:nvSpPr>
        <p:spPr>
          <a:xfrm>
            <a:off x="6419596" y="3195828"/>
            <a:ext cx="210312" cy="210312"/>
          </a:xfrm>
          <a:prstGeom prst="ellipse">
            <a:avLst/>
          </a:prstGeom>
          <a:solidFill>
            <a:srgbClr val="156A7A"/>
          </a:solidFill>
          <a:ln/>
        </p:spPr>
      </p:sp>
      <p:sp>
        <p:nvSpPr>
          <p:cNvPr id="39" name="Text 37"/>
          <p:cNvSpPr txBox="1"/>
          <p:nvPr/>
        </p:nvSpPr>
        <p:spPr>
          <a:xfrm>
            <a:off x="6419596" y="31958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a:t>
            </a:r>
            <a:endParaRPr lang="en-US" sz="750" dirty="0"/>
          </a:p>
        </p:txBody>
      </p:sp>
      <p:sp>
        <p:nvSpPr>
          <p:cNvPr id="40" name="Shape 38"/>
          <p:cNvSpPr/>
          <p:nvPr/>
        </p:nvSpPr>
        <p:spPr>
          <a:xfrm>
            <a:off x="5440172" y="3195828"/>
            <a:ext cx="210312" cy="210312"/>
          </a:xfrm>
          <a:prstGeom prst="ellipse">
            <a:avLst/>
          </a:prstGeom>
          <a:solidFill>
            <a:srgbClr val="156A7A"/>
          </a:solidFill>
          <a:ln/>
        </p:spPr>
      </p:sp>
      <p:sp>
        <p:nvSpPr>
          <p:cNvPr id="41" name="Text 39"/>
          <p:cNvSpPr txBox="1"/>
          <p:nvPr/>
        </p:nvSpPr>
        <p:spPr>
          <a:xfrm>
            <a:off x="5440172" y="31958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a:t>
            </a:r>
            <a:endParaRPr lang="en-US" sz="750" dirty="0"/>
          </a:p>
        </p:txBody>
      </p:sp>
      <p:sp>
        <p:nvSpPr>
          <p:cNvPr id="42" name="Text 40"/>
          <p:cNvSpPr txBox="1"/>
          <p:nvPr/>
        </p:nvSpPr>
        <p:spPr>
          <a:xfrm>
            <a:off x="9454896" y="3145536"/>
            <a:ext cx="2103120" cy="310896"/>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Ba2 / BB / BB-</a:t>
            </a:r>
            <a:endParaRPr lang="en-US" sz="1000" dirty="0"/>
          </a:p>
        </p:txBody>
      </p:sp>
      <p:sp>
        <p:nvSpPr>
          <p:cNvPr id="43" name="Text 41"/>
          <p:cNvSpPr txBox="1"/>
          <p:nvPr/>
        </p:nvSpPr>
        <p:spPr>
          <a:xfrm>
            <a:off x="566928" y="3602736"/>
            <a:ext cx="1920240" cy="310896"/>
          </a:xfrm>
          <a:prstGeom prst="rect">
            <a:avLst/>
          </a:prstGeom>
          <a:noFill/>
          <a:ln/>
        </p:spPr>
        <p:txBody>
          <a:bodyPr wrap="square" lIns="0" tIns="0" rIns="0" bIns="0" rtlCol="0" anchor="ctr"/>
          <a:lstStyle/>
          <a:p>
            <a:pPr indent="0" marL="0">
              <a:buNone/>
            </a:pPr>
            <a:r>
              <a:rPr lang="en-US" sz="1100" b="1" dirty="0">
                <a:solidFill>
                  <a:srgbClr val="2E6F6B"/>
                </a:solidFill>
                <a:latin typeface="Calibri" pitchFamily="34" charset="0"/>
                <a:ea typeface="Calibri" pitchFamily="34" charset="-122"/>
                <a:cs typeface="Calibri" pitchFamily="34" charset="-120"/>
              </a:rPr>
              <a:t>Dominican Rep.</a:t>
            </a:r>
            <a:endParaRPr lang="en-US" sz="1100" dirty="0"/>
          </a:p>
        </p:txBody>
      </p:sp>
      <p:sp>
        <p:nvSpPr>
          <p:cNvPr id="44" name="Shape 42"/>
          <p:cNvSpPr/>
          <p:nvPr/>
        </p:nvSpPr>
        <p:spPr>
          <a:xfrm>
            <a:off x="5545328" y="3744468"/>
            <a:ext cx="741680" cy="27432"/>
          </a:xfrm>
          <a:prstGeom prst="rect">
            <a:avLst/>
          </a:prstGeom>
          <a:solidFill>
            <a:srgbClr val="C3CFD2"/>
          </a:solidFill>
          <a:ln/>
        </p:spPr>
      </p:sp>
      <p:sp>
        <p:nvSpPr>
          <p:cNvPr id="45" name="Shape 43"/>
          <p:cNvSpPr/>
          <p:nvPr/>
        </p:nvSpPr>
        <p:spPr>
          <a:xfrm>
            <a:off x="6181852" y="3653028"/>
            <a:ext cx="210312" cy="210312"/>
          </a:xfrm>
          <a:prstGeom prst="ellipse">
            <a:avLst/>
          </a:prstGeom>
          <a:solidFill>
            <a:srgbClr val="156A7A"/>
          </a:solidFill>
          <a:ln/>
        </p:spPr>
      </p:sp>
      <p:sp>
        <p:nvSpPr>
          <p:cNvPr id="46" name="Text 44"/>
          <p:cNvSpPr txBox="1"/>
          <p:nvPr/>
        </p:nvSpPr>
        <p:spPr>
          <a:xfrm>
            <a:off x="6181852" y="36530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a:t>
            </a:r>
            <a:endParaRPr lang="en-US" sz="750" dirty="0"/>
          </a:p>
        </p:txBody>
      </p:sp>
      <p:sp>
        <p:nvSpPr>
          <p:cNvPr id="47" name="Shape 45"/>
          <p:cNvSpPr/>
          <p:nvPr/>
        </p:nvSpPr>
        <p:spPr>
          <a:xfrm>
            <a:off x="6419596" y="3653028"/>
            <a:ext cx="210312" cy="210312"/>
          </a:xfrm>
          <a:prstGeom prst="ellipse">
            <a:avLst/>
          </a:prstGeom>
          <a:solidFill>
            <a:srgbClr val="156A7A"/>
          </a:solidFill>
          <a:ln/>
        </p:spPr>
      </p:sp>
      <p:sp>
        <p:nvSpPr>
          <p:cNvPr id="48" name="Text 46"/>
          <p:cNvSpPr txBox="1"/>
          <p:nvPr/>
        </p:nvSpPr>
        <p:spPr>
          <a:xfrm>
            <a:off x="6419596" y="36530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a:t>
            </a:r>
            <a:endParaRPr lang="en-US" sz="750" dirty="0"/>
          </a:p>
        </p:txBody>
      </p:sp>
      <p:sp>
        <p:nvSpPr>
          <p:cNvPr id="49" name="Shape 47"/>
          <p:cNvSpPr/>
          <p:nvPr/>
        </p:nvSpPr>
        <p:spPr>
          <a:xfrm>
            <a:off x="5440172" y="3653028"/>
            <a:ext cx="210312" cy="210312"/>
          </a:xfrm>
          <a:prstGeom prst="ellipse">
            <a:avLst/>
          </a:prstGeom>
          <a:solidFill>
            <a:srgbClr val="156A7A"/>
          </a:solidFill>
          <a:ln/>
        </p:spPr>
      </p:sp>
      <p:sp>
        <p:nvSpPr>
          <p:cNvPr id="50" name="Text 48"/>
          <p:cNvSpPr txBox="1"/>
          <p:nvPr/>
        </p:nvSpPr>
        <p:spPr>
          <a:xfrm>
            <a:off x="5440172" y="36530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a:t>
            </a:r>
            <a:endParaRPr lang="en-US" sz="750" dirty="0"/>
          </a:p>
        </p:txBody>
      </p:sp>
      <p:sp>
        <p:nvSpPr>
          <p:cNvPr id="51" name="Text 49"/>
          <p:cNvSpPr txBox="1"/>
          <p:nvPr/>
        </p:nvSpPr>
        <p:spPr>
          <a:xfrm>
            <a:off x="9454896" y="3602736"/>
            <a:ext cx="2103120" cy="310896"/>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Ba2 / BB / BB-</a:t>
            </a:r>
            <a:endParaRPr lang="en-US" sz="1000" dirty="0"/>
          </a:p>
        </p:txBody>
      </p:sp>
      <p:sp>
        <p:nvSpPr>
          <p:cNvPr id="52" name="Text 50"/>
          <p:cNvSpPr txBox="1"/>
          <p:nvPr/>
        </p:nvSpPr>
        <p:spPr>
          <a:xfrm>
            <a:off x="566928" y="4059936"/>
            <a:ext cx="1920240" cy="310896"/>
          </a:xfrm>
          <a:prstGeom prst="rect">
            <a:avLst/>
          </a:prstGeom>
          <a:noFill/>
          <a:ln/>
        </p:spPr>
        <p:txBody>
          <a:bodyPr wrap="square" lIns="0" tIns="0" rIns="0" bIns="0" rtlCol="0" anchor="ctr"/>
          <a:lstStyle/>
          <a:p>
            <a:pPr indent="0" marL="0">
              <a:buNone/>
            </a:pPr>
            <a:r>
              <a:rPr lang="en-US" sz="1100" b="1" dirty="0">
                <a:solidFill>
                  <a:srgbClr val="7A5C3E"/>
                </a:solidFill>
                <a:latin typeface="Calibri" pitchFamily="34" charset="0"/>
                <a:ea typeface="Calibri" pitchFamily="34" charset="-122"/>
                <a:cs typeface="Calibri" pitchFamily="34" charset="-120"/>
              </a:rPr>
              <a:t>El Salvador</a:t>
            </a:r>
            <a:endParaRPr lang="en-US" sz="1100" dirty="0"/>
          </a:p>
        </p:txBody>
      </p:sp>
      <p:sp>
        <p:nvSpPr>
          <p:cNvPr id="53" name="Shape 51"/>
          <p:cNvSpPr/>
          <p:nvPr/>
        </p:nvSpPr>
        <p:spPr>
          <a:xfrm>
            <a:off x="3320288" y="4201668"/>
            <a:ext cx="18288" cy="27432"/>
          </a:xfrm>
          <a:prstGeom prst="rect">
            <a:avLst/>
          </a:prstGeom>
          <a:solidFill>
            <a:srgbClr val="C3CFD2"/>
          </a:solidFill>
          <a:ln/>
        </p:spPr>
      </p:sp>
      <p:sp>
        <p:nvSpPr>
          <p:cNvPr id="54" name="Shape 52"/>
          <p:cNvSpPr/>
          <p:nvPr/>
        </p:nvSpPr>
        <p:spPr>
          <a:xfrm>
            <a:off x="3215132" y="4110228"/>
            <a:ext cx="210312" cy="210312"/>
          </a:xfrm>
          <a:prstGeom prst="ellipse">
            <a:avLst/>
          </a:prstGeom>
          <a:solidFill>
            <a:srgbClr val="A8322D"/>
          </a:solidFill>
          <a:ln/>
        </p:spPr>
      </p:sp>
      <p:sp>
        <p:nvSpPr>
          <p:cNvPr id="55" name="Text 53"/>
          <p:cNvSpPr txBox="1"/>
          <p:nvPr/>
        </p:nvSpPr>
        <p:spPr>
          <a:xfrm>
            <a:off x="3215132" y="41102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M</a:t>
            </a:r>
            <a:endParaRPr lang="en-US" sz="750" dirty="0"/>
          </a:p>
        </p:txBody>
      </p:sp>
      <p:sp>
        <p:nvSpPr>
          <p:cNvPr id="56" name="Shape 54"/>
          <p:cNvSpPr/>
          <p:nvPr/>
        </p:nvSpPr>
        <p:spPr>
          <a:xfrm>
            <a:off x="3452876" y="4110228"/>
            <a:ext cx="210312" cy="210312"/>
          </a:xfrm>
          <a:prstGeom prst="ellipse">
            <a:avLst/>
          </a:prstGeom>
          <a:solidFill>
            <a:srgbClr val="A8322D"/>
          </a:solidFill>
          <a:ln/>
        </p:spPr>
      </p:sp>
      <p:sp>
        <p:nvSpPr>
          <p:cNvPr id="57" name="Text 55"/>
          <p:cNvSpPr txBox="1"/>
          <p:nvPr/>
        </p:nvSpPr>
        <p:spPr>
          <a:xfrm>
            <a:off x="3452876" y="41102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S</a:t>
            </a:r>
            <a:endParaRPr lang="en-US" sz="750" dirty="0"/>
          </a:p>
        </p:txBody>
      </p:sp>
      <p:sp>
        <p:nvSpPr>
          <p:cNvPr id="58" name="Shape 56"/>
          <p:cNvSpPr/>
          <p:nvPr/>
        </p:nvSpPr>
        <p:spPr>
          <a:xfrm>
            <a:off x="3690620" y="4110228"/>
            <a:ext cx="210312" cy="210312"/>
          </a:xfrm>
          <a:prstGeom prst="ellipse">
            <a:avLst/>
          </a:prstGeom>
          <a:solidFill>
            <a:srgbClr val="A8322D"/>
          </a:solidFill>
          <a:ln/>
        </p:spPr>
      </p:sp>
      <p:sp>
        <p:nvSpPr>
          <p:cNvPr id="59" name="Text 57"/>
          <p:cNvSpPr txBox="1"/>
          <p:nvPr/>
        </p:nvSpPr>
        <p:spPr>
          <a:xfrm>
            <a:off x="3690620" y="4110228"/>
            <a:ext cx="210312" cy="210312"/>
          </a:xfrm>
          <a:prstGeom prst="rect">
            <a:avLst/>
          </a:prstGeom>
          <a:noFill/>
          <a:ln/>
        </p:spPr>
        <p:txBody>
          <a:bodyPr wrap="square" lIns="0" tIns="0" rIns="0" bIns="0" rtlCol="0" anchor="ctr"/>
          <a:lstStyle/>
          <a:p>
            <a:pPr algn="ctr" indent="0" marL="0">
              <a:buNone/>
            </a:pPr>
            <a:r>
              <a:rPr lang="en-US" sz="750" b="1" dirty="0">
                <a:solidFill>
                  <a:srgbClr val="FFFFFF"/>
                </a:solidFill>
                <a:latin typeface="Calibri" pitchFamily="34" charset="0"/>
                <a:ea typeface="Calibri" pitchFamily="34" charset="-122"/>
                <a:cs typeface="Calibri" pitchFamily="34" charset="-120"/>
              </a:rPr>
              <a:t>F</a:t>
            </a:r>
            <a:endParaRPr lang="en-US" sz="750" dirty="0"/>
          </a:p>
        </p:txBody>
      </p:sp>
      <p:sp>
        <p:nvSpPr>
          <p:cNvPr id="60" name="Text 58"/>
          <p:cNvSpPr txBox="1"/>
          <p:nvPr/>
        </p:nvSpPr>
        <p:spPr>
          <a:xfrm>
            <a:off x="9454896" y="4059936"/>
            <a:ext cx="2103120" cy="310896"/>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B3 / B- / B-</a:t>
            </a:r>
            <a:endParaRPr lang="en-US" sz="1000" dirty="0"/>
          </a:p>
        </p:txBody>
      </p:sp>
      <p:sp>
        <p:nvSpPr>
          <p:cNvPr id="61" name="Text 59"/>
          <p:cNvSpPr txBox="1"/>
          <p:nvPr/>
        </p:nvSpPr>
        <p:spPr>
          <a:xfrm>
            <a:off x="566928" y="4572000"/>
            <a:ext cx="1920240" cy="310896"/>
          </a:xfrm>
          <a:prstGeom prst="rect">
            <a:avLst/>
          </a:prstGeom>
          <a:noFill/>
          <a:ln/>
        </p:spPr>
        <p:txBody>
          <a:bodyPr wrap="square" lIns="0" tIns="0" rIns="0" bIns="0" rtlCol="0" anchor="ctr"/>
          <a:lstStyle/>
          <a:p>
            <a:pPr indent="0" marL="0">
              <a:buNone/>
            </a:pPr>
            <a:r>
              <a:rPr lang="en-US" sz="1100" b="1" dirty="0">
                <a:solidFill>
                  <a:srgbClr val="3E5C7A"/>
                </a:solidFill>
                <a:latin typeface="Calibri" pitchFamily="34" charset="0"/>
                <a:ea typeface="Calibri" pitchFamily="34" charset="-122"/>
                <a:cs typeface="Calibri" pitchFamily="34" charset="-120"/>
              </a:rPr>
              <a:t>Guyana</a:t>
            </a:r>
            <a:endParaRPr lang="en-US" sz="1100" dirty="0"/>
          </a:p>
        </p:txBody>
      </p:sp>
      <p:sp>
        <p:nvSpPr>
          <p:cNvPr id="62" name="Text 60"/>
          <p:cNvSpPr txBox="1"/>
          <p:nvPr/>
        </p:nvSpPr>
        <p:spPr>
          <a:xfrm>
            <a:off x="2542032" y="4572000"/>
            <a:ext cx="8595360" cy="310896"/>
          </a:xfrm>
          <a:prstGeom prst="rect">
            <a:avLst/>
          </a:prstGeom>
          <a:noFill/>
          <a:ln/>
        </p:spPr>
        <p:txBody>
          <a:bodyPr wrap="square" lIns="0" tIns="0" rIns="0" bIns="0" rtlCol="0" anchor="ctr"/>
          <a:lstStyle/>
          <a:p>
            <a:pPr indent="0" marL="0">
              <a:buNone/>
            </a:pPr>
            <a:r>
              <a:rPr lang="en-US" sz="1000" i="1" dirty="0">
                <a:solidFill>
                  <a:srgbClr val="6B7B80"/>
                </a:solidFill>
                <a:latin typeface="Calibri" pitchFamily="34" charset="0"/>
                <a:ea typeface="Calibri" pitchFamily="34" charset="-122"/>
                <a:cs typeface="Calibri" pitchFamily="34" charset="-120"/>
              </a:rPr>
              <a:t>No public rating from any of the three — Guyana has never sought one and has no benchmark international bond.</a:t>
            </a:r>
            <a:endParaRPr lang="en-US" sz="1000" dirty="0"/>
          </a:p>
        </p:txBody>
      </p:sp>
      <p:sp>
        <p:nvSpPr>
          <p:cNvPr id="63" name="Shape 61"/>
          <p:cNvSpPr/>
          <p:nvPr/>
        </p:nvSpPr>
        <p:spPr>
          <a:xfrm>
            <a:off x="566928" y="5029200"/>
            <a:ext cx="5358384" cy="1188720"/>
          </a:xfrm>
          <a:prstGeom prst="roundRect">
            <a:avLst>
              <a:gd name="adj" fmla="val 4615"/>
            </a:avLst>
          </a:prstGeom>
          <a:solidFill>
            <a:srgbClr val="0B3B45"/>
          </a:solidFill>
          <a:ln w="6350">
            <a:solidFill>
              <a:srgbClr val="0B3B45"/>
            </a:solidFill>
            <a:prstDash val="solid"/>
          </a:ln>
        </p:spPr>
      </p:sp>
      <p:sp>
        <p:nvSpPr>
          <p:cNvPr id="64" name="Text 62"/>
          <p:cNvSpPr txBox="1"/>
          <p:nvPr/>
        </p:nvSpPr>
        <p:spPr>
          <a:xfrm>
            <a:off x="804672" y="5175504"/>
            <a:ext cx="4882896" cy="201168"/>
          </a:xfrm>
          <a:prstGeom prst="rect">
            <a:avLst/>
          </a:prstGeom>
          <a:noFill/>
          <a:ln/>
        </p:spPr>
        <p:txBody>
          <a:bodyPr wrap="square" lIns="0" tIns="0" rIns="0" bIns="0" rtlCol="0" anchor="ctr"/>
          <a:lstStyle/>
          <a:p>
            <a:pPr indent="0" marL="0">
              <a:buNone/>
            </a:pPr>
            <a:r>
              <a:rPr lang="en-US" sz="900" b="1" spc="140" kern="0" dirty="0">
                <a:solidFill>
                  <a:srgbClr val="D99A2B"/>
                </a:solidFill>
                <a:latin typeface="Calibri" pitchFamily="34" charset="0"/>
                <a:ea typeface="Calibri" pitchFamily="34" charset="-122"/>
                <a:cs typeface="Calibri" pitchFamily="34" charset="-120"/>
              </a:rPr>
              <a:t>THE SPLIT-RATING PROBLEM</a:t>
            </a:r>
            <a:endParaRPr lang="en-US" sz="900" dirty="0"/>
          </a:p>
        </p:txBody>
      </p:sp>
      <p:sp>
        <p:nvSpPr>
          <p:cNvPr id="65" name="Text 63"/>
          <p:cNvSpPr txBox="1"/>
          <p:nvPr/>
        </p:nvSpPr>
        <p:spPr>
          <a:xfrm>
            <a:off x="804672" y="5394960"/>
            <a:ext cx="4882896" cy="658368"/>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Colombia and Panama each hold one investment-grade rating and sit below the line on the composite. That is what decides index eligibility for investment-grade mandates — and it is why Moody's position on each is the single largest binary risk in this pack.</a:t>
            </a:r>
            <a:endParaRPr lang="en-US" sz="1100" dirty="0"/>
          </a:p>
        </p:txBody>
      </p:sp>
      <p:sp>
        <p:nvSpPr>
          <p:cNvPr id="66" name="Shape 64"/>
          <p:cNvSpPr/>
          <p:nvPr/>
        </p:nvSpPr>
        <p:spPr>
          <a:xfrm>
            <a:off x="6272784" y="5029200"/>
            <a:ext cx="5358384" cy="1188720"/>
          </a:xfrm>
          <a:prstGeom prst="roundRect">
            <a:avLst>
              <a:gd name="adj" fmla="val 4615"/>
            </a:avLst>
          </a:prstGeom>
          <a:solidFill>
            <a:srgbClr val="F6E4E3"/>
          </a:solidFill>
          <a:ln w="6350">
            <a:solidFill>
              <a:srgbClr val="F6E4E3"/>
            </a:solidFill>
            <a:prstDash val="solid"/>
          </a:ln>
        </p:spPr>
      </p:sp>
      <p:sp>
        <p:nvSpPr>
          <p:cNvPr id="67" name="Text 65"/>
          <p:cNvSpPr txBox="1"/>
          <p:nvPr/>
        </p:nvSpPr>
        <p:spPr>
          <a:xfrm>
            <a:off x="6510528" y="5175504"/>
            <a:ext cx="4882896" cy="201168"/>
          </a:xfrm>
          <a:prstGeom prst="rect">
            <a:avLst/>
          </a:prstGeom>
          <a:noFill/>
          <a:ln/>
        </p:spPr>
        <p:txBody>
          <a:bodyPr wrap="square" lIns="0" tIns="0" rIns="0" bIns="0" rtlCol="0" anchor="ctr"/>
          <a:lstStyle/>
          <a:p>
            <a:pPr indent="0" marL="0">
              <a:buNone/>
            </a:pPr>
            <a:r>
              <a:rPr lang="en-US" sz="900" b="1" spc="140" kern="0" dirty="0">
                <a:solidFill>
                  <a:srgbClr val="A8322D"/>
                </a:solidFill>
                <a:latin typeface="Calibri" pitchFamily="34" charset="0"/>
                <a:ea typeface="Calibri" pitchFamily="34" charset="-122"/>
                <a:cs typeface="Calibri" pitchFamily="34" charset="-120"/>
              </a:rPr>
              <a:t>TWO FITCH LINES YOU MUST CONFIRM BEFORE USE</a:t>
            </a:r>
            <a:endParaRPr lang="en-US" sz="900" dirty="0"/>
          </a:p>
        </p:txBody>
      </p:sp>
      <p:sp>
        <p:nvSpPr>
          <p:cNvPr id="68" name="Text 66"/>
          <p:cNvSpPr txBox="1"/>
          <p:nvPr/>
        </p:nvSpPr>
        <p:spPr>
          <a:xfrm>
            <a:off x="6510528" y="5394960"/>
            <a:ext cx="4882896" cy="658368"/>
          </a:xfrm>
          <a:prstGeom prst="rect">
            <a:avLst/>
          </a:prstGeom>
          <a:noFill/>
          <a:ln/>
        </p:spPr>
        <p:txBody>
          <a:bodyPr wrap="square" lIns="0" tIns="0" rIns="0" bIns="0" rtlCol="0" anchor="t"/>
          <a:lstStyle/>
          <a:p>
            <a:pPr indent="0" marL="0">
              <a:lnSpc>
                <a:spcPct val="115000"/>
              </a:lnSpc>
              <a:buNone/>
            </a:pPr>
            <a:r>
              <a:rPr lang="en-US" sz="1050" dirty="0">
                <a:solidFill>
                  <a:srgbClr val="4A2220"/>
                </a:solidFill>
                <a:latin typeface="Calibri" pitchFamily="34" charset="0"/>
                <a:ea typeface="Calibri" pitchFamily="34" charset="-122"/>
                <a:cs typeface="Calibri" pitchFamily="34" charset="-120"/>
              </a:rPr>
              <a:t>Our primary source has Fitch at BB− on Costa Rica (March 2023) and BB on Guatemala (February 2023) — which would make a catch-up upgrade a live catalyst. A second source has Fitch already at BB and BB+ respectively, acting in late 2025. We could not reach Fitch to settle it. If Fitch has already moved, the catch-up thesis is gone. Check the releases before saying either version out loud.</a:t>
            </a:r>
            <a:endParaRPr lang="en-US" sz="1050" dirty="0"/>
          </a:p>
        </p:txBody>
      </p:sp>
      <p:sp>
        <p:nvSpPr>
          <p:cNvPr id="69" name="Text 67"/>
          <p:cNvSpPr txBox="1"/>
          <p:nvPr/>
        </p:nvSpPr>
        <p:spPr>
          <a:xfrm>
            <a:off x="566928" y="638251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Agency releases. Public rating aggregators carry demonstrably wrong data for this region, and two Fitch lines here are unresolved — see the Ratings and Gaps tabs of the workbook.</a:t>
            </a:r>
            <a:endParaRPr lang="en-US" sz="800" dirty="0"/>
          </a:p>
        </p:txBody>
      </p:sp>
      <p:sp>
        <p:nvSpPr>
          <p:cNvPr id="70" name="Text 68"/>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1" name="Text 69"/>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(A) · RATING ACTIONS SINCE 2024</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Six upgrades, four downgrades, one direction each</a:t>
            </a:r>
            <a:endParaRPr lang="en-US" sz="3000" dirty="0"/>
          </a:p>
        </p:txBody>
      </p:sp>
      <p:sp>
        <p:nvSpPr>
          <p:cNvPr id="4" name="Text 2"/>
          <p:cNvSpPr txBox="1"/>
          <p:nvPr/>
        </p:nvSpPr>
        <p:spPr>
          <a:xfrm>
            <a:off x="566928" y="1353312"/>
            <a:ext cx="5212080" cy="274320"/>
          </a:xfrm>
          <a:prstGeom prst="rect">
            <a:avLst/>
          </a:prstGeom>
          <a:noFill/>
          <a:ln/>
        </p:spPr>
        <p:txBody>
          <a:bodyPr wrap="square" lIns="0" tIns="0" rIns="0" bIns="0" rtlCol="0" anchor="ctr"/>
          <a:lstStyle/>
          <a:p>
            <a:pPr indent="0" marL="0">
              <a:buNone/>
            </a:pPr>
            <a:r>
              <a:rPr lang="en-US" sz="1200" b="1" dirty="0">
                <a:solidFill>
                  <a:srgbClr val="3E7C59"/>
                </a:solidFill>
                <a:latin typeface="Calibri" pitchFamily="34" charset="0"/>
                <a:ea typeface="Calibri" pitchFamily="34" charset="-122"/>
                <a:cs typeface="Calibri" pitchFamily="34" charset="-120"/>
              </a:rPr>
              <a:t>Upgrades</a:t>
            </a:r>
            <a:endParaRPr lang="en-US" sz="12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66928" y="1664208"/>
          <a:ext cx="5202936" cy="914400"/>
        </p:xfrm>
        <a:graphic>
          <a:graphicData uri="http://schemas.openxmlformats.org/drawingml/2006/table">
            <a:tbl>
              <a:tblPr/>
              <a:tblGrid>
                <a:gridCol w="1188720"/>
                <a:gridCol w="1481328"/>
                <a:gridCol w="960120"/>
                <a:gridCol w="1572768"/>
              </a:tblGrid>
              <a:tr h="30211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Date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3E7C59"/>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Market</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3E7C59"/>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Agency</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3E7C59"/>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Action</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3E7C59"/>
                    </a:solidFill>
                  </a:tcPr>
                </a:tc>
              </a:tr>
              <a:tr h="302118">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Nov 2024</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El Salvador</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Moody's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Caa3 → B3</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02118">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7 Jan 2025</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El Salvador</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Fitch</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CCC+ → B-</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02118">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23 May 2025</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Guatemala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S&amp;P</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BB → BB+</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02118">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1 Aug 2025</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Dominican Rep.</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Moody's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Ba3 → Ba2</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02118">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24 Sep 2025</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Costa Rica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Moody's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Ba3 → Ba2</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02118">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22 Oct 2025</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Costa Rica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S&amp;P</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BB- → BB</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6" name="Text 3"/>
          <p:cNvSpPr txBox="1"/>
          <p:nvPr/>
        </p:nvSpPr>
        <p:spPr>
          <a:xfrm>
            <a:off x="6419088" y="1353312"/>
            <a:ext cx="5212080" cy="274320"/>
          </a:xfrm>
          <a:prstGeom prst="rect">
            <a:avLst/>
          </a:prstGeom>
          <a:noFill/>
          <a:ln/>
        </p:spPr>
        <p:txBody>
          <a:bodyPr wrap="square" lIns="0" tIns="0" rIns="0" bIns="0" rtlCol="0" anchor="ctr"/>
          <a:lstStyle/>
          <a:p>
            <a:pPr indent="0" marL="0">
              <a:buNone/>
            </a:pPr>
            <a:r>
              <a:rPr lang="en-US" sz="1200" b="1" dirty="0">
                <a:solidFill>
                  <a:srgbClr val="A8322D"/>
                </a:solidFill>
                <a:latin typeface="Calibri" pitchFamily="34" charset="0"/>
                <a:ea typeface="Calibri" pitchFamily="34" charset="-122"/>
                <a:cs typeface="Calibri" pitchFamily="34" charset="-120"/>
              </a:rPr>
              <a:t>Downgrades</a:t>
            </a:r>
            <a:endParaRPr lang="en-US" sz="120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6419088" y="1664208"/>
          <a:ext cx="5202936" cy="914400"/>
        </p:xfrm>
        <a:graphic>
          <a:graphicData uri="http://schemas.openxmlformats.org/drawingml/2006/table">
            <a:tbl>
              <a:tblPr/>
              <a:tblGrid>
                <a:gridCol w="1188720"/>
                <a:gridCol w="1481328"/>
                <a:gridCol w="960120"/>
                <a:gridCol w="1572768"/>
              </a:tblGrid>
              <a:tr h="319756">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Date</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A8322D"/>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Market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A8322D"/>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Agency</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A8322D"/>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Action</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A8322D"/>
                    </a:solidFill>
                  </a:tcPr>
                </a:tc>
              </a:tr>
              <a:tr h="319756">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26 Jun 2025</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b="1" dirty="0">
                          <a:solidFill>
                            <a:srgbClr val="0B3B45"/>
                          </a:solidFill>
                          <a:latin typeface="Calibri" pitchFamily="34" charset="0"/>
                          <a:ea typeface="Calibri" pitchFamily="34" charset="-122"/>
                          <a:cs typeface="Calibri" pitchFamily="34" charset="-120"/>
                        </a:rPr>
                        <a:t>Colombia</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Moody's</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Baa2 → Baa3</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19756">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26 Jun 2025</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b="1" dirty="0">
                          <a:solidFill>
                            <a:srgbClr val="0B3B45"/>
                          </a:solidFill>
                          <a:latin typeface="Calibri" pitchFamily="34" charset="0"/>
                          <a:ea typeface="Calibri" pitchFamily="34" charset="-122"/>
                          <a:cs typeface="Calibri" pitchFamily="34" charset="-120"/>
                        </a:rPr>
                        <a:t>Colombia</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S&amp;P</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BB+ → BB</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19756">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16 Dec 2025</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b="1" dirty="0">
                          <a:solidFill>
                            <a:srgbClr val="0B3B45"/>
                          </a:solidFill>
                          <a:latin typeface="Calibri" pitchFamily="34" charset="0"/>
                          <a:ea typeface="Calibri" pitchFamily="34" charset="-122"/>
                          <a:cs typeface="Calibri" pitchFamily="34" charset="-120"/>
                        </a:rPr>
                        <a:t>Colombia</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Fitch</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BB+ → BB</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19756">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8 Apr 2026</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b="1" dirty="0">
                          <a:solidFill>
                            <a:srgbClr val="0B3B45"/>
                          </a:solidFill>
                          <a:latin typeface="Calibri" pitchFamily="34" charset="0"/>
                          <a:ea typeface="Calibri" pitchFamily="34" charset="-122"/>
                          <a:cs typeface="Calibri" pitchFamily="34" charset="-120"/>
                        </a:rPr>
                        <a:t>Colombia</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S&amp;P</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BB → BB-</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8" name="Text 4"/>
          <p:cNvSpPr txBox="1"/>
          <p:nvPr/>
        </p:nvSpPr>
        <p:spPr>
          <a:xfrm>
            <a:off x="566928" y="3840480"/>
            <a:ext cx="5212080" cy="274320"/>
          </a:xfrm>
          <a:prstGeom prst="rect">
            <a:avLst/>
          </a:prstGeom>
          <a:noFill/>
          <a:ln/>
        </p:spPr>
        <p:txBody>
          <a:bodyPr wrap="square" lIns="0" tIns="0" rIns="0" bIns="0" rtlCol="0" anchor="ctr"/>
          <a:lstStyle/>
          <a:p>
            <a:pPr indent="0" marL="0">
              <a:buNone/>
            </a:pPr>
            <a:r>
              <a:rPr lang="en-US" sz="1200" b="1" dirty="0">
                <a:solidFill>
                  <a:srgbClr val="156A7A"/>
                </a:solidFill>
                <a:latin typeface="Calibri" pitchFamily="34" charset="0"/>
                <a:ea typeface="Calibri" pitchFamily="34" charset="-122"/>
                <a:cs typeface="Calibri" pitchFamily="34" charset="-120"/>
              </a:rPr>
              <a:t>Outlook changes</a:t>
            </a:r>
            <a:endParaRPr lang="en-US" sz="1200" dirty="0"/>
          </a:p>
        </p:txBody>
      </p:sp>
      <p:graphicFrame>
        <p:nvGraphicFramePr>
          <p:cNvPr id="22" name="Table 2"/>
          <p:cNvGraphicFramePr>
            <a:graphicFrameLocks noGrp="1"/>
          </p:cNvGraphicFramePr>
          <p:nvPr>
            <p:extLst>
              <p:ext uri="{D42A27DB-BD31-4B8C-83A1-F6EECF244321}">
                <p14:modId xmlns:p14="http://schemas.microsoft.com/office/powerpoint/2010/main" val="1579011935"/>
              </p:ext>
            </p:extLst>
          </p:nvPr>
        </p:nvGraphicFramePr>
        <p:xfrm>
          <a:off x="566928" y="4151376"/>
          <a:ext cx="5202936" cy="914400"/>
        </p:xfrm>
        <a:graphic>
          <a:graphicData uri="http://schemas.openxmlformats.org/drawingml/2006/table">
            <a:tbl>
              <a:tblPr/>
              <a:tblGrid>
                <a:gridCol w="1133856"/>
                <a:gridCol w="1572768"/>
                <a:gridCol w="960120"/>
                <a:gridCol w="1536192"/>
              </a:tblGrid>
              <a:tr h="30211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Date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156A7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Market</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156A7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Agency</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156A7A"/>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To</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156A7A"/>
                    </a:solidFill>
                  </a:tcPr>
                </a:tc>
              </a:tr>
              <a:tr h="302118">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27 Jun 2024</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Colombia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Moody's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b="1" dirty="0">
                          <a:solidFill>
                            <a:srgbClr val="A8322D"/>
                          </a:solidFill>
                          <a:latin typeface="Calibri" pitchFamily="34" charset="0"/>
                          <a:ea typeface="Calibri" pitchFamily="34" charset="-122"/>
                          <a:cs typeface="Calibri" pitchFamily="34" charset="-120"/>
                        </a:rPr>
                        <a:t>Baa2 negative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02118">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29 Nov 2024</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Panama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Moody's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b="1" dirty="0">
                          <a:solidFill>
                            <a:srgbClr val="A8322D"/>
                          </a:solidFill>
                          <a:latin typeface="Calibri" pitchFamily="34" charset="0"/>
                          <a:ea typeface="Calibri" pitchFamily="34" charset="-122"/>
                          <a:cs typeface="Calibri" pitchFamily="34" charset="-120"/>
                        </a:rPr>
                        <a:t>Baa3 negative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02118">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6 Mar 2025</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Colombia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Fitch</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b="1" dirty="0">
                          <a:solidFill>
                            <a:srgbClr val="A8322D"/>
                          </a:solidFill>
                          <a:latin typeface="Calibri" pitchFamily="34" charset="0"/>
                          <a:ea typeface="Calibri" pitchFamily="34" charset="-122"/>
                          <a:cs typeface="Calibri" pitchFamily="34" charset="-120"/>
                        </a:rPr>
                        <a:t>BB+ negative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02118">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6 Feb 2026</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El Salvador</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Moody's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b="1" dirty="0">
                          <a:solidFill>
                            <a:srgbClr val="3E7C59"/>
                          </a:solidFill>
                          <a:latin typeface="Calibri" pitchFamily="34" charset="0"/>
                          <a:ea typeface="Calibri" pitchFamily="34" charset="-122"/>
                          <a:cs typeface="Calibri" pitchFamily="34" charset="-120"/>
                        </a:rPr>
                        <a:t>B3 positive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02118">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15 Apr 2026</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Dominican Rep.</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Fitch</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b="1" dirty="0">
                          <a:solidFill>
                            <a:srgbClr val="3E7C59"/>
                          </a:solidFill>
                          <a:latin typeface="Calibri" pitchFamily="34" charset="0"/>
                          <a:ea typeface="Calibri" pitchFamily="34" charset="-122"/>
                          <a:cs typeface="Calibri" pitchFamily="34" charset="-120"/>
                        </a:rPr>
                        <a:t>BB- stable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10" name="Shape 5"/>
          <p:cNvSpPr/>
          <p:nvPr/>
        </p:nvSpPr>
        <p:spPr>
          <a:xfrm>
            <a:off x="6419088" y="3840480"/>
            <a:ext cx="5202936" cy="2066544"/>
          </a:xfrm>
          <a:prstGeom prst="roundRect">
            <a:avLst>
              <a:gd name="adj" fmla="val 2655"/>
            </a:avLst>
          </a:prstGeom>
          <a:solidFill>
            <a:srgbClr val="0B3B45"/>
          </a:solidFill>
          <a:ln w="6350">
            <a:solidFill>
              <a:srgbClr val="0B3B45"/>
            </a:solidFill>
            <a:prstDash val="solid"/>
          </a:ln>
        </p:spPr>
      </p:sp>
      <p:sp>
        <p:nvSpPr>
          <p:cNvPr id="11" name="Text 6"/>
          <p:cNvSpPr txBox="1"/>
          <p:nvPr/>
        </p:nvSpPr>
        <p:spPr>
          <a:xfrm>
            <a:off x="6656832" y="3986784"/>
            <a:ext cx="4727448" cy="201168"/>
          </a:xfrm>
          <a:prstGeom prst="rect">
            <a:avLst/>
          </a:prstGeom>
          <a:noFill/>
          <a:ln/>
        </p:spPr>
        <p:txBody>
          <a:bodyPr wrap="square" lIns="0" tIns="0" rIns="0" bIns="0" rtlCol="0" anchor="ctr"/>
          <a:lstStyle/>
          <a:p>
            <a:pPr indent="0" marL="0">
              <a:buNone/>
            </a:pPr>
            <a:r>
              <a:rPr lang="en-US" sz="900" b="1" spc="140" kern="0" dirty="0">
                <a:solidFill>
                  <a:srgbClr val="D99A2B"/>
                </a:solidFill>
                <a:latin typeface="Calibri" pitchFamily="34" charset="0"/>
                <a:ea typeface="Calibri" pitchFamily="34" charset="-122"/>
                <a:cs typeface="Calibri" pitchFamily="34" charset="-120"/>
              </a:rPr>
              <a:t>EVERY DOWNGRADE IN THIS SAMPLE IS COLOMBIA</a:t>
            </a:r>
            <a:endParaRPr lang="en-US" sz="900" dirty="0"/>
          </a:p>
        </p:txBody>
      </p:sp>
      <p:sp>
        <p:nvSpPr>
          <p:cNvPr id="12" name="Text 7"/>
          <p:cNvSpPr txBox="1"/>
          <p:nvPr/>
        </p:nvSpPr>
        <p:spPr>
          <a:xfrm>
            <a:off x="6656832" y="4206240"/>
            <a:ext cx="4727448" cy="1536192"/>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Moody's cut to Baa3 in June 2025 on the fiscal-rule suspension. S&amp;P cut to BB in the same month, then to BB− in April 2026 — its lowest Colombian rating since 1993. Fitch cut to BB in December 2025.</a:t>
            </a:r>
            <a:endParaRPr lang="en-US" sz="1100" dirty="0"/>
          </a:p>
          <a:p>
            <a:pPr indent="0" marL="0">
              <a:lnSpc>
                <a:spcPct val="115000"/>
              </a:lnSpc>
              <a:buNone/>
            </a:pPr>
            <a:endParaRPr lang="en-US" sz="1100" dirty="0"/>
          </a:p>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No agency has acted since either the June election or the August earthquake. Moody's Baa3 is the last investment-grade rating Colombia holds anywhere, and a cut there would force selling from investment-grade mandates.</a:t>
            </a:r>
            <a:endParaRPr lang="en-US" sz="1100" dirty="0"/>
          </a:p>
        </p:txBody>
      </p:sp>
      <p:sp>
        <p:nvSpPr>
          <p:cNvPr id="13" name="Text 8"/>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Agency press releases, 2024 – September 2026.</a:t>
            </a:r>
            <a:endParaRPr lang="en-US" sz="800" dirty="0"/>
          </a:p>
        </p:txBody>
      </p:sp>
      <p:sp>
        <p:nvSpPr>
          <p:cNvPr id="14" name="Text 9"/>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15" name="Text 10"/>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0B3B45"/>
          </a:solidFill>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a:t>
            </a:r>
            <a:endParaRPr lang="en-US" sz="1500" dirty="0"/>
          </a:p>
        </p:txBody>
      </p:sp>
      <p:sp>
        <p:nvSpPr>
          <p:cNvPr id="4" name="Text 2"/>
          <p:cNvSpPr txBox="1"/>
          <p:nvPr/>
        </p:nvSpPr>
        <p:spPr>
          <a:xfrm>
            <a:off x="1298448" y="365760"/>
            <a:ext cx="5852160" cy="402336"/>
          </a:xfrm>
          <a:prstGeom prst="rect">
            <a:avLst/>
          </a:prstGeom>
          <a:noFill/>
          <a:ln/>
        </p:spPr>
        <p:txBody>
          <a:bodyPr wrap="square" lIns="0" tIns="0" rIns="0" bIns="0" rtlCol="0" anchor="ctr"/>
          <a:lstStyle/>
          <a:p>
            <a:pPr indent="0" marL="0">
              <a:buNone/>
            </a:pPr>
            <a:r>
              <a:rPr lang="en-US" sz="2900" b="1" dirty="0">
                <a:solidFill>
                  <a:srgbClr val="0B3B45"/>
                </a:solidFill>
                <a:latin typeface="Cambria" pitchFamily="34" charset="0"/>
                <a:ea typeface="Cambria" pitchFamily="34" charset="-122"/>
                <a:cs typeface="Cambria" pitchFamily="34" charset="-120"/>
              </a:rPr>
              <a:t>Panama</a:t>
            </a:r>
            <a:endParaRPr lang="en-US" sz="2900" dirty="0"/>
          </a:p>
        </p:txBody>
      </p:sp>
      <p:sp>
        <p:nvSpPr>
          <p:cNvPr id="5" name="Text 3"/>
          <p:cNvSpPr txBox="1"/>
          <p:nvPr/>
        </p:nvSpPr>
        <p:spPr>
          <a:xfrm>
            <a:off x="1298448" y="786384"/>
            <a:ext cx="5852160" cy="219456"/>
          </a:xfrm>
          <a:prstGeom prst="rect">
            <a:avLst/>
          </a:prstGeom>
          <a:noFill/>
          <a:ln/>
        </p:spPr>
        <p:txBody>
          <a:bodyPr wrap="square" lIns="0" tIns="0" rIns="0" bIns="0" rtlCol="0" anchor="ctr"/>
          <a:lstStyle/>
          <a:p>
            <a:pPr indent="0" marL="0">
              <a:buNone/>
            </a:pPr>
            <a:r>
              <a:rPr lang="en-US" sz="950" b="1" spc="150" kern="0" dirty="0">
                <a:solidFill>
                  <a:srgbClr val="0B3B45"/>
                </a:solidFill>
                <a:latin typeface="Calibri" pitchFamily="34" charset="0"/>
                <a:ea typeface="Calibri" pitchFamily="34" charset="-122"/>
                <a:cs typeface="Calibri" pitchFamily="34" charset="-120"/>
              </a:rPr>
              <a:t>THE KNIFE-EDGE</a:t>
            </a:r>
            <a:endParaRPr lang="en-US" sz="950" dirty="0"/>
          </a:p>
        </p:txBody>
      </p:sp>
      <p:sp>
        <p:nvSpPr>
          <p:cNvPr id="6" name="Text 4"/>
          <p:cNvSpPr txBox="1"/>
          <p:nvPr/>
        </p:nvSpPr>
        <p:spPr>
          <a:xfrm>
            <a:off x="9338767" y="365760"/>
            <a:ext cx="2286000" cy="694944"/>
          </a:xfrm>
          <a:prstGeom prst="rect">
            <a:avLst/>
          </a:prstGeom>
          <a:noFill/>
          <a:ln/>
        </p:spPr>
        <p:txBody>
          <a:bodyPr wrap="square" lIns="0" tIns="0" rIns="0" bIns="0" rtlCol="0" anchor="ctr"/>
          <a:lstStyle/>
          <a:p>
            <a:pPr algn="r" indent="0" marL="0">
              <a:lnSpc>
                <a:spcPct val="112000"/>
              </a:lnSpc>
              <a:buNone/>
            </a:pPr>
            <a:r>
              <a:rPr lang="en-US" sz="1050" dirty="0">
                <a:solidFill>
                  <a:srgbClr val="A8322D"/>
                </a:solidFill>
                <a:latin typeface="Calibri" pitchFamily="34" charset="0"/>
                <a:ea typeface="Calibri" pitchFamily="34" charset="-122"/>
                <a:cs typeface="Calibri" pitchFamily="34" charset="-120"/>
              </a:rPr>
              <a:t>Moody's Baa3  Negative</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S&amp;P BBB-</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Fitch BB+</a:t>
            </a:r>
            <a:endParaRPr lang="en-US" sz="1050" dirty="0"/>
          </a:p>
        </p:txBody>
      </p:sp>
      <p:sp>
        <p:nvSpPr>
          <p:cNvPr id="7" name="Text 5"/>
          <p:cNvSpPr txBox="1"/>
          <p:nvPr/>
        </p:nvSpPr>
        <p:spPr>
          <a:xfrm>
            <a:off x="566928" y="1115568"/>
            <a:ext cx="10424160" cy="530352"/>
          </a:xfrm>
          <a:prstGeom prst="rect">
            <a:avLst/>
          </a:prstGeom>
          <a:noFill/>
          <a:ln/>
        </p:spPr>
        <p:txBody>
          <a:bodyPr wrap="square" lIns="0" tIns="0" rIns="0" bIns="0" rtlCol="0" anchor="t"/>
          <a:lstStyle/>
          <a:p>
            <a:pPr indent="0" marL="0">
              <a:lnSpc>
                <a:spcPct val="114000"/>
              </a:lnSpc>
              <a:buNone/>
            </a:pPr>
            <a:r>
              <a:rPr lang="en-US" sz="1300" dirty="0">
                <a:solidFill>
                  <a:srgbClr val="1E4650"/>
                </a:solidFill>
                <a:latin typeface="Calibri" pitchFamily="34" charset="0"/>
                <a:ea typeface="Calibri" pitchFamily="34" charset="-122"/>
                <a:cs typeface="Calibri" pitchFamily="34" charset="-120"/>
              </a:rPr>
              <a:t>Investment grade at two agencies, already below it at the third, with a negative Moody's outlook, a mine that has not reopened and a canal back on water restrictions.</a:t>
            </a:r>
            <a:endParaRPr lang="en-US" sz="1300" dirty="0"/>
          </a:p>
        </p:txBody>
      </p:sp>
      <p:sp>
        <p:nvSpPr>
          <p:cNvPr id="8" name="Shape 6"/>
          <p:cNvSpPr/>
          <p:nvPr/>
        </p:nvSpPr>
        <p:spPr>
          <a:xfrm>
            <a:off x="566928" y="1737360"/>
            <a:ext cx="2682164" cy="1024128"/>
          </a:xfrm>
          <a:prstGeom prst="roundRect">
            <a:avLst>
              <a:gd name="adj" fmla="val 5357"/>
            </a:avLst>
          </a:prstGeom>
          <a:solidFill>
            <a:srgbClr val="EDF1F2"/>
          </a:solidFill>
          <a:ln w="6350">
            <a:solidFill>
              <a:srgbClr val="EDF1F2"/>
            </a:solidFill>
            <a:prstDash val="solid"/>
          </a:ln>
        </p:spPr>
      </p:sp>
      <p:sp>
        <p:nvSpPr>
          <p:cNvPr id="9" name="Text 7"/>
          <p:cNvSpPr txBox="1"/>
          <p:nvPr/>
        </p:nvSpPr>
        <p:spPr>
          <a:xfrm>
            <a:off x="713232" y="1828800"/>
            <a:ext cx="2389556" cy="420624"/>
          </a:xfrm>
          <a:prstGeom prst="rect">
            <a:avLst/>
          </a:prstGeom>
          <a:noFill/>
          <a:ln/>
        </p:spPr>
        <p:txBody>
          <a:bodyPr wrap="square" lIns="0" tIns="0" rIns="0" bIns="0" rtlCol="0" anchor="ctr"/>
          <a:lstStyle/>
          <a:p>
            <a:pPr indent="0" marL="0">
              <a:buNone/>
            </a:pPr>
            <a:r>
              <a:rPr lang="en-US" sz="2400" b="1" dirty="0">
                <a:solidFill>
                  <a:srgbClr val="156A7A"/>
                </a:solidFill>
                <a:latin typeface="Cambria" pitchFamily="34" charset="0"/>
                <a:ea typeface="Cambria" pitchFamily="34" charset="-122"/>
                <a:cs typeface="Cambria" pitchFamily="34" charset="-120"/>
              </a:rPr>
              <a:t>$5.7bn</a:t>
            </a:r>
            <a:endParaRPr lang="en-US" sz="2400" dirty="0"/>
          </a:p>
        </p:txBody>
      </p:sp>
      <p:sp>
        <p:nvSpPr>
          <p:cNvPr id="10" name="Text 8"/>
          <p:cNvSpPr txBox="1"/>
          <p:nvPr/>
        </p:nvSpPr>
        <p:spPr>
          <a:xfrm>
            <a:off x="713232"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Canal revenue FY2025, +14.4%</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13,404 transits, +19.3%</a:t>
            </a:r>
            <a:endParaRPr lang="en-US" sz="900" dirty="0"/>
          </a:p>
        </p:txBody>
      </p:sp>
      <p:sp>
        <p:nvSpPr>
          <p:cNvPr id="11" name="Shape 9"/>
          <p:cNvSpPr/>
          <p:nvPr/>
        </p:nvSpPr>
        <p:spPr>
          <a:xfrm>
            <a:off x="3358820" y="1737360"/>
            <a:ext cx="2682164" cy="1024128"/>
          </a:xfrm>
          <a:prstGeom prst="roundRect">
            <a:avLst>
              <a:gd name="adj" fmla="val 5357"/>
            </a:avLst>
          </a:prstGeom>
          <a:solidFill>
            <a:srgbClr val="EDF1F2"/>
          </a:solidFill>
          <a:ln w="6350">
            <a:solidFill>
              <a:srgbClr val="EDF1F2"/>
            </a:solidFill>
            <a:prstDash val="solid"/>
          </a:ln>
        </p:spPr>
      </p:sp>
      <p:sp>
        <p:nvSpPr>
          <p:cNvPr id="12" name="Text 10"/>
          <p:cNvSpPr txBox="1"/>
          <p:nvPr/>
        </p:nvSpPr>
        <p:spPr>
          <a:xfrm>
            <a:off x="3505124" y="1828800"/>
            <a:ext cx="2389556" cy="420624"/>
          </a:xfrm>
          <a:prstGeom prst="rect">
            <a:avLst/>
          </a:prstGeom>
          <a:noFill/>
          <a:ln/>
        </p:spPr>
        <p:txBody>
          <a:bodyPr wrap="square" lIns="0" tIns="0" rIns="0" bIns="0" rtlCol="0" anchor="ctr"/>
          <a:lstStyle/>
          <a:p>
            <a:pPr indent="0" marL="0">
              <a:buNone/>
            </a:pPr>
            <a:r>
              <a:rPr lang="en-US" sz="2400" b="1" dirty="0">
                <a:solidFill>
                  <a:srgbClr val="156A7A"/>
                </a:solidFill>
                <a:latin typeface="Cambria" pitchFamily="34" charset="0"/>
                <a:ea typeface="Cambria" pitchFamily="34" charset="-122"/>
                <a:cs typeface="Cambria" pitchFamily="34" charset="-120"/>
              </a:rPr>
              <a:t>$2.97bn</a:t>
            </a:r>
            <a:endParaRPr lang="en-US" sz="2400" dirty="0"/>
          </a:p>
        </p:txBody>
      </p:sp>
      <p:sp>
        <p:nvSpPr>
          <p:cNvPr id="13" name="Text 11"/>
          <p:cNvSpPr txBox="1"/>
          <p:nvPr/>
        </p:nvSpPr>
        <p:spPr>
          <a:xfrm>
            <a:off x="3505124"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transferred to the Treasury, +20%</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FY2026 budgeted at $3.6bn</a:t>
            </a:r>
            <a:endParaRPr lang="en-US" sz="900" dirty="0"/>
          </a:p>
        </p:txBody>
      </p:sp>
      <p:sp>
        <p:nvSpPr>
          <p:cNvPr id="14" name="Shape 12"/>
          <p:cNvSpPr/>
          <p:nvPr/>
        </p:nvSpPr>
        <p:spPr>
          <a:xfrm>
            <a:off x="6150712" y="1737360"/>
            <a:ext cx="2682164" cy="1024128"/>
          </a:xfrm>
          <a:prstGeom prst="roundRect">
            <a:avLst>
              <a:gd name="adj" fmla="val 5357"/>
            </a:avLst>
          </a:prstGeom>
          <a:solidFill>
            <a:srgbClr val="EDF1F2"/>
          </a:solidFill>
          <a:ln w="6350">
            <a:solidFill>
              <a:srgbClr val="EDF1F2"/>
            </a:solidFill>
            <a:prstDash val="solid"/>
          </a:ln>
        </p:spPr>
      </p:sp>
      <p:sp>
        <p:nvSpPr>
          <p:cNvPr id="15" name="Text 13"/>
          <p:cNvSpPr txBox="1"/>
          <p:nvPr/>
        </p:nvSpPr>
        <p:spPr>
          <a:xfrm>
            <a:off x="6297016" y="1828800"/>
            <a:ext cx="2389556" cy="420624"/>
          </a:xfrm>
          <a:prstGeom prst="rect">
            <a:avLst/>
          </a:prstGeom>
          <a:noFill/>
          <a:ln/>
        </p:spPr>
        <p:txBody>
          <a:bodyPr wrap="square" lIns="0" tIns="0" rIns="0" bIns="0" rtlCol="0" anchor="ctr"/>
          <a:lstStyle/>
          <a:p>
            <a:pPr indent="0" marL="0">
              <a:buNone/>
            </a:pPr>
            <a:r>
              <a:rPr lang="en-US" sz="2400" b="1" dirty="0">
                <a:solidFill>
                  <a:srgbClr val="A8322D"/>
                </a:solidFill>
                <a:latin typeface="Cambria" pitchFamily="34" charset="0"/>
                <a:ea typeface="Cambria" pitchFamily="34" charset="-122"/>
                <a:cs typeface="Cambria" pitchFamily="34" charset="-120"/>
              </a:rPr>
              <a:t>67.2%</a:t>
            </a:r>
            <a:endParaRPr lang="en-US" sz="2400" dirty="0"/>
          </a:p>
        </p:txBody>
      </p:sp>
      <p:sp>
        <p:nvSpPr>
          <p:cNvPr id="16" name="Text 14"/>
          <p:cNvSpPr txBox="1"/>
          <p:nvPr/>
        </p:nvSpPr>
        <p:spPr>
          <a:xfrm>
            <a:off x="6297016"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general-government debt, end-2025</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from 62.5% in 2024 (Fitch)</a:t>
            </a:r>
            <a:endParaRPr lang="en-US" sz="900" dirty="0"/>
          </a:p>
        </p:txBody>
      </p:sp>
      <p:sp>
        <p:nvSpPr>
          <p:cNvPr id="17" name="Shape 15"/>
          <p:cNvSpPr/>
          <p:nvPr/>
        </p:nvSpPr>
        <p:spPr>
          <a:xfrm>
            <a:off x="8942603" y="1737360"/>
            <a:ext cx="2682164" cy="1024128"/>
          </a:xfrm>
          <a:prstGeom prst="roundRect">
            <a:avLst>
              <a:gd name="adj" fmla="val 5357"/>
            </a:avLst>
          </a:prstGeom>
          <a:solidFill>
            <a:srgbClr val="EDF1F2"/>
          </a:solidFill>
          <a:ln w="6350">
            <a:solidFill>
              <a:srgbClr val="EDF1F2"/>
            </a:solidFill>
            <a:prstDash val="solid"/>
          </a:ln>
        </p:spPr>
      </p:sp>
      <p:sp>
        <p:nvSpPr>
          <p:cNvPr id="18" name="Text 16"/>
          <p:cNvSpPr txBox="1"/>
          <p:nvPr/>
        </p:nvSpPr>
        <p:spPr>
          <a:xfrm>
            <a:off x="9088907" y="1828800"/>
            <a:ext cx="2389556" cy="420624"/>
          </a:xfrm>
          <a:prstGeom prst="rect">
            <a:avLst/>
          </a:prstGeom>
          <a:noFill/>
          <a:ln/>
        </p:spPr>
        <p:txBody>
          <a:bodyPr wrap="square" lIns="0" tIns="0" rIns="0" bIns="0" rtlCol="0" anchor="ctr"/>
          <a:lstStyle/>
          <a:p>
            <a:pPr indent="0" marL="0">
              <a:buNone/>
            </a:pPr>
            <a:r>
              <a:rPr lang="en-US" sz="2400" b="1" dirty="0">
                <a:solidFill>
                  <a:srgbClr val="A8322D"/>
                </a:solidFill>
                <a:latin typeface="Cambria" pitchFamily="34" charset="0"/>
                <a:ea typeface="Cambria" pitchFamily="34" charset="-122"/>
                <a:cs typeface="Cambria" pitchFamily="34" charset="-120"/>
              </a:rPr>
              <a:t>18.8%</a:t>
            </a:r>
            <a:endParaRPr lang="en-US" sz="2400" dirty="0"/>
          </a:p>
        </p:txBody>
      </p:sp>
      <p:sp>
        <p:nvSpPr>
          <p:cNvPr id="19" name="Text 17"/>
          <p:cNvSpPr txBox="1"/>
          <p:nvPr/>
        </p:nvSpPr>
        <p:spPr>
          <a:xfrm>
            <a:off x="9088907"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interest as a share of revenue</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against an 11.4% BB median</a:t>
            </a:r>
            <a:endParaRPr lang="en-US" sz="900" dirty="0"/>
          </a:p>
        </p:txBody>
      </p:sp>
      <p:sp>
        <p:nvSpPr>
          <p:cNvPr id="20" name="Shape 18"/>
          <p:cNvSpPr/>
          <p:nvPr/>
        </p:nvSpPr>
        <p:spPr>
          <a:xfrm>
            <a:off x="585216" y="2980944"/>
            <a:ext cx="118872" cy="118872"/>
          </a:xfrm>
          <a:prstGeom prst="ellipse">
            <a:avLst/>
          </a:prstGeom>
          <a:solidFill>
            <a:srgbClr val="0B3B45"/>
          </a:solidFill>
          <a:ln/>
        </p:spPr>
      </p:sp>
      <p:sp>
        <p:nvSpPr>
          <p:cNvPr id="21" name="Text 19"/>
          <p:cNvSpPr txBox="1"/>
          <p:nvPr/>
        </p:nvSpPr>
        <p:spPr>
          <a:xfrm>
            <a:off x="841248" y="292608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Cobre Panamá has not restarted.</a:t>
            </a:r>
            <a:endParaRPr lang="en-US" sz="1150" dirty="0"/>
          </a:p>
        </p:txBody>
      </p:sp>
      <p:sp>
        <p:nvSpPr>
          <p:cNvPr id="22" name="Text 20"/>
          <p:cNvSpPr txBox="1"/>
          <p:nvPr/>
        </p:nvSpPr>
        <p:spPr>
          <a:xfrm>
            <a:off x="841248" y="315468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It is milling a pre-blasted stockpile of roughly 38m tonnes — about twelve months of milling — under a preservation licence, and shipped its first processed concentrate in August 2026. Pre-closure the mine was around 5% of GDP and more than three-quarters of goods exports. A presidential commission is to report before December 2026.</a:t>
            </a:r>
            <a:endParaRPr lang="en-US" sz="1000" dirty="0"/>
          </a:p>
        </p:txBody>
      </p:sp>
      <p:sp>
        <p:nvSpPr>
          <p:cNvPr id="23" name="Shape 21"/>
          <p:cNvSpPr/>
          <p:nvPr/>
        </p:nvSpPr>
        <p:spPr>
          <a:xfrm>
            <a:off x="585216" y="3621024"/>
            <a:ext cx="118872" cy="118872"/>
          </a:xfrm>
          <a:prstGeom prst="ellipse">
            <a:avLst/>
          </a:prstGeom>
          <a:solidFill>
            <a:srgbClr val="0B3B45"/>
          </a:solidFill>
          <a:ln/>
        </p:spPr>
      </p:sp>
      <p:sp>
        <p:nvSpPr>
          <p:cNvPr id="24" name="Text 22"/>
          <p:cNvSpPr txBox="1"/>
          <p:nvPr/>
        </p:nvSpPr>
        <p:spPr>
          <a:xfrm>
            <a:off x="841248" y="356616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The drought is back.</a:t>
            </a:r>
            <a:endParaRPr lang="en-US" sz="1150" dirty="0"/>
          </a:p>
        </p:txBody>
      </p:sp>
      <p:sp>
        <p:nvSpPr>
          <p:cNvPr id="25" name="Text 23"/>
          <p:cNvSpPr txBox="1"/>
          <p:nvPr/>
        </p:nvSpPr>
        <p:spPr>
          <a:xfrm>
            <a:off x="841248" y="379476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The canal authority cut to 34 daily slots for September 2026, after a record year.</a:t>
            </a:r>
            <a:endParaRPr lang="en-US" sz="1000" dirty="0"/>
          </a:p>
        </p:txBody>
      </p:sp>
      <p:sp>
        <p:nvSpPr>
          <p:cNvPr id="26" name="Shape 24"/>
          <p:cNvSpPr/>
          <p:nvPr/>
        </p:nvSpPr>
        <p:spPr>
          <a:xfrm>
            <a:off x="585216" y="4261104"/>
            <a:ext cx="118872" cy="118872"/>
          </a:xfrm>
          <a:prstGeom prst="ellipse">
            <a:avLst/>
          </a:prstGeom>
          <a:solidFill>
            <a:srgbClr val="0B3B45"/>
          </a:solidFill>
          <a:ln/>
        </p:spPr>
      </p:sp>
      <p:sp>
        <p:nvSpPr>
          <p:cNvPr id="27" name="Text 25"/>
          <p:cNvSpPr txBox="1"/>
          <p:nvPr/>
        </p:nvSpPr>
        <p:spPr>
          <a:xfrm>
            <a:off x="841248" y="420624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Two of the country's most valuable concessions changed hands by court order.</a:t>
            </a:r>
            <a:endParaRPr lang="en-US" sz="1150" dirty="0"/>
          </a:p>
        </p:txBody>
      </p:sp>
      <p:sp>
        <p:nvSpPr>
          <p:cNvPr id="28" name="Text 26"/>
          <p:cNvSpPr txBox="1"/>
          <p:nvPr/>
        </p:nvSpPr>
        <p:spPr>
          <a:xfrm>
            <a:off x="841248" y="443484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The Supreme Court voided the CK Hutchison ports contract; APM Terminals runs Balboa and TiL runs Cristóbal on eighteen-month temporary concessions. CK Hutchison filed arbitration in August 2026 seeking more than $1.5bn.</a:t>
            </a:r>
            <a:endParaRPr lang="en-US" sz="1000" dirty="0"/>
          </a:p>
        </p:txBody>
      </p:sp>
      <p:sp>
        <p:nvSpPr>
          <p:cNvPr id="29" name="Shape 27"/>
          <p:cNvSpPr/>
          <p:nvPr/>
        </p:nvSpPr>
        <p:spPr>
          <a:xfrm>
            <a:off x="585216" y="4901184"/>
            <a:ext cx="118872" cy="118872"/>
          </a:xfrm>
          <a:prstGeom prst="ellipse">
            <a:avLst/>
          </a:prstGeom>
          <a:solidFill>
            <a:srgbClr val="0B3B45"/>
          </a:solidFill>
          <a:ln/>
        </p:spPr>
      </p:sp>
      <p:sp>
        <p:nvSpPr>
          <p:cNvPr id="30" name="Text 28"/>
          <p:cNvSpPr txBox="1"/>
          <p:nvPr/>
        </p:nvSpPr>
        <p:spPr>
          <a:xfrm>
            <a:off x="841248" y="484632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The quality of the fiscal adjustment is the flag.</a:t>
            </a:r>
            <a:endParaRPr lang="en-US" sz="1150" dirty="0"/>
          </a:p>
        </p:txBody>
      </p:sp>
      <p:sp>
        <p:nvSpPr>
          <p:cNvPr id="31" name="Text 29"/>
          <p:cNvSpPr txBox="1"/>
          <p:nvPr/>
        </p:nvSpPr>
        <p:spPr>
          <a:xfrm>
            <a:off x="841248" y="507492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Moody's notes the consolidation came from cutting public investment, not structural reform.</a:t>
            </a:r>
            <a:endParaRPr lang="en-US" sz="1000" dirty="0"/>
          </a:p>
        </p:txBody>
      </p:sp>
      <p:sp>
        <p:nvSpPr>
          <p:cNvPr id="32" name="Shape 30"/>
          <p:cNvSpPr/>
          <p:nvPr/>
        </p:nvSpPr>
        <p:spPr>
          <a:xfrm>
            <a:off x="566928" y="5541264"/>
            <a:ext cx="11057839" cy="676656"/>
          </a:xfrm>
          <a:prstGeom prst="roundRect">
            <a:avLst>
              <a:gd name="adj" fmla="val 8108"/>
            </a:avLst>
          </a:prstGeom>
          <a:solidFill>
            <a:srgbClr val="EDF1F2"/>
          </a:solidFill>
          <a:ln w="6350">
            <a:solidFill>
              <a:srgbClr val="EDF1F2"/>
            </a:solidFill>
            <a:prstDash val="solid"/>
          </a:ln>
        </p:spPr>
      </p:sp>
      <p:sp>
        <p:nvSpPr>
          <p:cNvPr id="33" name="Text 31"/>
          <p:cNvSpPr txBox="1"/>
          <p:nvPr/>
        </p:nvSpPr>
        <p:spPr>
          <a:xfrm>
            <a:off x="804672" y="5705856"/>
            <a:ext cx="10582351" cy="329184"/>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Dollarisation, two investment-grade ratings and the regional-headquarters regime remain the classic Panama pitch. But this is a credit-differentiated story now, not a credit-benign one — a fallen-angel-in-progress candidate whose index eligibility is fragile.</a:t>
            </a:r>
            <a:endParaRPr lang="en-US" sz="1050" dirty="0"/>
          </a:p>
        </p:txBody>
      </p:sp>
      <p:sp>
        <p:nvSpPr>
          <p:cNvPr id="34" name="Text 32"/>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35" name="Text 33"/>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156A7A"/>
          </a:solidFill>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CR</a:t>
            </a:r>
            <a:endParaRPr lang="en-US" sz="1500" dirty="0"/>
          </a:p>
        </p:txBody>
      </p:sp>
      <p:sp>
        <p:nvSpPr>
          <p:cNvPr id="4" name="Text 2"/>
          <p:cNvSpPr txBox="1"/>
          <p:nvPr/>
        </p:nvSpPr>
        <p:spPr>
          <a:xfrm>
            <a:off x="1298448" y="365760"/>
            <a:ext cx="5852160" cy="402336"/>
          </a:xfrm>
          <a:prstGeom prst="rect">
            <a:avLst/>
          </a:prstGeom>
          <a:noFill/>
          <a:ln/>
        </p:spPr>
        <p:txBody>
          <a:bodyPr wrap="square" lIns="0" tIns="0" rIns="0" bIns="0" rtlCol="0" anchor="ctr"/>
          <a:lstStyle/>
          <a:p>
            <a:pPr indent="0" marL="0">
              <a:buNone/>
            </a:pPr>
            <a:r>
              <a:rPr lang="en-US" sz="2900" b="1" dirty="0">
                <a:solidFill>
                  <a:srgbClr val="0B3B45"/>
                </a:solidFill>
                <a:latin typeface="Cambria" pitchFamily="34" charset="0"/>
                <a:ea typeface="Cambria" pitchFamily="34" charset="-122"/>
                <a:cs typeface="Cambria" pitchFamily="34" charset="-120"/>
              </a:rPr>
              <a:t>Costa Rica</a:t>
            </a:r>
            <a:endParaRPr lang="en-US" sz="2900" dirty="0"/>
          </a:p>
        </p:txBody>
      </p:sp>
      <p:sp>
        <p:nvSpPr>
          <p:cNvPr id="5" name="Text 3"/>
          <p:cNvSpPr txBox="1"/>
          <p:nvPr/>
        </p:nvSpPr>
        <p:spPr>
          <a:xfrm>
            <a:off x="1298448" y="786384"/>
            <a:ext cx="5852160" cy="219456"/>
          </a:xfrm>
          <a:prstGeom prst="rect">
            <a:avLst/>
          </a:prstGeom>
          <a:noFill/>
          <a:ln/>
        </p:spPr>
        <p:txBody>
          <a:bodyPr wrap="square" lIns="0" tIns="0" rIns="0" bIns="0" rtlCol="0" anchor="ctr"/>
          <a:lstStyle/>
          <a:p>
            <a:pPr indent="0" marL="0">
              <a:buNone/>
            </a:pPr>
            <a:r>
              <a:rPr lang="en-US" sz="950" b="1" spc="150" kern="0" dirty="0">
                <a:solidFill>
                  <a:srgbClr val="156A7A"/>
                </a:solidFill>
                <a:latin typeface="Calibri" pitchFamily="34" charset="0"/>
                <a:ea typeface="Calibri" pitchFamily="34" charset="-122"/>
                <a:cs typeface="Calibri" pitchFamily="34" charset="-120"/>
              </a:rPr>
              <a:t>BEST MOMENTUM, REAL-ECONOMY PROBLEM</a:t>
            </a:r>
            <a:endParaRPr lang="en-US" sz="950" dirty="0"/>
          </a:p>
        </p:txBody>
      </p:sp>
      <p:sp>
        <p:nvSpPr>
          <p:cNvPr id="6" name="Text 4"/>
          <p:cNvSpPr txBox="1"/>
          <p:nvPr/>
        </p:nvSpPr>
        <p:spPr>
          <a:xfrm>
            <a:off x="9338767" y="365760"/>
            <a:ext cx="2286000" cy="694944"/>
          </a:xfrm>
          <a:prstGeom prst="rect">
            <a:avLst/>
          </a:prstGeom>
          <a:noFill/>
          <a:ln/>
        </p:spPr>
        <p:txBody>
          <a:bodyPr wrap="square" lIns="0" tIns="0" rIns="0" bIns="0" rtlCol="0" anchor="ctr"/>
          <a:lstStyle/>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Moody's Ba2</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S&amp;P BB</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Fitch BB-</a:t>
            </a:r>
            <a:endParaRPr lang="en-US" sz="1050" dirty="0"/>
          </a:p>
        </p:txBody>
      </p:sp>
      <p:sp>
        <p:nvSpPr>
          <p:cNvPr id="7" name="Text 5"/>
          <p:cNvSpPr txBox="1"/>
          <p:nvPr/>
        </p:nvSpPr>
        <p:spPr>
          <a:xfrm>
            <a:off x="566928" y="1115568"/>
            <a:ext cx="10424160" cy="530352"/>
          </a:xfrm>
          <a:prstGeom prst="rect">
            <a:avLst/>
          </a:prstGeom>
          <a:noFill/>
          <a:ln/>
        </p:spPr>
        <p:txBody>
          <a:bodyPr wrap="square" lIns="0" tIns="0" rIns="0" bIns="0" rtlCol="0" anchor="t"/>
          <a:lstStyle/>
          <a:p>
            <a:pPr indent="0" marL="0">
              <a:lnSpc>
                <a:spcPct val="114000"/>
              </a:lnSpc>
              <a:buNone/>
            </a:pPr>
            <a:r>
              <a:rPr lang="en-US" sz="1300" dirty="0">
                <a:solidFill>
                  <a:srgbClr val="1E4650"/>
                </a:solidFill>
                <a:latin typeface="Calibri" pitchFamily="34" charset="0"/>
                <a:ea typeface="Calibri" pitchFamily="34" charset="-122"/>
                <a:cs typeface="Calibri" pitchFamily="34" charset="-120"/>
              </a:rPr>
              <a:t>Upgraded by Moody's and S&amp;P within a single month, on a run of primary surpluses. Underneath: thirty-nine consecutive months of deflation and a currency up 10% in a year.</a:t>
            </a:r>
            <a:endParaRPr lang="en-US" sz="1300" dirty="0"/>
          </a:p>
        </p:txBody>
      </p:sp>
      <p:sp>
        <p:nvSpPr>
          <p:cNvPr id="8" name="Shape 6"/>
          <p:cNvSpPr/>
          <p:nvPr/>
        </p:nvSpPr>
        <p:spPr>
          <a:xfrm>
            <a:off x="566928" y="1737360"/>
            <a:ext cx="2682164" cy="1024128"/>
          </a:xfrm>
          <a:prstGeom prst="roundRect">
            <a:avLst>
              <a:gd name="adj" fmla="val 5357"/>
            </a:avLst>
          </a:prstGeom>
          <a:solidFill>
            <a:srgbClr val="EDF1F2"/>
          </a:solidFill>
          <a:ln w="6350">
            <a:solidFill>
              <a:srgbClr val="EDF1F2"/>
            </a:solidFill>
            <a:prstDash val="solid"/>
          </a:ln>
        </p:spPr>
      </p:sp>
      <p:sp>
        <p:nvSpPr>
          <p:cNvPr id="9" name="Text 7"/>
          <p:cNvSpPr txBox="1"/>
          <p:nvPr/>
        </p:nvSpPr>
        <p:spPr>
          <a:xfrm>
            <a:off x="713232" y="1828800"/>
            <a:ext cx="2389556" cy="420624"/>
          </a:xfrm>
          <a:prstGeom prst="rect">
            <a:avLst/>
          </a:prstGeom>
          <a:noFill/>
          <a:ln/>
        </p:spPr>
        <p:txBody>
          <a:bodyPr wrap="square" lIns="0" tIns="0" rIns="0" bIns="0" rtlCol="0" anchor="ctr"/>
          <a:lstStyle/>
          <a:p>
            <a:pPr indent="0" marL="0">
              <a:buNone/>
            </a:pPr>
            <a:r>
              <a:rPr lang="en-US" sz="2400" b="1" dirty="0">
                <a:solidFill>
                  <a:srgbClr val="A8322D"/>
                </a:solidFill>
                <a:latin typeface="Cambria" pitchFamily="34" charset="0"/>
                <a:ea typeface="Cambria" pitchFamily="34" charset="-122"/>
                <a:cs typeface="Cambria" pitchFamily="34" charset="-120"/>
              </a:rPr>
              <a:t>−0.28%</a:t>
            </a:r>
            <a:endParaRPr lang="en-US" sz="2400" dirty="0"/>
          </a:p>
        </p:txBody>
      </p:sp>
      <p:sp>
        <p:nvSpPr>
          <p:cNvPr id="10" name="Text 8"/>
          <p:cNvSpPr txBox="1"/>
          <p:nvPr/>
        </p:nvSpPr>
        <p:spPr>
          <a:xfrm>
            <a:off x="713232"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CPI, July 2026 — the 39th</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consecutive negative y/y print</a:t>
            </a:r>
            <a:endParaRPr lang="en-US" sz="900" dirty="0"/>
          </a:p>
        </p:txBody>
      </p:sp>
      <p:sp>
        <p:nvSpPr>
          <p:cNvPr id="11" name="Shape 9"/>
          <p:cNvSpPr/>
          <p:nvPr/>
        </p:nvSpPr>
        <p:spPr>
          <a:xfrm>
            <a:off x="3358820" y="1737360"/>
            <a:ext cx="2682164" cy="1024128"/>
          </a:xfrm>
          <a:prstGeom prst="roundRect">
            <a:avLst>
              <a:gd name="adj" fmla="val 5357"/>
            </a:avLst>
          </a:prstGeom>
          <a:solidFill>
            <a:srgbClr val="EDF1F2"/>
          </a:solidFill>
          <a:ln w="6350">
            <a:solidFill>
              <a:srgbClr val="EDF1F2"/>
            </a:solidFill>
            <a:prstDash val="solid"/>
          </a:ln>
        </p:spPr>
      </p:sp>
      <p:sp>
        <p:nvSpPr>
          <p:cNvPr id="12" name="Text 10"/>
          <p:cNvSpPr txBox="1"/>
          <p:nvPr/>
        </p:nvSpPr>
        <p:spPr>
          <a:xfrm>
            <a:off x="3505124" y="1828800"/>
            <a:ext cx="2389556" cy="420624"/>
          </a:xfrm>
          <a:prstGeom prst="rect">
            <a:avLst/>
          </a:prstGeom>
          <a:noFill/>
          <a:ln/>
        </p:spPr>
        <p:txBody>
          <a:bodyPr wrap="square" lIns="0" tIns="0" rIns="0" bIns="0" rtlCol="0" anchor="ctr"/>
          <a:lstStyle/>
          <a:p>
            <a:pPr indent="0" marL="0">
              <a:buNone/>
            </a:pPr>
            <a:r>
              <a:rPr lang="en-US" sz="2400" b="1" dirty="0">
                <a:solidFill>
                  <a:srgbClr val="D99A2B"/>
                </a:solidFill>
                <a:latin typeface="Cambria" pitchFamily="34" charset="0"/>
                <a:ea typeface="Cambria" pitchFamily="34" charset="-122"/>
                <a:cs typeface="Cambria" pitchFamily="34" charset="-120"/>
              </a:rPr>
              <a:t>+10.3%</a:t>
            </a:r>
            <a:endParaRPr lang="en-US" sz="2400" dirty="0"/>
          </a:p>
        </p:txBody>
      </p:sp>
      <p:sp>
        <p:nvSpPr>
          <p:cNvPr id="13" name="Text 11"/>
          <p:cNvSpPr txBox="1"/>
          <p:nvPr/>
        </p:nvSpPr>
        <p:spPr>
          <a:xfrm>
            <a:off x="3505124"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colón appreciation over</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twelve months</a:t>
            </a:r>
            <a:endParaRPr lang="en-US" sz="900" dirty="0"/>
          </a:p>
        </p:txBody>
      </p:sp>
      <p:sp>
        <p:nvSpPr>
          <p:cNvPr id="14" name="Shape 12"/>
          <p:cNvSpPr/>
          <p:nvPr/>
        </p:nvSpPr>
        <p:spPr>
          <a:xfrm>
            <a:off x="6150712" y="1737360"/>
            <a:ext cx="2682164" cy="1024128"/>
          </a:xfrm>
          <a:prstGeom prst="roundRect">
            <a:avLst>
              <a:gd name="adj" fmla="val 5357"/>
            </a:avLst>
          </a:prstGeom>
          <a:solidFill>
            <a:srgbClr val="EDF1F2"/>
          </a:solidFill>
          <a:ln w="6350">
            <a:solidFill>
              <a:srgbClr val="EDF1F2"/>
            </a:solidFill>
            <a:prstDash val="solid"/>
          </a:ln>
        </p:spPr>
      </p:sp>
      <p:sp>
        <p:nvSpPr>
          <p:cNvPr id="15" name="Text 13"/>
          <p:cNvSpPr txBox="1"/>
          <p:nvPr/>
        </p:nvSpPr>
        <p:spPr>
          <a:xfrm>
            <a:off x="6297016" y="1828800"/>
            <a:ext cx="2389556" cy="420624"/>
          </a:xfrm>
          <a:prstGeom prst="rect">
            <a:avLst/>
          </a:prstGeom>
          <a:noFill/>
          <a:ln/>
        </p:spPr>
        <p:txBody>
          <a:bodyPr wrap="square" lIns="0" tIns="0" rIns="0" bIns="0" rtlCol="0" anchor="ctr"/>
          <a:lstStyle/>
          <a:p>
            <a:pPr indent="0" marL="0">
              <a:buNone/>
            </a:pPr>
            <a:r>
              <a:rPr lang="en-US" sz="2400" b="1" dirty="0">
                <a:solidFill>
                  <a:srgbClr val="3E7C59"/>
                </a:solidFill>
                <a:latin typeface="Cambria" pitchFamily="34" charset="0"/>
                <a:ea typeface="Cambria" pitchFamily="34" charset="-122"/>
                <a:cs typeface="Cambria" pitchFamily="34" charset="-120"/>
              </a:rPr>
              <a:t>$5.12bn</a:t>
            </a:r>
            <a:endParaRPr lang="en-US" sz="2400" dirty="0"/>
          </a:p>
        </p:txBody>
      </p:sp>
      <p:sp>
        <p:nvSpPr>
          <p:cNvPr id="16" name="Text 14"/>
          <p:cNvSpPr txBox="1"/>
          <p:nvPr/>
        </p:nvSpPr>
        <p:spPr>
          <a:xfrm>
            <a:off x="6297016"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FDI 2025 — a second</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consecutive record year</a:t>
            </a:r>
            <a:endParaRPr lang="en-US" sz="900" dirty="0"/>
          </a:p>
        </p:txBody>
      </p:sp>
      <p:sp>
        <p:nvSpPr>
          <p:cNvPr id="17" name="Shape 15"/>
          <p:cNvSpPr/>
          <p:nvPr/>
        </p:nvSpPr>
        <p:spPr>
          <a:xfrm>
            <a:off x="8942603" y="1737360"/>
            <a:ext cx="2682164" cy="1024128"/>
          </a:xfrm>
          <a:prstGeom prst="roundRect">
            <a:avLst>
              <a:gd name="adj" fmla="val 5357"/>
            </a:avLst>
          </a:prstGeom>
          <a:solidFill>
            <a:srgbClr val="EDF1F2"/>
          </a:solidFill>
          <a:ln w="6350">
            <a:solidFill>
              <a:srgbClr val="EDF1F2"/>
            </a:solidFill>
            <a:prstDash val="solid"/>
          </a:ln>
        </p:spPr>
      </p:sp>
      <p:sp>
        <p:nvSpPr>
          <p:cNvPr id="18" name="Text 16"/>
          <p:cNvSpPr txBox="1"/>
          <p:nvPr/>
        </p:nvSpPr>
        <p:spPr>
          <a:xfrm>
            <a:off x="9088907" y="1828800"/>
            <a:ext cx="2389556" cy="420624"/>
          </a:xfrm>
          <a:prstGeom prst="rect">
            <a:avLst/>
          </a:prstGeom>
          <a:noFill/>
          <a:ln/>
        </p:spPr>
        <p:txBody>
          <a:bodyPr wrap="square" lIns="0" tIns="0" rIns="0" bIns="0" rtlCol="0" anchor="ctr"/>
          <a:lstStyle/>
          <a:p>
            <a:pPr indent="0" marL="0">
              <a:buNone/>
            </a:pPr>
            <a:r>
              <a:rPr lang="en-US" sz="2400" b="1" dirty="0">
                <a:solidFill>
                  <a:srgbClr val="A8322D"/>
                </a:solidFill>
                <a:latin typeface="Cambria" pitchFamily="34" charset="0"/>
                <a:ea typeface="Cambria" pitchFamily="34" charset="-122"/>
                <a:cs typeface="Cambria" pitchFamily="34" charset="-120"/>
              </a:rPr>
              <a:t>−18%</a:t>
            </a:r>
            <a:endParaRPr lang="en-US" sz="2400" dirty="0"/>
          </a:p>
        </p:txBody>
      </p:sp>
      <p:sp>
        <p:nvSpPr>
          <p:cNvPr id="19" name="Text 17"/>
          <p:cNvSpPr txBox="1"/>
          <p:nvPr/>
        </p:nvSpPr>
        <p:spPr>
          <a:xfrm>
            <a:off x="9088907"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but NEW investment fell to $895m;</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the record is reinvestment</a:t>
            </a:r>
            <a:endParaRPr lang="en-US" sz="900" dirty="0"/>
          </a:p>
        </p:txBody>
      </p:sp>
      <p:sp>
        <p:nvSpPr>
          <p:cNvPr id="20" name="Shape 18"/>
          <p:cNvSpPr/>
          <p:nvPr/>
        </p:nvSpPr>
        <p:spPr>
          <a:xfrm>
            <a:off x="585216" y="2980944"/>
            <a:ext cx="118872" cy="118872"/>
          </a:xfrm>
          <a:prstGeom prst="ellipse">
            <a:avLst/>
          </a:prstGeom>
          <a:solidFill>
            <a:srgbClr val="156A7A"/>
          </a:solidFill>
          <a:ln/>
        </p:spPr>
      </p:sp>
      <p:sp>
        <p:nvSpPr>
          <p:cNvPr id="21" name="Text 19"/>
          <p:cNvSpPr txBox="1"/>
          <p:nvPr/>
        </p:nvSpPr>
        <p:spPr>
          <a:xfrm>
            <a:off x="841248" y="292608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Medical devices are the franchise, and they are contracting.</a:t>
            </a:r>
            <a:endParaRPr lang="en-US" sz="1150" dirty="0"/>
          </a:p>
        </p:txBody>
      </p:sp>
      <p:sp>
        <p:nvSpPr>
          <p:cNvPr id="22" name="Text 20"/>
          <p:cNvSpPr txBox="1"/>
          <p:nvPr/>
        </p:nvSpPr>
        <p:spPr>
          <a:xfrm>
            <a:off x="841248" y="315468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More than $6.1bn of exports, 44% of goods exports, ninety-plus medtech companies and ten of the world's thirty largest device makers. In 2026 the cluster faces a 12.5% US tariff, an appreciating colón and a Boston Scientific restructuring covering a 10,000-person Costa Rican workforce.</a:t>
            </a:r>
            <a:endParaRPr lang="en-US" sz="1000" dirty="0"/>
          </a:p>
        </p:txBody>
      </p:sp>
      <p:sp>
        <p:nvSpPr>
          <p:cNvPr id="23" name="Shape 21"/>
          <p:cNvSpPr/>
          <p:nvPr/>
        </p:nvSpPr>
        <p:spPr>
          <a:xfrm>
            <a:off x="585216" y="3621024"/>
            <a:ext cx="118872" cy="118872"/>
          </a:xfrm>
          <a:prstGeom prst="ellipse">
            <a:avLst/>
          </a:prstGeom>
          <a:solidFill>
            <a:srgbClr val="156A7A"/>
          </a:solidFill>
          <a:ln/>
        </p:spPr>
      </p:sp>
      <p:sp>
        <p:nvSpPr>
          <p:cNvPr id="24" name="Text 22"/>
          <p:cNvSpPr txBox="1"/>
          <p:nvPr/>
        </p:nvSpPr>
        <p:spPr>
          <a:xfrm>
            <a:off x="841248" y="356616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The free-zone regime is the most generous in the sample.</a:t>
            </a:r>
            <a:endParaRPr lang="en-US" sz="1150" dirty="0"/>
          </a:p>
        </p:txBody>
      </p:sp>
      <p:sp>
        <p:nvSpPr>
          <p:cNvPr id="25" name="Text 23"/>
          <p:cNvSpPr txBox="1"/>
          <p:nvPr/>
        </p:nvSpPr>
        <p:spPr>
          <a:xfrm>
            <a:off x="841248" y="379476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Services and non-manufacturing pay 0% income tax for eight years anywhere in the country; manufacturing megaprojects outside the central valley pay 0% for twelve, with VAT, duty, property-transfer and remittance-tax relief on top.</a:t>
            </a:r>
            <a:endParaRPr lang="en-US" sz="1000" dirty="0"/>
          </a:p>
        </p:txBody>
      </p:sp>
      <p:sp>
        <p:nvSpPr>
          <p:cNvPr id="26" name="Shape 24"/>
          <p:cNvSpPr/>
          <p:nvPr/>
        </p:nvSpPr>
        <p:spPr>
          <a:xfrm>
            <a:off x="585216" y="4261104"/>
            <a:ext cx="118872" cy="118872"/>
          </a:xfrm>
          <a:prstGeom prst="ellipse">
            <a:avLst/>
          </a:prstGeom>
          <a:solidFill>
            <a:srgbClr val="156A7A"/>
          </a:solidFill>
          <a:ln/>
        </p:spPr>
      </p:sp>
      <p:sp>
        <p:nvSpPr>
          <p:cNvPr id="27" name="Text 25"/>
          <p:cNvSpPr txBox="1"/>
          <p:nvPr/>
        </p:nvSpPr>
        <p:spPr>
          <a:xfrm>
            <a:off x="841248" y="420624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A new government with a working majority and untested instincts.</a:t>
            </a:r>
            <a:endParaRPr lang="en-US" sz="1150" dirty="0"/>
          </a:p>
        </p:txBody>
      </p:sp>
      <p:sp>
        <p:nvSpPr>
          <p:cNvPr id="28" name="Text 26"/>
          <p:cNvSpPr txBox="1"/>
          <p:nvPr/>
        </p:nvSpPr>
        <p:spPr>
          <a:xfrm>
            <a:off x="841248" y="443484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Laura Fernández won outright in February 2026 with 48.3% and took 31 of 57 seats — a majority, but short of the 38 needed for constitutional reform. Rhetoric about replacing the 1948 settlement is worth monitoring.</a:t>
            </a:r>
            <a:endParaRPr lang="en-US" sz="1000" dirty="0"/>
          </a:p>
        </p:txBody>
      </p:sp>
      <p:sp>
        <p:nvSpPr>
          <p:cNvPr id="29" name="Shape 27"/>
          <p:cNvSpPr/>
          <p:nvPr/>
        </p:nvSpPr>
        <p:spPr>
          <a:xfrm>
            <a:off x="585216" y="4901184"/>
            <a:ext cx="118872" cy="118872"/>
          </a:xfrm>
          <a:prstGeom prst="ellipse">
            <a:avLst/>
          </a:prstGeom>
          <a:solidFill>
            <a:srgbClr val="156A7A"/>
          </a:solidFill>
          <a:ln/>
        </p:spPr>
      </p:sp>
      <p:sp>
        <p:nvSpPr>
          <p:cNvPr id="30" name="Text 28"/>
          <p:cNvSpPr txBox="1"/>
          <p:nvPr/>
        </p:nvSpPr>
        <p:spPr>
          <a:xfrm>
            <a:off x="841248" y="484632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Fitch is two notches behind its peers.</a:t>
            </a:r>
            <a:endParaRPr lang="en-US" sz="1150" dirty="0"/>
          </a:p>
        </p:txBody>
      </p:sp>
      <p:sp>
        <p:nvSpPr>
          <p:cNvPr id="31" name="Text 29"/>
          <p:cNvSpPr txBox="1"/>
          <p:nvPr/>
        </p:nvSpPr>
        <p:spPr>
          <a:xfrm>
            <a:off x="841248" y="507492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It has not acted since March 2023. A catch-up upgrade is a live, under-priced catalyst.</a:t>
            </a:r>
            <a:endParaRPr lang="en-US" sz="1000" dirty="0"/>
          </a:p>
        </p:txBody>
      </p:sp>
      <p:sp>
        <p:nvSpPr>
          <p:cNvPr id="32" name="Shape 30"/>
          <p:cNvSpPr/>
          <p:nvPr/>
        </p:nvSpPr>
        <p:spPr>
          <a:xfrm>
            <a:off x="566928" y="5541264"/>
            <a:ext cx="11057839" cy="676656"/>
          </a:xfrm>
          <a:prstGeom prst="roundRect">
            <a:avLst>
              <a:gd name="adj" fmla="val 8108"/>
            </a:avLst>
          </a:prstGeom>
          <a:solidFill>
            <a:srgbClr val="EDF1F2"/>
          </a:solidFill>
          <a:ln w="6350">
            <a:solidFill>
              <a:srgbClr val="EDF1F2"/>
            </a:solidFill>
            <a:prstDash val="solid"/>
          </a:ln>
        </p:spPr>
      </p:sp>
      <p:sp>
        <p:nvSpPr>
          <p:cNvPr id="33" name="Text 31"/>
          <p:cNvSpPr txBox="1"/>
          <p:nvPr/>
        </p:nvSpPr>
        <p:spPr>
          <a:xfrm>
            <a:off x="804672" y="5705856"/>
            <a:ext cx="10582351" cy="329184"/>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The best rating momentum in the sample, and the strongest currency. The risks are the mirror image of the strengths: deflation and appreciation squeezing the export base, and FDI that is being sustained by reinvestment rather than new money.</a:t>
            </a:r>
            <a:endParaRPr lang="en-US" sz="1050" dirty="0"/>
          </a:p>
        </p:txBody>
      </p:sp>
      <p:sp>
        <p:nvSpPr>
          <p:cNvPr id="34" name="Text 32"/>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35" name="Text 33"/>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4E93A3"/>
          </a:solidFill>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GT</a:t>
            </a:r>
            <a:endParaRPr lang="en-US" sz="1500" dirty="0"/>
          </a:p>
        </p:txBody>
      </p:sp>
      <p:sp>
        <p:nvSpPr>
          <p:cNvPr id="4" name="Text 2"/>
          <p:cNvSpPr txBox="1"/>
          <p:nvPr/>
        </p:nvSpPr>
        <p:spPr>
          <a:xfrm>
            <a:off x="1298448" y="365760"/>
            <a:ext cx="5852160" cy="402336"/>
          </a:xfrm>
          <a:prstGeom prst="rect">
            <a:avLst/>
          </a:prstGeom>
          <a:noFill/>
          <a:ln/>
        </p:spPr>
        <p:txBody>
          <a:bodyPr wrap="square" lIns="0" tIns="0" rIns="0" bIns="0" rtlCol="0" anchor="ctr"/>
          <a:lstStyle/>
          <a:p>
            <a:pPr indent="0" marL="0">
              <a:buNone/>
            </a:pPr>
            <a:r>
              <a:rPr lang="en-US" sz="2900" b="1" dirty="0">
                <a:solidFill>
                  <a:srgbClr val="0B3B45"/>
                </a:solidFill>
                <a:latin typeface="Cambria" pitchFamily="34" charset="0"/>
                <a:ea typeface="Cambria" pitchFamily="34" charset="-122"/>
                <a:cs typeface="Cambria" pitchFamily="34" charset="-120"/>
              </a:rPr>
              <a:t>Guatemala</a:t>
            </a:r>
            <a:endParaRPr lang="en-US" sz="2900" dirty="0"/>
          </a:p>
        </p:txBody>
      </p:sp>
      <p:sp>
        <p:nvSpPr>
          <p:cNvPr id="5" name="Text 3"/>
          <p:cNvSpPr txBox="1"/>
          <p:nvPr/>
        </p:nvSpPr>
        <p:spPr>
          <a:xfrm>
            <a:off x="1298448" y="786384"/>
            <a:ext cx="5852160" cy="219456"/>
          </a:xfrm>
          <a:prstGeom prst="rect">
            <a:avLst/>
          </a:prstGeom>
          <a:noFill/>
          <a:ln/>
        </p:spPr>
        <p:txBody>
          <a:bodyPr wrap="square" lIns="0" tIns="0" rIns="0" bIns="0" rtlCol="0" anchor="ctr"/>
          <a:lstStyle/>
          <a:p>
            <a:pPr indent="0" marL="0">
              <a:buNone/>
            </a:pPr>
            <a:r>
              <a:rPr lang="en-US" sz="950" b="1" spc="150" kern="0" dirty="0">
                <a:solidFill>
                  <a:srgbClr val="4E93A3"/>
                </a:solidFill>
                <a:latin typeface="Calibri" pitchFamily="34" charset="0"/>
                <a:ea typeface="Calibri" pitchFamily="34" charset="-122"/>
                <a:cs typeface="Calibri" pitchFamily="34" charset="-120"/>
              </a:rPr>
              <a:t>THE BEST FUNDAMENTALS-TO-RATING GAP HERE</a:t>
            </a:r>
            <a:endParaRPr lang="en-US" sz="950" dirty="0"/>
          </a:p>
        </p:txBody>
      </p:sp>
      <p:sp>
        <p:nvSpPr>
          <p:cNvPr id="6" name="Text 4"/>
          <p:cNvSpPr txBox="1"/>
          <p:nvPr/>
        </p:nvSpPr>
        <p:spPr>
          <a:xfrm>
            <a:off x="9338767" y="365760"/>
            <a:ext cx="2286000" cy="694944"/>
          </a:xfrm>
          <a:prstGeom prst="rect">
            <a:avLst/>
          </a:prstGeom>
          <a:noFill/>
          <a:ln/>
        </p:spPr>
        <p:txBody>
          <a:bodyPr wrap="square" lIns="0" tIns="0" rIns="0" bIns="0" rtlCol="0" anchor="ctr"/>
          <a:lstStyle/>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Moody's Ba1</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S&amp;P BB+</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Fitch BB</a:t>
            </a:r>
            <a:endParaRPr lang="en-US" sz="1050" dirty="0"/>
          </a:p>
        </p:txBody>
      </p:sp>
      <p:sp>
        <p:nvSpPr>
          <p:cNvPr id="7" name="Text 5"/>
          <p:cNvSpPr txBox="1"/>
          <p:nvPr/>
        </p:nvSpPr>
        <p:spPr>
          <a:xfrm>
            <a:off x="566928" y="1115568"/>
            <a:ext cx="10424160" cy="530352"/>
          </a:xfrm>
          <a:prstGeom prst="rect">
            <a:avLst/>
          </a:prstGeom>
          <a:noFill/>
          <a:ln/>
        </p:spPr>
        <p:txBody>
          <a:bodyPr wrap="square" lIns="0" tIns="0" rIns="0" bIns="0" rtlCol="0" anchor="t"/>
          <a:lstStyle/>
          <a:p>
            <a:pPr indent="0" marL="0">
              <a:lnSpc>
                <a:spcPct val="114000"/>
              </a:lnSpc>
              <a:buNone/>
            </a:pPr>
            <a:r>
              <a:rPr lang="en-US" sz="1300" dirty="0">
                <a:solidFill>
                  <a:srgbClr val="1E4650"/>
                </a:solidFill>
                <a:latin typeface="Calibri" pitchFamily="34" charset="0"/>
                <a:ea typeface="Calibri" pitchFamily="34" charset="-122"/>
                <a:cs typeface="Calibri" pitchFamily="34" charset="-120"/>
              </a:rPr>
              <a:t>The lowest debt in the sample, a structural current-account surplus, exceptional reserve cover and one notch from investment grade at two of three agencies.</a:t>
            </a:r>
            <a:endParaRPr lang="en-US" sz="1300" dirty="0"/>
          </a:p>
        </p:txBody>
      </p:sp>
      <p:sp>
        <p:nvSpPr>
          <p:cNvPr id="8" name="Shape 6"/>
          <p:cNvSpPr/>
          <p:nvPr/>
        </p:nvSpPr>
        <p:spPr>
          <a:xfrm>
            <a:off x="566928" y="1737360"/>
            <a:ext cx="2682164" cy="1024128"/>
          </a:xfrm>
          <a:prstGeom prst="roundRect">
            <a:avLst>
              <a:gd name="adj" fmla="val 5357"/>
            </a:avLst>
          </a:prstGeom>
          <a:solidFill>
            <a:srgbClr val="EDF1F2"/>
          </a:solidFill>
          <a:ln w="6350">
            <a:solidFill>
              <a:srgbClr val="EDF1F2"/>
            </a:solidFill>
            <a:prstDash val="solid"/>
          </a:ln>
        </p:spPr>
      </p:sp>
      <p:sp>
        <p:nvSpPr>
          <p:cNvPr id="9" name="Text 7"/>
          <p:cNvSpPr txBox="1"/>
          <p:nvPr/>
        </p:nvSpPr>
        <p:spPr>
          <a:xfrm>
            <a:off x="713232" y="1828800"/>
            <a:ext cx="2389556" cy="420624"/>
          </a:xfrm>
          <a:prstGeom prst="rect">
            <a:avLst/>
          </a:prstGeom>
          <a:noFill/>
          <a:ln/>
        </p:spPr>
        <p:txBody>
          <a:bodyPr wrap="square" lIns="0" tIns="0" rIns="0" bIns="0" rtlCol="0" anchor="ctr"/>
          <a:lstStyle/>
          <a:p>
            <a:pPr indent="0" marL="0">
              <a:buNone/>
            </a:pPr>
            <a:r>
              <a:rPr lang="en-US" sz="2400" b="1" dirty="0">
                <a:solidFill>
                  <a:srgbClr val="3E7C59"/>
                </a:solidFill>
                <a:latin typeface="Cambria" pitchFamily="34" charset="0"/>
                <a:ea typeface="Cambria" pitchFamily="34" charset="-122"/>
                <a:cs typeface="Cambria" pitchFamily="34" charset="-120"/>
              </a:rPr>
              <a:t>26.7%</a:t>
            </a:r>
            <a:endParaRPr lang="en-US" sz="2400" dirty="0"/>
          </a:p>
        </p:txBody>
      </p:sp>
      <p:sp>
        <p:nvSpPr>
          <p:cNvPr id="10" name="Text 8"/>
          <p:cNvSpPr txBox="1"/>
          <p:nvPr/>
        </p:nvSpPr>
        <p:spPr>
          <a:xfrm>
            <a:off x="713232"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public debt, 2025</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lowest in the sample by far</a:t>
            </a:r>
            <a:endParaRPr lang="en-US" sz="900" dirty="0"/>
          </a:p>
        </p:txBody>
      </p:sp>
      <p:sp>
        <p:nvSpPr>
          <p:cNvPr id="11" name="Shape 9"/>
          <p:cNvSpPr/>
          <p:nvPr/>
        </p:nvSpPr>
        <p:spPr>
          <a:xfrm>
            <a:off x="3358820" y="1737360"/>
            <a:ext cx="2682164" cy="1024128"/>
          </a:xfrm>
          <a:prstGeom prst="roundRect">
            <a:avLst>
              <a:gd name="adj" fmla="val 5357"/>
            </a:avLst>
          </a:prstGeom>
          <a:solidFill>
            <a:srgbClr val="EDF1F2"/>
          </a:solidFill>
          <a:ln w="6350">
            <a:solidFill>
              <a:srgbClr val="EDF1F2"/>
            </a:solidFill>
            <a:prstDash val="solid"/>
          </a:ln>
        </p:spPr>
      </p:sp>
      <p:sp>
        <p:nvSpPr>
          <p:cNvPr id="12" name="Text 10"/>
          <p:cNvSpPr txBox="1"/>
          <p:nvPr/>
        </p:nvSpPr>
        <p:spPr>
          <a:xfrm>
            <a:off x="3505124" y="1828800"/>
            <a:ext cx="2389556" cy="420624"/>
          </a:xfrm>
          <a:prstGeom prst="rect">
            <a:avLst/>
          </a:prstGeom>
          <a:noFill/>
          <a:ln/>
        </p:spPr>
        <p:txBody>
          <a:bodyPr wrap="square" lIns="0" tIns="0" rIns="0" bIns="0" rtlCol="0" anchor="ctr"/>
          <a:lstStyle/>
          <a:p>
            <a:pPr indent="0" marL="0">
              <a:buNone/>
            </a:pPr>
            <a:r>
              <a:rPr lang="en-US" sz="2400" b="1" dirty="0">
                <a:solidFill>
                  <a:srgbClr val="3E7C59"/>
                </a:solidFill>
                <a:latin typeface="Cambria" pitchFamily="34" charset="0"/>
                <a:ea typeface="Cambria" pitchFamily="34" charset="-122"/>
                <a:cs typeface="Cambria" pitchFamily="34" charset="-120"/>
              </a:rPr>
              <a:t>+4.7%</a:t>
            </a:r>
            <a:endParaRPr lang="en-US" sz="2400" dirty="0"/>
          </a:p>
        </p:txBody>
      </p:sp>
      <p:sp>
        <p:nvSpPr>
          <p:cNvPr id="13" name="Text 11"/>
          <p:cNvSpPr txBox="1"/>
          <p:nvPr/>
        </p:nvSpPr>
        <p:spPr>
          <a:xfrm>
            <a:off x="3505124"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current account, 2025</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remittance-financed surplus</a:t>
            </a:r>
            <a:endParaRPr lang="en-US" sz="900" dirty="0"/>
          </a:p>
        </p:txBody>
      </p:sp>
      <p:sp>
        <p:nvSpPr>
          <p:cNvPr id="14" name="Shape 12"/>
          <p:cNvSpPr/>
          <p:nvPr/>
        </p:nvSpPr>
        <p:spPr>
          <a:xfrm>
            <a:off x="6150712" y="1737360"/>
            <a:ext cx="2682164" cy="1024128"/>
          </a:xfrm>
          <a:prstGeom prst="roundRect">
            <a:avLst>
              <a:gd name="adj" fmla="val 5357"/>
            </a:avLst>
          </a:prstGeom>
          <a:solidFill>
            <a:srgbClr val="EDF1F2"/>
          </a:solidFill>
          <a:ln w="6350">
            <a:solidFill>
              <a:srgbClr val="EDF1F2"/>
            </a:solidFill>
            <a:prstDash val="solid"/>
          </a:ln>
        </p:spPr>
      </p:sp>
      <p:sp>
        <p:nvSpPr>
          <p:cNvPr id="15" name="Text 13"/>
          <p:cNvSpPr txBox="1"/>
          <p:nvPr/>
        </p:nvSpPr>
        <p:spPr>
          <a:xfrm>
            <a:off x="6297016" y="1828800"/>
            <a:ext cx="2389556" cy="420624"/>
          </a:xfrm>
          <a:prstGeom prst="rect">
            <a:avLst/>
          </a:prstGeom>
          <a:noFill/>
          <a:ln/>
        </p:spPr>
        <p:txBody>
          <a:bodyPr wrap="square" lIns="0" tIns="0" rIns="0" bIns="0" rtlCol="0" anchor="ctr"/>
          <a:lstStyle/>
          <a:p>
            <a:pPr indent="0" marL="0">
              <a:buNone/>
            </a:pPr>
            <a:r>
              <a:rPr lang="en-US" sz="2400" b="1" dirty="0">
                <a:solidFill>
                  <a:srgbClr val="3E7C59"/>
                </a:solidFill>
                <a:latin typeface="Cambria" pitchFamily="34" charset="0"/>
                <a:ea typeface="Cambria" pitchFamily="34" charset="-122"/>
                <a:cs typeface="Cambria" pitchFamily="34" charset="-120"/>
              </a:rPr>
              <a:t>$32.8bn</a:t>
            </a:r>
            <a:endParaRPr lang="en-US" sz="2400" dirty="0"/>
          </a:p>
        </p:txBody>
      </p:sp>
      <p:sp>
        <p:nvSpPr>
          <p:cNvPr id="16" name="Text 14"/>
          <p:cNvSpPr txBox="1"/>
          <p:nvPr/>
        </p:nvSpPr>
        <p:spPr>
          <a:xfrm>
            <a:off x="6297016"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FX reserves — roughly</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27% of GDP</a:t>
            </a:r>
            <a:endParaRPr lang="en-US" sz="900" dirty="0"/>
          </a:p>
        </p:txBody>
      </p:sp>
      <p:sp>
        <p:nvSpPr>
          <p:cNvPr id="17" name="Shape 15"/>
          <p:cNvSpPr/>
          <p:nvPr/>
        </p:nvSpPr>
        <p:spPr>
          <a:xfrm>
            <a:off x="8942603" y="1737360"/>
            <a:ext cx="2682164" cy="1024128"/>
          </a:xfrm>
          <a:prstGeom prst="roundRect">
            <a:avLst>
              <a:gd name="adj" fmla="val 5357"/>
            </a:avLst>
          </a:prstGeom>
          <a:solidFill>
            <a:srgbClr val="EDF1F2"/>
          </a:solidFill>
          <a:ln w="6350">
            <a:solidFill>
              <a:srgbClr val="EDF1F2"/>
            </a:solidFill>
            <a:prstDash val="solid"/>
          </a:ln>
        </p:spPr>
      </p:sp>
      <p:sp>
        <p:nvSpPr>
          <p:cNvPr id="18" name="Text 16"/>
          <p:cNvSpPr txBox="1"/>
          <p:nvPr/>
        </p:nvSpPr>
        <p:spPr>
          <a:xfrm>
            <a:off x="9088907" y="1828800"/>
            <a:ext cx="2389556" cy="420624"/>
          </a:xfrm>
          <a:prstGeom prst="rect">
            <a:avLst/>
          </a:prstGeom>
          <a:noFill/>
          <a:ln/>
        </p:spPr>
        <p:txBody>
          <a:bodyPr wrap="square" lIns="0" tIns="0" rIns="0" bIns="0" rtlCol="0" anchor="ctr"/>
          <a:lstStyle/>
          <a:p>
            <a:pPr indent="0" marL="0">
              <a:buNone/>
            </a:pPr>
            <a:r>
              <a:rPr lang="en-US" sz="2400" b="1" dirty="0">
                <a:solidFill>
                  <a:srgbClr val="A8322D"/>
                </a:solidFill>
                <a:latin typeface="Cambria" pitchFamily="34" charset="0"/>
                <a:ea typeface="Cambria" pitchFamily="34" charset="-122"/>
                <a:cs typeface="Cambria" pitchFamily="34" charset="-120"/>
              </a:rPr>
              <a:t>12.6%</a:t>
            </a:r>
            <a:endParaRPr lang="en-US" sz="2400" dirty="0"/>
          </a:p>
        </p:txBody>
      </p:sp>
      <p:sp>
        <p:nvSpPr>
          <p:cNvPr id="19" name="Text 17"/>
          <p:cNvSpPr txBox="1"/>
          <p:nvPr/>
        </p:nvSpPr>
        <p:spPr>
          <a:xfrm>
            <a:off x="9088907"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tax revenue as a share of GDP —</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among the lowest in the world</a:t>
            </a:r>
            <a:endParaRPr lang="en-US" sz="900" dirty="0"/>
          </a:p>
        </p:txBody>
      </p:sp>
      <p:sp>
        <p:nvSpPr>
          <p:cNvPr id="20" name="Shape 18"/>
          <p:cNvSpPr/>
          <p:nvPr/>
        </p:nvSpPr>
        <p:spPr>
          <a:xfrm>
            <a:off x="585216" y="2980944"/>
            <a:ext cx="118872" cy="118872"/>
          </a:xfrm>
          <a:prstGeom prst="ellipse">
            <a:avLst/>
          </a:prstGeom>
          <a:solidFill>
            <a:srgbClr val="4E93A3"/>
          </a:solidFill>
          <a:ln/>
        </p:spPr>
      </p:sp>
      <p:sp>
        <p:nvSpPr>
          <p:cNvPr id="21" name="Text 19"/>
          <p:cNvSpPr txBox="1"/>
          <p:nvPr/>
        </p:nvSpPr>
        <p:spPr>
          <a:xfrm>
            <a:off x="841248" y="292608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The binding constraint is capacity, not solvency.</a:t>
            </a:r>
            <a:endParaRPr lang="en-US" sz="1150" dirty="0"/>
          </a:p>
        </p:txBody>
      </p:sp>
      <p:sp>
        <p:nvSpPr>
          <p:cNvPr id="22" name="Text 20"/>
          <p:cNvSpPr txBox="1"/>
          <p:nvPr/>
        </p:nvSpPr>
        <p:spPr>
          <a:xfrm>
            <a:off x="841248" y="315468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A 12.6%-of-GDP tax take and chronic under-execution of public investment are what hold the rating down. The IMF's core recommendation is to spend more on infrastructure and to raise revenue.</a:t>
            </a:r>
            <a:endParaRPr lang="en-US" sz="1000" dirty="0"/>
          </a:p>
        </p:txBody>
      </p:sp>
      <p:sp>
        <p:nvSpPr>
          <p:cNvPr id="23" name="Shape 21"/>
          <p:cNvSpPr/>
          <p:nvPr/>
        </p:nvSpPr>
        <p:spPr>
          <a:xfrm>
            <a:off x="585216" y="3621024"/>
            <a:ext cx="118872" cy="118872"/>
          </a:xfrm>
          <a:prstGeom prst="ellipse">
            <a:avLst/>
          </a:prstGeom>
          <a:solidFill>
            <a:srgbClr val="4E93A3"/>
          </a:solidFill>
          <a:ln/>
        </p:spPr>
      </p:sp>
      <p:sp>
        <p:nvSpPr>
          <p:cNvPr id="24" name="Text 22"/>
          <p:cNvSpPr txBox="1"/>
          <p:nvPr/>
        </p:nvSpPr>
        <p:spPr>
          <a:xfrm>
            <a:off x="841248" y="356616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The largest governance overhang has been removed.</a:t>
            </a:r>
            <a:endParaRPr lang="en-US" sz="1150" dirty="0"/>
          </a:p>
        </p:txBody>
      </p:sp>
      <p:sp>
        <p:nvSpPr>
          <p:cNvPr id="25" name="Text 23"/>
          <p:cNvSpPr txBox="1"/>
          <p:nvPr/>
        </p:nvSpPr>
        <p:spPr>
          <a:xfrm>
            <a:off x="841248" y="379476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Attorney General Consuelo Porras — US-sanctioned for corruption, and the architect of the attempt to annul Arévalo's election — was replaced in May 2026. Her successor pledged in July to dismantle that legacy. This is materially rating-positive.</a:t>
            </a:r>
            <a:endParaRPr lang="en-US" sz="1000" dirty="0"/>
          </a:p>
        </p:txBody>
      </p:sp>
      <p:sp>
        <p:nvSpPr>
          <p:cNvPr id="26" name="Shape 24"/>
          <p:cNvSpPr/>
          <p:nvPr/>
        </p:nvSpPr>
        <p:spPr>
          <a:xfrm>
            <a:off x="585216" y="4261104"/>
            <a:ext cx="118872" cy="118872"/>
          </a:xfrm>
          <a:prstGeom prst="ellipse">
            <a:avLst/>
          </a:prstGeom>
          <a:solidFill>
            <a:srgbClr val="4E93A3"/>
          </a:solidFill>
          <a:ln/>
        </p:spPr>
      </p:sp>
      <p:sp>
        <p:nvSpPr>
          <p:cNvPr id="27" name="Text 25"/>
          <p:cNvSpPr txBox="1"/>
          <p:nvPr/>
        </p:nvSpPr>
        <p:spPr>
          <a:xfrm>
            <a:off x="841248" y="420624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FDI of 1.6% of GDP is strikingly low for the size of the economy.</a:t>
            </a:r>
            <a:endParaRPr lang="en-US" sz="1150" dirty="0"/>
          </a:p>
        </p:txBody>
      </p:sp>
      <p:sp>
        <p:nvSpPr>
          <p:cNvPr id="28" name="Text 26"/>
          <p:cNvSpPr txBox="1"/>
          <p:nvPr/>
        </p:nvSpPr>
        <p:spPr>
          <a:xfrm>
            <a:off x="841248" y="443484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That, not debt, is the structural weakness.</a:t>
            </a:r>
            <a:endParaRPr lang="en-US" sz="1000" dirty="0"/>
          </a:p>
        </p:txBody>
      </p:sp>
      <p:sp>
        <p:nvSpPr>
          <p:cNvPr id="29" name="Shape 27"/>
          <p:cNvSpPr/>
          <p:nvPr/>
        </p:nvSpPr>
        <p:spPr>
          <a:xfrm>
            <a:off x="585216" y="4901184"/>
            <a:ext cx="118872" cy="118872"/>
          </a:xfrm>
          <a:prstGeom prst="ellipse">
            <a:avLst/>
          </a:prstGeom>
          <a:solidFill>
            <a:srgbClr val="4E93A3"/>
          </a:solidFill>
          <a:ln/>
        </p:spPr>
      </p:sp>
      <p:sp>
        <p:nvSpPr>
          <p:cNvPr id="30" name="Text 28"/>
          <p:cNvSpPr txBox="1"/>
          <p:nvPr/>
        </p:nvSpPr>
        <p:spPr>
          <a:xfrm>
            <a:off x="841248" y="484632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The remittance surge was partly a one-off.</a:t>
            </a:r>
            <a:endParaRPr lang="en-US" sz="1150" dirty="0"/>
          </a:p>
        </p:txBody>
      </p:sp>
      <p:sp>
        <p:nvSpPr>
          <p:cNvPr id="31" name="Text 29"/>
          <p:cNvSpPr txBox="1"/>
          <p:nvPr/>
        </p:nvSpPr>
        <p:spPr>
          <a:xfrm>
            <a:off x="841248" y="507492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2025 inflows rose 19% to $25.5bn, 20.7% of GDP, partly on migrants front-running US deportation policy and the 1% US cash-transfer tax effective January 2026. Banguat's own forecast decelerates to +5%.</a:t>
            </a:r>
            <a:endParaRPr lang="en-US" sz="1000" dirty="0"/>
          </a:p>
        </p:txBody>
      </p:sp>
      <p:sp>
        <p:nvSpPr>
          <p:cNvPr id="32" name="Shape 30"/>
          <p:cNvSpPr/>
          <p:nvPr/>
        </p:nvSpPr>
        <p:spPr>
          <a:xfrm>
            <a:off x="566928" y="5541264"/>
            <a:ext cx="11057839" cy="676656"/>
          </a:xfrm>
          <a:prstGeom prst="roundRect">
            <a:avLst>
              <a:gd name="adj" fmla="val 8108"/>
            </a:avLst>
          </a:prstGeom>
          <a:solidFill>
            <a:srgbClr val="EDF1F2"/>
          </a:solidFill>
          <a:ln w="6350">
            <a:solidFill>
              <a:srgbClr val="EDF1F2"/>
            </a:solidFill>
            <a:prstDash val="solid"/>
          </a:ln>
        </p:spPr>
      </p:sp>
      <p:sp>
        <p:nvSpPr>
          <p:cNvPr id="33" name="Text 31"/>
          <p:cNvSpPr txBox="1"/>
          <p:nvPr/>
        </p:nvSpPr>
        <p:spPr>
          <a:xfrm>
            <a:off x="804672" y="5705856"/>
            <a:ext cx="10582351" cy="329184"/>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The most compelling rising-star candidate in the set. Pitch the balance sheet and the rule-of-law improvement; stress-test the remittance line, and price in policy paralysis as the June 2027 campaign begins.</a:t>
            </a:r>
            <a:endParaRPr lang="en-US" sz="1050" dirty="0"/>
          </a:p>
        </p:txBody>
      </p:sp>
      <p:sp>
        <p:nvSpPr>
          <p:cNvPr id="34" name="Text 32"/>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35" name="Text 33"/>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D99A2B"/>
          </a:solidFill>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a:t>
            </a:r>
            <a:endParaRPr lang="en-US" sz="1500" dirty="0"/>
          </a:p>
        </p:txBody>
      </p:sp>
      <p:sp>
        <p:nvSpPr>
          <p:cNvPr id="4" name="Text 2"/>
          <p:cNvSpPr txBox="1"/>
          <p:nvPr/>
        </p:nvSpPr>
        <p:spPr>
          <a:xfrm>
            <a:off x="1298448" y="365760"/>
            <a:ext cx="5852160" cy="402336"/>
          </a:xfrm>
          <a:prstGeom prst="rect">
            <a:avLst/>
          </a:prstGeom>
          <a:noFill/>
          <a:ln/>
        </p:spPr>
        <p:txBody>
          <a:bodyPr wrap="square" lIns="0" tIns="0" rIns="0" bIns="0" rtlCol="0" anchor="ctr"/>
          <a:lstStyle/>
          <a:p>
            <a:pPr indent="0" marL="0">
              <a:buNone/>
            </a:pPr>
            <a:r>
              <a:rPr lang="en-US" sz="2900" b="1" dirty="0">
                <a:solidFill>
                  <a:srgbClr val="0B3B45"/>
                </a:solidFill>
                <a:latin typeface="Cambria" pitchFamily="34" charset="0"/>
                <a:ea typeface="Cambria" pitchFamily="34" charset="-122"/>
                <a:cs typeface="Cambria" pitchFamily="34" charset="-120"/>
              </a:rPr>
              <a:t>Colombia</a:t>
            </a:r>
            <a:endParaRPr lang="en-US" sz="2900" dirty="0"/>
          </a:p>
        </p:txBody>
      </p:sp>
      <p:sp>
        <p:nvSpPr>
          <p:cNvPr id="5" name="Text 3"/>
          <p:cNvSpPr txBox="1"/>
          <p:nvPr/>
        </p:nvSpPr>
        <p:spPr>
          <a:xfrm>
            <a:off x="1298448" y="786384"/>
            <a:ext cx="5852160" cy="219456"/>
          </a:xfrm>
          <a:prstGeom prst="rect">
            <a:avLst/>
          </a:prstGeom>
          <a:noFill/>
          <a:ln/>
        </p:spPr>
        <p:txBody>
          <a:bodyPr wrap="square" lIns="0" tIns="0" rIns="0" bIns="0" rtlCol="0" anchor="ctr"/>
          <a:lstStyle/>
          <a:p>
            <a:pPr indent="0" marL="0">
              <a:buNone/>
            </a:pPr>
            <a:r>
              <a:rPr lang="en-US" sz="950" b="1" spc="150" kern="0" dirty="0">
                <a:solidFill>
                  <a:srgbClr val="D99A2B"/>
                </a:solidFill>
                <a:latin typeface="Calibri" pitchFamily="34" charset="0"/>
                <a:ea typeface="Calibri" pitchFamily="34" charset="-122"/>
                <a:cs typeface="Calibri" pitchFamily="34" charset="-120"/>
              </a:rPr>
              <a:t>THE PRIORITY MARKET — SEE THE ANNEX</a:t>
            </a:r>
            <a:endParaRPr lang="en-US" sz="950" dirty="0"/>
          </a:p>
        </p:txBody>
      </p:sp>
      <p:sp>
        <p:nvSpPr>
          <p:cNvPr id="6" name="Text 4"/>
          <p:cNvSpPr txBox="1"/>
          <p:nvPr/>
        </p:nvSpPr>
        <p:spPr>
          <a:xfrm>
            <a:off x="9338767" y="365760"/>
            <a:ext cx="2286000" cy="694944"/>
          </a:xfrm>
          <a:prstGeom prst="rect">
            <a:avLst/>
          </a:prstGeom>
          <a:noFill/>
          <a:ln/>
        </p:spPr>
        <p:txBody>
          <a:bodyPr wrap="square" lIns="0" tIns="0" rIns="0" bIns="0" rtlCol="0" anchor="ctr"/>
          <a:lstStyle/>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Moody's Baa3</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S&amp;P BB-</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Fitch BB</a:t>
            </a:r>
            <a:endParaRPr lang="en-US" sz="1050" dirty="0"/>
          </a:p>
        </p:txBody>
      </p:sp>
      <p:sp>
        <p:nvSpPr>
          <p:cNvPr id="7" name="Text 5"/>
          <p:cNvSpPr txBox="1"/>
          <p:nvPr/>
        </p:nvSpPr>
        <p:spPr>
          <a:xfrm>
            <a:off x="566928" y="1115568"/>
            <a:ext cx="10424160" cy="530352"/>
          </a:xfrm>
          <a:prstGeom prst="rect">
            <a:avLst/>
          </a:prstGeom>
          <a:noFill/>
          <a:ln/>
        </p:spPr>
        <p:txBody>
          <a:bodyPr wrap="square" lIns="0" tIns="0" rIns="0" bIns="0" rtlCol="0" anchor="t"/>
          <a:lstStyle/>
          <a:p>
            <a:pPr indent="0" marL="0">
              <a:lnSpc>
                <a:spcPct val="114000"/>
              </a:lnSpc>
              <a:buNone/>
            </a:pPr>
            <a:r>
              <a:rPr lang="en-US" sz="1300" dirty="0">
                <a:solidFill>
                  <a:srgbClr val="1E4650"/>
                </a:solidFill>
                <a:latin typeface="Calibri" pitchFamily="34" charset="0"/>
                <a:ea typeface="Calibri" pitchFamily="34" charset="-122"/>
                <a:cs typeface="Calibri" pitchFamily="34" charset="-120"/>
              </a:rPr>
              <a:t>A real policy rate near six points and the world's best-performing currency on one side. Two downgrades in twelve months, a suspended fiscal rule and a president with almost no congressional base on the other.</a:t>
            </a:r>
            <a:endParaRPr lang="en-US" sz="1300" dirty="0"/>
          </a:p>
        </p:txBody>
      </p:sp>
      <p:sp>
        <p:nvSpPr>
          <p:cNvPr id="8" name="Shape 6"/>
          <p:cNvSpPr/>
          <p:nvPr/>
        </p:nvSpPr>
        <p:spPr>
          <a:xfrm>
            <a:off x="566928" y="1737360"/>
            <a:ext cx="2682164" cy="1024128"/>
          </a:xfrm>
          <a:prstGeom prst="roundRect">
            <a:avLst>
              <a:gd name="adj" fmla="val 5357"/>
            </a:avLst>
          </a:prstGeom>
          <a:solidFill>
            <a:srgbClr val="EDF1F2"/>
          </a:solidFill>
          <a:ln w="6350">
            <a:solidFill>
              <a:srgbClr val="EDF1F2"/>
            </a:solidFill>
            <a:prstDash val="solid"/>
          </a:ln>
        </p:spPr>
      </p:sp>
      <p:sp>
        <p:nvSpPr>
          <p:cNvPr id="9" name="Text 7"/>
          <p:cNvSpPr txBox="1"/>
          <p:nvPr/>
        </p:nvSpPr>
        <p:spPr>
          <a:xfrm>
            <a:off x="713232" y="1828800"/>
            <a:ext cx="2389556" cy="420624"/>
          </a:xfrm>
          <a:prstGeom prst="rect">
            <a:avLst/>
          </a:prstGeom>
          <a:noFill/>
          <a:ln/>
        </p:spPr>
        <p:txBody>
          <a:bodyPr wrap="square" lIns="0" tIns="0" rIns="0" bIns="0" rtlCol="0" anchor="ctr"/>
          <a:lstStyle/>
          <a:p>
            <a:pPr indent="0" marL="0">
              <a:buNone/>
            </a:pPr>
            <a:r>
              <a:rPr lang="en-US" sz="2400" b="1" dirty="0">
                <a:solidFill>
                  <a:srgbClr val="D99A2B"/>
                </a:solidFill>
                <a:latin typeface="Cambria" pitchFamily="34" charset="0"/>
                <a:ea typeface="Cambria" pitchFamily="34" charset="-122"/>
                <a:cs typeface="Cambria" pitchFamily="34" charset="-120"/>
              </a:rPr>
              <a:t>12.00%</a:t>
            </a:r>
            <a:endParaRPr lang="en-US" sz="2400" dirty="0"/>
          </a:p>
        </p:txBody>
      </p:sp>
      <p:sp>
        <p:nvSpPr>
          <p:cNvPr id="10" name="Text 8"/>
          <p:cNvSpPr txBox="1"/>
          <p:nvPr/>
        </p:nvSpPr>
        <p:spPr>
          <a:xfrm>
            <a:off x="713232"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policy rate — the only</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hiking cycle in the sample</a:t>
            </a:r>
            <a:endParaRPr lang="en-US" sz="900" dirty="0"/>
          </a:p>
        </p:txBody>
      </p:sp>
      <p:sp>
        <p:nvSpPr>
          <p:cNvPr id="11" name="Shape 9"/>
          <p:cNvSpPr/>
          <p:nvPr/>
        </p:nvSpPr>
        <p:spPr>
          <a:xfrm>
            <a:off x="3358820" y="1737360"/>
            <a:ext cx="2682164" cy="1024128"/>
          </a:xfrm>
          <a:prstGeom prst="roundRect">
            <a:avLst>
              <a:gd name="adj" fmla="val 5357"/>
            </a:avLst>
          </a:prstGeom>
          <a:solidFill>
            <a:srgbClr val="EDF1F2"/>
          </a:solidFill>
          <a:ln w="6350">
            <a:solidFill>
              <a:srgbClr val="EDF1F2"/>
            </a:solidFill>
            <a:prstDash val="solid"/>
          </a:ln>
        </p:spPr>
      </p:sp>
      <p:sp>
        <p:nvSpPr>
          <p:cNvPr id="12" name="Text 10"/>
          <p:cNvSpPr txBox="1"/>
          <p:nvPr/>
        </p:nvSpPr>
        <p:spPr>
          <a:xfrm>
            <a:off x="3505124" y="1828800"/>
            <a:ext cx="2389556" cy="420624"/>
          </a:xfrm>
          <a:prstGeom prst="rect">
            <a:avLst/>
          </a:prstGeom>
          <a:noFill/>
          <a:ln/>
        </p:spPr>
        <p:txBody>
          <a:bodyPr wrap="square" lIns="0" tIns="0" rIns="0" bIns="0" rtlCol="0" anchor="ctr"/>
          <a:lstStyle/>
          <a:p>
            <a:pPr indent="0" marL="0">
              <a:buNone/>
            </a:pPr>
            <a:r>
              <a:rPr lang="en-US" sz="2400" b="1" dirty="0">
                <a:solidFill>
                  <a:srgbClr val="D99A2B"/>
                </a:solidFill>
                <a:latin typeface="Cambria" pitchFamily="34" charset="0"/>
                <a:ea typeface="Cambria" pitchFamily="34" charset="-122"/>
                <a:cs typeface="Cambria" pitchFamily="34" charset="-120"/>
              </a:rPr>
              <a:t>+19.6%</a:t>
            </a:r>
            <a:endParaRPr lang="en-US" sz="2400" dirty="0"/>
          </a:p>
        </p:txBody>
      </p:sp>
      <p:sp>
        <p:nvSpPr>
          <p:cNvPr id="13" name="Text 11"/>
          <p:cNvSpPr txBox="1"/>
          <p:nvPr/>
        </p:nvSpPr>
        <p:spPr>
          <a:xfrm>
            <a:off x="3505124"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peso gain against the dollar this year</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(USD/COP down 16.4%)</a:t>
            </a:r>
            <a:endParaRPr lang="en-US" sz="900" dirty="0"/>
          </a:p>
        </p:txBody>
      </p:sp>
      <p:sp>
        <p:nvSpPr>
          <p:cNvPr id="14" name="Shape 12"/>
          <p:cNvSpPr/>
          <p:nvPr/>
        </p:nvSpPr>
        <p:spPr>
          <a:xfrm>
            <a:off x="6150712" y="1737360"/>
            <a:ext cx="2682164" cy="1024128"/>
          </a:xfrm>
          <a:prstGeom prst="roundRect">
            <a:avLst>
              <a:gd name="adj" fmla="val 5357"/>
            </a:avLst>
          </a:prstGeom>
          <a:solidFill>
            <a:srgbClr val="EDF1F2"/>
          </a:solidFill>
          <a:ln w="6350">
            <a:solidFill>
              <a:srgbClr val="EDF1F2"/>
            </a:solidFill>
            <a:prstDash val="solid"/>
          </a:ln>
        </p:spPr>
      </p:sp>
      <p:sp>
        <p:nvSpPr>
          <p:cNvPr id="15" name="Text 13"/>
          <p:cNvSpPr txBox="1"/>
          <p:nvPr/>
        </p:nvSpPr>
        <p:spPr>
          <a:xfrm>
            <a:off x="6297016" y="1828800"/>
            <a:ext cx="2389556" cy="420624"/>
          </a:xfrm>
          <a:prstGeom prst="rect">
            <a:avLst/>
          </a:prstGeom>
          <a:noFill/>
          <a:ln/>
        </p:spPr>
        <p:txBody>
          <a:bodyPr wrap="square" lIns="0" tIns="0" rIns="0" bIns="0" rtlCol="0" anchor="ctr"/>
          <a:lstStyle/>
          <a:p>
            <a:pPr indent="0" marL="0">
              <a:buNone/>
            </a:pPr>
            <a:r>
              <a:rPr lang="en-US" sz="2400" b="1" dirty="0">
                <a:solidFill>
                  <a:srgbClr val="A8322D"/>
                </a:solidFill>
                <a:latin typeface="Cambria" pitchFamily="34" charset="0"/>
                <a:ea typeface="Cambria" pitchFamily="34" charset="-122"/>
                <a:cs typeface="Cambria" pitchFamily="34" charset="-120"/>
              </a:rPr>
              <a:t>−6.4%</a:t>
            </a:r>
            <a:endParaRPr lang="en-US" sz="2400" dirty="0"/>
          </a:p>
        </p:txBody>
      </p:sp>
      <p:sp>
        <p:nvSpPr>
          <p:cNvPr id="16" name="Text 14"/>
          <p:cNvSpPr txBox="1"/>
          <p:nvPr/>
        </p:nvSpPr>
        <p:spPr>
          <a:xfrm>
            <a:off x="6297016"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central-government deficit, 2025</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second-highest of the century</a:t>
            </a:r>
            <a:endParaRPr lang="en-US" sz="900" dirty="0"/>
          </a:p>
        </p:txBody>
      </p:sp>
      <p:sp>
        <p:nvSpPr>
          <p:cNvPr id="17" name="Shape 15"/>
          <p:cNvSpPr/>
          <p:nvPr/>
        </p:nvSpPr>
        <p:spPr>
          <a:xfrm>
            <a:off x="8942603" y="1737360"/>
            <a:ext cx="2682164" cy="1024128"/>
          </a:xfrm>
          <a:prstGeom prst="roundRect">
            <a:avLst>
              <a:gd name="adj" fmla="val 5357"/>
            </a:avLst>
          </a:prstGeom>
          <a:solidFill>
            <a:srgbClr val="EDF1F2"/>
          </a:solidFill>
          <a:ln w="6350">
            <a:solidFill>
              <a:srgbClr val="EDF1F2"/>
            </a:solidFill>
            <a:prstDash val="solid"/>
          </a:ln>
        </p:spPr>
      </p:sp>
      <p:sp>
        <p:nvSpPr>
          <p:cNvPr id="18" name="Text 16"/>
          <p:cNvSpPr txBox="1"/>
          <p:nvPr/>
        </p:nvSpPr>
        <p:spPr>
          <a:xfrm>
            <a:off x="9088907" y="1828800"/>
            <a:ext cx="2389556" cy="420624"/>
          </a:xfrm>
          <a:prstGeom prst="rect">
            <a:avLst/>
          </a:prstGeom>
          <a:noFill/>
          <a:ln/>
        </p:spPr>
        <p:txBody>
          <a:bodyPr wrap="square" lIns="0" tIns="0" rIns="0" bIns="0" rtlCol="0" anchor="ctr"/>
          <a:lstStyle/>
          <a:p>
            <a:pPr indent="0" marL="0">
              <a:buNone/>
            </a:pPr>
            <a:r>
              <a:rPr lang="en-US" sz="2400" b="1" dirty="0">
                <a:solidFill>
                  <a:srgbClr val="A8322D"/>
                </a:solidFill>
                <a:latin typeface="Cambria" pitchFamily="34" charset="0"/>
                <a:ea typeface="Cambria" pitchFamily="34" charset="-122"/>
                <a:cs typeface="Cambria" pitchFamily="34" charset="-120"/>
              </a:rPr>
              <a:t>0.96pp</a:t>
            </a:r>
            <a:endParaRPr lang="en-US" sz="2400" dirty="0"/>
          </a:p>
        </p:txBody>
      </p:sp>
      <p:sp>
        <p:nvSpPr>
          <p:cNvPr id="19" name="Text 17"/>
          <p:cNvSpPr txBox="1"/>
          <p:nvPr/>
        </p:nvSpPr>
        <p:spPr>
          <a:xfrm>
            <a:off x="9088907"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the presidential margin —</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narrowest in Colombian history</a:t>
            </a:r>
            <a:endParaRPr lang="en-US" sz="900" dirty="0"/>
          </a:p>
        </p:txBody>
      </p:sp>
      <p:sp>
        <p:nvSpPr>
          <p:cNvPr id="20" name="Shape 18"/>
          <p:cNvSpPr/>
          <p:nvPr/>
        </p:nvSpPr>
        <p:spPr>
          <a:xfrm>
            <a:off x="585216" y="2980944"/>
            <a:ext cx="118872" cy="118872"/>
          </a:xfrm>
          <a:prstGeom prst="ellipse">
            <a:avLst/>
          </a:prstGeom>
          <a:solidFill>
            <a:srgbClr val="D99A2B"/>
          </a:solidFill>
          <a:ln/>
        </p:spPr>
      </p:sp>
      <p:sp>
        <p:nvSpPr>
          <p:cNvPr id="21" name="Text 19"/>
          <p:cNvSpPr txBox="1"/>
          <p:nvPr/>
        </p:nvSpPr>
        <p:spPr>
          <a:xfrm>
            <a:off x="841248" y="292608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He does not control Congress.</a:t>
            </a:r>
            <a:endParaRPr lang="en-US" sz="1150" dirty="0"/>
          </a:p>
        </p:txBody>
      </p:sp>
      <p:sp>
        <p:nvSpPr>
          <p:cNvPr id="22" name="Text 20"/>
          <p:cNvSpPr txBox="1"/>
          <p:nvPr/>
        </p:nvSpPr>
        <p:spPr>
          <a:xfrm>
            <a:off x="841248" y="315468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The movement that endorsed him, Salvación Nacional, holds four of 103 Senate seats and one of 183 in the Chamber. His own movement did not contest the legislative elections. The Pacto Histórico won the Senate plurality with 25 seats on the same day the right won the presidency. Every tax, pension and hydrocarbon promise runs through that.</a:t>
            </a:r>
            <a:endParaRPr lang="en-US" sz="1000" dirty="0"/>
          </a:p>
        </p:txBody>
      </p:sp>
      <p:sp>
        <p:nvSpPr>
          <p:cNvPr id="23" name="Shape 21"/>
          <p:cNvSpPr/>
          <p:nvPr/>
        </p:nvSpPr>
        <p:spPr>
          <a:xfrm>
            <a:off x="585216" y="3621024"/>
            <a:ext cx="118872" cy="118872"/>
          </a:xfrm>
          <a:prstGeom prst="ellipse">
            <a:avLst/>
          </a:prstGeom>
          <a:solidFill>
            <a:srgbClr val="D99A2B"/>
          </a:solidFill>
          <a:ln/>
        </p:spPr>
      </p:sp>
      <p:sp>
        <p:nvSpPr>
          <p:cNvPr id="24" name="Text 22"/>
          <p:cNvSpPr txBox="1"/>
          <p:nvPr/>
        </p:nvSpPr>
        <p:spPr>
          <a:xfrm>
            <a:off x="841248" y="356616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Almost nothing is enacted.</a:t>
            </a:r>
            <a:endParaRPr lang="en-US" sz="1150" dirty="0"/>
          </a:p>
        </p:txBody>
      </p:sp>
      <p:sp>
        <p:nvSpPr>
          <p:cNvPr id="25" name="Text 23"/>
          <p:cNvSpPr txBox="1"/>
          <p:nvPr/>
        </p:nvSpPr>
        <p:spPr>
          <a:xfrm>
            <a:off x="841248" y="379476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One month in: a cabinet, a spending freeze, a budget filing and the termination of the peace talks. The wealth-tax abolition, the fiscal bill and the reversal of the exploration ban are all announced and unfiled.</a:t>
            </a:r>
            <a:endParaRPr lang="en-US" sz="1000" dirty="0"/>
          </a:p>
        </p:txBody>
      </p:sp>
      <p:sp>
        <p:nvSpPr>
          <p:cNvPr id="26" name="Shape 24"/>
          <p:cNvSpPr/>
          <p:nvPr/>
        </p:nvSpPr>
        <p:spPr>
          <a:xfrm>
            <a:off x="585216" y="4261104"/>
            <a:ext cx="118872" cy="118872"/>
          </a:xfrm>
          <a:prstGeom prst="ellipse">
            <a:avLst/>
          </a:prstGeom>
          <a:solidFill>
            <a:srgbClr val="D99A2B"/>
          </a:solidFill>
          <a:ln/>
        </p:spPr>
      </p:sp>
      <p:sp>
        <p:nvSpPr>
          <p:cNvPr id="27" name="Text 25"/>
          <p:cNvSpPr txBox="1"/>
          <p:nvPr/>
        </p:nvSpPr>
        <p:spPr>
          <a:xfrm>
            <a:off x="841248" y="420624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The August earthquake reset the arithmetic.</a:t>
            </a:r>
            <a:endParaRPr lang="en-US" sz="1150" dirty="0"/>
          </a:p>
        </p:txBody>
      </p:sp>
      <p:sp>
        <p:nvSpPr>
          <p:cNvPr id="28" name="Text 26"/>
          <p:cNvSpPr txBox="1"/>
          <p:nvPr/>
        </p:nvSpPr>
        <p:spPr>
          <a:xfrm>
            <a:off x="841248" y="443484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A magnitude 7.4 event in Chocó on 10 August: 331 dead, $9.6bn of damage, reconstruction of COP 30–40tn against a 2026 public-investment budget of COP 88.4tn.</a:t>
            </a:r>
            <a:endParaRPr lang="en-US" sz="1000" dirty="0"/>
          </a:p>
        </p:txBody>
      </p:sp>
      <p:sp>
        <p:nvSpPr>
          <p:cNvPr id="29" name="Shape 27"/>
          <p:cNvSpPr/>
          <p:nvPr/>
        </p:nvSpPr>
        <p:spPr>
          <a:xfrm>
            <a:off x="585216" y="4901184"/>
            <a:ext cx="118872" cy="118872"/>
          </a:xfrm>
          <a:prstGeom prst="ellipse">
            <a:avLst/>
          </a:prstGeom>
          <a:solidFill>
            <a:srgbClr val="D99A2B"/>
          </a:solidFill>
          <a:ln/>
        </p:spPr>
      </p:sp>
      <p:sp>
        <p:nvSpPr>
          <p:cNvPr id="30" name="Text 28"/>
          <p:cNvSpPr txBox="1"/>
          <p:nvPr/>
        </p:nvSpPr>
        <p:spPr>
          <a:xfrm>
            <a:off x="841248" y="484632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The 2027 budget is the number that moved the market.</a:t>
            </a:r>
            <a:endParaRPr lang="en-US" sz="1150" dirty="0"/>
          </a:p>
        </p:txBody>
      </p:sp>
      <p:sp>
        <p:nvSpPr>
          <p:cNvPr id="31" name="Text 29"/>
          <p:cNvSpPr txBox="1"/>
          <p:nvPr/>
        </p:nvSpPr>
        <p:spPr>
          <a:xfrm>
            <a:off x="841248" y="507492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COP 634.9tn, of which COP 155.4tn — about a quarter — is debt service. Investment falls. BanRep puts the 2027 deficit at 9.4% of GDP against the June plan's 4.5%.</a:t>
            </a:r>
            <a:endParaRPr lang="en-US" sz="1000" dirty="0"/>
          </a:p>
        </p:txBody>
      </p:sp>
      <p:sp>
        <p:nvSpPr>
          <p:cNvPr id="32" name="Shape 30"/>
          <p:cNvSpPr/>
          <p:nvPr/>
        </p:nvSpPr>
        <p:spPr>
          <a:xfrm>
            <a:off x="566928" y="5541264"/>
            <a:ext cx="11057839" cy="676656"/>
          </a:xfrm>
          <a:prstGeom prst="roundRect">
            <a:avLst>
              <a:gd name="adj" fmla="val 8108"/>
            </a:avLst>
          </a:prstGeom>
          <a:solidFill>
            <a:srgbClr val="FBF3E3"/>
          </a:solidFill>
          <a:ln w="6350">
            <a:solidFill>
              <a:srgbClr val="FBF3E3"/>
            </a:solidFill>
            <a:prstDash val="solid"/>
          </a:ln>
        </p:spPr>
      </p:sp>
      <p:sp>
        <p:nvSpPr>
          <p:cNvPr id="33" name="Text 31"/>
          <p:cNvSpPr txBox="1"/>
          <p:nvPr/>
        </p:nvSpPr>
        <p:spPr>
          <a:xfrm>
            <a:off x="804672" y="5705856"/>
            <a:ext cx="10582351" cy="329184"/>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The highest-beta name here, and the one your clients will ask about. Ten slides of annex follow, because the honest answer to most Colombian questions in September 2026 is 'not yet decided' — and that is itself the conversation.</a:t>
            </a:r>
            <a:endParaRPr lang="en-US" sz="1050" dirty="0"/>
          </a:p>
        </p:txBody>
      </p:sp>
      <p:sp>
        <p:nvSpPr>
          <p:cNvPr id="34" name="Text 32"/>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35" name="Text 33"/>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2E6F6B"/>
          </a:solidFill>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DO</a:t>
            </a:r>
            <a:endParaRPr lang="en-US" sz="1500" dirty="0"/>
          </a:p>
        </p:txBody>
      </p:sp>
      <p:sp>
        <p:nvSpPr>
          <p:cNvPr id="4" name="Text 2"/>
          <p:cNvSpPr txBox="1"/>
          <p:nvPr/>
        </p:nvSpPr>
        <p:spPr>
          <a:xfrm>
            <a:off x="1298448" y="365760"/>
            <a:ext cx="5852160" cy="402336"/>
          </a:xfrm>
          <a:prstGeom prst="rect">
            <a:avLst/>
          </a:prstGeom>
          <a:noFill/>
          <a:ln/>
        </p:spPr>
        <p:txBody>
          <a:bodyPr wrap="square" lIns="0" tIns="0" rIns="0" bIns="0" rtlCol="0" anchor="ctr"/>
          <a:lstStyle/>
          <a:p>
            <a:pPr indent="0" marL="0">
              <a:buNone/>
            </a:pPr>
            <a:r>
              <a:rPr lang="en-US" sz="2900" b="1" dirty="0">
                <a:solidFill>
                  <a:srgbClr val="0B3B45"/>
                </a:solidFill>
                <a:latin typeface="Cambria" pitchFamily="34" charset="0"/>
                <a:ea typeface="Cambria" pitchFamily="34" charset="-122"/>
                <a:cs typeface="Cambria" pitchFamily="34" charset="-120"/>
              </a:rPr>
              <a:t>Dominican Republic</a:t>
            </a:r>
            <a:endParaRPr lang="en-US" sz="2900" dirty="0"/>
          </a:p>
        </p:txBody>
      </p:sp>
      <p:sp>
        <p:nvSpPr>
          <p:cNvPr id="5" name="Text 3"/>
          <p:cNvSpPr txBox="1"/>
          <p:nvPr/>
        </p:nvSpPr>
        <p:spPr>
          <a:xfrm>
            <a:off x="1298448" y="786384"/>
            <a:ext cx="5852160" cy="219456"/>
          </a:xfrm>
          <a:prstGeom prst="rect">
            <a:avLst/>
          </a:prstGeom>
          <a:noFill/>
          <a:ln/>
        </p:spPr>
        <p:txBody>
          <a:bodyPr wrap="square" lIns="0" tIns="0" rIns="0" bIns="0" rtlCol="0" anchor="ctr"/>
          <a:lstStyle/>
          <a:p>
            <a:pPr indent="0" marL="0">
              <a:buNone/>
            </a:pPr>
            <a:r>
              <a:rPr lang="en-US" sz="950" b="1" spc="150" kern="0" dirty="0">
                <a:solidFill>
                  <a:srgbClr val="2E6F6B"/>
                </a:solidFill>
                <a:latin typeface="Calibri" pitchFamily="34" charset="0"/>
                <a:ea typeface="Calibri" pitchFamily="34" charset="-122"/>
                <a:cs typeface="Calibri" pitchFamily="34" charset="-120"/>
              </a:rPr>
              <a:t>BORING IN A GOOD WAY</a:t>
            </a:r>
            <a:endParaRPr lang="en-US" sz="950" dirty="0"/>
          </a:p>
        </p:txBody>
      </p:sp>
      <p:sp>
        <p:nvSpPr>
          <p:cNvPr id="6" name="Text 4"/>
          <p:cNvSpPr txBox="1"/>
          <p:nvPr/>
        </p:nvSpPr>
        <p:spPr>
          <a:xfrm>
            <a:off x="9338767" y="365760"/>
            <a:ext cx="2286000" cy="694944"/>
          </a:xfrm>
          <a:prstGeom prst="rect">
            <a:avLst/>
          </a:prstGeom>
          <a:noFill/>
          <a:ln/>
        </p:spPr>
        <p:txBody>
          <a:bodyPr wrap="square" lIns="0" tIns="0" rIns="0" bIns="0" rtlCol="0" anchor="ctr"/>
          <a:lstStyle/>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Moody's Ba2</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S&amp;P BB</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Fitch BB-</a:t>
            </a:r>
            <a:endParaRPr lang="en-US" sz="1050" dirty="0"/>
          </a:p>
        </p:txBody>
      </p:sp>
      <p:sp>
        <p:nvSpPr>
          <p:cNvPr id="7" name="Text 5"/>
          <p:cNvSpPr txBox="1"/>
          <p:nvPr/>
        </p:nvSpPr>
        <p:spPr>
          <a:xfrm>
            <a:off x="566928" y="1115568"/>
            <a:ext cx="10424160" cy="530352"/>
          </a:xfrm>
          <a:prstGeom prst="rect">
            <a:avLst/>
          </a:prstGeom>
          <a:noFill/>
          <a:ln/>
        </p:spPr>
        <p:txBody>
          <a:bodyPr wrap="square" lIns="0" tIns="0" rIns="0" bIns="0" rtlCol="0" anchor="t"/>
          <a:lstStyle/>
          <a:p>
            <a:pPr indent="0" marL="0">
              <a:lnSpc>
                <a:spcPct val="114000"/>
              </a:lnSpc>
              <a:buNone/>
            </a:pPr>
            <a:r>
              <a:rPr lang="en-US" sz="1300" dirty="0">
                <a:solidFill>
                  <a:srgbClr val="1E4650"/>
                </a:solidFill>
                <a:latin typeface="Calibri" pitchFamily="34" charset="0"/>
                <a:ea typeface="Calibri" pitchFamily="34" charset="-122"/>
                <a:cs typeface="Calibri" pitchFamily="34" charset="-120"/>
              </a:rPr>
              <a:t>Debt down eleven points of GDP since 2020, record foreign investment, a genuine tourism and nearshoring franchise, and an upgraded Moody's rating.</a:t>
            </a:r>
            <a:endParaRPr lang="en-US" sz="1300" dirty="0"/>
          </a:p>
        </p:txBody>
      </p:sp>
      <p:sp>
        <p:nvSpPr>
          <p:cNvPr id="8" name="Shape 6"/>
          <p:cNvSpPr/>
          <p:nvPr/>
        </p:nvSpPr>
        <p:spPr>
          <a:xfrm>
            <a:off x="566928" y="1737360"/>
            <a:ext cx="2682164" cy="1024128"/>
          </a:xfrm>
          <a:prstGeom prst="roundRect">
            <a:avLst>
              <a:gd name="adj" fmla="val 5357"/>
            </a:avLst>
          </a:prstGeom>
          <a:solidFill>
            <a:srgbClr val="EDF1F2"/>
          </a:solidFill>
          <a:ln w="6350">
            <a:solidFill>
              <a:srgbClr val="EDF1F2"/>
            </a:solidFill>
            <a:prstDash val="solid"/>
          </a:ln>
        </p:spPr>
      </p:sp>
      <p:sp>
        <p:nvSpPr>
          <p:cNvPr id="9" name="Text 7"/>
          <p:cNvSpPr txBox="1"/>
          <p:nvPr/>
        </p:nvSpPr>
        <p:spPr>
          <a:xfrm>
            <a:off x="713232" y="1828800"/>
            <a:ext cx="2389556" cy="420624"/>
          </a:xfrm>
          <a:prstGeom prst="rect">
            <a:avLst/>
          </a:prstGeom>
          <a:noFill/>
          <a:ln/>
        </p:spPr>
        <p:txBody>
          <a:bodyPr wrap="square" lIns="0" tIns="0" rIns="0" bIns="0" rtlCol="0" anchor="ctr"/>
          <a:lstStyle/>
          <a:p>
            <a:pPr indent="0" marL="0">
              <a:buNone/>
            </a:pPr>
            <a:r>
              <a:rPr lang="en-US" sz="2400" b="1" dirty="0">
                <a:solidFill>
                  <a:srgbClr val="3E7C59"/>
                </a:solidFill>
                <a:latin typeface="Cambria" pitchFamily="34" charset="0"/>
                <a:ea typeface="Cambria" pitchFamily="34" charset="-122"/>
                <a:cs typeface="Cambria" pitchFamily="34" charset="-120"/>
              </a:rPr>
              <a:t>58.5%</a:t>
            </a:r>
            <a:endParaRPr lang="en-US" sz="2400" dirty="0"/>
          </a:p>
        </p:txBody>
      </p:sp>
      <p:sp>
        <p:nvSpPr>
          <p:cNvPr id="10" name="Text 8"/>
          <p:cNvSpPr txBox="1"/>
          <p:nvPr/>
        </p:nvSpPr>
        <p:spPr>
          <a:xfrm>
            <a:off x="713232"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public debt, end-2025</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from 69.1% in 2020</a:t>
            </a:r>
            <a:endParaRPr lang="en-US" sz="900" dirty="0"/>
          </a:p>
        </p:txBody>
      </p:sp>
      <p:sp>
        <p:nvSpPr>
          <p:cNvPr id="11" name="Shape 9"/>
          <p:cNvSpPr/>
          <p:nvPr/>
        </p:nvSpPr>
        <p:spPr>
          <a:xfrm>
            <a:off x="3358820" y="1737360"/>
            <a:ext cx="2682164" cy="1024128"/>
          </a:xfrm>
          <a:prstGeom prst="roundRect">
            <a:avLst>
              <a:gd name="adj" fmla="val 5357"/>
            </a:avLst>
          </a:prstGeom>
          <a:solidFill>
            <a:srgbClr val="EDF1F2"/>
          </a:solidFill>
          <a:ln w="6350">
            <a:solidFill>
              <a:srgbClr val="EDF1F2"/>
            </a:solidFill>
            <a:prstDash val="solid"/>
          </a:ln>
        </p:spPr>
      </p:sp>
      <p:sp>
        <p:nvSpPr>
          <p:cNvPr id="12" name="Text 10"/>
          <p:cNvSpPr txBox="1"/>
          <p:nvPr/>
        </p:nvSpPr>
        <p:spPr>
          <a:xfrm>
            <a:off x="3505124" y="1828800"/>
            <a:ext cx="2389556" cy="420624"/>
          </a:xfrm>
          <a:prstGeom prst="rect">
            <a:avLst/>
          </a:prstGeom>
          <a:noFill/>
          <a:ln/>
        </p:spPr>
        <p:txBody>
          <a:bodyPr wrap="square" lIns="0" tIns="0" rIns="0" bIns="0" rtlCol="0" anchor="ctr"/>
          <a:lstStyle/>
          <a:p>
            <a:pPr indent="0" marL="0">
              <a:buNone/>
            </a:pPr>
            <a:r>
              <a:rPr lang="en-US" sz="2400" b="1" dirty="0">
                <a:solidFill>
                  <a:srgbClr val="3E7C59"/>
                </a:solidFill>
                <a:latin typeface="Cambria" pitchFamily="34" charset="0"/>
                <a:ea typeface="Cambria" pitchFamily="34" charset="-122"/>
                <a:cs typeface="Cambria" pitchFamily="34" charset="-120"/>
              </a:rPr>
              <a:t>$5.03bn</a:t>
            </a:r>
            <a:endParaRPr lang="en-US" sz="2400" dirty="0"/>
          </a:p>
        </p:txBody>
      </p:sp>
      <p:sp>
        <p:nvSpPr>
          <p:cNvPr id="13" name="Text 11"/>
          <p:cNvSpPr txBox="1"/>
          <p:nvPr/>
        </p:nvSpPr>
        <p:spPr>
          <a:xfrm>
            <a:off x="3505124"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FDI 2025, +11.3%</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an all-time record</a:t>
            </a:r>
            <a:endParaRPr lang="en-US" sz="900" dirty="0"/>
          </a:p>
        </p:txBody>
      </p:sp>
      <p:sp>
        <p:nvSpPr>
          <p:cNvPr id="14" name="Shape 12"/>
          <p:cNvSpPr/>
          <p:nvPr/>
        </p:nvSpPr>
        <p:spPr>
          <a:xfrm>
            <a:off x="6150712" y="1737360"/>
            <a:ext cx="2682164" cy="1024128"/>
          </a:xfrm>
          <a:prstGeom prst="roundRect">
            <a:avLst>
              <a:gd name="adj" fmla="val 5357"/>
            </a:avLst>
          </a:prstGeom>
          <a:solidFill>
            <a:srgbClr val="EDF1F2"/>
          </a:solidFill>
          <a:ln w="6350">
            <a:solidFill>
              <a:srgbClr val="EDF1F2"/>
            </a:solidFill>
            <a:prstDash val="solid"/>
          </a:ln>
        </p:spPr>
      </p:sp>
      <p:sp>
        <p:nvSpPr>
          <p:cNvPr id="15" name="Text 13"/>
          <p:cNvSpPr txBox="1"/>
          <p:nvPr/>
        </p:nvSpPr>
        <p:spPr>
          <a:xfrm>
            <a:off x="6297016" y="1828800"/>
            <a:ext cx="2389556" cy="420624"/>
          </a:xfrm>
          <a:prstGeom prst="rect">
            <a:avLst/>
          </a:prstGeom>
          <a:noFill/>
          <a:ln/>
        </p:spPr>
        <p:txBody>
          <a:bodyPr wrap="square" lIns="0" tIns="0" rIns="0" bIns="0" rtlCol="0" anchor="ctr"/>
          <a:lstStyle/>
          <a:p>
            <a:pPr indent="0" marL="0">
              <a:buNone/>
            </a:pPr>
            <a:r>
              <a:rPr lang="en-US" sz="2400" b="1" dirty="0">
                <a:solidFill>
                  <a:srgbClr val="156A7A"/>
                </a:solidFill>
                <a:latin typeface="Cambria" pitchFamily="34" charset="0"/>
                <a:ea typeface="Cambria" pitchFamily="34" charset="-122"/>
                <a:cs typeface="Cambria" pitchFamily="34" charset="-120"/>
              </a:rPr>
              <a:t>$11.9bn</a:t>
            </a:r>
            <a:endParaRPr lang="en-US" sz="2400" dirty="0"/>
          </a:p>
        </p:txBody>
      </p:sp>
      <p:sp>
        <p:nvSpPr>
          <p:cNvPr id="16" name="Text 14"/>
          <p:cNvSpPr txBox="1"/>
          <p:nvPr/>
        </p:nvSpPr>
        <p:spPr>
          <a:xfrm>
            <a:off x="6297016"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remittances, +10.3%</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roughly 9.3% of GDP</a:t>
            </a:r>
            <a:endParaRPr lang="en-US" sz="900" dirty="0"/>
          </a:p>
        </p:txBody>
      </p:sp>
      <p:sp>
        <p:nvSpPr>
          <p:cNvPr id="17" name="Shape 15"/>
          <p:cNvSpPr/>
          <p:nvPr/>
        </p:nvSpPr>
        <p:spPr>
          <a:xfrm>
            <a:off x="8942603" y="1737360"/>
            <a:ext cx="2682164" cy="1024128"/>
          </a:xfrm>
          <a:prstGeom prst="roundRect">
            <a:avLst>
              <a:gd name="adj" fmla="val 5357"/>
            </a:avLst>
          </a:prstGeom>
          <a:solidFill>
            <a:srgbClr val="EDF1F2"/>
          </a:solidFill>
          <a:ln w="6350">
            <a:solidFill>
              <a:srgbClr val="EDF1F2"/>
            </a:solidFill>
            <a:prstDash val="solid"/>
          </a:ln>
        </p:spPr>
      </p:sp>
      <p:sp>
        <p:nvSpPr>
          <p:cNvPr id="18" name="Text 16"/>
          <p:cNvSpPr txBox="1"/>
          <p:nvPr/>
        </p:nvSpPr>
        <p:spPr>
          <a:xfrm>
            <a:off x="9088907" y="1828800"/>
            <a:ext cx="2389556" cy="420624"/>
          </a:xfrm>
          <a:prstGeom prst="rect">
            <a:avLst/>
          </a:prstGeom>
          <a:noFill/>
          <a:ln/>
        </p:spPr>
        <p:txBody>
          <a:bodyPr wrap="square" lIns="0" tIns="0" rIns="0" bIns="0" rtlCol="0" anchor="ctr"/>
          <a:lstStyle/>
          <a:p>
            <a:pPr indent="0" marL="0">
              <a:buNone/>
            </a:pPr>
            <a:r>
              <a:rPr lang="en-US" sz="2400" b="1" dirty="0">
                <a:solidFill>
                  <a:srgbClr val="A8322D"/>
                </a:solidFill>
                <a:latin typeface="Cambria" pitchFamily="34" charset="0"/>
                <a:ea typeface="Cambria" pitchFamily="34" charset="-122"/>
                <a:cs typeface="Cambria" pitchFamily="34" charset="-120"/>
              </a:rPr>
              <a:t>15.6%</a:t>
            </a:r>
            <a:endParaRPr lang="en-US" sz="2400" dirty="0"/>
          </a:p>
        </p:txBody>
      </p:sp>
      <p:sp>
        <p:nvSpPr>
          <p:cNvPr id="19" name="Text 17"/>
          <p:cNvSpPr txBox="1"/>
          <p:nvPr/>
        </p:nvSpPr>
        <p:spPr>
          <a:xfrm>
            <a:off x="9088907"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tax revenue as a share of GDP —</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the ceiling on further upgrades</a:t>
            </a:r>
            <a:endParaRPr lang="en-US" sz="900" dirty="0"/>
          </a:p>
        </p:txBody>
      </p:sp>
      <p:sp>
        <p:nvSpPr>
          <p:cNvPr id="20" name="Shape 18"/>
          <p:cNvSpPr/>
          <p:nvPr/>
        </p:nvSpPr>
        <p:spPr>
          <a:xfrm>
            <a:off x="585216" y="2980944"/>
            <a:ext cx="118872" cy="118872"/>
          </a:xfrm>
          <a:prstGeom prst="ellipse">
            <a:avLst/>
          </a:prstGeom>
          <a:solidFill>
            <a:srgbClr val="2E6F6B"/>
          </a:solidFill>
          <a:ln/>
        </p:spPr>
      </p:sp>
      <p:sp>
        <p:nvSpPr>
          <p:cNvPr id="21" name="Text 19"/>
          <p:cNvSpPr txBox="1"/>
          <p:nvPr/>
        </p:nvSpPr>
        <p:spPr>
          <a:xfrm>
            <a:off x="841248" y="292608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Ley 30-26 is the largest single tax change across all seven markets.</a:t>
            </a:r>
            <a:endParaRPr lang="en-US" sz="1150" dirty="0"/>
          </a:p>
        </p:txBody>
      </p:sp>
      <p:sp>
        <p:nvSpPr>
          <p:cNvPr id="22" name="Text 20"/>
          <p:cNvSpPr txBox="1"/>
          <p:nvPr/>
        </p:nvSpPr>
        <p:spPr>
          <a:xfrm>
            <a:off x="841248" y="315468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Enacted June 2026: corporate tax at 27% with a 30% transitional band for the largest firms through 2028, real-estate capital gains cut from 25% to 10%, the mortgage tax phased out by 2028, and a new 27% top personal band from 2027.</a:t>
            </a:r>
            <a:endParaRPr lang="en-US" sz="1000" dirty="0"/>
          </a:p>
        </p:txBody>
      </p:sp>
      <p:sp>
        <p:nvSpPr>
          <p:cNvPr id="23" name="Shape 21"/>
          <p:cNvSpPr/>
          <p:nvPr/>
        </p:nvSpPr>
        <p:spPr>
          <a:xfrm>
            <a:off x="585216" y="3621024"/>
            <a:ext cx="118872" cy="118872"/>
          </a:xfrm>
          <a:prstGeom prst="ellipse">
            <a:avLst/>
          </a:prstGeom>
          <a:solidFill>
            <a:srgbClr val="2E6F6B"/>
          </a:solidFill>
          <a:ln/>
        </p:spPr>
      </p:sp>
      <p:sp>
        <p:nvSpPr>
          <p:cNvPr id="24" name="Text 22"/>
          <p:cNvSpPr txBox="1"/>
          <p:nvPr/>
        </p:nvSpPr>
        <p:spPr>
          <a:xfrm>
            <a:off x="841248" y="356616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The incentive architecture survived it untouched.</a:t>
            </a:r>
            <a:endParaRPr lang="en-US" sz="1150" dirty="0"/>
          </a:p>
        </p:txBody>
      </p:sp>
      <p:sp>
        <p:nvSpPr>
          <p:cNvPr id="25" name="Text 23"/>
          <p:cNvSpPr txBox="1"/>
          <p:nvPr/>
        </p:nvSpPr>
        <p:spPr>
          <a:xfrm>
            <a:off x="841248" y="379476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Neither the free-zone regime nor CONFOTUR was changed. CONFOTUR still gives up to fifteen years of income-tax exemption and a 3% transfer-tax exemption that flows through to the individual buyer of a unit.</a:t>
            </a:r>
            <a:endParaRPr lang="en-US" sz="1000" dirty="0"/>
          </a:p>
        </p:txBody>
      </p:sp>
      <p:sp>
        <p:nvSpPr>
          <p:cNvPr id="26" name="Shape 24"/>
          <p:cNvSpPr/>
          <p:nvPr/>
        </p:nvSpPr>
        <p:spPr>
          <a:xfrm>
            <a:off x="585216" y="4261104"/>
            <a:ext cx="118872" cy="118872"/>
          </a:xfrm>
          <a:prstGeom prst="ellipse">
            <a:avLst/>
          </a:prstGeom>
          <a:solidFill>
            <a:srgbClr val="2E6F6B"/>
          </a:solidFill>
          <a:ln/>
        </p:spPr>
      </p:sp>
      <p:sp>
        <p:nvSpPr>
          <p:cNvPr id="27" name="Text 25"/>
          <p:cNvSpPr txBox="1"/>
          <p:nvPr/>
        </p:nvSpPr>
        <p:spPr>
          <a:xfrm>
            <a:off x="841248" y="420624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Free zones are roughly 70% of export revenue.</a:t>
            </a:r>
            <a:endParaRPr lang="en-US" sz="1150" dirty="0"/>
          </a:p>
        </p:txBody>
      </p:sp>
      <p:sp>
        <p:nvSpPr>
          <p:cNvPr id="28" name="Text 26"/>
          <p:cNvSpPr txBox="1"/>
          <p:nvPr/>
        </p:nvSpPr>
        <p:spPr>
          <a:xfrm>
            <a:off x="841248" y="443484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More than $6bn a year to the United States in medical devices, apparel, cigars and electronics, with duty-free CAFTA-DR access.</a:t>
            </a:r>
            <a:endParaRPr lang="en-US" sz="1000" dirty="0"/>
          </a:p>
        </p:txBody>
      </p:sp>
      <p:sp>
        <p:nvSpPr>
          <p:cNvPr id="29" name="Shape 27"/>
          <p:cNvSpPr/>
          <p:nvPr/>
        </p:nvSpPr>
        <p:spPr>
          <a:xfrm>
            <a:off x="585216" y="4901184"/>
            <a:ext cx="118872" cy="118872"/>
          </a:xfrm>
          <a:prstGeom prst="ellipse">
            <a:avLst/>
          </a:prstGeom>
          <a:solidFill>
            <a:srgbClr val="2E6F6B"/>
          </a:solidFill>
          <a:ln/>
        </p:spPr>
      </p:sp>
      <p:sp>
        <p:nvSpPr>
          <p:cNvPr id="30" name="Text 28"/>
          <p:cNvSpPr txBox="1"/>
          <p:nvPr/>
        </p:nvSpPr>
        <p:spPr>
          <a:xfrm>
            <a:off x="841248" y="484632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Watch the 2025 air-pocket against the 2026 run-rate.</a:t>
            </a:r>
            <a:endParaRPr lang="en-US" sz="1150" dirty="0"/>
          </a:p>
        </p:txBody>
      </p:sp>
      <p:sp>
        <p:nvSpPr>
          <p:cNvPr id="31" name="Text 29"/>
          <p:cNvSpPr txBox="1"/>
          <p:nvPr/>
        </p:nvSpPr>
        <p:spPr>
          <a:xfrm>
            <a:off x="841248" y="507492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Growth of 2.1% in 2025 on weak construction, but the monthly activity index is running +4.5% year to date and the central bank projects around 4.5% for 2026 — well above the IMF and World Bank.</a:t>
            </a:r>
            <a:endParaRPr lang="en-US" sz="1000" dirty="0"/>
          </a:p>
        </p:txBody>
      </p:sp>
      <p:sp>
        <p:nvSpPr>
          <p:cNvPr id="32" name="Shape 30"/>
          <p:cNvSpPr/>
          <p:nvPr/>
        </p:nvSpPr>
        <p:spPr>
          <a:xfrm>
            <a:off x="566928" y="5541264"/>
            <a:ext cx="11057839" cy="676656"/>
          </a:xfrm>
          <a:prstGeom prst="roundRect">
            <a:avLst>
              <a:gd name="adj" fmla="val 8108"/>
            </a:avLst>
          </a:prstGeom>
          <a:solidFill>
            <a:srgbClr val="EDF1F2"/>
          </a:solidFill>
          <a:ln w="6350">
            <a:solidFill>
              <a:srgbClr val="EDF1F2"/>
            </a:solidFill>
            <a:prstDash val="solid"/>
          </a:ln>
        </p:spPr>
      </p:sp>
      <p:sp>
        <p:nvSpPr>
          <p:cNvPr id="33" name="Text 31"/>
          <p:cNvSpPr txBox="1"/>
          <p:nvPr/>
        </p:nvSpPr>
        <p:spPr>
          <a:xfrm>
            <a:off x="804672" y="5705856"/>
            <a:ext cx="10582351" cy="329184"/>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The steadiest credit here. The live risks are the tax take, the expected peso give-back in the second half, and Haiti next door.</a:t>
            </a:r>
            <a:endParaRPr lang="en-US" sz="1050" dirty="0"/>
          </a:p>
        </p:txBody>
      </p:sp>
      <p:sp>
        <p:nvSpPr>
          <p:cNvPr id="34" name="Text 32"/>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35" name="Text 33"/>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11</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7A5C3E"/>
          </a:solidFill>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SV</a:t>
            </a:r>
            <a:endParaRPr lang="en-US" sz="1500" dirty="0"/>
          </a:p>
        </p:txBody>
      </p:sp>
      <p:sp>
        <p:nvSpPr>
          <p:cNvPr id="4" name="Text 2"/>
          <p:cNvSpPr txBox="1"/>
          <p:nvPr/>
        </p:nvSpPr>
        <p:spPr>
          <a:xfrm>
            <a:off x="1298448" y="365760"/>
            <a:ext cx="5852160" cy="402336"/>
          </a:xfrm>
          <a:prstGeom prst="rect">
            <a:avLst/>
          </a:prstGeom>
          <a:noFill/>
          <a:ln/>
        </p:spPr>
        <p:txBody>
          <a:bodyPr wrap="square" lIns="0" tIns="0" rIns="0" bIns="0" rtlCol="0" anchor="ctr"/>
          <a:lstStyle/>
          <a:p>
            <a:pPr indent="0" marL="0">
              <a:buNone/>
            </a:pPr>
            <a:r>
              <a:rPr lang="en-US" sz="2900" b="1" dirty="0">
                <a:solidFill>
                  <a:srgbClr val="0B3B45"/>
                </a:solidFill>
                <a:latin typeface="Cambria" pitchFamily="34" charset="0"/>
                <a:ea typeface="Cambria" pitchFamily="34" charset="-122"/>
                <a:cs typeface="Cambria" pitchFamily="34" charset="-120"/>
              </a:rPr>
              <a:t>El Salvador</a:t>
            </a:r>
            <a:endParaRPr lang="en-US" sz="2900" dirty="0"/>
          </a:p>
        </p:txBody>
      </p:sp>
      <p:sp>
        <p:nvSpPr>
          <p:cNvPr id="5" name="Text 3"/>
          <p:cNvSpPr txBox="1"/>
          <p:nvPr/>
        </p:nvSpPr>
        <p:spPr>
          <a:xfrm>
            <a:off x="1298448" y="786384"/>
            <a:ext cx="5852160" cy="219456"/>
          </a:xfrm>
          <a:prstGeom prst="rect">
            <a:avLst/>
          </a:prstGeom>
          <a:noFill/>
          <a:ln/>
        </p:spPr>
        <p:txBody>
          <a:bodyPr wrap="square" lIns="0" tIns="0" rIns="0" bIns="0" rtlCol="0" anchor="ctr"/>
          <a:lstStyle/>
          <a:p>
            <a:pPr indent="0" marL="0">
              <a:buNone/>
            </a:pPr>
            <a:r>
              <a:rPr lang="en-US" sz="950" b="1" spc="150" kern="0" dirty="0">
                <a:solidFill>
                  <a:srgbClr val="7A5C3E"/>
                </a:solidFill>
                <a:latin typeface="Calibri" pitchFamily="34" charset="0"/>
                <a:ea typeface="Calibri" pitchFamily="34" charset="-122"/>
                <a:cs typeface="Calibri" pitchFamily="34" charset="-120"/>
              </a:rPr>
              <a:t>BEST MOMENTUM, WORST LEVEL</a:t>
            </a:r>
            <a:endParaRPr lang="en-US" sz="950" dirty="0"/>
          </a:p>
        </p:txBody>
      </p:sp>
      <p:sp>
        <p:nvSpPr>
          <p:cNvPr id="6" name="Text 4"/>
          <p:cNvSpPr txBox="1"/>
          <p:nvPr/>
        </p:nvSpPr>
        <p:spPr>
          <a:xfrm>
            <a:off x="9338767" y="365760"/>
            <a:ext cx="2286000" cy="694944"/>
          </a:xfrm>
          <a:prstGeom prst="rect">
            <a:avLst/>
          </a:prstGeom>
          <a:noFill/>
          <a:ln/>
        </p:spPr>
        <p:txBody>
          <a:bodyPr wrap="square" lIns="0" tIns="0" rIns="0" bIns="0" rtlCol="0" anchor="ctr"/>
          <a:lstStyle/>
          <a:p>
            <a:pPr algn="r" indent="0" marL="0">
              <a:lnSpc>
                <a:spcPct val="112000"/>
              </a:lnSpc>
              <a:buNone/>
            </a:pPr>
            <a:r>
              <a:rPr lang="en-US" sz="1050" dirty="0">
                <a:solidFill>
                  <a:srgbClr val="3E7C59"/>
                </a:solidFill>
                <a:latin typeface="Calibri" pitchFamily="34" charset="0"/>
                <a:ea typeface="Calibri" pitchFamily="34" charset="-122"/>
                <a:cs typeface="Calibri" pitchFamily="34" charset="-120"/>
              </a:rPr>
              <a:t>Moody's B3  Positive</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S&amp;P B-</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Fitch B-</a:t>
            </a:r>
            <a:endParaRPr lang="en-US" sz="1050" dirty="0"/>
          </a:p>
        </p:txBody>
      </p:sp>
      <p:sp>
        <p:nvSpPr>
          <p:cNvPr id="7" name="Text 5"/>
          <p:cNvSpPr txBox="1"/>
          <p:nvPr/>
        </p:nvSpPr>
        <p:spPr>
          <a:xfrm>
            <a:off x="566928" y="1115568"/>
            <a:ext cx="10424160" cy="530352"/>
          </a:xfrm>
          <a:prstGeom prst="rect">
            <a:avLst/>
          </a:prstGeom>
          <a:noFill/>
          <a:ln/>
        </p:spPr>
        <p:txBody>
          <a:bodyPr wrap="square" lIns="0" tIns="0" rIns="0" bIns="0" rtlCol="0" anchor="t"/>
          <a:lstStyle/>
          <a:p>
            <a:pPr indent="0" marL="0">
              <a:lnSpc>
                <a:spcPct val="114000"/>
              </a:lnSpc>
              <a:buNone/>
            </a:pPr>
            <a:r>
              <a:rPr lang="en-US" sz="1300" dirty="0">
                <a:solidFill>
                  <a:srgbClr val="1E4650"/>
                </a:solidFill>
                <a:latin typeface="Calibri" pitchFamily="34" charset="0"/>
                <a:ea typeface="Calibri" pitchFamily="34" charset="-122"/>
                <a:cs typeface="Calibri" pitchFamily="34" charset="-120"/>
              </a:rPr>
              <a:t>From Caa3 to B3 with a positive outlook in two years, on a genuine primary surplus and an IMF programme that reached a staff-level agreement the day before this pack was written.</a:t>
            </a:r>
            <a:endParaRPr lang="en-US" sz="1300" dirty="0"/>
          </a:p>
        </p:txBody>
      </p:sp>
      <p:sp>
        <p:nvSpPr>
          <p:cNvPr id="8" name="Shape 6"/>
          <p:cNvSpPr/>
          <p:nvPr/>
        </p:nvSpPr>
        <p:spPr>
          <a:xfrm>
            <a:off x="566928" y="1737360"/>
            <a:ext cx="2682164" cy="1024128"/>
          </a:xfrm>
          <a:prstGeom prst="roundRect">
            <a:avLst>
              <a:gd name="adj" fmla="val 5357"/>
            </a:avLst>
          </a:prstGeom>
          <a:solidFill>
            <a:srgbClr val="EDF1F2"/>
          </a:solidFill>
          <a:ln w="6350">
            <a:solidFill>
              <a:srgbClr val="EDF1F2"/>
            </a:solidFill>
            <a:prstDash val="solid"/>
          </a:ln>
        </p:spPr>
      </p:sp>
      <p:sp>
        <p:nvSpPr>
          <p:cNvPr id="9" name="Text 7"/>
          <p:cNvSpPr txBox="1"/>
          <p:nvPr/>
        </p:nvSpPr>
        <p:spPr>
          <a:xfrm>
            <a:off x="713232" y="1828800"/>
            <a:ext cx="2389556" cy="420624"/>
          </a:xfrm>
          <a:prstGeom prst="rect">
            <a:avLst/>
          </a:prstGeom>
          <a:noFill/>
          <a:ln/>
        </p:spPr>
        <p:txBody>
          <a:bodyPr wrap="square" lIns="0" tIns="0" rIns="0" bIns="0" rtlCol="0" anchor="ctr"/>
          <a:lstStyle/>
          <a:p>
            <a:pPr indent="0" marL="0">
              <a:buNone/>
            </a:pPr>
            <a:r>
              <a:rPr lang="en-US" sz="2400" b="1" dirty="0">
                <a:solidFill>
                  <a:srgbClr val="3E7C59"/>
                </a:solidFill>
                <a:latin typeface="Cambria" pitchFamily="34" charset="0"/>
                <a:ea typeface="Cambria" pitchFamily="34" charset="-122"/>
                <a:cs typeface="Cambria" pitchFamily="34" charset="-120"/>
              </a:rPr>
              <a:t>+2.9%</a:t>
            </a:r>
            <a:endParaRPr lang="en-US" sz="2400" dirty="0"/>
          </a:p>
        </p:txBody>
      </p:sp>
      <p:sp>
        <p:nvSpPr>
          <p:cNvPr id="10" name="Text 8"/>
          <p:cNvSpPr txBox="1"/>
          <p:nvPr/>
        </p:nvSpPr>
        <p:spPr>
          <a:xfrm>
            <a:off x="713232"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primary balance, 2025 — the only</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documented surplus in the sample</a:t>
            </a:r>
            <a:endParaRPr lang="en-US" sz="900" dirty="0"/>
          </a:p>
        </p:txBody>
      </p:sp>
      <p:sp>
        <p:nvSpPr>
          <p:cNvPr id="11" name="Shape 9"/>
          <p:cNvSpPr/>
          <p:nvPr/>
        </p:nvSpPr>
        <p:spPr>
          <a:xfrm>
            <a:off x="3358820" y="1737360"/>
            <a:ext cx="2682164" cy="1024128"/>
          </a:xfrm>
          <a:prstGeom prst="roundRect">
            <a:avLst>
              <a:gd name="adj" fmla="val 5357"/>
            </a:avLst>
          </a:prstGeom>
          <a:solidFill>
            <a:srgbClr val="EDF1F2"/>
          </a:solidFill>
          <a:ln w="6350">
            <a:solidFill>
              <a:srgbClr val="EDF1F2"/>
            </a:solidFill>
            <a:prstDash val="solid"/>
          </a:ln>
        </p:spPr>
      </p:sp>
      <p:sp>
        <p:nvSpPr>
          <p:cNvPr id="12" name="Text 10"/>
          <p:cNvSpPr txBox="1"/>
          <p:nvPr/>
        </p:nvSpPr>
        <p:spPr>
          <a:xfrm>
            <a:off x="3505124" y="1828800"/>
            <a:ext cx="2389556" cy="420624"/>
          </a:xfrm>
          <a:prstGeom prst="rect">
            <a:avLst/>
          </a:prstGeom>
          <a:noFill/>
          <a:ln/>
        </p:spPr>
        <p:txBody>
          <a:bodyPr wrap="square" lIns="0" tIns="0" rIns="0" bIns="0" rtlCol="0" anchor="ctr"/>
          <a:lstStyle/>
          <a:p>
            <a:pPr indent="0" marL="0">
              <a:buNone/>
            </a:pPr>
            <a:r>
              <a:rPr lang="en-US" sz="2400" b="1" dirty="0">
                <a:solidFill>
                  <a:srgbClr val="A8322D"/>
                </a:solidFill>
                <a:latin typeface="Cambria" pitchFamily="34" charset="0"/>
                <a:ea typeface="Cambria" pitchFamily="34" charset="-122"/>
                <a:cs typeface="Cambria" pitchFamily="34" charset="-120"/>
              </a:rPr>
              <a:t>87.2%</a:t>
            </a:r>
            <a:endParaRPr lang="en-US" sz="2400" dirty="0"/>
          </a:p>
        </p:txBody>
      </p:sp>
      <p:sp>
        <p:nvSpPr>
          <p:cNvPr id="13" name="Text 11"/>
          <p:cNvSpPr txBox="1"/>
          <p:nvPr/>
        </p:nvSpPr>
        <p:spPr>
          <a:xfrm>
            <a:off x="3505124"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public debt — the heaviest</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burden in the sample</a:t>
            </a:r>
            <a:endParaRPr lang="en-US" sz="900" dirty="0"/>
          </a:p>
        </p:txBody>
      </p:sp>
      <p:sp>
        <p:nvSpPr>
          <p:cNvPr id="14" name="Shape 12"/>
          <p:cNvSpPr/>
          <p:nvPr/>
        </p:nvSpPr>
        <p:spPr>
          <a:xfrm>
            <a:off x="6150712" y="1737360"/>
            <a:ext cx="2682164" cy="1024128"/>
          </a:xfrm>
          <a:prstGeom prst="roundRect">
            <a:avLst>
              <a:gd name="adj" fmla="val 5357"/>
            </a:avLst>
          </a:prstGeom>
          <a:solidFill>
            <a:srgbClr val="EDF1F2"/>
          </a:solidFill>
          <a:ln w="6350">
            <a:solidFill>
              <a:srgbClr val="EDF1F2"/>
            </a:solidFill>
            <a:prstDash val="solid"/>
          </a:ln>
        </p:spPr>
      </p:sp>
      <p:sp>
        <p:nvSpPr>
          <p:cNvPr id="15" name="Text 13"/>
          <p:cNvSpPr txBox="1"/>
          <p:nvPr/>
        </p:nvSpPr>
        <p:spPr>
          <a:xfrm>
            <a:off x="6297016" y="1828800"/>
            <a:ext cx="2389556" cy="420624"/>
          </a:xfrm>
          <a:prstGeom prst="rect">
            <a:avLst/>
          </a:prstGeom>
          <a:noFill/>
          <a:ln/>
        </p:spPr>
        <p:txBody>
          <a:bodyPr wrap="square" lIns="0" tIns="0" rIns="0" bIns="0" rtlCol="0" anchor="ctr"/>
          <a:lstStyle/>
          <a:p>
            <a:pPr indent="0" marL="0">
              <a:buNone/>
            </a:pPr>
            <a:r>
              <a:rPr lang="en-US" sz="2400" b="1" dirty="0">
                <a:solidFill>
                  <a:srgbClr val="A8322D"/>
                </a:solidFill>
                <a:latin typeface="Cambria" pitchFamily="34" charset="0"/>
                <a:ea typeface="Cambria" pitchFamily="34" charset="-122"/>
                <a:cs typeface="Cambria" pitchFamily="34" charset="-120"/>
              </a:rPr>
              <a:t>~24%</a:t>
            </a:r>
            <a:endParaRPr lang="en-US" sz="2400" dirty="0"/>
          </a:p>
        </p:txBody>
      </p:sp>
      <p:sp>
        <p:nvSpPr>
          <p:cNvPr id="16" name="Text 14"/>
          <p:cNvSpPr txBox="1"/>
          <p:nvPr/>
        </p:nvSpPr>
        <p:spPr>
          <a:xfrm>
            <a:off x="6297016"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remittances as a share of GDP</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the most dependent economy here</a:t>
            </a:r>
            <a:endParaRPr lang="en-US" sz="900" dirty="0"/>
          </a:p>
        </p:txBody>
      </p:sp>
      <p:sp>
        <p:nvSpPr>
          <p:cNvPr id="17" name="Shape 15"/>
          <p:cNvSpPr/>
          <p:nvPr/>
        </p:nvSpPr>
        <p:spPr>
          <a:xfrm>
            <a:off x="8942603" y="1737360"/>
            <a:ext cx="2682164" cy="1024128"/>
          </a:xfrm>
          <a:prstGeom prst="roundRect">
            <a:avLst>
              <a:gd name="adj" fmla="val 5357"/>
            </a:avLst>
          </a:prstGeom>
          <a:solidFill>
            <a:srgbClr val="EDF1F2"/>
          </a:solidFill>
          <a:ln w="6350">
            <a:solidFill>
              <a:srgbClr val="EDF1F2"/>
            </a:solidFill>
            <a:prstDash val="solid"/>
          </a:ln>
        </p:spPr>
      </p:sp>
      <p:sp>
        <p:nvSpPr>
          <p:cNvPr id="18" name="Text 16"/>
          <p:cNvSpPr txBox="1"/>
          <p:nvPr/>
        </p:nvSpPr>
        <p:spPr>
          <a:xfrm>
            <a:off x="9088907" y="1828800"/>
            <a:ext cx="2389556" cy="420624"/>
          </a:xfrm>
          <a:prstGeom prst="rect">
            <a:avLst/>
          </a:prstGeom>
          <a:noFill/>
          <a:ln/>
        </p:spPr>
        <p:txBody>
          <a:bodyPr wrap="square" lIns="0" tIns="0" rIns="0" bIns="0" rtlCol="0" anchor="ctr"/>
          <a:lstStyle/>
          <a:p>
            <a:pPr indent="0" marL="0">
              <a:buNone/>
            </a:pPr>
            <a:r>
              <a:rPr lang="en-US" sz="2400" b="1" dirty="0">
                <a:solidFill>
                  <a:srgbClr val="3E7C59"/>
                </a:solidFill>
                <a:latin typeface="Cambria" pitchFamily="34" charset="0"/>
                <a:ea typeface="Cambria" pitchFamily="34" charset="-122"/>
                <a:cs typeface="Cambria" pitchFamily="34" charset="-120"/>
              </a:rPr>
              <a:t>$5.1bn</a:t>
            </a:r>
            <a:endParaRPr lang="en-US" sz="2400" dirty="0"/>
          </a:p>
        </p:txBody>
      </p:sp>
      <p:sp>
        <p:nvSpPr>
          <p:cNvPr id="19" name="Text 17"/>
          <p:cNvSpPr txBox="1"/>
          <p:nvPr/>
        </p:nvSpPr>
        <p:spPr>
          <a:xfrm>
            <a:off x="9088907"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FX reserves, July 2026</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+13.6% since December</a:t>
            </a:r>
            <a:endParaRPr lang="en-US" sz="900" dirty="0"/>
          </a:p>
        </p:txBody>
      </p:sp>
      <p:sp>
        <p:nvSpPr>
          <p:cNvPr id="20" name="Shape 18"/>
          <p:cNvSpPr/>
          <p:nvPr/>
        </p:nvSpPr>
        <p:spPr>
          <a:xfrm>
            <a:off x="585216" y="2980944"/>
            <a:ext cx="118872" cy="118872"/>
          </a:xfrm>
          <a:prstGeom prst="ellipse">
            <a:avLst/>
          </a:prstGeom>
          <a:solidFill>
            <a:srgbClr val="7A5C3E"/>
          </a:solidFill>
          <a:ln/>
        </p:spPr>
      </p:sp>
      <p:sp>
        <p:nvSpPr>
          <p:cNvPr id="21" name="Text 19"/>
          <p:cNvSpPr txBox="1"/>
          <p:nvPr/>
        </p:nvSpPr>
        <p:spPr>
          <a:xfrm>
            <a:off x="841248" y="292608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The IMF programme is on track.</a:t>
            </a:r>
            <a:endParaRPr lang="en-US" sz="1150" dirty="0"/>
          </a:p>
        </p:txBody>
      </p:sp>
      <p:sp>
        <p:nvSpPr>
          <p:cNvPr id="22" name="Text 20"/>
          <p:cNvSpPr txBox="1"/>
          <p:nvPr/>
        </p:nvSpPr>
        <p:spPr>
          <a:xfrm>
            <a:off x="841248" y="315468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A $1.4bn, 40-month Extended Fund Facility approved February 2025. Staff-level agreement on the combined second and third reviews was reached on 3 September 2026, unlocking around $140m.</a:t>
            </a:r>
            <a:endParaRPr lang="en-US" sz="1000" dirty="0"/>
          </a:p>
        </p:txBody>
      </p:sp>
      <p:sp>
        <p:nvSpPr>
          <p:cNvPr id="23" name="Shape 21"/>
          <p:cNvSpPr/>
          <p:nvPr/>
        </p:nvSpPr>
        <p:spPr>
          <a:xfrm>
            <a:off x="585216" y="3621024"/>
            <a:ext cx="118872" cy="118872"/>
          </a:xfrm>
          <a:prstGeom prst="ellipse">
            <a:avLst/>
          </a:prstGeom>
          <a:solidFill>
            <a:srgbClr val="7A5C3E"/>
          </a:solidFill>
          <a:ln/>
        </p:spPr>
      </p:sp>
      <p:sp>
        <p:nvSpPr>
          <p:cNvPr id="24" name="Text 22"/>
          <p:cNvSpPr txBox="1"/>
          <p:nvPr/>
        </p:nvSpPr>
        <p:spPr>
          <a:xfrm>
            <a:off x="841248" y="356616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The Bitcoin experiment has been ring-fenced and frozen.</a:t>
            </a:r>
            <a:endParaRPr lang="en-US" sz="1150" dirty="0"/>
          </a:p>
        </p:txBody>
      </p:sp>
      <p:sp>
        <p:nvSpPr>
          <p:cNvPr id="25" name="Text 23"/>
          <p:cNvSpPr txBox="1"/>
          <p:nvPr/>
        </p:nvSpPr>
        <p:spPr>
          <a:xfrm>
            <a:off x="841248" y="379476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The state holds roughly 7,764 BTC. The Fund verified that additions since the first review came from private donations, not public funds, and expects no further accumulation. Merchant acceptance is no longer mandatory. The credit trades on fiscal consolidation and remittances now, not on Bitcoin.</a:t>
            </a:r>
            <a:endParaRPr lang="en-US" sz="1000" dirty="0"/>
          </a:p>
        </p:txBody>
      </p:sp>
      <p:sp>
        <p:nvSpPr>
          <p:cNvPr id="26" name="Shape 24"/>
          <p:cNvSpPr/>
          <p:nvPr/>
        </p:nvSpPr>
        <p:spPr>
          <a:xfrm>
            <a:off x="585216" y="4261104"/>
            <a:ext cx="118872" cy="118872"/>
          </a:xfrm>
          <a:prstGeom prst="ellipse">
            <a:avLst/>
          </a:prstGeom>
          <a:solidFill>
            <a:srgbClr val="7A5C3E"/>
          </a:solidFill>
          <a:ln/>
        </p:spPr>
      </p:sp>
      <p:sp>
        <p:nvSpPr>
          <p:cNvPr id="27" name="Text 25"/>
          <p:cNvSpPr txBox="1"/>
          <p:nvPr/>
        </p:nvSpPr>
        <p:spPr>
          <a:xfrm>
            <a:off x="841248" y="420624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The innovation law is the most generous instrument in the region.</a:t>
            </a:r>
            <a:endParaRPr lang="en-US" sz="1150" dirty="0"/>
          </a:p>
        </p:txBody>
      </p:sp>
      <p:sp>
        <p:nvSpPr>
          <p:cNvPr id="28" name="Text 26"/>
          <p:cNvSpPr txBox="1"/>
          <p:nvPr/>
        </p:nvSpPr>
        <p:spPr>
          <a:xfrm>
            <a:off x="841248" y="443484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Fifteen years of total income-tax exemption on the benefited activity, plus municipal net-asset tax, capital-gains exemption and full import-tariff relief — and the benefits extend to the company's partners and shareholders.</a:t>
            </a:r>
            <a:endParaRPr lang="en-US" sz="1000" dirty="0"/>
          </a:p>
        </p:txBody>
      </p:sp>
      <p:sp>
        <p:nvSpPr>
          <p:cNvPr id="29" name="Shape 27"/>
          <p:cNvSpPr/>
          <p:nvPr/>
        </p:nvSpPr>
        <p:spPr>
          <a:xfrm>
            <a:off x="585216" y="4901184"/>
            <a:ext cx="118872" cy="118872"/>
          </a:xfrm>
          <a:prstGeom prst="ellipse">
            <a:avLst/>
          </a:prstGeom>
          <a:solidFill>
            <a:srgbClr val="7A5C3E"/>
          </a:solidFill>
          <a:ln/>
        </p:spPr>
      </p:sp>
      <p:sp>
        <p:nvSpPr>
          <p:cNvPr id="30" name="Text 28"/>
          <p:cNvSpPr txBox="1"/>
          <p:nvPr/>
        </p:nvSpPr>
        <p:spPr>
          <a:xfrm>
            <a:off x="841248" y="484632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Salvadoran family capital has become an acquirer.</a:t>
            </a:r>
            <a:endParaRPr lang="en-US" sz="1150" dirty="0"/>
          </a:p>
        </p:txBody>
      </p:sp>
      <p:sp>
        <p:nvSpPr>
          <p:cNvPr id="31" name="Text 29"/>
          <p:cNvSpPr txBox="1"/>
          <p:nvPr/>
        </p:nvSpPr>
        <p:spPr>
          <a:xfrm>
            <a:off x="841248" y="507492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Grupo Calleja holds more than 56% of Colombia's largest retailer. Inversiones Cuscatlán bought Banistmo in Panama for $1.418bn, closing June 2026.</a:t>
            </a:r>
            <a:endParaRPr lang="en-US" sz="1000" dirty="0"/>
          </a:p>
        </p:txBody>
      </p:sp>
      <p:sp>
        <p:nvSpPr>
          <p:cNvPr id="32" name="Shape 30"/>
          <p:cNvSpPr/>
          <p:nvPr/>
        </p:nvSpPr>
        <p:spPr>
          <a:xfrm>
            <a:off x="566928" y="5541264"/>
            <a:ext cx="11057839" cy="676656"/>
          </a:xfrm>
          <a:prstGeom prst="roundRect">
            <a:avLst>
              <a:gd name="adj" fmla="val 8108"/>
            </a:avLst>
          </a:prstGeom>
          <a:solidFill>
            <a:srgbClr val="EDF1F2"/>
          </a:solidFill>
          <a:ln w="6350">
            <a:solidFill>
              <a:srgbClr val="EDF1F2"/>
            </a:solidFill>
            <a:prstDash val="solid"/>
          </a:ln>
        </p:spPr>
      </p:sp>
      <p:sp>
        <p:nvSpPr>
          <p:cNvPr id="33" name="Text 31"/>
          <p:cNvSpPr txBox="1"/>
          <p:nvPr/>
        </p:nvSpPr>
        <p:spPr>
          <a:xfrm>
            <a:off x="804672" y="5705856"/>
            <a:ext cx="10582351" cy="329184"/>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Suitable only for clients who can hold single-B risk. But the family groups here are buying assets across the region, which makes them prospects regardless of the sovereign.</a:t>
            </a:r>
            <a:endParaRPr lang="en-US" sz="1050" dirty="0"/>
          </a:p>
        </p:txBody>
      </p:sp>
      <p:sp>
        <p:nvSpPr>
          <p:cNvPr id="34" name="Text 32"/>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35" name="Text 33"/>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12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566928" y="384048"/>
            <a:ext cx="566928" cy="566928"/>
          </a:xfrm>
          <a:prstGeom prst="ellipse">
            <a:avLst/>
          </a:prstGeom>
          <a:solidFill>
            <a:srgbClr val="3E5C7A"/>
          </a:solidFill>
          <a:ln/>
        </p:spPr>
      </p:sp>
      <p:sp>
        <p:nvSpPr>
          <p:cNvPr id="3" name="Text 1"/>
          <p:cNvSpPr txBox="1"/>
          <p:nvPr/>
        </p:nvSpPr>
        <p:spPr>
          <a:xfrm>
            <a:off x="566928" y="384048"/>
            <a:ext cx="566928" cy="566928"/>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GY</a:t>
            </a:r>
            <a:endParaRPr lang="en-US" sz="1500" dirty="0"/>
          </a:p>
        </p:txBody>
      </p:sp>
      <p:sp>
        <p:nvSpPr>
          <p:cNvPr id="4" name="Text 2"/>
          <p:cNvSpPr txBox="1"/>
          <p:nvPr/>
        </p:nvSpPr>
        <p:spPr>
          <a:xfrm>
            <a:off x="1298448" y="365760"/>
            <a:ext cx="5852160" cy="402336"/>
          </a:xfrm>
          <a:prstGeom prst="rect">
            <a:avLst/>
          </a:prstGeom>
          <a:noFill/>
          <a:ln/>
        </p:spPr>
        <p:txBody>
          <a:bodyPr wrap="square" lIns="0" tIns="0" rIns="0" bIns="0" rtlCol="0" anchor="ctr"/>
          <a:lstStyle/>
          <a:p>
            <a:pPr indent="0" marL="0">
              <a:buNone/>
            </a:pPr>
            <a:r>
              <a:rPr lang="en-US" sz="2900" b="1" dirty="0">
                <a:solidFill>
                  <a:srgbClr val="0B3B45"/>
                </a:solidFill>
                <a:latin typeface="Cambria" pitchFamily="34" charset="0"/>
                <a:ea typeface="Cambria" pitchFamily="34" charset="-122"/>
                <a:cs typeface="Cambria" pitchFamily="34" charset="-120"/>
              </a:rPr>
              <a:t>Guyana</a:t>
            </a:r>
            <a:endParaRPr lang="en-US" sz="2900" dirty="0"/>
          </a:p>
        </p:txBody>
      </p:sp>
      <p:sp>
        <p:nvSpPr>
          <p:cNvPr id="5" name="Text 3"/>
          <p:cNvSpPr txBox="1"/>
          <p:nvPr/>
        </p:nvSpPr>
        <p:spPr>
          <a:xfrm>
            <a:off x="1298448" y="786384"/>
            <a:ext cx="5852160" cy="219456"/>
          </a:xfrm>
          <a:prstGeom prst="rect">
            <a:avLst/>
          </a:prstGeom>
          <a:noFill/>
          <a:ln/>
        </p:spPr>
        <p:txBody>
          <a:bodyPr wrap="square" lIns="0" tIns="0" rIns="0" bIns="0" rtlCol="0" anchor="ctr"/>
          <a:lstStyle/>
          <a:p>
            <a:pPr indent="0" marL="0">
              <a:buNone/>
            </a:pPr>
            <a:r>
              <a:rPr lang="en-US" sz="950" b="1" spc="150" kern="0" dirty="0">
                <a:solidFill>
                  <a:srgbClr val="3E5C7A"/>
                </a:solidFill>
                <a:latin typeface="Calibri" pitchFamily="34" charset="0"/>
                <a:ea typeface="Calibri" pitchFamily="34" charset="-122"/>
                <a:cs typeface="Calibri" pitchFamily="34" charset="-120"/>
              </a:rPr>
              <a:t>HIGHEST RETURN, HIGHEST TAIL RISK</a:t>
            </a:r>
            <a:endParaRPr lang="en-US" sz="950" dirty="0"/>
          </a:p>
        </p:txBody>
      </p:sp>
      <p:sp>
        <p:nvSpPr>
          <p:cNvPr id="6" name="Text 4"/>
          <p:cNvSpPr txBox="1"/>
          <p:nvPr/>
        </p:nvSpPr>
        <p:spPr>
          <a:xfrm>
            <a:off x="9338767" y="365760"/>
            <a:ext cx="2286000" cy="694944"/>
          </a:xfrm>
          <a:prstGeom prst="rect">
            <a:avLst/>
          </a:prstGeom>
          <a:noFill/>
          <a:ln/>
        </p:spPr>
        <p:txBody>
          <a:bodyPr wrap="square" lIns="0" tIns="0" rIns="0" bIns="0" rtlCol="0" anchor="ctr"/>
          <a:lstStyle/>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Moody's Unrated</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S&amp;P Unrated</a:t>
            </a:r>
            <a:endParaRPr lang="en-US" sz="1050" dirty="0"/>
          </a:p>
          <a:p>
            <a:pPr algn="r" indent="0" marL="0">
              <a:lnSpc>
                <a:spcPct val="112000"/>
              </a:lnSpc>
              <a:buNone/>
            </a:pPr>
            <a:r>
              <a:rPr lang="en-US" sz="1050" dirty="0">
                <a:solidFill>
                  <a:srgbClr val="0B3B45"/>
                </a:solidFill>
                <a:latin typeface="Calibri" pitchFamily="34" charset="0"/>
                <a:ea typeface="Calibri" pitchFamily="34" charset="-122"/>
                <a:cs typeface="Calibri" pitchFamily="34" charset="-120"/>
              </a:rPr>
              <a:t>Fitch Unrated</a:t>
            </a:r>
            <a:endParaRPr lang="en-US" sz="1050" dirty="0"/>
          </a:p>
        </p:txBody>
      </p:sp>
      <p:sp>
        <p:nvSpPr>
          <p:cNvPr id="7" name="Text 5"/>
          <p:cNvSpPr txBox="1"/>
          <p:nvPr/>
        </p:nvSpPr>
        <p:spPr>
          <a:xfrm>
            <a:off x="566928" y="1115568"/>
            <a:ext cx="10424160" cy="530352"/>
          </a:xfrm>
          <a:prstGeom prst="rect">
            <a:avLst/>
          </a:prstGeom>
          <a:noFill/>
          <a:ln/>
        </p:spPr>
        <p:txBody>
          <a:bodyPr wrap="square" lIns="0" tIns="0" rIns="0" bIns="0" rtlCol="0" anchor="t"/>
          <a:lstStyle/>
          <a:p>
            <a:pPr indent="0" marL="0">
              <a:lnSpc>
                <a:spcPct val="114000"/>
              </a:lnSpc>
              <a:buNone/>
            </a:pPr>
            <a:r>
              <a:rPr lang="en-US" sz="1300" dirty="0">
                <a:solidFill>
                  <a:srgbClr val="1E4650"/>
                </a:solidFill>
                <a:latin typeface="Calibri" pitchFamily="34" charset="0"/>
                <a:ea typeface="Calibri" pitchFamily="34" charset="-122"/>
                <a:cs typeface="Calibri" pitchFamily="34" charset="-120"/>
              </a:rPr>
              <a:t>The fastest-growing economy on earth, with per-capita income already past Costa Rica and Panama — and no sovereign rating, one commodity and a neighbour that has pre-announced it will defy the World Court.</a:t>
            </a:r>
            <a:endParaRPr lang="en-US" sz="1300" dirty="0"/>
          </a:p>
        </p:txBody>
      </p:sp>
      <p:sp>
        <p:nvSpPr>
          <p:cNvPr id="8" name="Shape 6"/>
          <p:cNvSpPr/>
          <p:nvPr/>
        </p:nvSpPr>
        <p:spPr>
          <a:xfrm>
            <a:off x="566928" y="1737360"/>
            <a:ext cx="2682164" cy="1024128"/>
          </a:xfrm>
          <a:prstGeom prst="roundRect">
            <a:avLst>
              <a:gd name="adj" fmla="val 5357"/>
            </a:avLst>
          </a:prstGeom>
          <a:solidFill>
            <a:srgbClr val="EDF1F2"/>
          </a:solidFill>
          <a:ln w="6350">
            <a:solidFill>
              <a:srgbClr val="EDF1F2"/>
            </a:solidFill>
            <a:prstDash val="solid"/>
          </a:ln>
        </p:spPr>
      </p:sp>
      <p:sp>
        <p:nvSpPr>
          <p:cNvPr id="9" name="Text 7"/>
          <p:cNvSpPr txBox="1"/>
          <p:nvPr/>
        </p:nvSpPr>
        <p:spPr>
          <a:xfrm>
            <a:off x="713232" y="1828800"/>
            <a:ext cx="2389556" cy="420624"/>
          </a:xfrm>
          <a:prstGeom prst="rect">
            <a:avLst/>
          </a:prstGeom>
          <a:noFill/>
          <a:ln/>
        </p:spPr>
        <p:txBody>
          <a:bodyPr wrap="square" lIns="0" tIns="0" rIns="0" bIns="0" rtlCol="0" anchor="ctr"/>
          <a:lstStyle/>
          <a:p>
            <a:pPr indent="0" marL="0">
              <a:buNone/>
            </a:pPr>
            <a:r>
              <a:rPr lang="en-US" sz="2400" b="1" dirty="0">
                <a:solidFill>
                  <a:srgbClr val="D99A2B"/>
                </a:solidFill>
                <a:latin typeface="Cambria" pitchFamily="34" charset="0"/>
                <a:ea typeface="Cambria" pitchFamily="34" charset="-122"/>
                <a:cs typeface="Cambria" pitchFamily="34" charset="-120"/>
              </a:rPr>
              <a:t>$26,994</a:t>
            </a:r>
            <a:endParaRPr lang="en-US" sz="2400" dirty="0"/>
          </a:p>
        </p:txBody>
      </p:sp>
      <p:sp>
        <p:nvSpPr>
          <p:cNvPr id="10" name="Text 8"/>
          <p:cNvSpPr txBox="1"/>
          <p:nvPr/>
        </p:nvSpPr>
        <p:spPr>
          <a:xfrm>
            <a:off x="713232"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GDP per capita, 2025 — the</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highest in this sample</a:t>
            </a:r>
            <a:endParaRPr lang="en-US" sz="900" dirty="0"/>
          </a:p>
        </p:txBody>
      </p:sp>
      <p:sp>
        <p:nvSpPr>
          <p:cNvPr id="11" name="Shape 9"/>
          <p:cNvSpPr/>
          <p:nvPr/>
        </p:nvSpPr>
        <p:spPr>
          <a:xfrm>
            <a:off x="3358820" y="1737360"/>
            <a:ext cx="2682164" cy="1024128"/>
          </a:xfrm>
          <a:prstGeom prst="roundRect">
            <a:avLst>
              <a:gd name="adj" fmla="val 5357"/>
            </a:avLst>
          </a:prstGeom>
          <a:solidFill>
            <a:srgbClr val="EDF1F2"/>
          </a:solidFill>
          <a:ln w="6350">
            <a:solidFill>
              <a:srgbClr val="EDF1F2"/>
            </a:solidFill>
            <a:prstDash val="solid"/>
          </a:ln>
        </p:spPr>
      </p:sp>
      <p:sp>
        <p:nvSpPr>
          <p:cNvPr id="12" name="Text 10"/>
          <p:cNvSpPr txBox="1"/>
          <p:nvPr/>
        </p:nvSpPr>
        <p:spPr>
          <a:xfrm>
            <a:off x="3505124" y="1828800"/>
            <a:ext cx="2389556" cy="420624"/>
          </a:xfrm>
          <a:prstGeom prst="rect">
            <a:avLst/>
          </a:prstGeom>
          <a:noFill/>
          <a:ln/>
        </p:spPr>
        <p:txBody>
          <a:bodyPr wrap="square" lIns="0" tIns="0" rIns="0" bIns="0" rtlCol="0" anchor="ctr"/>
          <a:lstStyle/>
          <a:p>
            <a:pPr indent="0" marL="0">
              <a:buNone/>
            </a:pPr>
            <a:r>
              <a:rPr lang="en-US" sz="2400" b="1" dirty="0">
                <a:solidFill>
                  <a:srgbClr val="D99A2B"/>
                </a:solidFill>
                <a:latin typeface="Cambria" pitchFamily="34" charset="0"/>
                <a:ea typeface="Cambria" pitchFamily="34" charset="-122"/>
                <a:cs typeface="Cambria" pitchFamily="34" charset="-120"/>
              </a:rPr>
              <a:t>~900kb/d</a:t>
            </a:r>
            <a:endParaRPr lang="en-US" sz="2400" dirty="0"/>
          </a:p>
        </p:txBody>
      </p:sp>
      <p:sp>
        <p:nvSpPr>
          <p:cNvPr id="13" name="Text 11"/>
          <p:cNvSpPr txBox="1"/>
          <p:nvPr/>
        </p:nvSpPr>
        <p:spPr>
          <a:xfrm>
            <a:off x="3505124"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production, August 2026</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past 1m bpd expected in Q4</a:t>
            </a:r>
            <a:endParaRPr lang="en-US" sz="900" dirty="0"/>
          </a:p>
        </p:txBody>
      </p:sp>
      <p:sp>
        <p:nvSpPr>
          <p:cNvPr id="14" name="Shape 12"/>
          <p:cNvSpPr/>
          <p:nvPr/>
        </p:nvSpPr>
        <p:spPr>
          <a:xfrm>
            <a:off x="6150712" y="1737360"/>
            <a:ext cx="2682164" cy="1024128"/>
          </a:xfrm>
          <a:prstGeom prst="roundRect">
            <a:avLst>
              <a:gd name="adj" fmla="val 5357"/>
            </a:avLst>
          </a:prstGeom>
          <a:solidFill>
            <a:srgbClr val="EDF1F2"/>
          </a:solidFill>
          <a:ln w="6350">
            <a:solidFill>
              <a:srgbClr val="EDF1F2"/>
            </a:solidFill>
            <a:prstDash val="solid"/>
          </a:ln>
        </p:spPr>
      </p:sp>
      <p:sp>
        <p:nvSpPr>
          <p:cNvPr id="15" name="Text 13"/>
          <p:cNvSpPr txBox="1"/>
          <p:nvPr/>
        </p:nvSpPr>
        <p:spPr>
          <a:xfrm>
            <a:off x="6297016" y="1828800"/>
            <a:ext cx="2389556" cy="420624"/>
          </a:xfrm>
          <a:prstGeom prst="rect">
            <a:avLst/>
          </a:prstGeom>
          <a:noFill/>
          <a:ln/>
        </p:spPr>
        <p:txBody>
          <a:bodyPr wrap="square" lIns="0" tIns="0" rIns="0" bIns="0" rtlCol="0" anchor="ctr"/>
          <a:lstStyle/>
          <a:p>
            <a:pPr indent="0" marL="0">
              <a:buNone/>
            </a:pPr>
            <a:r>
              <a:rPr lang="en-US" sz="2400" b="1" dirty="0">
                <a:solidFill>
                  <a:srgbClr val="156A7A"/>
                </a:solidFill>
                <a:latin typeface="Cambria" pitchFamily="34" charset="0"/>
                <a:ea typeface="Cambria" pitchFamily="34" charset="-122"/>
                <a:cs typeface="Cambria" pitchFamily="34" charset="-120"/>
              </a:rPr>
              <a:t>$4.35bn</a:t>
            </a:r>
            <a:endParaRPr lang="en-US" sz="2400" dirty="0"/>
          </a:p>
        </p:txBody>
      </p:sp>
      <p:sp>
        <p:nvSpPr>
          <p:cNvPr id="16" name="Text 14"/>
          <p:cNvSpPr txBox="1"/>
          <p:nvPr/>
        </p:nvSpPr>
        <p:spPr>
          <a:xfrm>
            <a:off x="6297016"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Natural Resource Fund</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at 31 July 2026</a:t>
            </a:r>
            <a:endParaRPr lang="en-US" sz="900" dirty="0"/>
          </a:p>
        </p:txBody>
      </p:sp>
      <p:sp>
        <p:nvSpPr>
          <p:cNvPr id="17" name="Shape 15"/>
          <p:cNvSpPr/>
          <p:nvPr/>
        </p:nvSpPr>
        <p:spPr>
          <a:xfrm>
            <a:off x="8942603" y="1737360"/>
            <a:ext cx="2682164" cy="1024128"/>
          </a:xfrm>
          <a:prstGeom prst="roundRect">
            <a:avLst>
              <a:gd name="adj" fmla="val 5357"/>
            </a:avLst>
          </a:prstGeom>
          <a:solidFill>
            <a:srgbClr val="EDF1F2"/>
          </a:solidFill>
          <a:ln w="6350">
            <a:solidFill>
              <a:srgbClr val="EDF1F2"/>
            </a:solidFill>
            <a:prstDash val="solid"/>
          </a:ln>
        </p:spPr>
      </p:sp>
      <p:sp>
        <p:nvSpPr>
          <p:cNvPr id="18" name="Text 16"/>
          <p:cNvSpPr txBox="1"/>
          <p:nvPr/>
        </p:nvSpPr>
        <p:spPr>
          <a:xfrm>
            <a:off x="9088907" y="1828800"/>
            <a:ext cx="2389556" cy="420624"/>
          </a:xfrm>
          <a:prstGeom prst="rect">
            <a:avLst/>
          </a:prstGeom>
          <a:noFill/>
          <a:ln/>
        </p:spPr>
        <p:txBody>
          <a:bodyPr wrap="square" lIns="0" tIns="0" rIns="0" bIns="0" rtlCol="0" anchor="ctr"/>
          <a:lstStyle/>
          <a:p>
            <a:pPr indent="0" marL="0">
              <a:buNone/>
            </a:pPr>
            <a:r>
              <a:rPr lang="en-US" sz="2400" b="1" dirty="0">
                <a:solidFill>
                  <a:srgbClr val="A8322D"/>
                </a:solidFill>
                <a:latin typeface="Cambria" pitchFamily="34" charset="0"/>
                <a:ea typeface="Cambria" pitchFamily="34" charset="-122"/>
                <a:cs typeface="Cambria" pitchFamily="34" charset="-120"/>
              </a:rPr>
              <a:t>$1.06bn</a:t>
            </a:r>
            <a:endParaRPr lang="en-US" sz="2400" dirty="0"/>
          </a:p>
        </p:txBody>
      </p:sp>
      <p:sp>
        <p:nvSpPr>
          <p:cNvPr id="19" name="Text 17"/>
          <p:cNvSpPr txBox="1"/>
          <p:nvPr/>
        </p:nvSpPr>
        <p:spPr>
          <a:xfrm>
            <a:off x="9088907" y="2267712"/>
            <a:ext cx="2389556" cy="457200"/>
          </a:xfrm>
          <a:prstGeom prst="rect">
            <a:avLst/>
          </a:prstGeom>
          <a:noFill/>
          <a:ln/>
        </p:spPr>
        <p:txBody>
          <a:bodyPr wrap="square" lIns="0" tIns="0" rIns="0" bIns="0" rtlCol="0" anchor="t"/>
          <a:lstStyle/>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central-bank reserves — read</a:t>
            </a:r>
            <a:endParaRPr lang="en-US" sz="900" dirty="0"/>
          </a:p>
          <a:p>
            <a:pPr indent="0" marL="0">
              <a:lnSpc>
                <a:spcPct val="106000"/>
              </a:lnSpc>
              <a:buNone/>
            </a:pPr>
            <a:r>
              <a:rPr lang="en-US" sz="900" dirty="0">
                <a:solidFill>
                  <a:srgbClr val="45646C"/>
                </a:solidFill>
                <a:latin typeface="Calibri" pitchFamily="34" charset="0"/>
                <a:ea typeface="Calibri" pitchFamily="34" charset="-122"/>
                <a:cs typeface="Calibri" pitchFamily="34" charset="-120"/>
              </a:rPr>
              <a:t>this with the NRF, never alone</a:t>
            </a:r>
            <a:endParaRPr lang="en-US" sz="900" dirty="0"/>
          </a:p>
        </p:txBody>
      </p:sp>
      <p:sp>
        <p:nvSpPr>
          <p:cNvPr id="20" name="Shape 18"/>
          <p:cNvSpPr/>
          <p:nvPr/>
        </p:nvSpPr>
        <p:spPr>
          <a:xfrm>
            <a:off x="585216" y="2980944"/>
            <a:ext cx="118872" cy="118872"/>
          </a:xfrm>
          <a:prstGeom prst="ellipse">
            <a:avLst/>
          </a:prstGeom>
          <a:solidFill>
            <a:srgbClr val="3E5C7A"/>
          </a:solidFill>
          <a:ln/>
        </p:spPr>
      </p:sp>
      <p:sp>
        <p:nvSpPr>
          <p:cNvPr id="21" name="Text 19"/>
          <p:cNvSpPr txBox="1"/>
          <p:nvPr/>
        </p:nvSpPr>
        <p:spPr>
          <a:xfrm>
            <a:off x="841248" y="292608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The reserve number is the most counter-intuitive figure in the pack.</a:t>
            </a:r>
            <a:endParaRPr lang="en-US" sz="1150" dirty="0"/>
          </a:p>
        </p:txBody>
      </p:sp>
      <p:sp>
        <p:nvSpPr>
          <p:cNvPr id="22" name="Text 20"/>
          <p:cNvSpPr txBox="1"/>
          <p:nvPr/>
        </p:nvSpPr>
        <p:spPr>
          <a:xfrm>
            <a:off x="841248" y="315468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A country running a 13%-of-GDP current-account surplus holds barely $1bn at the central bank, because oil receipts accumulate in the Natural Resource Fund instead. Never present reserves as a Guyana buffer metric without the NRF beside it.</a:t>
            </a:r>
            <a:endParaRPr lang="en-US" sz="1000" dirty="0"/>
          </a:p>
        </p:txBody>
      </p:sp>
      <p:sp>
        <p:nvSpPr>
          <p:cNvPr id="23" name="Shape 21"/>
          <p:cNvSpPr/>
          <p:nvPr/>
        </p:nvSpPr>
        <p:spPr>
          <a:xfrm>
            <a:off x="585216" y="3621024"/>
            <a:ext cx="118872" cy="118872"/>
          </a:xfrm>
          <a:prstGeom prst="ellipse">
            <a:avLst/>
          </a:prstGeom>
          <a:solidFill>
            <a:srgbClr val="3E5C7A"/>
          </a:solidFill>
          <a:ln/>
        </p:spPr>
      </p:sp>
      <p:sp>
        <p:nvSpPr>
          <p:cNvPr id="24" name="Text 22"/>
          <p:cNvSpPr txBox="1"/>
          <p:nvPr/>
        </p:nvSpPr>
        <p:spPr>
          <a:xfrm>
            <a:off x="841248" y="356616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Five production vessels, a sixth arrived in August.</a:t>
            </a:r>
            <a:endParaRPr lang="en-US" sz="1150" dirty="0"/>
          </a:p>
        </p:txBody>
      </p:sp>
      <p:sp>
        <p:nvSpPr>
          <p:cNvPr id="25" name="Text 23"/>
          <p:cNvSpPr txBox="1"/>
          <p:nvPr/>
        </p:nvSpPr>
        <p:spPr>
          <a:xfrm>
            <a:off x="841248" y="379476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Errea Wittu arrived 21 August 2026; capacity reaches 1.3m bpd once two more arrive in 2027. Exxon recovered its $55bn investment ahead of schedule and Guyana's share of each barrel has reached 39.8%.</a:t>
            </a:r>
            <a:endParaRPr lang="en-US" sz="1000" dirty="0"/>
          </a:p>
        </p:txBody>
      </p:sp>
      <p:sp>
        <p:nvSpPr>
          <p:cNvPr id="26" name="Shape 24"/>
          <p:cNvSpPr/>
          <p:nvPr/>
        </p:nvSpPr>
        <p:spPr>
          <a:xfrm>
            <a:off x="585216" y="4261104"/>
            <a:ext cx="118872" cy="118872"/>
          </a:xfrm>
          <a:prstGeom prst="ellipse">
            <a:avLst/>
          </a:prstGeom>
          <a:solidFill>
            <a:srgbClr val="3E5C7A"/>
          </a:solidFill>
          <a:ln/>
        </p:spPr>
      </p:sp>
      <p:sp>
        <p:nvSpPr>
          <p:cNvPr id="27" name="Text 25"/>
          <p:cNvSpPr txBox="1"/>
          <p:nvPr/>
        </p:nvSpPr>
        <p:spPr>
          <a:xfrm>
            <a:off x="841248" y="420624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Politics realigned in September 2025.</a:t>
            </a:r>
            <a:endParaRPr lang="en-US" sz="1150" dirty="0"/>
          </a:p>
        </p:txBody>
      </p:sp>
      <p:sp>
        <p:nvSpPr>
          <p:cNvPr id="28" name="Text 26"/>
          <p:cNvSpPr txBox="1"/>
          <p:nvPr/>
        </p:nvSpPr>
        <p:spPr>
          <a:xfrm>
            <a:off x="841248" y="443484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Irfaan Ali was re-elected, but a party founded three months before the vote took 25% and displaced the six-decade opposition. Its leader is under US sanctions — a complication for any counterparty analysis.</a:t>
            </a:r>
            <a:endParaRPr lang="en-US" sz="1000" dirty="0"/>
          </a:p>
        </p:txBody>
      </p:sp>
      <p:sp>
        <p:nvSpPr>
          <p:cNvPr id="29" name="Shape 27"/>
          <p:cNvSpPr/>
          <p:nvPr/>
        </p:nvSpPr>
        <p:spPr>
          <a:xfrm>
            <a:off x="585216" y="4901184"/>
            <a:ext cx="118872" cy="118872"/>
          </a:xfrm>
          <a:prstGeom prst="ellipse">
            <a:avLst/>
          </a:prstGeom>
          <a:solidFill>
            <a:srgbClr val="3E5C7A"/>
          </a:solidFill>
          <a:ln/>
        </p:spPr>
      </p:sp>
      <p:sp>
        <p:nvSpPr>
          <p:cNvPr id="30" name="Text 28"/>
          <p:cNvSpPr txBox="1"/>
          <p:nvPr/>
        </p:nvSpPr>
        <p:spPr>
          <a:xfrm>
            <a:off x="841248" y="4846320"/>
            <a:ext cx="10607040" cy="237744"/>
          </a:xfrm>
          <a:prstGeom prst="rect">
            <a:avLst/>
          </a:prstGeom>
          <a:noFill/>
          <a:ln/>
        </p:spPr>
        <p:txBody>
          <a:bodyPr wrap="square" lIns="0" tIns="0" rIns="0" bIns="0" rtlCol="0" anchor="ctr"/>
          <a:lstStyle/>
          <a:p>
            <a:pPr indent="0" marL="0">
              <a:buNone/>
            </a:pPr>
            <a:r>
              <a:rPr lang="en-US" sz="1150" b="1" dirty="0">
                <a:solidFill>
                  <a:srgbClr val="0B3B45"/>
                </a:solidFill>
                <a:latin typeface="Calibri" pitchFamily="34" charset="0"/>
                <a:ea typeface="Calibri" pitchFamily="34" charset="-122"/>
                <a:cs typeface="Calibri" pitchFamily="34" charset="-120"/>
              </a:rPr>
              <a:t>Essequibo is the tail risk that defines the country.</a:t>
            </a:r>
            <a:endParaRPr lang="en-US" sz="1150" dirty="0"/>
          </a:p>
        </p:txBody>
      </p:sp>
      <p:sp>
        <p:nvSpPr>
          <p:cNvPr id="31" name="Text 29"/>
          <p:cNvSpPr txBox="1"/>
          <p:nvPr/>
        </p:nvSpPr>
        <p:spPr>
          <a:xfrm>
            <a:off x="841248" y="5074920"/>
            <a:ext cx="10607040" cy="457200"/>
          </a:xfrm>
          <a:prstGeom prst="rect">
            <a:avLst/>
          </a:prstGeom>
          <a:noFill/>
          <a:ln/>
        </p:spPr>
        <p:txBody>
          <a:bodyPr wrap="square" lIns="0" tIns="0" rIns="0" bIns="0" rtlCol="0" anchor="t"/>
          <a:lstStyle/>
          <a:p>
            <a:pPr indent="0" marL="0">
              <a:lnSpc>
                <a:spcPct val="110000"/>
              </a:lnSpc>
              <a:buNone/>
            </a:pPr>
            <a:r>
              <a:rPr lang="en-US" sz="1000" dirty="0">
                <a:solidFill>
                  <a:srgbClr val="45646C"/>
                </a:solidFill>
                <a:latin typeface="Calibri" pitchFamily="34" charset="0"/>
                <a:ea typeface="Calibri" pitchFamily="34" charset="-122"/>
                <a:cs typeface="Calibri" pitchFamily="34" charset="-120"/>
              </a:rPr>
              <a:t>Two-thirds of the land area, containing the offshore oil. The ICJ heard the merits in May 2026; no ruling and no timeline. Venezuela has stated it will ignore the outcome.</a:t>
            </a:r>
            <a:endParaRPr lang="en-US" sz="1000" dirty="0"/>
          </a:p>
        </p:txBody>
      </p:sp>
      <p:sp>
        <p:nvSpPr>
          <p:cNvPr id="32" name="Shape 30"/>
          <p:cNvSpPr/>
          <p:nvPr/>
        </p:nvSpPr>
        <p:spPr>
          <a:xfrm>
            <a:off x="566928" y="5541264"/>
            <a:ext cx="11057839" cy="676656"/>
          </a:xfrm>
          <a:prstGeom prst="roundRect">
            <a:avLst>
              <a:gd name="adj" fmla="val 8108"/>
            </a:avLst>
          </a:prstGeom>
          <a:solidFill>
            <a:srgbClr val="EDF1F2"/>
          </a:solidFill>
          <a:ln w="6350">
            <a:solidFill>
              <a:srgbClr val="EDF1F2"/>
            </a:solidFill>
            <a:prstDash val="solid"/>
          </a:ln>
        </p:spPr>
      </p:sp>
      <p:sp>
        <p:nvSpPr>
          <p:cNvPr id="33" name="Text 31"/>
          <p:cNvSpPr txBox="1"/>
          <p:nvPr/>
        </p:nvSpPr>
        <p:spPr>
          <a:xfrm>
            <a:off x="804672" y="5705856"/>
            <a:ext cx="10582351" cy="329184"/>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Not a core allocation. A satellite or thematic one, sized for binary geopolitical risk — and exposure for most clients runs through Exxon, Chevron, CNOOC or the drillers rather than through anything Guyanese.</a:t>
            </a:r>
            <a:endParaRPr lang="en-US" sz="1050" dirty="0"/>
          </a:p>
        </p:txBody>
      </p:sp>
      <p:sp>
        <p:nvSpPr>
          <p:cNvPr id="34" name="Text 32"/>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35" name="Text 33"/>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13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(B)</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Headline tax across the seven</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298448"/>
                <a:gridCol w="2468880"/>
                <a:gridCol w="1133856"/>
                <a:gridCol w="1481328"/>
                <a:gridCol w="713232"/>
                <a:gridCol w="713232"/>
                <a:gridCol w="1691640"/>
                <a:gridCol w="1554480"/>
              </a:tblGrid>
              <a:tr h="44322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Corporate income tax</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Dividend WHT</a:t>
                      </a:r>
                      <a:endParaRPr lang="en-US" sz="850" dirty="0">
                        <a:latin typeface="Calibri" charset="0"/>
                        <a:ea typeface="Calibri" charset="0"/>
                        <a:cs typeface="Calibri" charset="0"/>
                      </a:endParaRPr>
                    </a:p>
                    <a:p>
                      <a:pPr algn="l" indent="0" marL="0">
                        <a:buNone/>
                      </a:pPr>
                      <a:r>
                        <a:rPr lang="en-US" sz="850" b="1" dirty="0">
                          <a:solidFill>
                            <a:srgbClr val="FFFFFF"/>
                          </a:solidFill>
                          <a:latin typeface="Calibri" pitchFamily="34" charset="0"/>
                          <a:ea typeface="Calibri" pitchFamily="34" charset="-122"/>
                          <a:cs typeface="Calibri" pitchFamily="34" charset="-120"/>
                        </a:rPr>
                        <a:t>(non-resident)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Capital gains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VAT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PIT top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Wealth tax</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Basis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407944">
                <a:tc>
                  <a:txBody>
                    <a:bodyPr/>
                    <a:lstStyle/>
                    <a:p>
                      <a:pPr indent="0" marL="0">
                        <a:buNone/>
                      </a:pPr>
                      <a:r>
                        <a:rPr lang="en-US" sz="750" b="1" dirty="0">
                          <a:solidFill>
                            <a:srgbClr val="0B3B45"/>
                          </a:solidFill>
                          <a:latin typeface="Calibri" pitchFamily="34" charset="0"/>
                          <a:ea typeface="Calibri" pitchFamily="34" charset="-122"/>
                          <a:cs typeface="Calibri" pitchFamily="34" charset="-120"/>
                        </a:rPr>
                        <a:t>Panama</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25% (territorial); CAIR AMT 4.67% of gross &gt;USD1.5m</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5 / 10 / 20%</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10% securities (5% withheld); 10% real estate</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7% ITBMS</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None</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Territorial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07944">
                <a:tc>
                  <a:txBody>
                    <a:bodyPr/>
                    <a:lstStyle/>
                    <a:p>
                      <a:pPr indent="0" marL="0">
                        <a:buNone/>
                      </a:pPr>
                      <a:r>
                        <a:rPr lang="en-US" sz="750" b="1" dirty="0">
                          <a:solidFill>
                            <a:srgbClr val="156A7A"/>
                          </a:solidFill>
                          <a:latin typeface="Calibri" pitchFamily="34" charset="0"/>
                          <a:ea typeface="Calibri" pitchFamily="34" charset="-122"/>
                          <a:cs typeface="Calibri" pitchFamily="34" charset="-120"/>
                        </a:rPr>
                        <a:t>Costa Rica</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30% (reduced bands for small cos)</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5% or 15%</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15% (2.25% of price elective, pre-Jul-2019 assets)</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25%</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None</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Territorial + 15% substance test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275661">
                <a:tc>
                  <a:txBody>
                    <a:bodyPr/>
                    <a:lstStyle/>
                    <a:p>
                      <a:pPr indent="0" marL="0">
                        <a:buNone/>
                      </a:pPr>
                      <a:r>
                        <a:rPr lang="en-US" sz="750" b="1" dirty="0">
                          <a:solidFill>
                            <a:srgbClr val="2C6470"/>
                          </a:solidFill>
                          <a:latin typeface="Calibri" pitchFamily="34" charset="0"/>
                          <a:ea typeface="Calibri" pitchFamily="34" charset="-122"/>
                          <a:cs typeface="Calibri" pitchFamily="34" charset="-120"/>
                        </a:rPr>
                        <a:t>Guatemala</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25% profit regime / 5-7% gross regime</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5%</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n/a separate</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12%</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7%</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None</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Territorial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07944">
                <a:tc>
                  <a:txBody>
                    <a:bodyPr/>
                    <a:lstStyle/>
                    <a:p>
                      <a:pPr indent="0" marL="0">
                        <a:buNone/>
                      </a:pPr>
                      <a:r>
                        <a:rPr lang="en-US" sz="750" b="1" dirty="0">
                          <a:solidFill>
                            <a:srgbClr val="8A5F12"/>
                          </a:solidFill>
                          <a:latin typeface="Calibri" pitchFamily="34" charset="0"/>
                          <a:ea typeface="Calibri" pitchFamily="34" charset="-122"/>
                          <a:cs typeface="Calibri" pitchFamily="34" charset="-120"/>
                        </a:rPr>
                        <a:t>Colombia</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35% + sector surcharges (banks +5% to 2027; oil 5-15%)</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20% (48% from untaxed profits)</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15%</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19%</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39%</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b="1" dirty="0">
                          <a:solidFill>
                            <a:srgbClr val="A8322D"/>
                          </a:solidFill>
                          <a:latin typeface="Calibri" pitchFamily="34" charset="0"/>
                          <a:ea typeface="Calibri" pitchFamily="34" charset="-122"/>
                          <a:cs typeface="Calibri" pitchFamily="34" charset="-120"/>
                        </a:rPr>
                        <a:t>0.5-1.5% above ~COP 3.77bn (~$1.2m)</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WORLDWIDE income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40228">
                <a:tc>
                  <a:txBody>
                    <a:bodyPr/>
                    <a:lstStyle/>
                    <a:p>
                      <a:pPr indent="0" marL="0">
                        <a:buNone/>
                      </a:pPr>
                      <a:r>
                        <a:rPr lang="en-US" sz="750" b="1" dirty="0">
                          <a:solidFill>
                            <a:srgbClr val="2E6F6B"/>
                          </a:solidFill>
                          <a:latin typeface="Calibri" pitchFamily="34" charset="0"/>
                          <a:ea typeface="Calibri" pitchFamily="34" charset="-122"/>
                          <a:cs typeface="Calibri" pitchFamily="34" charset="-120"/>
                        </a:rPr>
                        <a:t>Dominican Rep.</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27%; 30% transitional for income &gt;=RD$1bn, FY2026-28 (Ley 30-26)</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10% final</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27% corporate; 10% real estate from 2026</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18% ITBIS</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25% (27% top band from 2027)</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None</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Territorial (foreign income from yr 3)</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275661">
                <a:tc>
                  <a:txBody>
                    <a:bodyPr/>
                    <a:lstStyle/>
                    <a:p>
                      <a:pPr indent="0" marL="0">
                        <a:buNone/>
                      </a:pPr>
                      <a:r>
                        <a:rPr lang="en-US" sz="750" b="1" dirty="0">
                          <a:solidFill>
                            <a:srgbClr val="7A5C3E"/>
                          </a:solidFill>
                          <a:latin typeface="Calibri" pitchFamily="34" charset="0"/>
                          <a:ea typeface="Calibri" pitchFamily="34" charset="-122"/>
                          <a:cs typeface="Calibri" pitchFamily="34" charset="-120"/>
                        </a:rPr>
                        <a:t>El Salvador</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30% (25% if &lt;=USD150k)</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5% statutory</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10%</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13%</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30%</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None</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Territorial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07944">
                <a:tc>
                  <a:txBody>
                    <a:bodyPr/>
                    <a:lstStyle/>
                    <a:p>
                      <a:pPr indent="0" marL="0">
                        <a:buNone/>
                      </a:pPr>
                      <a:r>
                        <a:rPr lang="en-US" sz="750" b="1" dirty="0">
                          <a:solidFill>
                            <a:srgbClr val="3E5C7A"/>
                          </a:solidFill>
                          <a:latin typeface="Calibri" pitchFamily="34" charset="0"/>
                          <a:ea typeface="Calibri" pitchFamily="34" charset="-122"/>
                          <a:cs typeface="Calibri" pitchFamily="34" charset="-120"/>
                        </a:rPr>
                        <a:t>Guyana</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40% commercial / 25% non-commercial / 45% telecom</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20%</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14%</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35%</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50" dirty="0">
                          <a:solidFill>
                            <a:srgbClr val="0B3B45"/>
                          </a:solidFill>
                          <a:latin typeface="Calibri" pitchFamily="34" charset="0"/>
                          <a:ea typeface="Calibri" pitchFamily="34" charset="-122"/>
                          <a:cs typeface="Calibri" pitchFamily="34" charset="-120"/>
                        </a:rPr>
                        <a:t>None</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Territorial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794179"/>
            <a:ext cx="11057839" cy="1005840"/>
          </a:xfrm>
          <a:prstGeom prst="roundRect">
            <a:avLst>
              <a:gd name="adj" fmla="val 5455"/>
            </a:avLst>
          </a:prstGeom>
          <a:solidFill>
            <a:srgbClr val="0B3B45"/>
          </a:solidFill>
          <a:ln w="6350">
            <a:solidFill>
              <a:srgbClr val="0B3B45"/>
            </a:solidFill>
            <a:prstDash val="solid"/>
          </a:ln>
        </p:spPr>
      </p:sp>
      <p:sp>
        <p:nvSpPr>
          <p:cNvPr id="6" name="Text 3"/>
          <p:cNvSpPr txBox="1"/>
          <p:nvPr/>
        </p:nvSpPr>
        <p:spPr>
          <a:xfrm>
            <a:off x="804672" y="4940483"/>
            <a:ext cx="10582351" cy="201168"/>
          </a:xfrm>
          <a:prstGeom prst="rect">
            <a:avLst/>
          </a:prstGeom>
          <a:noFill/>
          <a:ln/>
        </p:spPr>
        <p:txBody>
          <a:bodyPr wrap="square" lIns="0" tIns="0" rIns="0" bIns="0" rtlCol="0" anchor="ctr"/>
          <a:lstStyle/>
          <a:p>
            <a:pPr indent="0" marL="0">
              <a:buNone/>
            </a:pPr>
            <a:r>
              <a:rPr lang="en-US" sz="900" b="1" spc="140" kern="0" dirty="0">
                <a:solidFill>
                  <a:srgbClr val="D99A2B"/>
                </a:solidFill>
                <a:latin typeface="Calibri" pitchFamily="34" charset="0"/>
                <a:ea typeface="Calibri" pitchFamily="34" charset="-122"/>
                <a:cs typeface="Calibri" pitchFamily="34" charset="-120"/>
              </a:rPr>
              <a:t>ONE MARKET TAXES WORLDWIDE INCOME. ONE TAXES WEALTH. THEY ARE THE SAME MARKET.</a:t>
            </a:r>
            <a:endParaRPr lang="en-US" sz="900" dirty="0"/>
          </a:p>
        </p:txBody>
      </p:sp>
      <p:sp>
        <p:nvSpPr>
          <p:cNvPr id="7" name="Text 4"/>
          <p:cNvSpPr txBox="1"/>
          <p:nvPr/>
        </p:nvSpPr>
        <p:spPr>
          <a:xfrm>
            <a:off x="804672" y="5159939"/>
            <a:ext cx="10582351" cy="475488"/>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Colombia is the only jurisdiction in this set that taxes its residents on worldwide income and the only one with a net-wealth tax. It is also the only one with a mandatory foreign-asset declaration at a threshold of roughly $33,000. Everything a Colombian client holds offshore is already inside that regime, whether or not anyone has told them so.</a:t>
            </a:r>
            <a:endParaRPr lang="en-US" sz="1150" dirty="0"/>
          </a:p>
        </p:txBody>
      </p:sp>
      <p:sp>
        <p:nvSpPr>
          <p:cNvPr id="8" name="Text 5"/>
          <p:cNvSpPr txBox="1"/>
          <p:nvPr/>
        </p:nvSpPr>
        <p:spPr>
          <a:xfrm>
            <a:off x="566928" y="6254496"/>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PwC Worldwide Tax Summaries, reviewed February–August 2026; national gazettes. Headline rates — confirm per client.</a:t>
            </a:r>
            <a:endParaRPr lang="en-US" sz="800" dirty="0"/>
          </a:p>
        </p:txBody>
      </p:sp>
      <p:sp>
        <p:nvSpPr>
          <p:cNvPr id="9" name="Text 6"/>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10" name="Text 7"/>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14</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D99A2B"/>
                </a:solidFill>
                <a:latin typeface="Calibri" pitchFamily="34" charset="0"/>
                <a:ea typeface="Calibri" pitchFamily="34" charset="-122"/>
                <a:cs typeface="Calibri" pitchFamily="34" charset="-120"/>
              </a:rPr>
              <a:t>THE HIGHEST-VALUE ADVISORY HOOK IN THIS PACK</a:t>
            </a:r>
            <a:endParaRPr lang="en-US" sz="1000" dirty="0"/>
          </a:p>
        </p:txBody>
      </p:sp>
      <p:sp>
        <p:nvSpPr>
          <p:cNvPr id="3" name="Text 1"/>
          <p:cNvSpPr txBox="1"/>
          <p:nvPr/>
        </p:nvSpPr>
        <p:spPr>
          <a:xfrm>
            <a:off x="566928" y="658368"/>
            <a:ext cx="8686800"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Panama, Law 526 of 2026</a:t>
            </a:r>
            <a:endParaRPr lang="en-US" sz="3000" dirty="0"/>
          </a:p>
        </p:txBody>
      </p:sp>
      <p:sp>
        <p:nvSpPr>
          <p:cNvPr id="4" name="Text 2"/>
          <p:cNvSpPr txBox="1"/>
          <p:nvPr/>
        </p:nvSpPr>
        <p:spPr>
          <a:xfrm>
            <a:off x="8881567" y="457200"/>
            <a:ext cx="2743200" cy="603504"/>
          </a:xfrm>
          <a:prstGeom prst="rect">
            <a:avLst/>
          </a:prstGeom>
          <a:noFill/>
          <a:ln/>
        </p:spPr>
        <p:txBody>
          <a:bodyPr wrap="square" lIns="0" tIns="0" rIns="0" bIns="0" rtlCol="0" anchor="ctr"/>
          <a:lstStyle/>
          <a:p>
            <a:pPr algn="r" indent="0" marL="0">
              <a:lnSpc>
                <a:spcPct val="110000"/>
              </a:lnSpc>
              <a:buNone/>
            </a:pPr>
            <a:r>
              <a:rPr lang="en-US" sz="1200" b="1" dirty="0">
                <a:solidFill>
                  <a:srgbClr val="D99A2B"/>
                </a:solidFill>
                <a:latin typeface="Calibri" pitchFamily="34" charset="0"/>
                <a:ea typeface="Calibri" pitchFamily="34" charset="-122"/>
                <a:cs typeface="Calibri" pitchFamily="34" charset="-120"/>
              </a:rPr>
              <a:t>EFFECTIVE FY2027</a:t>
            </a:r>
            <a:endParaRPr lang="en-US" sz="1200" dirty="0"/>
          </a:p>
          <a:p>
            <a:pPr algn="r" indent="0" marL="0">
              <a:lnSpc>
                <a:spcPct val="110000"/>
              </a:lnSpc>
              <a:buNone/>
            </a:pPr>
            <a:r>
              <a:rPr lang="en-US" sz="1200" b="1" dirty="0">
                <a:solidFill>
                  <a:srgbClr val="D99A2B"/>
                </a:solidFill>
                <a:latin typeface="Calibri" pitchFamily="34" charset="0"/>
                <a:ea typeface="Calibri" pitchFamily="34" charset="-122"/>
                <a:cs typeface="Calibri" pitchFamily="34" charset="-120"/>
              </a:rPr>
              <a:t>FIRST DECLARATIONS 2028</a:t>
            </a:r>
            <a:endParaRPr lang="en-US" sz="1200" dirty="0"/>
          </a:p>
        </p:txBody>
      </p:sp>
      <p:sp>
        <p:nvSpPr>
          <p:cNvPr id="5" name="Text 3"/>
          <p:cNvSpPr txBox="1"/>
          <p:nvPr/>
        </p:nvSpPr>
        <p:spPr>
          <a:xfrm>
            <a:off x="566928" y="1353312"/>
            <a:ext cx="10424160" cy="566928"/>
          </a:xfrm>
          <a:prstGeom prst="rect">
            <a:avLst/>
          </a:prstGeom>
          <a:noFill/>
          <a:ln/>
        </p:spPr>
        <p:txBody>
          <a:bodyPr wrap="square" lIns="0" tIns="0" rIns="0" bIns="0" rtlCol="0" anchor="t"/>
          <a:lstStyle/>
          <a:p>
            <a:pPr indent="0" marL="0">
              <a:lnSpc>
                <a:spcPct val="115000"/>
              </a:lnSpc>
              <a:buNone/>
            </a:pPr>
            <a:r>
              <a:rPr lang="en-US" sz="1400" dirty="0">
                <a:solidFill>
                  <a:srgbClr val="C6D8DC"/>
                </a:solidFill>
                <a:latin typeface="Calibri" pitchFamily="34" charset="0"/>
                <a:ea typeface="Calibri" pitchFamily="34" charset="-122"/>
                <a:cs typeface="Calibri" pitchFamily="34" charset="-120"/>
              </a:rPr>
              <a:t>A Panamanian entity that is part of a multinational group and earns foreign-source passive income now has to prove it is real. If it cannot, the income is taxed at 15% — where the rate was zero.</a:t>
            </a:r>
            <a:endParaRPr lang="en-US" sz="1400" dirty="0"/>
          </a:p>
        </p:txBody>
      </p:sp>
      <p:sp>
        <p:nvSpPr>
          <p:cNvPr id="6" name="Shape 4"/>
          <p:cNvSpPr/>
          <p:nvPr/>
        </p:nvSpPr>
        <p:spPr>
          <a:xfrm>
            <a:off x="566928" y="2121408"/>
            <a:ext cx="3539642" cy="2212848"/>
          </a:xfrm>
          <a:prstGeom prst="roundRect">
            <a:avLst>
              <a:gd name="adj" fmla="val 2479"/>
            </a:avLst>
          </a:prstGeom>
          <a:solidFill>
            <a:srgbClr val="10474F"/>
          </a:solidFill>
          <a:ln w="12700">
            <a:solidFill>
              <a:srgbClr val="1C5C66"/>
            </a:solidFill>
            <a:prstDash val="solid"/>
          </a:ln>
        </p:spPr>
      </p:sp>
      <p:sp>
        <p:nvSpPr>
          <p:cNvPr id="7" name="Text 5"/>
          <p:cNvSpPr txBox="1"/>
          <p:nvPr/>
        </p:nvSpPr>
        <p:spPr>
          <a:xfrm>
            <a:off x="786384" y="2304288"/>
            <a:ext cx="3100730" cy="274320"/>
          </a:xfrm>
          <a:prstGeom prst="rect">
            <a:avLst/>
          </a:prstGeom>
          <a:noFill/>
          <a:ln/>
        </p:spPr>
        <p:txBody>
          <a:bodyPr wrap="square" lIns="0" tIns="0" rIns="0" bIns="0" rtlCol="0" anchor="ctr"/>
          <a:lstStyle/>
          <a:p>
            <a:pPr indent="0" marL="0">
              <a:buNone/>
            </a:pPr>
            <a:r>
              <a:rPr lang="en-US" sz="1500" b="1" dirty="0">
                <a:solidFill>
                  <a:srgbClr val="F0D9A8"/>
                </a:solidFill>
                <a:latin typeface="Cambria" pitchFamily="34" charset="0"/>
                <a:ea typeface="Cambria" pitchFamily="34" charset="-122"/>
                <a:cs typeface="Cambria" pitchFamily="34" charset="-120"/>
              </a:rPr>
              <a:t>Who it catches</a:t>
            </a:r>
            <a:endParaRPr lang="en-US" sz="1500" dirty="0"/>
          </a:p>
        </p:txBody>
      </p:sp>
      <p:sp>
        <p:nvSpPr>
          <p:cNvPr id="8" name="Text 6"/>
          <p:cNvSpPr txBox="1"/>
          <p:nvPr/>
        </p:nvSpPr>
        <p:spPr>
          <a:xfrm>
            <a:off x="786384" y="2615184"/>
            <a:ext cx="3100730" cy="1627632"/>
          </a:xfrm>
          <a:prstGeom prst="rect">
            <a:avLst/>
          </a:prstGeom>
          <a:noFill/>
          <a:ln/>
        </p:spPr>
        <p:txBody>
          <a:bodyPr wrap="square" lIns="0" tIns="0" rIns="0" bIns="0" rtlCol="0" anchor="t"/>
          <a:lstStyle/>
          <a:p>
            <a:pPr indent="0" marL="0">
              <a:lnSpc>
                <a:spcPct val="114000"/>
              </a:lnSpc>
              <a:buNone/>
            </a:pPr>
            <a:r>
              <a:rPr lang="en-US" sz="1000" dirty="0">
                <a:solidFill>
                  <a:srgbClr val="BCD2D7"/>
                </a:solidFill>
                <a:latin typeface="Calibri" pitchFamily="34" charset="0"/>
                <a:ea typeface="Calibri" pitchFamily="34" charset="-122"/>
                <a:cs typeface="Calibri" pitchFamily="34" charset="-120"/>
              </a:rPr>
              <a:t>An entity that is (i) incorporated or domiciled in Panama, (ii) part of a multinational group, and (iii) earning foreign-source PASSIVE income — dividends, interest, royalties, capital gains, rent.</a:t>
            </a:r>
            <a:endParaRPr lang="en-US" sz="1000" dirty="0"/>
          </a:p>
          <a:p>
            <a:pPr indent="0" marL="0">
              <a:lnSpc>
                <a:spcPct val="114000"/>
              </a:lnSpc>
              <a:buNone/>
            </a:pPr>
            <a:endParaRPr lang="en-US" sz="1000" dirty="0"/>
          </a:p>
          <a:p>
            <a:pPr indent="0" marL="0">
              <a:lnSpc>
                <a:spcPct val="114000"/>
              </a:lnSpc>
              <a:buNone/>
            </a:pPr>
            <a:r>
              <a:rPr lang="en-US" sz="1000" dirty="0">
                <a:solidFill>
                  <a:srgbClr val="BCD2D7"/>
                </a:solidFill>
                <a:latin typeface="Calibri" pitchFamily="34" charset="0"/>
                <a:ea typeface="Calibri" pitchFamily="34" charset="-122"/>
                <a:cs typeface="Calibri" pitchFamily="34" charset="-120"/>
              </a:rPr>
              <a:t>It covers corporations, LLCs, partnerships, TRUSTS AND FOUNDATIONS.</a:t>
            </a:r>
            <a:endParaRPr lang="en-US" sz="1000" dirty="0"/>
          </a:p>
        </p:txBody>
      </p:sp>
      <p:sp>
        <p:nvSpPr>
          <p:cNvPr id="9" name="Shape 7"/>
          <p:cNvSpPr/>
          <p:nvPr/>
        </p:nvSpPr>
        <p:spPr>
          <a:xfrm>
            <a:off x="4326026" y="2121408"/>
            <a:ext cx="3539642" cy="2212848"/>
          </a:xfrm>
          <a:prstGeom prst="roundRect">
            <a:avLst>
              <a:gd name="adj" fmla="val 2479"/>
            </a:avLst>
          </a:prstGeom>
          <a:solidFill>
            <a:srgbClr val="10474F"/>
          </a:solidFill>
          <a:ln w="12700">
            <a:solidFill>
              <a:srgbClr val="1C5C66"/>
            </a:solidFill>
            <a:prstDash val="solid"/>
          </a:ln>
        </p:spPr>
      </p:sp>
      <p:sp>
        <p:nvSpPr>
          <p:cNvPr id="10" name="Text 8"/>
          <p:cNvSpPr txBox="1"/>
          <p:nvPr/>
        </p:nvSpPr>
        <p:spPr>
          <a:xfrm>
            <a:off x="4545482" y="2304288"/>
            <a:ext cx="3100730" cy="274320"/>
          </a:xfrm>
          <a:prstGeom prst="rect">
            <a:avLst/>
          </a:prstGeom>
          <a:noFill/>
          <a:ln/>
        </p:spPr>
        <p:txBody>
          <a:bodyPr wrap="square" lIns="0" tIns="0" rIns="0" bIns="0" rtlCol="0" anchor="ctr"/>
          <a:lstStyle/>
          <a:p>
            <a:pPr indent="0" marL="0">
              <a:buNone/>
            </a:pPr>
            <a:r>
              <a:rPr lang="en-US" sz="1500" b="1" dirty="0">
                <a:solidFill>
                  <a:srgbClr val="F0D9A8"/>
                </a:solidFill>
                <a:latin typeface="Cambria" pitchFamily="34" charset="0"/>
                <a:ea typeface="Cambria" pitchFamily="34" charset="-122"/>
                <a:cs typeface="Cambria" pitchFamily="34" charset="-120"/>
              </a:rPr>
              <a:t>What it demands</a:t>
            </a:r>
            <a:endParaRPr lang="en-US" sz="1500" dirty="0"/>
          </a:p>
        </p:txBody>
      </p:sp>
      <p:sp>
        <p:nvSpPr>
          <p:cNvPr id="11" name="Text 9"/>
          <p:cNvSpPr txBox="1"/>
          <p:nvPr/>
        </p:nvSpPr>
        <p:spPr>
          <a:xfrm>
            <a:off x="4545482" y="2615184"/>
            <a:ext cx="3100730" cy="1627632"/>
          </a:xfrm>
          <a:prstGeom prst="rect">
            <a:avLst/>
          </a:prstGeom>
          <a:noFill/>
          <a:ln/>
        </p:spPr>
        <p:txBody>
          <a:bodyPr wrap="square" lIns="0" tIns="0" rIns="0" bIns="0" rtlCol="0" anchor="t"/>
          <a:lstStyle/>
          <a:p>
            <a:pPr indent="0" marL="0">
              <a:lnSpc>
                <a:spcPct val="114000"/>
              </a:lnSpc>
              <a:buNone/>
            </a:pPr>
            <a:r>
              <a:rPr lang="en-US" sz="1000" dirty="0">
                <a:solidFill>
                  <a:srgbClr val="BCD2D7"/>
                </a:solidFill>
                <a:latin typeface="Calibri" pitchFamily="34" charset="0"/>
                <a:ea typeface="Calibri" pitchFamily="34" charset="-122"/>
                <a:cs typeface="Calibri" pitchFamily="34" charset="-120"/>
              </a:rPr>
              <a:t>Executive Decree 32, reported 3 September 2026, sets the minimum bar:</a:t>
            </a:r>
            <a:endParaRPr lang="en-US" sz="1000" dirty="0"/>
          </a:p>
          <a:p>
            <a:pPr indent="0" marL="0">
              <a:lnSpc>
                <a:spcPct val="114000"/>
              </a:lnSpc>
              <a:buNone/>
            </a:pPr>
            <a:endParaRPr lang="en-US" sz="1000" dirty="0"/>
          </a:p>
          <a:p>
            <a:pPr indent="0" marL="0">
              <a:lnSpc>
                <a:spcPct val="114000"/>
              </a:lnSpc>
              <a:buNone/>
            </a:pPr>
            <a:r>
              <a:rPr lang="en-US" sz="1000" dirty="0">
                <a:solidFill>
                  <a:srgbClr val="BCD2D7"/>
                </a:solidFill>
                <a:latin typeface="Calibri" pitchFamily="34" charset="0"/>
                <a:ea typeface="Calibri" pitchFamily="34" charset="-122"/>
                <a:cs typeface="Calibri" pitchFamily="34" charset="-120"/>
              </a:rPr>
              <a:t>· at least one qualified employee in Panama</a:t>
            </a:r>
            <a:endParaRPr lang="en-US" sz="1000" dirty="0"/>
          </a:p>
          <a:p>
            <a:pPr indent="0" marL="0">
              <a:lnSpc>
                <a:spcPct val="114000"/>
              </a:lnSpc>
              <a:buNone/>
            </a:pPr>
            <a:r>
              <a:rPr lang="en-US" sz="1000" dirty="0">
                <a:solidFill>
                  <a:srgbClr val="BCD2D7"/>
                </a:solidFill>
                <a:latin typeface="Calibri" pitchFamily="34" charset="0"/>
                <a:ea typeface="Calibri" pitchFamily="34" charset="-122"/>
                <a:cs typeface="Calibri" pitchFamily="34" charset="-120"/>
              </a:rPr>
              <a:t>· physical or leased premises</a:t>
            </a:r>
            <a:endParaRPr lang="en-US" sz="1000" dirty="0"/>
          </a:p>
          <a:p>
            <a:pPr indent="0" marL="0">
              <a:lnSpc>
                <a:spcPct val="114000"/>
              </a:lnSpc>
              <a:buNone/>
            </a:pPr>
            <a:r>
              <a:rPr lang="en-US" sz="1000" dirty="0">
                <a:solidFill>
                  <a:srgbClr val="BCD2D7"/>
                </a:solidFill>
                <a:latin typeface="Calibri" pitchFamily="34" charset="0"/>
                <a:ea typeface="Calibri" pitchFamily="34" charset="-122"/>
                <a:cs typeface="Calibri" pitchFamily="34" charset="-120"/>
              </a:rPr>
              <a:t>· operating expenses proportionate to the activity</a:t>
            </a:r>
            <a:endParaRPr lang="en-US" sz="1000" dirty="0"/>
          </a:p>
          <a:p>
            <a:pPr indent="0" marL="0">
              <a:lnSpc>
                <a:spcPct val="114000"/>
              </a:lnSpc>
              <a:buNone/>
            </a:pPr>
            <a:r>
              <a:rPr lang="en-US" sz="1000" dirty="0">
                <a:solidFill>
                  <a:srgbClr val="BCD2D7"/>
                </a:solidFill>
                <a:latin typeface="Calibri" pitchFamily="34" charset="0"/>
                <a:ea typeface="Calibri" pitchFamily="34" charset="-122"/>
                <a:cs typeface="Calibri" pitchFamily="34" charset="-120"/>
              </a:rPr>
              <a:t>· at least two in-person board meetings a year, in Panama</a:t>
            </a:r>
            <a:endParaRPr lang="en-US" sz="1000" dirty="0"/>
          </a:p>
        </p:txBody>
      </p:sp>
      <p:sp>
        <p:nvSpPr>
          <p:cNvPr id="12" name="Shape 10"/>
          <p:cNvSpPr/>
          <p:nvPr/>
        </p:nvSpPr>
        <p:spPr>
          <a:xfrm>
            <a:off x="8085125" y="2121408"/>
            <a:ext cx="3539642" cy="2212848"/>
          </a:xfrm>
          <a:prstGeom prst="roundRect">
            <a:avLst>
              <a:gd name="adj" fmla="val 2479"/>
            </a:avLst>
          </a:prstGeom>
          <a:solidFill>
            <a:srgbClr val="10474F"/>
          </a:solidFill>
          <a:ln w="12700">
            <a:solidFill>
              <a:srgbClr val="1C5C66"/>
            </a:solidFill>
            <a:prstDash val="solid"/>
          </a:ln>
        </p:spPr>
      </p:sp>
      <p:sp>
        <p:nvSpPr>
          <p:cNvPr id="13" name="Text 11"/>
          <p:cNvSpPr txBox="1"/>
          <p:nvPr/>
        </p:nvSpPr>
        <p:spPr>
          <a:xfrm>
            <a:off x="8304581" y="2304288"/>
            <a:ext cx="3100730" cy="274320"/>
          </a:xfrm>
          <a:prstGeom prst="rect">
            <a:avLst/>
          </a:prstGeom>
          <a:noFill/>
          <a:ln/>
        </p:spPr>
        <p:txBody>
          <a:bodyPr wrap="square" lIns="0" tIns="0" rIns="0" bIns="0" rtlCol="0" anchor="ctr"/>
          <a:lstStyle/>
          <a:p>
            <a:pPr indent="0" marL="0">
              <a:buNone/>
            </a:pPr>
            <a:r>
              <a:rPr lang="en-US" sz="1500" b="1" dirty="0">
                <a:solidFill>
                  <a:srgbClr val="D99A2B"/>
                </a:solidFill>
                <a:latin typeface="Cambria" pitchFamily="34" charset="0"/>
                <a:ea typeface="Cambria" pitchFamily="34" charset="-122"/>
                <a:cs typeface="Cambria" pitchFamily="34" charset="-120"/>
              </a:rPr>
              <a:t>What it costs to fail</a:t>
            </a:r>
            <a:endParaRPr lang="en-US" sz="1500" dirty="0"/>
          </a:p>
        </p:txBody>
      </p:sp>
      <p:sp>
        <p:nvSpPr>
          <p:cNvPr id="14" name="Text 12"/>
          <p:cNvSpPr txBox="1"/>
          <p:nvPr/>
        </p:nvSpPr>
        <p:spPr>
          <a:xfrm>
            <a:off x="8304581" y="2615184"/>
            <a:ext cx="3100730" cy="1627632"/>
          </a:xfrm>
          <a:prstGeom prst="rect">
            <a:avLst/>
          </a:prstGeom>
          <a:noFill/>
          <a:ln/>
        </p:spPr>
        <p:txBody>
          <a:bodyPr wrap="square" lIns="0" tIns="0" rIns="0" bIns="0" rtlCol="0" anchor="t"/>
          <a:lstStyle/>
          <a:p>
            <a:pPr indent="0" marL="0">
              <a:lnSpc>
                <a:spcPct val="114000"/>
              </a:lnSpc>
              <a:buNone/>
            </a:pPr>
            <a:r>
              <a:rPr lang="en-US" sz="1000" dirty="0">
                <a:solidFill>
                  <a:srgbClr val="BCD2D7"/>
                </a:solidFill>
                <a:latin typeface="Calibri" pitchFamily="34" charset="0"/>
                <a:ea typeface="Calibri" pitchFamily="34" charset="-122"/>
                <a:cs typeface="Calibri" pitchFamily="34" charset="-120"/>
              </a:rPr>
              <a:t>A flat 15% on net foreign-source passive income, final.</a:t>
            </a:r>
            <a:endParaRPr lang="en-US" sz="1000" dirty="0"/>
          </a:p>
          <a:p>
            <a:pPr indent="0" marL="0">
              <a:lnSpc>
                <a:spcPct val="114000"/>
              </a:lnSpc>
              <a:buNone/>
            </a:pPr>
            <a:endParaRPr lang="en-US" sz="1000" dirty="0"/>
          </a:p>
          <a:p>
            <a:pPr indent="0" marL="0">
              <a:lnSpc>
                <a:spcPct val="114000"/>
              </a:lnSpc>
              <a:buNone/>
            </a:pPr>
            <a:r>
              <a:rPr lang="en-US" sz="1000" dirty="0">
                <a:solidFill>
                  <a:srgbClr val="BCD2D7"/>
                </a:solidFill>
                <a:latin typeface="Calibri" pitchFamily="34" charset="0"/>
                <a:ea typeface="Calibri" pitchFamily="34" charset="-122"/>
                <a:cs typeface="Calibri" pitchFamily="34" charset="-120"/>
              </a:rPr>
              <a:t>Holding companies and non-habitual real-estate entities get a simplified regime — forfeited the moment they take on substantive commercial or investment activity. Licensed banks, insurers, securities firms, investment managers and maritime operators are carved out.</a:t>
            </a:r>
            <a:endParaRPr lang="en-US" sz="1000" dirty="0"/>
          </a:p>
        </p:txBody>
      </p:sp>
      <p:sp>
        <p:nvSpPr>
          <p:cNvPr id="15" name="Shape 13"/>
          <p:cNvSpPr/>
          <p:nvPr/>
        </p:nvSpPr>
        <p:spPr>
          <a:xfrm>
            <a:off x="566928" y="4590288"/>
            <a:ext cx="11057839" cy="1463040"/>
          </a:xfrm>
          <a:prstGeom prst="roundRect">
            <a:avLst>
              <a:gd name="adj" fmla="val 3750"/>
            </a:avLst>
          </a:prstGeom>
          <a:solidFill>
            <a:srgbClr val="D99A2B"/>
          </a:solidFill>
          <a:ln w="6350">
            <a:solidFill>
              <a:srgbClr val="D99A2B"/>
            </a:solidFill>
            <a:prstDash val="solid"/>
          </a:ln>
        </p:spPr>
      </p:sp>
      <p:sp>
        <p:nvSpPr>
          <p:cNvPr id="16" name="Text 14"/>
          <p:cNvSpPr txBox="1"/>
          <p:nvPr/>
        </p:nvSpPr>
        <p:spPr>
          <a:xfrm>
            <a:off x="804672" y="4736592"/>
            <a:ext cx="10582351" cy="201168"/>
          </a:xfrm>
          <a:prstGeom prst="rect">
            <a:avLst/>
          </a:prstGeom>
          <a:noFill/>
          <a:ln/>
        </p:spPr>
        <p:txBody>
          <a:bodyPr wrap="square" lIns="0" tIns="0" rIns="0" bIns="0" rtlCol="0" anchor="ctr"/>
          <a:lstStyle/>
          <a:p>
            <a:pPr indent="0" marL="0">
              <a:buNone/>
            </a:pPr>
            <a:r>
              <a:rPr lang="en-US" sz="900" b="1" spc="140" kern="0" dirty="0">
                <a:solidFill>
                  <a:srgbClr val="5A4210"/>
                </a:solidFill>
                <a:latin typeface="Calibri" pitchFamily="34" charset="0"/>
                <a:ea typeface="Calibri" pitchFamily="34" charset="-122"/>
                <a:cs typeface="Calibri" pitchFamily="34" charset="-120"/>
              </a:rPr>
              <a:t>WHAT TO DO WITH IT</a:t>
            </a:r>
            <a:endParaRPr lang="en-US" sz="900" dirty="0"/>
          </a:p>
        </p:txBody>
      </p:sp>
      <p:sp>
        <p:nvSpPr>
          <p:cNvPr id="17" name="Text 15"/>
          <p:cNvSpPr txBox="1"/>
          <p:nvPr/>
        </p:nvSpPr>
        <p:spPr>
          <a:xfrm>
            <a:off x="804672" y="4956048"/>
            <a:ext cx="10582351" cy="932688"/>
          </a:xfrm>
          <a:prstGeom prst="rect">
            <a:avLst/>
          </a:prstGeom>
          <a:noFill/>
          <a:ln/>
        </p:spPr>
        <p:txBody>
          <a:bodyPr wrap="square" lIns="0" tIns="0" rIns="0" bIns="0" rtlCol="0" anchor="t"/>
          <a:lstStyle/>
          <a:p>
            <a:pPr indent="0" marL="0">
              <a:lnSpc>
                <a:spcPct val="115000"/>
              </a:lnSpc>
              <a:buNone/>
            </a:pPr>
            <a:r>
              <a:rPr lang="en-US" sz="1200" dirty="0">
                <a:solidFill>
                  <a:srgbClr val="2A1D05"/>
                </a:solidFill>
                <a:latin typeface="Calibri" pitchFamily="34" charset="0"/>
                <a:ea typeface="Calibri" pitchFamily="34" charset="-122"/>
                <a:cs typeface="Calibri" pitchFamily="34" charset="-120"/>
              </a:rPr>
              <a:t>This is a book-wide triage, not a client-by-client one. Every Panamanian holding company, trust or foundation in the book that receives foreign dividends, interest, royalties or rent needs to be looked at before FY2027 — and the default outcome for a passive shell is 15% where there was previously nothing. It is a dated, technical, defensible reason to reopen every existing Panamanian file, and to be the adviser who called it first. Panama's stated objective is to exit the EU list of non-cooperative jurisdictions, on which it currently sits in Annex I.</a:t>
            </a:r>
            <a:endParaRPr lang="en-US" sz="1200" dirty="0"/>
          </a:p>
        </p:txBody>
      </p:sp>
      <p:sp>
        <p:nvSpPr>
          <p:cNvPr id="18" name="Text 16"/>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E8B92"/>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19" name="Text 17"/>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E8B92"/>
                </a:solidFill>
                <a:latin typeface="Calibri" pitchFamily="34" charset="0"/>
                <a:ea typeface="Calibri" pitchFamily="34" charset="-122"/>
                <a:cs typeface="Calibri" pitchFamily="34" charset="-120"/>
              </a:rPr>
              <a:t>15</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(B) · INCENTIVE REGIMES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What each government pays you to do</a:t>
            </a:r>
            <a:endParaRPr lang="en-US" sz="300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325880"/>
                <a:gridCol w="2788920"/>
                <a:gridCol w="4892040"/>
                <a:gridCol w="2048256"/>
              </a:tblGrid>
              <a:tr h="359664">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Market</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Regime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What it gives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Threshold / scale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548640">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Panama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SEM - Multinational HQ (Law 41/2007)</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5% CIT on qualifying income; services abroad exempt from CIT and ITBMS; 2.5% remittance tax; 5-yr renewable visas; PR after 5 yrs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Parent group capital &gt;= USD 200m</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59664">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Panama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EMMA - Manufacturing services (Law 159/2020)</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Parallel tax/labour/immigration package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59664">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Panama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Panama Pacifico SEZ (Law 41/2004)</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1,400 ha; 345+ companies incl. 8 Fortune 500 (3M, Dell, BASF, Caterpillar)</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737616">
                <a:tc>
                  <a:txBody>
                    <a:bodyPr/>
                    <a:lstStyle/>
                    <a:p>
                      <a:pPr indent="0" marL="0">
                        <a:buNone/>
                      </a:pPr>
                      <a:r>
                        <a:rPr lang="en-US" sz="900" b="1" dirty="0">
                          <a:solidFill>
                            <a:srgbClr val="156A7A"/>
                          </a:solidFill>
                          <a:latin typeface="Calibri" pitchFamily="34" charset="0"/>
                          <a:ea typeface="Calibri" pitchFamily="34" charset="-122"/>
                          <a:cs typeface="Calibri" pitchFamily="34" charset="-120"/>
                        </a:rPr>
                        <a:t>Costa Rica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Régimen de Zona Franca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Services &amp; non-mfg: 0% CIT yrs 1-8, 15% yrs 9-12. Mfg outside GAM: 0% yrs 1-6. Megaproject outside GAM: 0% yrs 1-12. Plus VAT, duty, property-transfer and remittance-tax relief</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Min investment USD 100k-250k outside GAM; USD 10m megaproject; 100 staff for mfg megaproject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59664">
                <a:tc>
                  <a:txBody>
                    <a:bodyPr/>
                    <a:lstStyle/>
                    <a:p>
                      <a:pPr indent="0" marL="0">
                        <a:buNone/>
                      </a:pPr>
                      <a:r>
                        <a:rPr lang="en-US" sz="900" b="1" dirty="0">
                          <a:solidFill>
                            <a:srgbClr val="2C6470"/>
                          </a:solidFill>
                          <a:latin typeface="Calibri" pitchFamily="34" charset="0"/>
                          <a:ea typeface="Calibri" pitchFamily="34" charset="-122"/>
                          <a:cs typeface="Calibri" pitchFamily="34" charset="-120"/>
                        </a:rPr>
                        <a:t>Guatemala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Zonas Francas / Ley de Simplificacion</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Duty and income-tax relief on qualifying export activity</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737616">
                <a:tc>
                  <a:txBody>
                    <a:bodyPr/>
                    <a:lstStyle/>
                    <a:p>
                      <a:pPr indent="0" marL="0">
                        <a:buNone/>
                      </a:pPr>
                      <a:r>
                        <a:rPr lang="en-US" sz="900" b="1" dirty="0">
                          <a:solidFill>
                            <a:srgbClr val="8A5F12"/>
                          </a:solidFill>
                          <a:latin typeface="Calibri" pitchFamily="34" charset="0"/>
                          <a:ea typeface="Calibri" pitchFamily="34" charset="-122"/>
                          <a:cs typeface="Calibri" pitchFamily="34" charset="-120"/>
                        </a:rPr>
                        <a:t>Colombia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Zonas Francas (Art. 240-1 ET)</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20% CIT, but post-13-Dec-2022 users only qualify with an approved internationalisation/export plan (Decreto 047/2024). Pre-2022 users exempt from the export test per C-384/2023</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119 active zones, 20 departments, COP 54.8tn invested, 169,000+ formal jobs (ProColombia, Jan-2026)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59664">
                <a:tc>
                  <a:txBody>
                    <a:bodyPr/>
                    <a:lstStyle/>
                    <a:p>
                      <a:pPr indent="0" marL="0">
                        <a:buNone/>
                      </a:pPr>
                      <a:r>
                        <a:rPr lang="en-US" sz="900" b="1" dirty="0">
                          <a:solidFill>
                            <a:srgbClr val="8A5F12"/>
                          </a:solidFill>
                          <a:latin typeface="Calibri" pitchFamily="34" charset="0"/>
                          <a:ea typeface="Calibri" pitchFamily="34" charset="-122"/>
                          <a:cs typeface="Calibri" pitchFamily="34" charset="-120"/>
                        </a:rPr>
                        <a:t>Colombia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Renewables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15-year CIT exemption on wind, biomass and agricultural-waste electricity</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Running since 2017</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48640">
                <a:tc>
                  <a:txBody>
                    <a:bodyPr/>
                    <a:lstStyle/>
                    <a:p>
                      <a:pPr indent="0" marL="0">
                        <a:buNone/>
                      </a:pPr>
                      <a:r>
                        <a:rPr lang="en-US" sz="900" b="1" dirty="0">
                          <a:solidFill>
                            <a:srgbClr val="8A5F12"/>
                          </a:solidFill>
                          <a:latin typeface="Calibri" pitchFamily="34" charset="0"/>
                          <a:ea typeface="Calibri" pitchFamily="34" charset="-122"/>
                          <a:cs typeface="Calibri" pitchFamily="34" charset="-120"/>
                        </a:rPr>
                        <a:t>Colombia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Obras por impuestos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Discharge tax liability by building public infrastructure in conflict-affected zones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PROCOMER; ProColombia; PwC; Consortium Legal, Incentivos fiscales en Centroamérica 2026.</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16</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(B) · INCENTIVE REGIMES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What each government pays you to do (continued)</a:t>
            </a:r>
            <a:endParaRPr lang="en-US" sz="30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325880"/>
                <a:gridCol w="2788920"/>
                <a:gridCol w="4892040"/>
                <a:gridCol w="2048256"/>
              </a:tblGrid>
              <a:tr h="31913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Market</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Regime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What it gives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Threshold / scale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486821">
                <a:tc>
                  <a:txBody>
                    <a:bodyPr/>
                    <a:lstStyle/>
                    <a:p>
                      <a:pPr indent="0" marL="0">
                        <a:buNone/>
                      </a:pPr>
                      <a:r>
                        <a:rPr lang="en-US" sz="900" b="1" dirty="0">
                          <a:solidFill>
                            <a:srgbClr val="2E6F6B"/>
                          </a:solidFill>
                          <a:latin typeface="Calibri" pitchFamily="34" charset="0"/>
                          <a:ea typeface="Calibri" pitchFamily="34" charset="-122"/>
                          <a:cs typeface="Calibri" pitchFamily="34" charset="-120"/>
                        </a:rPr>
                        <a:t>Dominican Rep.</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Law 8-90 free zones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~70% of Dominican export revenue; &gt;USD 6bn/yr to the US; medical devices, apparel, cigars, electronics. 3.5% tax on local-market sales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Survived Ley 30-26 untouched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86821">
                <a:tc>
                  <a:txBody>
                    <a:bodyPr/>
                    <a:lstStyle/>
                    <a:p>
                      <a:pPr indent="0" marL="0">
                        <a:buNone/>
                      </a:pPr>
                      <a:r>
                        <a:rPr lang="en-US" sz="900" b="1" dirty="0">
                          <a:solidFill>
                            <a:srgbClr val="2E6F6B"/>
                          </a:solidFill>
                          <a:latin typeface="Calibri" pitchFamily="34" charset="0"/>
                          <a:ea typeface="Calibri" pitchFamily="34" charset="-122"/>
                          <a:cs typeface="Calibri" pitchFamily="34" charset="-120"/>
                        </a:rPr>
                        <a:t>Dominican Rep.</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Law 158-01 CONFOTUR</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Full income-tax exemption up to 15 yrs; ITBIS exemption on construction; duty waiver; 3% transfer-tax exemption to the unit buyer</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Highest-conversion product in the pack for Caribbean wealth clients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19138">
                <a:tc>
                  <a:txBody>
                    <a:bodyPr/>
                    <a:lstStyle/>
                    <a:p>
                      <a:pPr indent="0" marL="0">
                        <a:buNone/>
                      </a:pPr>
                      <a:r>
                        <a:rPr lang="en-US" sz="900" b="1" dirty="0">
                          <a:solidFill>
                            <a:srgbClr val="2E6F6B"/>
                          </a:solidFill>
                          <a:latin typeface="Calibri" pitchFamily="34" charset="0"/>
                          <a:ea typeface="Calibri" pitchFamily="34" charset="-122"/>
                          <a:cs typeface="Calibri" pitchFamily="34" charset="-120"/>
                        </a:rPr>
                        <a:t>Dominican Rep.</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Law 28-01 border development</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100% CIT and VAT exemption in the Dominican-Haitian border zone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54504">
                <a:tc>
                  <a:txBody>
                    <a:bodyPr/>
                    <a:lstStyle/>
                    <a:p>
                      <a:pPr indent="0" marL="0">
                        <a:buNone/>
                      </a:pPr>
                      <a:r>
                        <a:rPr lang="en-US" sz="900" b="1" dirty="0">
                          <a:solidFill>
                            <a:srgbClr val="7A5C3E"/>
                          </a:solidFill>
                          <a:latin typeface="Calibri" pitchFamily="34" charset="0"/>
                          <a:ea typeface="Calibri" pitchFamily="34" charset="-122"/>
                          <a:cs typeface="Calibri" pitchFamily="34" charset="-120"/>
                        </a:rPr>
                        <a:t>El Salvador</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Ley de Fomento a la Innovación y Manufactura de Tecnologías (Jun-2023)</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15-year total income-tax exemption on the benefited activity, municipal net-asset tax, capital-gains exemption and full import-tariff relief. Software, cloud, AI, semiconductors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Benefits extend to the company's partners and shareholders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86821">
                <a:tc>
                  <a:txBody>
                    <a:bodyPr/>
                    <a:lstStyle/>
                    <a:p>
                      <a:pPr indent="0" marL="0">
                        <a:buNone/>
                      </a:pPr>
                      <a:r>
                        <a:rPr lang="en-US" sz="900" b="1" dirty="0">
                          <a:solidFill>
                            <a:srgbClr val="7A5C3E"/>
                          </a:solidFill>
                          <a:latin typeface="Calibri" pitchFamily="34" charset="0"/>
                          <a:ea typeface="Calibri" pitchFamily="34" charset="-122"/>
                          <a:cs typeface="Calibri" pitchFamily="34" charset="-120"/>
                        </a:rPr>
                        <a:t>El Salvador</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Free Zone Law (D.405) / International Services Law (D.431)</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CIT, VAT, municipal and duty relief for the life of the operation</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19138">
                <a:tc>
                  <a:txBody>
                    <a:bodyPr/>
                    <a:lstStyle/>
                    <a:p>
                      <a:pPr indent="0" marL="0">
                        <a:buNone/>
                      </a:pPr>
                      <a:r>
                        <a:rPr lang="en-US" sz="900" b="1" dirty="0">
                          <a:solidFill>
                            <a:srgbClr val="3E5C7A"/>
                          </a:solidFill>
                          <a:latin typeface="Calibri" pitchFamily="34" charset="0"/>
                          <a:ea typeface="Calibri" pitchFamily="34" charset="-122"/>
                          <a:cs typeface="Calibri" pitchFamily="34" charset="-120"/>
                        </a:rPr>
                        <a:t>Guyana</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Investment framework + Local Content Act</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900" dirty="0">
                          <a:solidFill>
                            <a:srgbClr val="0B3B45"/>
                          </a:solidFill>
                          <a:latin typeface="Calibri" pitchFamily="34" charset="0"/>
                          <a:ea typeface="Calibri" pitchFamily="34" charset="-122"/>
                          <a:cs typeface="Calibri" pitchFamily="34" charset="-120"/>
                        </a:rPr>
                        <a:t>Sector incentives; local-content requirements on the oil supply chain</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i="1" dirty="0">
                          <a:solidFill>
                            <a:srgbClr val="0B3B45"/>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PROCOMER; ProColombia; PwC; Consortium Legal, Incentivos fiscales en Centroamérica 2026.</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17</a:t>
            </a:r>
            <a:endParaRPr lang="en-US" sz="800" dirty="0"/>
          </a:p>
        </p:txBody>
      </p:sp>
      <p:sp>
        <p:nvSpPr>
          <p:cNvPr id="8" name="Shape 5"/>
          <p:cNvSpPr/>
          <p:nvPr/>
        </p:nvSpPr>
        <p:spPr>
          <a:xfrm>
            <a:off x="566928" y="4700016"/>
            <a:ext cx="5358384" cy="1060704"/>
          </a:xfrm>
          <a:prstGeom prst="roundRect">
            <a:avLst>
              <a:gd name="adj" fmla="val 5172"/>
            </a:avLst>
          </a:prstGeom>
          <a:solidFill>
            <a:srgbClr val="EDF1F2"/>
          </a:solidFill>
          <a:ln w="6350">
            <a:solidFill>
              <a:srgbClr val="EDF1F2"/>
            </a:solidFill>
            <a:prstDash val="solid"/>
          </a:ln>
        </p:spPr>
      </p:sp>
      <p:sp>
        <p:nvSpPr>
          <p:cNvPr id="9" name="Text 6"/>
          <p:cNvSpPr txBox="1"/>
          <p:nvPr/>
        </p:nvSpPr>
        <p:spPr>
          <a:xfrm>
            <a:off x="804672" y="4846320"/>
            <a:ext cx="4882896" cy="201168"/>
          </a:xfrm>
          <a:prstGeom prst="rect">
            <a:avLst/>
          </a:prstGeom>
          <a:noFill/>
          <a:ln/>
        </p:spPr>
        <p:txBody>
          <a:bodyPr wrap="square" lIns="0" tIns="0" rIns="0" bIns="0" rtlCol="0" anchor="ctr"/>
          <a:lstStyle/>
          <a:p>
            <a:pPr indent="0" marL="0">
              <a:buNone/>
            </a:pPr>
            <a:r>
              <a:rPr lang="en-US" sz="900" b="1" spc="140" kern="0" dirty="0">
                <a:solidFill>
                  <a:srgbClr val="156A7A"/>
                </a:solidFill>
                <a:latin typeface="Calibri" pitchFamily="34" charset="0"/>
                <a:ea typeface="Calibri" pitchFamily="34" charset="-122"/>
                <a:cs typeface="Calibri" pitchFamily="34" charset="-120"/>
              </a:rPr>
              <a:t>THE ONE TO REMEMBER</a:t>
            </a:r>
            <a:endParaRPr lang="en-US" sz="900" dirty="0"/>
          </a:p>
        </p:txBody>
      </p:sp>
      <p:sp>
        <p:nvSpPr>
          <p:cNvPr id="10" name="Text 7"/>
          <p:cNvSpPr txBox="1"/>
          <p:nvPr/>
        </p:nvSpPr>
        <p:spPr>
          <a:xfrm>
            <a:off x="804672" y="5065776"/>
            <a:ext cx="4882896" cy="530352"/>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El Salvador's innovation law gives fifteen years of total income-tax exemption including capital gains — and the benefits extend to the company's partners and shareholders. That is unusual, and directly relevant to a private bank.</a:t>
            </a:r>
            <a:endParaRPr lang="en-US" sz="1050" dirty="0"/>
          </a:p>
        </p:txBody>
      </p:sp>
      <p:sp>
        <p:nvSpPr>
          <p:cNvPr id="11" name="Shape 8"/>
          <p:cNvSpPr/>
          <p:nvPr/>
        </p:nvSpPr>
        <p:spPr>
          <a:xfrm>
            <a:off x="6272784" y="4700016"/>
            <a:ext cx="5358384" cy="1060704"/>
          </a:xfrm>
          <a:prstGeom prst="roundRect">
            <a:avLst>
              <a:gd name="adj" fmla="val 5172"/>
            </a:avLst>
          </a:prstGeom>
          <a:solidFill>
            <a:srgbClr val="FBF3E3"/>
          </a:solidFill>
          <a:ln w="6350">
            <a:solidFill>
              <a:srgbClr val="FBF3E3"/>
            </a:solidFill>
            <a:prstDash val="solid"/>
          </a:ln>
        </p:spPr>
      </p:sp>
      <p:sp>
        <p:nvSpPr>
          <p:cNvPr id="12" name="Text 9"/>
          <p:cNvSpPr txBox="1"/>
          <p:nvPr/>
        </p:nvSpPr>
        <p:spPr>
          <a:xfrm>
            <a:off x="6510528" y="4846320"/>
            <a:ext cx="4882896" cy="201168"/>
          </a:xfrm>
          <a:prstGeom prst="rect">
            <a:avLst/>
          </a:prstGeom>
          <a:noFill/>
          <a:ln/>
        </p:spPr>
        <p:txBody>
          <a:bodyPr wrap="square" lIns="0" tIns="0" rIns="0" bIns="0" rtlCol="0" anchor="ctr"/>
          <a:lstStyle/>
          <a:p>
            <a:pPr indent="0" marL="0">
              <a:buNone/>
            </a:pPr>
            <a:r>
              <a:rPr lang="en-US" sz="900" b="1" spc="140" kern="0" dirty="0">
                <a:solidFill>
                  <a:srgbClr val="D99A2B"/>
                </a:solidFill>
                <a:latin typeface="Calibri" pitchFamily="34" charset="0"/>
                <a:ea typeface="Calibri" pitchFamily="34" charset="-122"/>
                <a:cs typeface="Calibri" pitchFamily="34" charset="-120"/>
              </a:rPr>
              <a:t>THE ONE THAT CONVERTS</a:t>
            </a:r>
            <a:endParaRPr lang="en-US" sz="900" dirty="0"/>
          </a:p>
        </p:txBody>
      </p:sp>
      <p:sp>
        <p:nvSpPr>
          <p:cNvPr id="13" name="Text 10"/>
          <p:cNvSpPr txBox="1"/>
          <p:nvPr/>
        </p:nvSpPr>
        <p:spPr>
          <a:xfrm>
            <a:off x="6510528" y="5065776"/>
            <a:ext cx="4882896" cy="530352"/>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The Dominican CONFOTUR regime gives up to fifteen years of income-tax exemption plus a 3% transfer-tax exemption that flows through to the individual buyer of a unit. It survived the June 2026 tax reform untouched.</a:t>
            </a:r>
            <a:endParaRPr lang="en-US" sz="10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(B) · AND THE MOST TIME-CRITICAL FACT IN THE PACK</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Residency by investment</a:t>
            </a:r>
            <a:endParaRPr lang="en-US" sz="3000" dirty="0"/>
          </a:p>
        </p:txBody>
      </p:sp>
      <p:sp>
        <p:nvSpPr>
          <p:cNvPr id="4" name="Shape 2"/>
          <p:cNvSpPr/>
          <p:nvPr/>
        </p:nvSpPr>
        <p:spPr>
          <a:xfrm>
            <a:off x="566928" y="1371600"/>
            <a:ext cx="11057839" cy="1097280"/>
          </a:xfrm>
          <a:prstGeom prst="roundRect">
            <a:avLst>
              <a:gd name="adj" fmla="val 5000"/>
            </a:avLst>
          </a:prstGeom>
          <a:solidFill>
            <a:srgbClr val="F6E4E3"/>
          </a:solidFill>
          <a:ln w="6350">
            <a:solidFill>
              <a:srgbClr val="F6E4E3"/>
            </a:solidFill>
            <a:prstDash val="solid"/>
          </a:ln>
        </p:spPr>
      </p:sp>
      <p:sp>
        <p:nvSpPr>
          <p:cNvPr id="5" name="Text 3"/>
          <p:cNvSpPr txBox="1"/>
          <p:nvPr/>
        </p:nvSpPr>
        <p:spPr>
          <a:xfrm>
            <a:off x="841248" y="1517904"/>
            <a:ext cx="2926080" cy="475488"/>
          </a:xfrm>
          <a:prstGeom prst="rect">
            <a:avLst/>
          </a:prstGeom>
          <a:noFill/>
          <a:ln/>
        </p:spPr>
        <p:txBody>
          <a:bodyPr wrap="square" lIns="0" tIns="0" rIns="0" bIns="0" rtlCol="0" anchor="ctr"/>
          <a:lstStyle/>
          <a:p>
            <a:pPr indent="0" marL="0">
              <a:buNone/>
            </a:pPr>
            <a:r>
              <a:rPr lang="en-US" sz="2700" b="1" dirty="0">
                <a:solidFill>
                  <a:srgbClr val="A8322D"/>
                </a:solidFill>
                <a:latin typeface="Cambria" pitchFamily="34" charset="0"/>
                <a:ea typeface="Cambria" pitchFamily="34" charset="-122"/>
                <a:cs typeface="Cambria" pitchFamily="34" charset="-120"/>
              </a:rPr>
              <a:t>15 OCTOBER 2026</a:t>
            </a:r>
            <a:endParaRPr lang="en-US" sz="2700" dirty="0"/>
          </a:p>
        </p:txBody>
      </p:sp>
      <p:sp>
        <p:nvSpPr>
          <p:cNvPr id="6" name="Text 4"/>
          <p:cNvSpPr txBox="1"/>
          <p:nvPr/>
        </p:nvSpPr>
        <p:spPr>
          <a:xfrm>
            <a:off x="3913632" y="1463040"/>
            <a:ext cx="7498080" cy="914400"/>
          </a:xfrm>
          <a:prstGeom prst="rect">
            <a:avLst/>
          </a:prstGeom>
          <a:noFill/>
          <a:ln/>
        </p:spPr>
        <p:txBody>
          <a:bodyPr wrap="square" lIns="0" tIns="0" rIns="0" bIns="0" rtlCol="0" anchor="ctr"/>
          <a:lstStyle/>
          <a:p>
            <a:pPr indent="0" marL="0">
              <a:lnSpc>
                <a:spcPct val="114000"/>
              </a:lnSpc>
              <a:buNone/>
            </a:pPr>
            <a:r>
              <a:rPr lang="en-US" sz="1150" dirty="0">
                <a:solidFill>
                  <a:srgbClr val="4A2220"/>
                </a:solidFill>
                <a:latin typeface="Calibri" pitchFamily="34" charset="0"/>
                <a:ea typeface="Calibri" pitchFamily="34" charset="-122"/>
                <a:cs typeface="Calibri" pitchFamily="34" charset="-120"/>
              </a:rPr>
              <a:t>Panama's Qualified Investor Visa real-estate threshold rises permanently from $300,000 to $500,000 after that date. As at the date of this pack that is a six-week window, and it works equally for Central American, Colombian and Venezuelan prospects. Note that Panamanian permanent residence does not by itself create Panamanian tax residency — Panama is territorial.</a:t>
            </a:r>
            <a:endParaRPr lang="en-US" sz="115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66928" y="2651760"/>
          <a:ext cx="11057839" cy="914400"/>
        </p:xfrm>
        <a:graphic>
          <a:graphicData uri="http://schemas.openxmlformats.org/drawingml/2006/table">
            <a:tbl>
              <a:tblPr/>
              <a:tblGrid>
                <a:gridCol w="1325880"/>
                <a:gridCol w="2103120"/>
                <a:gridCol w="2834640"/>
                <a:gridCol w="2468880"/>
                <a:gridCol w="2322576"/>
              </a:tblGrid>
              <a:tr h="30211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Market</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Programme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Threshold</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What it grants</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Note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390307">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Panama</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Qualified Investor Visa</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Real estate USD 300,000 / securities USD 500,000 / deposit USD 750,000</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Immediate permanent residence; naturalisation after 5 yrs</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i="1" dirty="0">
                          <a:solidFill>
                            <a:srgbClr val="A8322D"/>
                          </a:solidFill>
                          <a:latin typeface="Calibri" pitchFamily="34" charset="0"/>
                          <a:ea typeface="Calibri" pitchFamily="34" charset="-122"/>
                          <a:cs typeface="Calibri" pitchFamily="34" charset="-120"/>
                        </a:rPr>
                        <a:t>REAL-ESTATE THRESHOLD RISES TO USD 500,000 AFTER 15 OCTOBER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90307">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Panama</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Friendly Nations Visa</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Real estate USD 200,000 / 3-yr deposit USD 200,000 / local employment</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2 yrs provisional then permanent</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i="1" dirty="0">
                          <a:solidFill>
                            <a:srgbClr val="6B7B80"/>
                          </a:solidFill>
                          <a:latin typeface="Calibri" pitchFamily="34" charset="0"/>
                          <a:ea typeface="Calibri" pitchFamily="34" charset="-122"/>
                          <a:cs typeface="Calibri" pitchFamily="34" charset="-120"/>
                        </a:rPr>
                        <a:t>50+ eligible nationalities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90307">
                <a:tc>
                  <a:txBody>
                    <a:bodyPr/>
                    <a:lstStyle/>
                    <a:p>
                      <a:pPr indent="0" marL="0">
                        <a:buNone/>
                      </a:pPr>
                      <a:r>
                        <a:rPr lang="en-US" sz="700" b="1" dirty="0">
                          <a:solidFill>
                            <a:srgbClr val="156A7A"/>
                          </a:solidFill>
                          <a:latin typeface="Calibri" pitchFamily="34" charset="0"/>
                          <a:ea typeface="Calibri" pitchFamily="34" charset="-122"/>
                          <a:cs typeface="Calibri" pitchFamily="34" charset="-120"/>
                        </a:rPr>
                        <a:t>Costa Rica</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Investor residency</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USD 150,000 (cut from 200,000)</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Permanent residency pathway then citizenship</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i="1" dirty="0">
                          <a:solidFill>
                            <a:srgbClr val="6B7B80"/>
                          </a:solidFill>
                          <a:latin typeface="Calibri" pitchFamily="34" charset="0"/>
                          <a:ea typeface="Calibri" pitchFamily="34" charset="-122"/>
                          <a:cs typeface="Calibri" pitchFamily="34" charset="-120"/>
                        </a:rPr>
                        <a:t>7 qualifying categories incl. SUGEVAL-registered securities and VC funds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90307">
                <a:tc>
                  <a:txBody>
                    <a:bodyPr/>
                    <a:lstStyle/>
                    <a:p>
                      <a:pPr indent="0" marL="0">
                        <a:buNone/>
                      </a:pPr>
                      <a:r>
                        <a:rPr lang="en-US" sz="700" b="1" dirty="0">
                          <a:solidFill>
                            <a:srgbClr val="2E6F6B"/>
                          </a:solidFill>
                          <a:latin typeface="Calibri" pitchFamily="34" charset="0"/>
                          <a:ea typeface="Calibri" pitchFamily="34" charset="-122"/>
                          <a:cs typeface="Calibri" pitchFamily="34" charset="-120"/>
                        </a:rPr>
                        <a:t>Dominican Rep.</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CONFOTUR (project-level, not a visa)</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Purchase inside an approved tourism project</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Up to 15 yrs income-tax exemption; 3% transfer-tax exemption flows to the individual buyer</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i="1" dirty="0">
                          <a:solidFill>
                            <a:srgbClr val="6B7B80"/>
                          </a:solidFill>
                          <a:latin typeface="Calibri" pitchFamily="34" charset="0"/>
                          <a:ea typeface="Calibri" pitchFamily="34" charset="-122"/>
                          <a:cs typeface="Calibri" pitchFamily="34" charset="-120"/>
                        </a:rPr>
                        <a:t>Punta Cana, Samana, Miches, Puerto Plata, Pedernales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90307">
                <a:tc>
                  <a:txBody>
                    <a:bodyPr/>
                    <a:lstStyle/>
                    <a:p>
                      <a:pPr indent="0" marL="0">
                        <a:buNone/>
                      </a:pPr>
                      <a:r>
                        <a:rPr lang="en-US" sz="700" b="1" dirty="0">
                          <a:solidFill>
                            <a:srgbClr val="7A5C3E"/>
                          </a:solidFill>
                          <a:latin typeface="Calibri" pitchFamily="34" charset="0"/>
                          <a:ea typeface="Calibri" pitchFamily="34" charset="-122"/>
                          <a:cs typeface="Calibri" pitchFamily="34" charset="-120"/>
                        </a:rPr>
                        <a:t>El Salvador</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Freedom / investor visa</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Thresholds NOT VERIFIED - confirm before use</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i="1" dirty="0">
                          <a:solidFill>
                            <a:srgbClr val="6B7B80"/>
                          </a:solidFill>
                          <a:latin typeface="Calibri" pitchFamily="34" charset="0"/>
                          <a:ea typeface="Calibri" pitchFamily="34" charset="-122"/>
                          <a:cs typeface="Calibri" pitchFamily="34" charset="-120"/>
                        </a:rPr>
                        <a:t>Ley de Fomento benefits extend to shareholders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274320">
                <a:tc>
                  <a:txBody>
                    <a:bodyPr/>
                    <a:lstStyle/>
                    <a:p>
                      <a:pPr indent="0" marL="0">
                        <a:buNone/>
                      </a:pPr>
                      <a:r>
                        <a:rPr lang="en-US" sz="700" b="1" dirty="0">
                          <a:solidFill>
                            <a:srgbClr val="8A5F12"/>
                          </a:solidFill>
                          <a:latin typeface="Calibri" pitchFamily="34" charset="0"/>
                          <a:ea typeface="Calibri" pitchFamily="34" charset="-122"/>
                          <a:cs typeface="Calibri" pitchFamily="34" charset="-120"/>
                        </a:rPr>
                        <a:t>Colombia</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M / R visas</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Multiples of the minimum wage; 2026 multiples NOT VERIFIED</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No golden visa in the Panamanian sense</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i="1" dirty="0">
                          <a:solidFill>
                            <a:srgbClr val="6B7B80"/>
                          </a:solidFill>
                          <a:latin typeface="Calibri" pitchFamily="34" charset="0"/>
                          <a:ea typeface="Calibri" pitchFamily="34" charset="-122"/>
                          <a:cs typeface="Calibri" pitchFamily="34" charset="-120"/>
                        </a:rPr>
                        <a: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8" name="Shape 5"/>
          <p:cNvSpPr/>
          <p:nvPr/>
        </p:nvSpPr>
        <p:spPr>
          <a:xfrm>
            <a:off x="566928" y="5399187"/>
            <a:ext cx="11057839" cy="786384"/>
          </a:xfrm>
          <a:prstGeom prst="roundRect">
            <a:avLst>
              <a:gd name="adj" fmla="val 6977"/>
            </a:avLst>
          </a:prstGeom>
          <a:solidFill>
            <a:srgbClr val="0B3B45"/>
          </a:solidFill>
          <a:ln w="6350">
            <a:solidFill>
              <a:srgbClr val="0B3B45"/>
            </a:solidFill>
            <a:prstDash val="solid"/>
          </a:ln>
        </p:spPr>
      </p:sp>
      <p:sp>
        <p:nvSpPr>
          <p:cNvPr id="9" name="Text 6"/>
          <p:cNvSpPr txBox="1"/>
          <p:nvPr/>
        </p:nvSpPr>
        <p:spPr>
          <a:xfrm>
            <a:off x="804672" y="5563779"/>
            <a:ext cx="10582351" cy="438912"/>
          </a:xfrm>
          <a:prstGeom prst="rect">
            <a:avLst/>
          </a:prstGeom>
          <a:noFill/>
          <a:ln/>
        </p:spPr>
        <p:txBody>
          <a:bodyPr wrap="square" lIns="0" tIns="0" rIns="0" bIns="0" rtlCol="0" anchor="t"/>
          <a:lstStyle/>
          <a:p>
            <a:pPr indent="0" marL="0">
              <a:lnSpc>
                <a:spcPct val="115000"/>
              </a:lnSpc>
              <a:buNone/>
            </a:pPr>
            <a:r>
              <a:rPr lang="en-US" sz="1000" dirty="0">
                <a:solidFill>
                  <a:srgbClr val="FFFFFF"/>
                </a:solidFill>
                <a:latin typeface="Calibri" pitchFamily="34" charset="0"/>
                <a:ea typeface="Calibri" pitchFamily="34" charset="-122"/>
                <a:cs typeface="Calibri" pitchFamily="34" charset="-120"/>
              </a:rPr>
              <a:t>Colombia has no golden visa in the Panamanian sense — its investor and resident visa thresholds are set as multiples of the minimum wage, and the 2026 multiples were not verifiable for this pack. Guatemala and Guyana have no dedicated investor programme that could be identified. Verify Salvadoran and Colombian thresholds with local counsel before quoting them.</a:t>
            </a:r>
            <a:endParaRPr lang="en-US" sz="1000" dirty="0"/>
          </a:p>
        </p:txBody>
      </p:sp>
      <p:sp>
        <p:nvSpPr>
          <p:cNvPr id="10" name="Text 7"/>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11" name="Text 8"/>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18</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(B) · PPPS AND INFRASTRUCTURE</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The pipeline, with sizes and honest statuses</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188720"/>
                <a:gridCol w="2606040"/>
                <a:gridCol w="1783080"/>
                <a:gridCol w="3063240"/>
                <a:gridCol w="2414016"/>
              </a:tblGrid>
              <a:tr h="394945">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Project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Size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Status at September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Next milestone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596824">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Río Indio reservoir (ACP)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USD 1.6bn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RFQ for programme manager posted 18 Aug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Submissions due 6 Oct 2026; EIA Dec-26/Jan-27; construction 2028, operations 2031</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94945">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Metro Line 3 monorail (Panamá Oeste)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USD 4.4bn (from ~2.8bn)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77% complete Jun-2026; dynamic monorail testing</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Realistic opening band 2027-2028 (not 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96824">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Cobre Panamá (First Quantum)</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~5% of GDP pre-closure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A8322D"/>
                          </a:solidFill>
                          <a:latin typeface="Calibri" pitchFamily="34" charset="0"/>
                          <a:ea typeface="Calibri" pitchFamily="34" charset="-122"/>
                          <a:cs typeface="Calibri" pitchFamily="34" charset="-120"/>
                        </a:rPr>
                        <a:t>NOT restarted. Milling pre-blasted stockpile only; first processed shipment Aug-2026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Presidential commission to report before Dec-2026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96824">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Corozal (Pacific) + Telfers (Atlantic) terminals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NF</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ACP has signalled an international tender</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Once-a-generation concession auction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96824">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Panama-David / Chiriquí train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NF</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Pre-investment / feasibility only - no financed cost or signed contract verified</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96824">
                <a:tc>
                  <a:txBody>
                    <a:bodyPr/>
                    <a:lstStyle/>
                    <a:p>
                      <a:pPr indent="0" marL="0">
                        <a:buNone/>
                      </a:pPr>
                      <a:r>
                        <a:rPr lang="en-US" sz="850" b="1" dirty="0">
                          <a:solidFill>
                            <a:srgbClr val="156A7A"/>
                          </a:solidFill>
                          <a:latin typeface="Calibri" pitchFamily="34" charset="0"/>
                          <a:ea typeface="Calibri" pitchFamily="34" charset="-122"/>
                          <a:cs typeface="Calibri" pitchFamily="34" charset="-120"/>
                        </a:rPr>
                        <a:t>Costa Rica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GAM electric passenger train (INCOFER)</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USD 800m - fully financed</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CABEI USD 550m (incl. GCF 178.7m) + EIB USD 250m. Legally enabled</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Tender timing unconfirmed; 51+ km, 30 stations, 28 trainsets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96824">
                <a:tc>
                  <a:txBody>
                    <a:bodyPr/>
                    <a:lstStyle/>
                    <a:p>
                      <a:pPr indent="0" marL="0">
                        <a:buNone/>
                      </a:pPr>
                      <a:r>
                        <a:rPr lang="en-US" sz="850" b="1" dirty="0">
                          <a:solidFill>
                            <a:srgbClr val="2C6470"/>
                          </a:solidFill>
                          <a:latin typeface="Calibri" pitchFamily="34" charset="0"/>
                          <a:ea typeface="Calibri" pitchFamily="34" charset="-122"/>
                          <a:cs typeface="Calibri" pitchFamily="34" charset="-120"/>
                        </a:rPr>
                        <a:t>Guatemala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ANADIE / ANI PPP pipeline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NF</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Framework active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2027 election cycle likely to slow approvals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ACP, ANI, INCOFER, IDB, national press, September 2026. NF = no financed cost or signed contract verified.</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19</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(B) · PPPS AND INFRASTRUCTURE</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The pipeline, with sizes and honest statuses (continued)</a:t>
            </a:r>
            <a:endParaRPr lang="en-US" sz="30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188720"/>
                <a:gridCol w="2606040"/>
                <a:gridCol w="1783080"/>
                <a:gridCol w="3063240"/>
                <a:gridCol w="2414016"/>
              </a:tblGrid>
              <a:tr h="41407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Project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Size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Status at September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Next milestone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625724">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Bogotá Metro Line 1</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NF</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77.53% complete Apr-2026; 10 of 30 trains delivered, testing at Bosa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23.9 km, 16 stations; no commercial-operation date stated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25724">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Bogotá Metro Line 2</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COP 34.9tn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A8322D"/>
                          </a:solidFill>
                          <a:latin typeface="Calibri" pitchFamily="34" charset="0"/>
                          <a:ea typeface="Calibri" pitchFamily="34" charset="-122"/>
                          <a:cs typeface="Calibri" pitchFamily="34" charset="-120"/>
                        </a:rPr>
                        <a:t>TENDER RECEIVED ZERO BIDS 20 Jan 2026 and was voided. Relaunched Feb-2026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Bids due Sep-2026, award Q1-2027; operations slip 2032 -&gt; 2034</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25724">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5G road concessions (ANI)</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COP 5.5tn (Villeta-Guaduas-El Korán alone)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Nueva Malla Vial Valle 64%; Troncal Magdalena II 39%; Buenaventura-Loboguerrero-Buga 29%</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ALO Sur works started 5 Aug 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14070">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Canal del Dique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NF</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Pre-construction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Construction from March 2027</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14070">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Rafael Núñez airport, Cartagena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NF</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Only 2% complete amid social difficulties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25724">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Earthquake reconstruction (10 Aug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COP 30-40tn (USD 9.6bn damage)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331 dead, 178,555 homes damaged; Cali/Pereira/Quibdó/Manizales/Armenia/Buenaventura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34-45% of 2026 public investment; 2026 GDP cut 2.7% -&gt; 2.5%</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25724">
                <a:tc>
                  <a:txBody>
                    <a:bodyPr/>
                    <a:lstStyle/>
                    <a:p>
                      <a:pPr indent="0" marL="0">
                        <a:buNone/>
                      </a:pPr>
                      <a:r>
                        <a:rPr lang="en-US" sz="850" b="1" dirty="0">
                          <a:solidFill>
                            <a:srgbClr val="2E6F6B"/>
                          </a:solidFill>
                          <a:latin typeface="Calibri" pitchFamily="34" charset="0"/>
                          <a:ea typeface="Calibri" pitchFamily="34" charset="-122"/>
                          <a:cs typeface="Calibri" pitchFamily="34" charset="-120"/>
                        </a:rPr>
                        <a:t>Dominican Rep.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Cabo Rojo, Pedernales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&gt; USD 2.2bn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Under construction; first hotel NOT yet open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~12,000 rooms, international airport, cruise port; Fideicomiso Pro-Pedernales PPP</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ACP, ANI, INCOFER, IDB, national press, September 2026. NF = no financed cost or signed contract verified.</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20</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(B) · PPPS AND INFRASTRUCTURE</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The pipeline, with sizes and honest statuses (continued)</a:t>
            </a:r>
            <a:endParaRPr lang="en-US" sz="3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188720"/>
                <a:gridCol w="2606040"/>
                <a:gridCol w="1783080"/>
                <a:gridCol w="3063240"/>
                <a:gridCol w="2414016"/>
              </a:tblGrid>
              <a:tr h="419969">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Project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Size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Status at September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Next milestone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634639">
                <a:tc>
                  <a:txBody>
                    <a:bodyPr/>
                    <a:lstStyle/>
                    <a:p>
                      <a:pPr indent="0" marL="0">
                        <a:buNone/>
                      </a:pPr>
                      <a:r>
                        <a:rPr lang="en-US" sz="850" b="1" dirty="0">
                          <a:solidFill>
                            <a:srgbClr val="2E6F6B"/>
                          </a:solidFill>
                          <a:latin typeface="Calibri" pitchFamily="34" charset="0"/>
                          <a:ea typeface="Calibri" pitchFamily="34" charset="-122"/>
                          <a:cs typeface="Calibri" pitchFamily="34" charset="-120"/>
                        </a:rPr>
                        <a:t>Dominican Rep.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Manzanillo port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USD 100m IDB + &gt;USD 1.4bn terminal investment over 4 yrs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Landlord model; 220m x 40m pier, 15m draft (Post-Panamax)</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Port works conclude 2027</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34639">
                <a:tc>
                  <a:txBody>
                    <a:bodyPr/>
                    <a:lstStyle/>
                    <a:p>
                      <a:pPr indent="0" marL="0">
                        <a:buNone/>
                      </a:pPr>
                      <a:r>
                        <a:rPr lang="en-US" sz="850" b="1" dirty="0">
                          <a:solidFill>
                            <a:srgbClr val="2E6F6B"/>
                          </a:solidFill>
                          <a:latin typeface="Calibri" pitchFamily="34" charset="0"/>
                          <a:ea typeface="Calibri" pitchFamily="34" charset="-122"/>
                          <a:cs typeface="Calibri" pitchFamily="34" charset="-120"/>
                        </a:rPr>
                        <a:t>Dominican Rep.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Central Térmica Manzanillo + 345kV line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NF</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414 MW combined cycle &gt;85% complete; 128 km 345 kV line inaugurated Jul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25% renewable by end-2025, 30% by 2030</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19969">
                <a:tc>
                  <a:txBody>
                    <a:bodyPr/>
                    <a:lstStyle/>
                    <a:p>
                      <a:pPr indent="0" marL="0">
                        <a:buNone/>
                      </a:pPr>
                      <a:r>
                        <a:rPr lang="en-US" sz="850" b="1" dirty="0">
                          <a:solidFill>
                            <a:srgbClr val="7A5C3E"/>
                          </a:solidFill>
                          <a:latin typeface="Calibri" pitchFamily="34" charset="0"/>
                          <a:ea typeface="Calibri" pitchFamily="34" charset="-122"/>
                          <a:cs typeface="Calibri" pitchFamily="34" charset="-120"/>
                        </a:rPr>
                        <a:t>El Salvador</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Pacific Airport / CEPA projects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NF</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Status NOT VERIFIED</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19969">
                <a:tc>
                  <a:txBody>
                    <a:bodyPr/>
                    <a:lstStyle/>
                    <a:p>
                      <a:pPr indent="0" marL="0">
                        <a:buNone/>
                      </a:pPr>
                      <a:r>
                        <a:rPr lang="en-US" sz="850" b="1" dirty="0">
                          <a:solidFill>
                            <a:srgbClr val="3E5C7A"/>
                          </a:solidFill>
                          <a:latin typeface="Calibri" pitchFamily="34" charset="0"/>
                          <a:ea typeface="Calibri" pitchFamily="34" charset="-122"/>
                          <a:cs typeface="Calibri" pitchFamily="34" charset="-120"/>
                        </a:rPr>
                        <a:t>Guyana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Gas-to-energy project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NF</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In execution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34639">
                <a:tc>
                  <a:txBody>
                    <a:bodyPr/>
                    <a:lstStyle/>
                    <a:p>
                      <a:pPr indent="0" marL="0">
                        <a:buNone/>
                      </a:pPr>
                      <a:r>
                        <a:rPr lang="en-US" sz="850" b="1" dirty="0">
                          <a:solidFill>
                            <a:srgbClr val="3E5C7A"/>
                          </a:solidFill>
                          <a:latin typeface="Calibri" pitchFamily="34" charset="0"/>
                          <a:ea typeface="Calibri" pitchFamily="34" charset="-122"/>
                          <a:cs typeface="Calibri" pitchFamily="34" charset="-120"/>
                        </a:rPr>
                        <a:t>Guyana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Stabroek FPSO programme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USD 55bn Exxon investment recovered ahead of schedule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5 FPSOs; Errea Wittu arrived 21 Aug 2026; ~900 kb/d Aug-2026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Past 1m bpd in Q4-2026; capacity 1.3m bpd after two more FPSOs in 2027</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ACP, ANI, INCOFER, IDB, national press, September 2026. NF = no financed cost or signed contract verified.</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21</a:t>
            </a:r>
            <a:endParaRPr lang="en-US" sz="800" dirty="0"/>
          </a:p>
        </p:txBody>
      </p:sp>
      <p:sp>
        <p:nvSpPr>
          <p:cNvPr id="8" name="Shape 5"/>
          <p:cNvSpPr/>
          <p:nvPr/>
        </p:nvSpPr>
        <p:spPr>
          <a:xfrm>
            <a:off x="566928" y="4791456"/>
            <a:ext cx="11057839" cy="969264"/>
          </a:xfrm>
          <a:prstGeom prst="roundRect">
            <a:avLst>
              <a:gd name="adj" fmla="val 5660"/>
            </a:avLst>
          </a:prstGeom>
          <a:solidFill>
            <a:srgbClr val="F6E4E3"/>
          </a:solidFill>
          <a:ln w="6350">
            <a:solidFill>
              <a:srgbClr val="F6E4E3"/>
            </a:solidFill>
            <a:prstDash val="solid"/>
          </a:ln>
        </p:spPr>
      </p:sp>
      <p:sp>
        <p:nvSpPr>
          <p:cNvPr id="9" name="Text 6"/>
          <p:cNvSpPr txBox="1"/>
          <p:nvPr/>
        </p:nvSpPr>
        <p:spPr>
          <a:xfrm>
            <a:off x="804672" y="4937760"/>
            <a:ext cx="10582351" cy="201168"/>
          </a:xfrm>
          <a:prstGeom prst="rect">
            <a:avLst/>
          </a:prstGeom>
          <a:noFill/>
          <a:ln/>
        </p:spPr>
        <p:txBody>
          <a:bodyPr wrap="square" lIns="0" tIns="0" rIns="0" bIns="0" rtlCol="0" anchor="ctr"/>
          <a:lstStyle/>
          <a:p>
            <a:pPr indent="0" marL="0">
              <a:buNone/>
            </a:pPr>
            <a:r>
              <a:rPr lang="en-US" sz="900" b="1" spc="140" kern="0" dirty="0">
                <a:solidFill>
                  <a:srgbClr val="A8322D"/>
                </a:solidFill>
                <a:latin typeface="Calibri" pitchFamily="34" charset="0"/>
                <a:ea typeface="Calibri" pitchFamily="34" charset="-122"/>
                <a:cs typeface="Calibri" pitchFamily="34" charset="-120"/>
              </a:rPr>
              <a:t>TWO THINGS NOT TO REPEAT UNCRITICALLY</a:t>
            </a:r>
            <a:endParaRPr lang="en-US" sz="900" dirty="0"/>
          </a:p>
        </p:txBody>
      </p:sp>
      <p:sp>
        <p:nvSpPr>
          <p:cNvPr id="10" name="Text 7"/>
          <p:cNvSpPr txBox="1"/>
          <p:nvPr/>
        </p:nvSpPr>
        <p:spPr>
          <a:xfrm>
            <a:off x="804672" y="5157216"/>
            <a:ext cx="10582351" cy="438912"/>
          </a:xfrm>
          <a:prstGeom prst="rect">
            <a:avLst/>
          </a:prstGeom>
          <a:noFill/>
          <a:ln/>
        </p:spPr>
        <p:txBody>
          <a:bodyPr wrap="square" lIns="0" tIns="0" rIns="0" bIns="0" rtlCol="0" anchor="t"/>
          <a:lstStyle/>
          <a:p>
            <a:pPr indent="0" marL="0">
              <a:lnSpc>
                <a:spcPct val="115000"/>
              </a:lnSpc>
              <a:buNone/>
            </a:pPr>
            <a:r>
              <a:rPr lang="en-US" sz="1050" dirty="0">
                <a:solidFill>
                  <a:srgbClr val="4A2220"/>
                </a:solidFill>
                <a:latin typeface="Calibri" pitchFamily="34" charset="0"/>
                <a:ea typeface="Calibri" pitchFamily="34" charset="-122"/>
                <a:cs typeface="Calibri" pitchFamily="34" charset="-120"/>
              </a:rPr>
              <a:t>Bogotá Metro Line 2 received zero bids at the January 2026 deadline and was declared void after Acciona pulled its 40% stake; operations have already slipped from 2032 to 2034. And Cobre Panamá has not reopened — it is milling a pre-blasted stockpile under a preservation licence. Neither is a restart.</a:t>
            </a:r>
            <a:endParaRPr lang="en-US" sz="10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(C)</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Where the wealth is actually made</a:t>
            </a:r>
            <a:endParaRPr lang="en-US" sz="30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188720"/>
                <a:gridCol w="1874520"/>
                <a:gridCol w="3840480"/>
                <a:gridCol w="4151376"/>
              </a:tblGrid>
              <a:tr h="310225">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Engine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The hard number</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Why it mints wealth — and the caveat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468798">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Canal &amp; logistics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FY2025 revenue USD 5.7bn (+14.4%), 13,404 transits (+19.3%), USD 2.965bn to Treasury (+20%)</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Transport cluster ~15% of GDP; transport/storage grew +14.5% in 2025, ~40% of all growth</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68798">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Banking (Centro Bancario Internacional)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Banco General: assets USD 21.1bn, net income USD 844.6m (+5.8%), ROAE 21.2%</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Panamanian founding families; the plaza itself is the wealth pool</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10225">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Copper optionality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Cobre Panamá was ~5% of GDP and &gt;75% of goods exports (~USD 2.8bn)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A settlement is the largest single re-rating event available in the country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68798">
                <a:tc>
                  <a:txBody>
                    <a:bodyPr/>
                    <a:lstStyle/>
                    <a:p>
                      <a:pPr indent="0" marL="0">
                        <a:buNone/>
                      </a:pPr>
                      <a:r>
                        <a:rPr lang="en-US" sz="850" b="1" dirty="0">
                          <a:solidFill>
                            <a:srgbClr val="156A7A"/>
                          </a:solidFill>
                          <a:latin typeface="Calibri" pitchFamily="34" charset="0"/>
                          <a:ea typeface="Calibri" pitchFamily="34" charset="-122"/>
                          <a:cs typeface="Calibri" pitchFamily="34" charset="-120"/>
                        </a:rPr>
                        <a:t>Costa Rica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Medical devices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&gt;USD 6.1bn exports = 44% of goods exports; 90+ medtech firms; 5th-largest US supplier</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But contracting in 2026: 12.5% US tariff, appreciating colon, Boston Scientific restructuring over a 10,000-person CR workforce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68798">
                <a:tc>
                  <a:txBody>
                    <a:bodyPr/>
                    <a:lstStyle/>
                    <a:p>
                      <a:pPr indent="0" marL="0">
                        <a:buNone/>
                      </a:pPr>
                      <a:r>
                        <a:rPr lang="en-US" sz="850" b="1" dirty="0">
                          <a:solidFill>
                            <a:srgbClr val="156A7A"/>
                          </a:solidFill>
                          <a:latin typeface="Calibri" pitchFamily="34" charset="0"/>
                          <a:ea typeface="Calibri" pitchFamily="34" charset="-122"/>
                          <a:cs typeface="Calibri" pitchFamily="34" charset="-120"/>
                        </a:rPr>
                        <a:t>Costa Rica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FDI franchise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2025 FDI USD 5.12bn (2nd record year); US 54.8%, Switzerland 19.7%</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Warning: reinvestment at a record USD 4.33bn while new investment fell 18% to USD 895m</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68798">
                <a:tc>
                  <a:txBody>
                    <a:bodyPr/>
                    <a:lstStyle/>
                    <a:p>
                      <a:pPr indent="0" marL="0">
                        <a:buNone/>
                      </a:pPr>
                      <a:r>
                        <a:rPr lang="en-US" sz="850" b="1" dirty="0">
                          <a:solidFill>
                            <a:srgbClr val="2C6470"/>
                          </a:solidFill>
                          <a:latin typeface="Calibri" pitchFamily="34" charset="0"/>
                          <a:ea typeface="Calibri" pitchFamily="34" charset="-122"/>
                          <a:cs typeface="Calibri" pitchFamily="34" charset="-120"/>
                        </a:rPr>
                        <a:t>Guatemala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Remittance-driven consumption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2025 remittances USD 25.5bn, +19% = 20.7% of GDP</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Banguat projects deceleration to +5% in 2026 - the single largest macro risk in the sample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68798">
                <a:tc>
                  <a:txBody>
                    <a:bodyPr/>
                    <a:lstStyle/>
                    <a:p>
                      <a:pPr indent="0" marL="0">
                        <a:buNone/>
                      </a:pPr>
                      <a:r>
                        <a:rPr lang="en-US" sz="850" b="1" dirty="0">
                          <a:solidFill>
                            <a:srgbClr val="2C6470"/>
                          </a:solidFill>
                          <a:latin typeface="Calibri" pitchFamily="34" charset="0"/>
                          <a:ea typeface="Calibri" pitchFamily="34" charset="-122"/>
                          <a:cs typeface="Calibri" pitchFamily="34" charset="-120"/>
                        </a:rPr>
                        <a:t>Guatemala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Family conglomerates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CMI, Cementos Progreso, Cervecería Centroamericana, Pantaleón, Banco Industrial</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CMI Capital pivoted to 'Active Asset Management' and opened to outside investors, Dec-2025</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68798">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Banking / Grupo Cibest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H1-2026 net income COP 4.19tn (+18.7%); NIM 7.94%; assets COP 363tn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Sold Banistmo for USD 1.418bn (closed 30 Jun 2026); COP 1.35tn buyback + COP 1.2tn extraordinary dividend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68798">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Oil &amp; gas - in managed decline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Jul-2026 crude 727,920 bpd (-2.5% y/y); gas 1,096 MMcfd (-8.4% y/y)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Wealth is being harvested, not created. 2025 reserves still unpublished as of Jun-2026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National statistics offices, central banks, company filings and the Panama Canal Authority, 2025–2026.</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22</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(C)</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Where the wealth is actually made (continued)</a:t>
            </a:r>
            <a:endParaRPr lang="en-US" sz="30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188720"/>
                <a:gridCol w="1874520"/>
                <a:gridCol w="3840480"/>
                <a:gridCol w="4151376"/>
              </a:tblGrid>
              <a:tr h="33109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Engine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The hard number</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Why it mints wealth — and the caveat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500329">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Public spending</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Q2-2026 public admin/education/health +10.0% y/y, +1.7pp of 3.5% growth</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Growth carried by the state, not by tradables - a wealth-creation warning</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00329">
                <a:tc>
                  <a:txBody>
                    <a:bodyPr/>
                    <a:lstStyle/>
                    <a:p>
                      <a:pPr indent="0" marL="0">
                        <a:buNone/>
                      </a:pPr>
                      <a:r>
                        <a:rPr lang="en-US" sz="850" b="1" dirty="0">
                          <a:solidFill>
                            <a:srgbClr val="2E6F6B"/>
                          </a:solidFill>
                          <a:latin typeface="Calibri" pitchFamily="34" charset="0"/>
                          <a:ea typeface="Calibri" pitchFamily="34" charset="-122"/>
                          <a:cs typeface="Calibri" pitchFamily="34" charset="-120"/>
                        </a:rPr>
                        <a:t>Dominican Rep.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Tourism + free zones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Free zones ~70% of export revenue, &gt;USD 6bn/yr to the US; 11.2m visitors in 2024</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CONFOTUR gives a 15-yr shelter that flows through to the individual unit buyer</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00329">
                <a:tc>
                  <a:txBody>
                    <a:bodyPr/>
                    <a:lstStyle/>
                    <a:p>
                      <a:pPr indent="0" marL="0">
                        <a:buNone/>
                      </a:pPr>
                      <a:r>
                        <a:rPr lang="en-US" sz="850" b="1" dirty="0">
                          <a:solidFill>
                            <a:srgbClr val="2E6F6B"/>
                          </a:solidFill>
                          <a:latin typeface="Calibri" pitchFamily="34" charset="0"/>
                          <a:ea typeface="Calibri" pitchFamily="34" charset="-122"/>
                          <a:cs typeface="Calibri" pitchFamily="34" charset="-120"/>
                        </a:rPr>
                        <a:t>Dominican Rep.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Record FDI</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2025 FDI USD 5.03bn (+11.3%), an all-time record; total FX inflows &gt;USD 46.8bn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Debt down from 69.1% (2020) to 58.5% of GDP (2025)</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31090">
                <a:tc>
                  <a:txBody>
                    <a:bodyPr/>
                    <a:lstStyle/>
                    <a:p>
                      <a:pPr indent="0" marL="0">
                        <a:buNone/>
                      </a:pPr>
                      <a:r>
                        <a:rPr lang="en-US" sz="850" b="1" dirty="0">
                          <a:solidFill>
                            <a:srgbClr val="7A5C3E"/>
                          </a:solidFill>
                          <a:latin typeface="Calibri" pitchFamily="34" charset="0"/>
                          <a:ea typeface="Calibri" pitchFamily="34" charset="-122"/>
                          <a:cs typeface="Calibri" pitchFamily="34" charset="-120"/>
                        </a:rPr>
                        <a:t>El Salvador</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Remittances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2025 USD 9.99bn, +17.7%, ~24% of GDP; Q1-2026 a record USD 2.44bn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Most remittance-dependent economy in the sample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00329">
                <a:tc>
                  <a:txBody>
                    <a:bodyPr/>
                    <a:lstStyle/>
                    <a:p>
                      <a:pPr indent="0" marL="0">
                        <a:buNone/>
                      </a:pPr>
                      <a:r>
                        <a:rPr lang="en-US" sz="850" b="1" dirty="0">
                          <a:solidFill>
                            <a:srgbClr val="7A5C3E"/>
                          </a:solidFill>
                          <a:latin typeface="Calibri" pitchFamily="34" charset="0"/>
                          <a:ea typeface="Calibri" pitchFamily="34" charset="-122"/>
                          <a:cs typeface="Calibri" pitchFamily="34" charset="-120"/>
                        </a:rPr>
                        <a:t>El Salvador</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Family groups going regional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Grupo Calleja took &gt;56% of Grupo Éxito (Colombia); Inversiones Cuscatlán bought Banistmo</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Salvadoran family capital is now an acquirer of Colombian and Panamanian assets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00329">
                <a:tc>
                  <a:txBody>
                    <a:bodyPr/>
                    <a:lstStyle/>
                    <a:p>
                      <a:pPr indent="0" marL="0">
                        <a:buNone/>
                      </a:pPr>
                      <a:r>
                        <a:rPr lang="en-US" sz="850" b="1" dirty="0">
                          <a:solidFill>
                            <a:srgbClr val="3E5C7A"/>
                          </a:solidFill>
                          <a:latin typeface="Calibri" pitchFamily="34" charset="0"/>
                          <a:ea typeface="Calibri" pitchFamily="34" charset="-122"/>
                          <a:cs typeface="Calibri" pitchFamily="34" charset="-120"/>
                        </a:rPr>
                        <a:t>Guyana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Oil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~900 kb/d Aug-2026; NRF USD 4.35bn at 31 Jul 2026; inflows ~USD 10.5bn since 2020</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GDP/capita already USD 26,994 - above Costa Rica and Panama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National statistics offices, central banks, company filings and the Panama Canal Authority, 2025–2026.</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23</a:t>
            </a:r>
            <a:endParaRPr lang="en-US" sz="800" dirty="0"/>
          </a:p>
        </p:txBody>
      </p:sp>
      <p:sp>
        <p:nvSpPr>
          <p:cNvPr id="8" name="Shape 5"/>
          <p:cNvSpPr/>
          <p:nvPr/>
        </p:nvSpPr>
        <p:spPr>
          <a:xfrm>
            <a:off x="566928" y="4791456"/>
            <a:ext cx="11057839" cy="969264"/>
          </a:xfrm>
          <a:prstGeom prst="roundRect">
            <a:avLst>
              <a:gd name="adj" fmla="val 5660"/>
            </a:avLst>
          </a:prstGeom>
          <a:solidFill>
            <a:srgbClr val="0B3B45"/>
          </a:solidFill>
          <a:ln w="6350">
            <a:solidFill>
              <a:srgbClr val="0B3B45"/>
            </a:solidFill>
            <a:prstDash val="solid"/>
          </a:ln>
        </p:spPr>
      </p:sp>
      <p:sp>
        <p:nvSpPr>
          <p:cNvPr id="9" name="Text 6"/>
          <p:cNvSpPr txBox="1"/>
          <p:nvPr/>
        </p:nvSpPr>
        <p:spPr>
          <a:xfrm>
            <a:off x="804672" y="4956048"/>
            <a:ext cx="10582351" cy="621792"/>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Two of these are warnings rather than opportunities. Colombian growth is being carried by public spending, not tradables — the second quarter's 3.5% owed 1.7 points to public administration, education and health. And Costa Rica's medtech cluster, the single best nearshoring story in the region, is contracting in 2026.</a:t>
            </a:r>
            <a:endParaRPr lang="en-US" sz="10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(C) · NAMED LOCAL AND FAMILY PARTICIPANTS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Who holds it</a:t>
            </a:r>
            <a:endParaRPr lang="en-US" sz="30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188720"/>
                <a:gridCol w="2377440"/>
                <a:gridCol w="4023360"/>
                <a:gridCol w="3465576"/>
              </a:tblGrid>
              <a:tr h="483252">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Group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Scale / status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Ownership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730269">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Grupo Financiero BG / Banco General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Largest private bank; assets USD 21.1bn, net income USD 844.6m, ROAE 21.2%</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Panamanian founding families (not independently verified)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730269">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Copa Holdings (NYSE: CPA)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FY2025 revenue USD 3.617bn, net profit USD 671.6m, 14.85m pax, 126 aircraft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Motta family control (widely reported, not verified)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83252">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Empresas Bern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#1 domestic developer + Bern Hotels &amp; Resorts; 160+ projects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Bern family - Herman &amp; Myriam Bern, four children on the board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83252">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Grupo Motta / Motta Internacional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Duty-free (Attenza), Inversiones Bahia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Motta family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730269">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Grupo Rey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~150 supermarkets/pharmacies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CORRECTION: Corporación Favorita (Ecuador) holds 73% since 2019 - NOT a Panamanian family prospect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730269">
                <a:tc>
                  <a:txBody>
                    <a:bodyPr/>
                    <a:lstStyle/>
                    <a:p>
                      <a:pPr indent="0" marL="0">
                        <a:buNone/>
                      </a:pPr>
                      <a:r>
                        <a:rPr lang="en-US" sz="850" b="1" dirty="0">
                          <a:solidFill>
                            <a:srgbClr val="156A7A"/>
                          </a:solidFill>
                          <a:latin typeface="Calibri" pitchFamily="34" charset="0"/>
                          <a:ea typeface="Calibri" pitchFamily="34" charset="-122"/>
                          <a:cs typeface="Calibri" pitchFamily="34" charset="-120"/>
                        </a:rPr>
                        <a:t>Costa Rica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FIFCO</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CORRECTION: no longer the beverage business - operating assets went to Heineken; FIFCO retains 25% stakes plus real estate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Fernandez family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Company filings, national business press and exchange notices, verified September 2026. Items marked NOT FOUND were not verifiable this pass — see the Gaps tab of the workbook.</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24</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(C) · NAMED LOCAL AND FAMILY PARTICIPANTS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Who holds it (continued)</a:t>
            </a:r>
            <a:endParaRPr lang="en-US" sz="300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188720"/>
                <a:gridCol w="2377440"/>
                <a:gridCol w="4023360"/>
                <a:gridCol w="3465576"/>
              </a:tblGrid>
              <a:tr h="457402">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Group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Scale / status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Ownership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691205">
                <a:tc>
                  <a:txBody>
                    <a:bodyPr/>
                    <a:lstStyle/>
                    <a:p>
                      <a:pPr indent="0" marL="0">
                        <a:buNone/>
                      </a:pPr>
                      <a:r>
                        <a:rPr lang="en-US" sz="850" b="1" dirty="0">
                          <a:solidFill>
                            <a:srgbClr val="2C6470"/>
                          </a:solidFill>
                          <a:latin typeface="Calibri" pitchFamily="34" charset="0"/>
                          <a:ea typeface="Calibri" pitchFamily="34" charset="-122"/>
                          <a:cs typeface="Calibri" pitchFamily="34" charset="-120"/>
                        </a:rPr>
                        <a:t>Guatemala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Corporacion Multi Inversiones (CMI)</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CMI Capital pivoted to Active Asset Management, Dec-2025, and opened to outside investors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Bosch-Gutierrez family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91205">
                <a:tc>
                  <a:txBody>
                    <a:bodyPr/>
                    <a:lstStyle/>
                    <a:p>
                      <a:pPr indent="0" marL="0">
                        <a:buNone/>
                      </a:pPr>
                      <a:r>
                        <a:rPr lang="en-US" sz="850" b="1" dirty="0">
                          <a:solidFill>
                            <a:srgbClr val="2C6470"/>
                          </a:solidFill>
                          <a:latin typeface="Calibri" pitchFamily="34" charset="0"/>
                          <a:ea typeface="Calibri" pitchFamily="34" charset="-122"/>
                          <a:cs typeface="Calibri" pitchFamily="34" charset="-120"/>
                        </a:rPr>
                        <a:t>Guatemala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Cementos Progreso / Cervecería Centroamericana / Pantaleón / Banco Industrial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Financials NOT FOUND this pass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Novella, Castillo, Herrera, Bicapital</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91205">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Grupo Argos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Dec-2025 revenue COP 11.7tn, assets COP 37.6tn, market cap COP 11.1tn. Units: Argos Cementos, Celsia, Odinsa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GEA / Antioquia group. 'ACE 1.0' programme to double DPS over 36 months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57402">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Grupo Nutresa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~87% Gilinski Group (IHC-backed). Best 2025 COLCAP performer, &gt;+250%</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Gilinski family + IHC</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91205">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Gilinski Group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Has taken control of GeoPark and entered Venezuela - Orinoco Belt assets, 15.7bn bbl reserves, 11,000 bpd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Gilinski family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91205">
                <a:tc>
                  <a:txBody>
                    <a:bodyPr/>
                    <a:lstStyle/>
                    <a:p>
                      <a:pPr indent="0" marL="0">
                        <a:buNone/>
                      </a:pPr>
                      <a:r>
                        <a:rPr lang="en-US" sz="850" b="1" dirty="0">
                          <a:solidFill>
                            <a:srgbClr val="2E6F6B"/>
                          </a:solidFill>
                          <a:latin typeface="Calibri" pitchFamily="34" charset="0"/>
                          <a:ea typeface="Calibri" pitchFamily="34" charset="-122"/>
                          <a:cs typeface="Calibri" pitchFamily="34" charset="-120"/>
                        </a:rPr>
                        <a:t>Dominican Rep.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Grupo Popular / Banco Popular Dominicano</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Largest private financial group; Manuel Grullón Hernández moved to EVP in 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Grullon family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Company filings, national business press and exchange notices, verified September 2026. Items marked NOT FOUND were not verifiable this pass — see the Gaps tab of the workbook.</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25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(C) · NAMED LOCAL AND FAMILY PARTICIPANTS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Who holds it (continued)</a:t>
            </a:r>
            <a:endParaRPr lang="en-US" sz="30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188720"/>
                <a:gridCol w="2377440"/>
                <a:gridCol w="4023360"/>
                <a:gridCol w="3465576"/>
              </a:tblGrid>
              <a:tr h="382613">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Group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Scale / status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Ownership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578188">
                <a:tc>
                  <a:txBody>
                    <a:bodyPr/>
                    <a:lstStyle/>
                    <a:p>
                      <a:pPr indent="0" marL="0">
                        <a:buNone/>
                      </a:pPr>
                      <a:r>
                        <a:rPr lang="en-US" sz="850" b="1" dirty="0">
                          <a:solidFill>
                            <a:srgbClr val="2E6F6B"/>
                          </a:solidFill>
                          <a:latin typeface="Calibri" pitchFamily="34" charset="0"/>
                          <a:ea typeface="Calibri" pitchFamily="34" charset="-122"/>
                          <a:cs typeface="Calibri" pitchFamily="34" charset="-120"/>
                        </a:rPr>
                        <a:t>Dominican Rep.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INICIA / Vicini, Grupo Puntacana, Grupo Ramos, Grupo Rica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Financials NOT FOUND this pass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Vicini, Rainieri, Ramos families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78188">
                <a:tc>
                  <a:txBody>
                    <a:bodyPr/>
                    <a:lstStyle/>
                    <a:p>
                      <a:pPr indent="0" marL="0">
                        <a:buNone/>
                      </a:pPr>
                      <a:r>
                        <a:rPr lang="en-US" sz="850" b="1" dirty="0">
                          <a:solidFill>
                            <a:srgbClr val="7A5C3E"/>
                          </a:solidFill>
                          <a:latin typeface="Calibri" pitchFamily="34" charset="0"/>
                          <a:ea typeface="Calibri" pitchFamily="34" charset="-122"/>
                          <a:cs typeface="Calibri" pitchFamily="34" charset="-120"/>
                        </a:rPr>
                        <a:t>El Salvador</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Grupo Poma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9 countries, 6 divisions. Ricardo Poma died 24 Aug 2025 - succession is open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Poma family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78188">
                <a:tc>
                  <a:txBody>
                    <a:bodyPr/>
                    <a:lstStyle/>
                    <a:p>
                      <a:pPr indent="0" marL="0">
                        <a:buNone/>
                      </a:pPr>
                      <a:r>
                        <a:rPr lang="en-US" sz="850" b="1" dirty="0">
                          <a:solidFill>
                            <a:srgbClr val="7A5C3E"/>
                          </a:solidFill>
                          <a:latin typeface="Calibri" pitchFamily="34" charset="0"/>
                          <a:ea typeface="Calibri" pitchFamily="34" charset="-122"/>
                          <a:cs typeface="Calibri" pitchFamily="34" charset="-120"/>
                        </a:rPr>
                        <a:t>El Salvador</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Grupo Calleja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Super Selectos + &gt;56% of Grupo Éxito. Carlos Calleja is chair/CEO of Exito</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Calleja family. Has publicly floated Venezuela entry (Mar-2026)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78188">
                <a:tc>
                  <a:txBody>
                    <a:bodyPr/>
                    <a:lstStyle/>
                    <a:p>
                      <a:pPr indent="0" marL="0">
                        <a:buNone/>
                      </a:pPr>
                      <a:r>
                        <a:rPr lang="en-US" sz="850" b="1" dirty="0">
                          <a:solidFill>
                            <a:srgbClr val="7A5C3E"/>
                          </a:solidFill>
                          <a:latin typeface="Calibri" pitchFamily="34" charset="0"/>
                          <a:ea typeface="Calibri" pitchFamily="34" charset="-122"/>
                          <a:cs typeface="Calibri" pitchFamily="34" charset="-120"/>
                        </a:rPr>
                        <a:t>El Salvador</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Inversiones Cuscatlán / Banco La Hipotecaria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Bought Banistmo (Panama) for USD 1.418bn, closed 30 Jun 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Confirm ultimate ownership (Grupo Terra link unverified)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78188">
                <a:tc>
                  <a:txBody>
                    <a:bodyPr/>
                    <a:lstStyle/>
                    <a:p>
                      <a:pPr indent="0" marL="0">
                        <a:buNone/>
                      </a:pPr>
                      <a:r>
                        <a:rPr lang="en-US" sz="850" b="1" dirty="0">
                          <a:solidFill>
                            <a:srgbClr val="3E5C7A"/>
                          </a:solidFill>
                          <a:latin typeface="Calibri" pitchFamily="34" charset="0"/>
                          <a:ea typeface="Calibri" pitchFamily="34" charset="-122"/>
                          <a:cs typeface="Calibri" pitchFamily="34" charset="-120"/>
                        </a:rPr>
                        <a:t>Guyana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Banks DIH, Demerara Distillers, GBTI, Republic Bank Guyana, ANSA McAL Guyana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Financials NOT FOUND. ANSA McAL took a USD 500m IDB Invest facility Jul-2026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Company filings, national business press and exchange notices, verified September 2026. Items marked NOT FOUND were not verifiable this pass — see the Gaps tab of the workbook.</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26</a:t>
            </a:r>
            <a:endParaRPr lang="en-US" sz="800" dirty="0"/>
          </a:p>
        </p:txBody>
      </p:sp>
      <p:sp>
        <p:nvSpPr>
          <p:cNvPr id="8" name="Shape 5"/>
          <p:cNvSpPr/>
          <p:nvPr/>
        </p:nvSpPr>
        <p:spPr>
          <a:xfrm>
            <a:off x="566928" y="4901184"/>
            <a:ext cx="11057839" cy="859536"/>
          </a:xfrm>
          <a:prstGeom prst="roundRect">
            <a:avLst>
              <a:gd name="adj" fmla="val 6383"/>
            </a:avLst>
          </a:prstGeom>
          <a:solidFill>
            <a:srgbClr val="F6E4E3"/>
          </a:solidFill>
          <a:ln w="6350">
            <a:solidFill>
              <a:srgbClr val="F6E4E3"/>
            </a:solidFill>
            <a:prstDash val="solid"/>
          </a:ln>
        </p:spPr>
      </p:sp>
      <p:sp>
        <p:nvSpPr>
          <p:cNvPr id="9" name="Text 6"/>
          <p:cNvSpPr txBox="1"/>
          <p:nvPr/>
        </p:nvSpPr>
        <p:spPr>
          <a:xfrm>
            <a:off x="804672" y="5047488"/>
            <a:ext cx="10582351" cy="201168"/>
          </a:xfrm>
          <a:prstGeom prst="rect">
            <a:avLst/>
          </a:prstGeom>
          <a:noFill/>
          <a:ln/>
        </p:spPr>
        <p:txBody>
          <a:bodyPr wrap="square" lIns="0" tIns="0" rIns="0" bIns="0" rtlCol="0" anchor="ctr"/>
          <a:lstStyle/>
          <a:p>
            <a:pPr indent="0" marL="0">
              <a:buNone/>
            </a:pPr>
            <a:r>
              <a:rPr lang="en-US" sz="900" b="1" spc="140" kern="0" dirty="0">
                <a:solidFill>
                  <a:srgbClr val="A8322D"/>
                </a:solidFill>
                <a:latin typeface="Calibri" pitchFamily="34" charset="0"/>
                <a:ea typeface="Calibri" pitchFamily="34" charset="-122"/>
                <a:cs typeface="Calibri" pitchFamily="34" charset="-120"/>
              </a:rPr>
              <a:t>ONE CORRECTION WORTH CARRYING</a:t>
            </a:r>
            <a:endParaRPr lang="en-US" sz="900" dirty="0"/>
          </a:p>
        </p:txBody>
      </p:sp>
      <p:sp>
        <p:nvSpPr>
          <p:cNvPr id="10" name="Text 7"/>
          <p:cNvSpPr txBox="1"/>
          <p:nvPr/>
        </p:nvSpPr>
        <p:spPr>
          <a:xfrm>
            <a:off x="804672" y="5266944"/>
            <a:ext cx="10582351" cy="329184"/>
          </a:xfrm>
          <a:prstGeom prst="rect">
            <a:avLst/>
          </a:prstGeom>
          <a:noFill/>
          <a:ln/>
        </p:spPr>
        <p:txBody>
          <a:bodyPr wrap="square" lIns="0" tIns="0" rIns="0" bIns="0" rtlCol="0" anchor="t"/>
          <a:lstStyle/>
          <a:p>
            <a:pPr indent="0" marL="0">
              <a:lnSpc>
                <a:spcPct val="115000"/>
              </a:lnSpc>
              <a:buNone/>
            </a:pPr>
            <a:r>
              <a:rPr lang="en-US" sz="1050" dirty="0">
                <a:solidFill>
                  <a:srgbClr val="4A2220"/>
                </a:solidFill>
                <a:latin typeface="Calibri" pitchFamily="34" charset="0"/>
                <a:ea typeface="Calibri" pitchFamily="34" charset="-122"/>
                <a:cs typeface="Calibri" pitchFamily="34" charset="-120"/>
              </a:rPr>
              <a:t>Grupo Rey is routinely listed as a Panamanian family group. It is not — Ecuador's Corporación Favorita has held 73% since 2019. Similarly, FIFCO is no longer the Costa Rican beverage business: the operating assets went to Heineken, and FIFCO retains 25% stakes plus real estate.</a:t>
            </a:r>
            <a:endParaRPr lang="en-US" sz="10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D99A2B"/>
                </a:solidFill>
                <a:latin typeface="Calibri" pitchFamily="34" charset="0"/>
                <a:ea typeface="Calibri" pitchFamily="34" charset="-122"/>
                <a:cs typeface="Calibri" pitchFamily="34" charset="-120"/>
              </a:rPr>
              <a:t>THE PROSPECTING LIST</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Who just got liquid, and when</a:t>
            </a:r>
            <a:endParaRPr lang="en-US" sz="3000" dirty="0"/>
          </a:p>
        </p:txBody>
      </p:sp>
      <p:sp>
        <p:nvSpPr>
          <p:cNvPr id="4" name="Text 2"/>
          <p:cNvSpPr txBox="1"/>
          <p:nvPr/>
        </p:nvSpPr>
        <p:spPr>
          <a:xfrm>
            <a:off x="566928" y="1097280"/>
            <a:ext cx="10424160" cy="274320"/>
          </a:xfrm>
          <a:prstGeom prst="rect">
            <a:avLst/>
          </a:prstGeom>
          <a:noFill/>
          <a:ln/>
        </p:spPr>
        <p:txBody>
          <a:bodyPr wrap="square" lIns="0" tIns="0" rIns="0" bIns="0" rtlCol="0" anchor="t"/>
          <a:lstStyle/>
          <a:p>
            <a:pPr indent="0" marL="0">
              <a:lnSpc>
                <a:spcPct val="116000"/>
              </a:lnSpc>
              <a:buNone/>
            </a:pPr>
            <a:r>
              <a:rPr lang="en-US" sz="1150" dirty="0">
                <a:solidFill>
                  <a:srgbClr val="AFC4C9"/>
                </a:solidFill>
                <a:latin typeface="Calibri" pitchFamily="34" charset="0"/>
                <a:ea typeface="Calibri" pitchFamily="34" charset="-122"/>
                <a:cs typeface="Calibri" pitchFamily="34" charset="-120"/>
              </a:rPr>
              <a:t>A closed transaction with a date and a number tells you which family has cash and roughly when it landed.</a:t>
            </a:r>
            <a:endParaRPr lang="en-US" sz="1150" dirty="0"/>
          </a:p>
        </p:txBody>
      </p:sp>
      <p:sp>
        <p:nvSpPr>
          <p:cNvPr id="5" name="Shape 3"/>
          <p:cNvSpPr/>
          <p:nvPr/>
        </p:nvSpPr>
        <p:spPr>
          <a:xfrm>
            <a:off x="566928" y="1408176"/>
            <a:ext cx="11057839" cy="333756"/>
          </a:xfrm>
          <a:prstGeom prst="rect">
            <a:avLst/>
          </a:prstGeom>
          <a:solidFill>
            <a:srgbClr val="0B3B45"/>
          </a:solidFill>
          <a:ln/>
        </p:spPr>
      </p:sp>
      <p:sp>
        <p:nvSpPr>
          <p:cNvPr id="6" name="Text 4"/>
          <p:cNvSpPr txBox="1"/>
          <p:nvPr/>
        </p:nvSpPr>
        <p:spPr>
          <a:xfrm>
            <a:off x="694944" y="1408176"/>
            <a:ext cx="2331720" cy="333756"/>
          </a:xfrm>
          <a:prstGeom prst="rect">
            <a:avLst/>
          </a:prstGeom>
          <a:noFill/>
          <a:ln/>
        </p:spPr>
        <p:txBody>
          <a:bodyPr wrap="square" lIns="0" tIns="0" rIns="0" bIns="0" rtlCol="0" anchor="ctr"/>
          <a:lstStyle/>
          <a:p>
            <a:pPr indent="0" marL="0">
              <a:buNone/>
            </a:pPr>
            <a:r>
              <a:rPr lang="en-US" sz="800" dirty="0">
                <a:solidFill>
                  <a:srgbClr val="F0D9A8"/>
                </a:solidFill>
                <a:latin typeface="Calibri" pitchFamily="34" charset="0"/>
                <a:ea typeface="Calibri" pitchFamily="34" charset="-122"/>
                <a:cs typeface="Calibri" pitchFamily="34" charset="-120"/>
              </a:rPr>
              <a:t>22 Sep 2025 (close H1-2026)</a:t>
            </a:r>
            <a:endParaRPr lang="en-US" sz="800" dirty="0"/>
          </a:p>
        </p:txBody>
      </p:sp>
      <p:sp>
        <p:nvSpPr>
          <p:cNvPr id="7" name="Text 5"/>
          <p:cNvSpPr txBox="1"/>
          <p:nvPr/>
        </p:nvSpPr>
        <p:spPr>
          <a:xfrm>
            <a:off x="3090672" y="1408176"/>
            <a:ext cx="2148840" cy="333756"/>
          </a:xfrm>
          <a:prstGeom prst="rect">
            <a:avLst/>
          </a:prstGeom>
          <a:noFill/>
          <a:ln/>
        </p:spPr>
        <p:txBody>
          <a:bodyPr wrap="square" lIns="0" tIns="0" rIns="0" bIns="0" rtlCol="0" anchor="ctr"/>
          <a:lstStyle/>
          <a:p>
            <a:pPr indent="0" marL="0">
              <a:buNone/>
            </a:pPr>
            <a:r>
              <a:rPr lang="en-US" sz="800" b="1" dirty="0">
                <a:solidFill>
                  <a:srgbClr val="9BC4CC"/>
                </a:solidFill>
                <a:latin typeface="Calibri" pitchFamily="34" charset="0"/>
                <a:ea typeface="Calibri" pitchFamily="34" charset="-122"/>
                <a:cs typeface="Calibri" pitchFamily="34" charset="-120"/>
              </a:rPr>
              <a:t>Costa Rica</a:t>
            </a:r>
            <a:endParaRPr lang="en-US" sz="800" dirty="0"/>
          </a:p>
        </p:txBody>
      </p:sp>
      <p:sp>
        <p:nvSpPr>
          <p:cNvPr id="8" name="Text 6"/>
          <p:cNvSpPr txBox="1"/>
          <p:nvPr/>
        </p:nvSpPr>
        <p:spPr>
          <a:xfrm>
            <a:off x="5321808" y="1408176"/>
            <a:ext cx="4709160" cy="33375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Heineken acquires FIFCO's beverage and retail businesses</a:t>
            </a:r>
            <a:endParaRPr lang="en-US" sz="850" dirty="0"/>
          </a:p>
        </p:txBody>
      </p:sp>
      <p:sp>
        <p:nvSpPr>
          <p:cNvPr id="9" name="Text 7"/>
          <p:cNvSpPr txBox="1"/>
          <p:nvPr/>
        </p:nvSpPr>
        <p:spPr>
          <a:xfrm>
            <a:off x="10076688" y="1408176"/>
            <a:ext cx="1417320" cy="333756"/>
          </a:xfrm>
          <a:prstGeom prst="rect">
            <a:avLst/>
          </a:prstGeom>
          <a:noFill/>
          <a:ln/>
        </p:spPr>
        <p:txBody>
          <a:bodyPr wrap="square" lIns="0" tIns="0" rIns="0" bIns="0" rtlCol="0" anchor="ctr"/>
          <a:lstStyle/>
          <a:p>
            <a:pPr algn="r" indent="0" marL="0">
              <a:buNone/>
            </a:pPr>
            <a:r>
              <a:rPr lang="en-US" sz="850" b="1" dirty="0">
                <a:solidFill>
                  <a:srgbClr val="D99A2B"/>
                </a:solidFill>
                <a:latin typeface="Calibri" pitchFamily="34" charset="0"/>
                <a:ea typeface="Calibri" pitchFamily="34" charset="-122"/>
                <a:cs typeface="Calibri" pitchFamily="34" charset="-120"/>
              </a:rPr>
              <a:t>USD 3.2bn</a:t>
            </a:r>
            <a:endParaRPr lang="en-US" sz="850" dirty="0"/>
          </a:p>
        </p:txBody>
      </p:sp>
      <p:sp>
        <p:nvSpPr>
          <p:cNvPr id="10" name="Shape 8"/>
          <p:cNvSpPr/>
          <p:nvPr/>
        </p:nvSpPr>
        <p:spPr>
          <a:xfrm>
            <a:off x="566928" y="1769364"/>
            <a:ext cx="11057839" cy="333756"/>
          </a:xfrm>
          <a:prstGeom prst="rect">
            <a:avLst/>
          </a:prstGeom>
          <a:solidFill>
            <a:srgbClr val="0F444D"/>
          </a:solidFill>
          <a:ln/>
        </p:spPr>
      </p:sp>
      <p:sp>
        <p:nvSpPr>
          <p:cNvPr id="11" name="Text 9"/>
          <p:cNvSpPr txBox="1"/>
          <p:nvPr/>
        </p:nvSpPr>
        <p:spPr>
          <a:xfrm>
            <a:off x="694944" y="1769364"/>
            <a:ext cx="2331720" cy="333756"/>
          </a:xfrm>
          <a:prstGeom prst="rect">
            <a:avLst/>
          </a:prstGeom>
          <a:noFill/>
          <a:ln/>
        </p:spPr>
        <p:txBody>
          <a:bodyPr wrap="square" lIns="0" tIns="0" rIns="0" bIns="0" rtlCol="0" anchor="ctr"/>
          <a:lstStyle/>
          <a:p>
            <a:pPr indent="0" marL="0">
              <a:buNone/>
            </a:pPr>
            <a:r>
              <a:rPr lang="en-US" sz="800" dirty="0">
                <a:solidFill>
                  <a:srgbClr val="F0D9A8"/>
                </a:solidFill>
                <a:latin typeface="Calibri" pitchFamily="34" charset="0"/>
                <a:ea typeface="Calibri" pitchFamily="34" charset="-122"/>
                <a:cs typeface="Calibri" pitchFamily="34" charset="-120"/>
              </a:rPr>
              <a:t>Announced 18 Dec 2025, closed 30 Jun 2026</a:t>
            </a:r>
            <a:endParaRPr lang="en-US" sz="800" dirty="0"/>
          </a:p>
        </p:txBody>
      </p:sp>
      <p:sp>
        <p:nvSpPr>
          <p:cNvPr id="12" name="Text 10"/>
          <p:cNvSpPr txBox="1"/>
          <p:nvPr/>
        </p:nvSpPr>
        <p:spPr>
          <a:xfrm>
            <a:off x="3090672" y="1769364"/>
            <a:ext cx="2148840" cy="333756"/>
          </a:xfrm>
          <a:prstGeom prst="rect">
            <a:avLst/>
          </a:prstGeom>
          <a:noFill/>
          <a:ln/>
        </p:spPr>
        <p:txBody>
          <a:bodyPr wrap="square" lIns="0" tIns="0" rIns="0" bIns="0" rtlCol="0" anchor="ctr"/>
          <a:lstStyle/>
          <a:p>
            <a:pPr indent="0" marL="0">
              <a:buNone/>
            </a:pPr>
            <a:r>
              <a:rPr lang="en-US" sz="800" b="1" dirty="0">
                <a:solidFill>
                  <a:srgbClr val="9BC4CC"/>
                </a:solidFill>
                <a:latin typeface="Calibri" pitchFamily="34" charset="0"/>
                <a:ea typeface="Calibri" pitchFamily="34" charset="-122"/>
                <a:cs typeface="Calibri" pitchFamily="34" charset="-120"/>
              </a:rPr>
              <a:t>Panama / Colombia / El Salvador</a:t>
            </a:r>
            <a:endParaRPr lang="en-US" sz="800" dirty="0"/>
          </a:p>
        </p:txBody>
      </p:sp>
      <p:sp>
        <p:nvSpPr>
          <p:cNvPr id="13" name="Text 11"/>
          <p:cNvSpPr txBox="1"/>
          <p:nvPr/>
        </p:nvSpPr>
        <p:spPr>
          <a:xfrm>
            <a:off x="5321808" y="1769364"/>
            <a:ext cx="4709160" cy="33375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Grupo Cibest sells Banistmo to Inversiones Cuscatlán</a:t>
            </a:r>
            <a:endParaRPr lang="en-US" sz="850" dirty="0"/>
          </a:p>
        </p:txBody>
      </p:sp>
      <p:sp>
        <p:nvSpPr>
          <p:cNvPr id="14" name="Text 12"/>
          <p:cNvSpPr txBox="1"/>
          <p:nvPr/>
        </p:nvSpPr>
        <p:spPr>
          <a:xfrm>
            <a:off x="10076688" y="1769364"/>
            <a:ext cx="1417320" cy="333756"/>
          </a:xfrm>
          <a:prstGeom prst="rect">
            <a:avLst/>
          </a:prstGeom>
          <a:noFill/>
          <a:ln/>
        </p:spPr>
        <p:txBody>
          <a:bodyPr wrap="square" lIns="0" tIns="0" rIns="0" bIns="0" rtlCol="0" anchor="ctr"/>
          <a:lstStyle/>
          <a:p>
            <a:pPr algn="r" indent="0" marL="0">
              <a:buNone/>
            </a:pPr>
            <a:r>
              <a:rPr lang="en-US" sz="850" b="1" dirty="0">
                <a:solidFill>
                  <a:srgbClr val="D99A2B"/>
                </a:solidFill>
                <a:latin typeface="Calibri" pitchFamily="34" charset="0"/>
                <a:ea typeface="Calibri" pitchFamily="34" charset="-122"/>
                <a:cs typeface="Calibri" pitchFamily="34" charset="-120"/>
              </a:rPr>
              <a:t>USD 1.418bn</a:t>
            </a:r>
            <a:endParaRPr lang="en-US" sz="850" dirty="0"/>
          </a:p>
        </p:txBody>
      </p:sp>
      <p:sp>
        <p:nvSpPr>
          <p:cNvPr id="15" name="Shape 13"/>
          <p:cNvSpPr/>
          <p:nvPr/>
        </p:nvSpPr>
        <p:spPr>
          <a:xfrm>
            <a:off x="566928" y="2130552"/>
            <a:ext cx="11057839" cy="333756"/>
          </a:xfrm>
          <a:prstGeom prst="rect">
            <a:avLst/>
          </a:prstGeom>
          <a:solidFill>
            <a:srgbClr val="0B3B45"/>
          </a:solidFill>
          <a:ln/>
        </p:spPr>
      </p:sp>
      <p:sp>
        <p:nvSpPr>
          <p:cNvPr id="16" name="Text 14"/>
          <p:cNvSpPr txBox="1"/>
          <p:nvPr/>
        </p:nvSpPr>
        <p:spPr>
          <a:xfrm>
            <a:off x="694944" y="2130552"/>
            <a:ext cx="2331720" cy="333756"/>
          </a:xfrm>
          <a:prstGeom prst="rect">
            <a:avLst/>
          </a:prstGeom>
          <a:noFill/>
          <a:ln/>
        </p:spPr>
        <p:txBody>
          <a:bodyPr wrap="square" lIns="0" tIns="0" rIns="0" bIns="0" rtlCol="0" anchor="ctr"/>
          <a:lstStyle/>
          <a:p>
            <a:pPr indent="0" marL="0">
              <a:buNone/>
            </a:pPr>
            <a:r>
              <a:rPr lang="en-US" sz="800" dirty="0">
                <a:solidFill>
                  <a:srgbClr val="F0D9A8"/>
                </a:solidFill>
                <a:latin typeface="Calibri" pitchFamily="34" charset="0"/>
                <a:ea typeface="Calibri" pitchFamily="34" charset="-122"/>
                <a:cs typeface="Calibri" pitchFamily="34" charset="-120"/>
              </a:rPr>
              <a:t>Mar 2026 / Aug 2026</a:t>
            </a:r>
            <a:endParaRPr lang="en-US" sz="800" dirty="0"/>
          </a:p>
        </p:txBody>
      </p:sp>
      <p:sp>
        <p:nvSpPr>
          <p:cNvPr id="17" name="Text 15"/>
          <p:cNvSpPr txBox="1"/>
          <p:nvPr/>
        </p:nvSpPr>
        <p:spPr>
          <a:xfrm>
            <a:off x="3090672" y="2130552"/>
            <a:ext cx="2148840" cy="333756"/>
          </a:xfrm>
          <a:prstGeom prst="rect">
            <a:avLst/>
          </a:prstGeom>
          <a:noFill/>
          <a:ln/>
        </p:spPr>
        <p:txBody>
          <a:bodyPr wrap="square" lIns="0" tIns="0" rIns="0" bIns="0" rtlCol="0" anchor="ctr"/>
          <a:lstStyle/>
          <a:p>
            <a:pPr indent="0" marL="0">
              <a:buNone/>
            </a:pPr>
            <a:r>
              <a:rPr lang="en-US" sz="800" b="1" dirty="0">
                <a:solidFill>
                  <a:srgbClr val="9BC4CC"/>
                </a:solidFill>
                <a:latin typeface="Calibri" pitchFamily="34" charset="0"/>
                <a:ea typeface="Calibri" pitchFamily="34" charset="-122"/>
                <a:cs typeface="Calibri" pitchFamily="34" charset="-120"/>
              </a:rPr>
              <a:t>Colombia</a:t>
            </a:r>
            <a:endParaRPr lang="en-US" sz="800" dirty="0"/>
          </a:p>
        </p:txBody>
      </p:sp>
      <p:sp>
        <p:nvSpPr>
          <p:cNvPr id="18" name="Text 16"/>
          <p:cNvSpPr txBox="1"/>
          <p:nvPr/>
        </p:nvSpPr>
        <p:spPr>
          <a:xfrm>
            <a:off x="5321808" y="2130552"/>
            <a:ext cx="4709160" cy="33375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Grupo Cibest buyback + extraordinary dividend</a:t>
            </a:r>
            <a:endParaRPr lang="en-US" sz="850" dirty="0"/>
          </a:p>
        </p:txBody>
      </p:sp>
      <p:sp>
        <p:nvSpPr>
          <p:cNvPr id="19" name="Text 17"/>
          <p:cNvSpPr txBox="1"/>
          <p:nvPr/>
        </p:nvSpPr>
        <p:spPr>
          <a:xfrm>
            <a:off x="10076688" y="2130552"/>
            <a:ext cx="1417320" cy="333756"/>
          </a:xfrm>
          <a:prstGeom prst="rect">
            <a:avLst/>
          </a:prstGeom>
          <a:noFill/>
          <a:ln/>
        </p:spPr>
        <p:txBody>
          <a:bodyPr wrap="square" lIns="0" tIns="0" rIns="0" bIns="0" rtlCol="0" anchor="ctr"/>
          <a:lstStyle/>
          <a:p>
            <a:pPr algn="r" indent="0" marL="0">
              <a:buNone/>
            </a:pPr>
            <a:r>
              <a:rPr lang="en-US" sz="850" b="1" dirty="0">
                <a:solidFill>
                  <a:srgbClr val="D99A2B"/>
                </a:solidFill>
                <a:latin typeface="Calibri" pitchFamily="34" charset="0"/>
                <a:ea typeface="Calibri" pitchFamily="34" charset="-122"/>
                <a:cs typeface="Calibri" pitchFamily="34" charset="-120"/>
              </a:rPr>
              <a:t>COP 1.35tn + COP 1.2tn</a:t>
            </a:r>
            <a:endParaRPr lang="en-US" sz="850" dirty="0"/>
          </a:p>
        </p:txBody>
      </p:sp>
      <p:sp>
        <p:nvSpPr>
          <p:cNvPr id="20" name="Shape 18"/>
          <p:cNvSpPr/>
          <p:nvPr/>
        </p:nvSpPr>
        <p:spPr>
          <a:xfrm>
            <a:off x="566928" y="2491740"/>
            <a:ext cx="11057839" cy="333756"/>
          </a:xfrm>
          <a:prstGeom prst="rect">
            <a:avLst/>
          </a:prstGeom>
          <a:solidFill>
            <a:srgbClr val="0F444D"/>
          </a:solidFill>
          <a:ln/>
        </p:spPr>
      </p:sp>
      <p:sp>
        <p:nvSpPr>
          <p:cNvPr id="21" name="Text 19"/>
          <p:cNvSpPr txBox="1"/>
          <p:nvPr/>
        </p:nvSpPr>
        <p:spPr>
          <a:xfrm>
            <a:off x="694944" y="2491740"/>
            <a:ext cx="2331720" cy="333756"/>
          </a:xfrm>
          <a:prstGeom prst="rect">
            <a:avLst/>
          </a:prstGeom>
          <a:noFill/>
          <a:ln/>
        </p:spPr>
        <p:txBody>
          <a:bodyPr wrap="square" lIns="0" tIns="0" rIns="0" bIns="0" rtlCol="0" anchor="ctr"/>
          <a:lstStyle/>
          <a:p>
            <a:pPr indent="0" marL="0">
              <a:buNone/>
            </a:pPr>
            <a:r>
              <a:rPr lang="en-US" sz="800" dirty="0">
                <a:solidFill>
                  <a:srgbClr val="F0D9A8"/>
                </a:solidFill>
                <a:latin typeface="Calibri" pitchFamily="34" charset="0"/>
                <a:ea typeface="Calibri" pitchFamily="34" charset="-122"/>
                <a:cs typeface="Calibri" pitchFamily="34" charset="-120"/>
              </a:rPr>
              <a:t>26 Jan 2024 (control since)</a:t>
            </a:r>
            <a:endParaRPr lang="en-US" sz="800" dirty="0"/>
          </a:p>
        </p:txBody>
      </p:sp>
      <p:sp>
        <p:nvSpPr>
          <p:cNvPr id="22" name="Text 20"/>
          <p:cNvSpPr txBox="1"/>
          <p:nvPr/>
        </p:nvSpPr>
        <p:spPr>
          <a:xfrm>
            <a:off x="3090672" y="2491740"/>
            <a:ext cx="2148840" cy="333756"/>
          </a:xfrm>
          <a:prstGeom prst="rect">
            <a:avLst/>
          </a:prstGeom>
          <a:noFill/>
          <a:ln/>
        </p:spPr>
        <p:txBody>
          <a:bodyPr wrap="square" lIns="0" tIns="0" rIns="0" bIns="0" rtlCol="0" anchor="ctr"/>
          <a:lstStyle/>
          <a:p>
            <a:pPr indent="0" marL="0">
              <a:buNone/>
            </a:pPr>
            <a:r>
              <a:rPr lang="en-US" sz="800" b="1" dirty="0">
                <a:solidFill>
                  <a:srgbClr val="9BC4CC"/>
                </a:solidFill>
                <a:latin typeface="Calibri" pitchFamily="34" charset="0"/>
                <a:ea typeface="Calibri" pitchFamily="34" charset="-122"/>
                <a:cs typeface="Calibri" pitchFamily="34" charset="-120"/>
              </a:rPr>
              <a:t>El Salvador / Colombia</a:t>
            </a:r>
            <a:endParaRPr lang="en-US" sz="800" dirty="0"/>
          </a:p>
        </p:txBody>
      </p:sp>
      <p:sp>
        <p:nvSpPr>
          <p:cNvPr id="23" name="Text 21"/>
          <p:cNvSpPr txBox="1"/>
          <p:nvPr/>
        </p:nvSpPr>
        <p:spPr>
          <a:xfrm>
            <a:off x="5321808" y="2491740"/>
            <a:ext cx="4709160" cy="33375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Grupo Calleja takes control of Grupo Éxito</a:t>
            </a:r>
            <a:endParaRPr lang="en-US" sz="850" dirty="0"/>
          </a:p>
        </p:txBody>
      </p:sp>
      <p:sp>
        <p:nvSpPr>
          <p:cNvPr id="24" name="Text 22"/>
          <p:cNvSpPr txBox="1"/>
          <p:nvPr/>
        </p:nvSpPr>
        <p:spPr>
          <a:xfrm>
            <a:off x="10076688" y="2491740"/>
            <a:ext cx="1417320" cy="333756"/>
          </a:xfrm>
          <a:prstGeom prst="rect">
            <a:avLst/>
          </a:prstGeom>
          <a:noFill/>
          <a:ln/>
        </p:spPr>
        <p:txBody>
          <a:bodyPr wrap="square" lIns="0" tIns="0" rIns="0" bIns="0" rtlCol="0" anchor="ctr"/>
          <a:lstStyle/>
          <a:p>
            <a:pPr algn="r" indent="0" marL="0">
              <a:buNone/>
            </a:pPr>
            <a:r>
              <a:rPr lang="en-US" sz="850" b="1" dirty="0">
                <a:solidFill>
                  <a:srgbClr val="D99A2B"/>
                </a:solidFill>
                <a:latin typeface="Calibri" pitchFamily="34" charset="0"/>
                <a:ea typeface="Calibri" pitchFamily="34" charset="-122"/>
                <a:cs typeface="Calibri" pitchFamily="34" charset="-120"/>
              </a:rPr>
              <a:t>EUR 400m for 34%, now &gt;56%</a:t>
            </a:r>
            <a:endParaRPr lang="en-US" sz="850" dirty="0"/>
          </a:p>
        </p:txBody>
      </p:sp>
      <p:sp>
        <p:nvSpPr>
          <p:cNvPr id="25" name="Shape 23"/>
          <p:cNvSpPr/>
          <p:nvPr/>
        </p:nvSpPr>
        <p:spPr>
          <a:xfrm>
            <a:off x="566928" y="2852928"/>
            <a:ext cx="11057839" cy="333756"/>
          </a:xfrm>
          <a:prstGeom prst="rect">
            <a:avLst/>
          </a:prstGeom>
          <a:solidFill>
            <a:srgbClr val="0B3B45"/>
          </a:solidFill>
          <a:ln/>
        </p:spPr>
      </p:sp>
      <p:sp>
        <p:nvSpPr>
          <p:cNvPr id="26" name="Text 24"/>
          <p:cNvSpPr txBox="1"/>
          <p:nvPr/>
        </p:nvSpPr>
        <p:spPr>
          <a:xfrm>
            <a:off x="694944" y="2852928"/>
            <a:ext cx="2331720" cy="333756"/>
          </a:xfrm>
          <a:prstGeom prst="rect">
            <a:avLst/>
          </a:prstGeom>
          <a:noFill/>
          <a:ln/>
        </p:spPr>
        <p:txBody>
          <a:bodyPr wrap="square" lIns="0" tIns="0" rIns="0" bIns="0" rtlCol="0" anchor="ctr"/>
          <a:lstStyle/>
          <a:p>
            <a:pPr indent="0" marL="0">
              <a:buNone/>
            </a:pPr>
            <a:r>
              <a:rPr lang="en-US" sz="800" dirty="0">
                <a:solidFill>
                  <a:srgbClr val="F0D9A8"/>
                </a:solidFill>
                <a:latin typeface="Calibri" pitchFamily="34" charset="0"/>
                <a:ea typeface="Calibri" pitchFamily="34" charset="-122"/>
                <a:cs typeface="Calibri" pitchFamily="34" charset="-120"/>
              </a:rPr>
              <a:t>1 Dec 2025</a:t>
            </a:r>
            <a:endParaRPr lang="en-US" sz="800" dirty="0"/>
          </a:p>
        </p:txBody>
      </p:sp>
      <p:sp>
        <p:nvSpPr>
          <p:cNvPr id="27" name="Text 25"/>
          <p:cNvSpPr txBox="1"/>
          <p:nvPr/>
        </p:nvSpPr>
        <p:spPr>
          <a:xfrm>
            <a:off x="3090672" y="2852928"/>
            <a:ext cx="2148840" cy="333756"/>
          </a:xfrm>
          <a:prstGeom prst="rect">
            <a:avLst/>
          </a:prstGeom>
          <a:noFill/>
          <a:ln/>
        </p:spPr>
        <p:txBody>
          <a:bodyPr wrap="square" lIns="0" tIns="0" rIns="0" bIns="0" rtlCol="0" anchor="ctr"/>
          <a:lstStyle/>
          <a:p>
            <a:pPr indent="0" marL="0">
              <a:buNone/>
            </a:pPr>
            <a:r>
              <a:rPr lang="en-US" sz="800" b="1" dirty="0">
                <a:solidFill>
                  <a:srgbClr val="9BC4CC"/>
                </a:solidFill>
                <a:latin typeface="Calibri" pitchFamily="34" charset="0"/>
                <a:ea typeface="Calibri" pitchFamily="34" charset="-122"/>
                <a:cs typeface="Calibri" pitchFamily="34" charset="-120"/>
              </a:rPr>
              <a:t>Colombia / Costa Rica / Panama</a:t>
            </a:r>
            <a:endParaRPr lang="en-US" sz="800" dirty="0"/>
          </a:p>
        </p:txBody>
      </p:sp>
      <p:sp>
        <p:nvSpPr>
          <p:cNvPr id="28" name="Text 26"/>
          <p:cNvSpPr txBox="1"/>
          <p:nvPr/>
        </p:nvSpPr>
        <p:spPr>
          <a:xfrm>
            <a:off x="5321808" y="2852928"/>
            <a:ext cx="4709160" cy="33375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Davivienda closes Scotiabank COL/CR/PAN; Scotiabank takes ~20% of Davivienda Group</a:t>
            </a:r>
            <a:endParaRPr lang="en-US" sz="850" dirty="0"/>
          </a:p>
        </p:txBody>
      </p:sp>
      <p:sp>
        <p:nvSpPr>
          <p:cNvPr id="29" name="Text 27"/>
          <p:cNvSpPr txBox="1"/>
          <p:nvPr/>
        </p:nvSpPr>
        <p:spPr>
          <a:xfrm>
            <a:off x="10076688" y="2852928"/>
            <a:ext cx="1417320" cy="333756"/>
          </a:xfrm>
          <a:prstGeom prst="rect">
            <a:avLst/>
          </a:prstGeom>
          <a:noFill/>
          <a:ln/>
        </p:spPr>
        <p:txBody>
          <a:bodyPr wrap="square" lIns="0" tIns="0" rIns="0" bIns="0" rtlCol="0" anchor="ctr"/>
          <a:lstStyle/>
          <a:p>
            <a:pPr algn="r" indent="0" marL="0">
              <a:buNone/>
            </a:pPr>
            <a:r>
              <a:rPr lang="en-US" sz="850" b="1" dirty="0">
                <a:solidFill>
                  <a:srgbClr val="D99A2B"/>
                </a:solidFill>
                <a:latin typeface="Calibri" pitchFamily="34" charset="0"/>
                <a:ea typeface="Calibri" pitchFamily="34" charset="-122"/>
                <a:cs typeface="Calibri" pitchFamily="34" charset="-120"/>
              </a:rPr>
              <a:t>-</a:t>
            </a:r>
            <a:endParaRPr lang="en-US" sz="850" dirty="0"/>
          </a:p>
        </p:txBody>
      </p:sp>
      <p:sp>
        <p:nvSpPr>
          <p:cNvPr id="30" name="Shape 28"/>
          <p:cNvSpPr/>
          <p:nvPr/>
        </p:nvSpPr>
        <p:spPr>
          <a:xfrm>
            <a:off x="566928" y="3214116"/>
            <a:ext cx="11057839" cy="333756"/>
          </a:xfrm>
          <a:prstGeom prst="rect">
            <a:avLst/>
          </a:prstGeom>
          <a:solidFill>
            <a:srgbClr val="0F444D"/>
          </a:solidFill>
          <a:ln/>
        </p:spPr>
      </p:sp>
      <p:sp>
        <p:nvSpPr>
          <p:cNvPr id="31" name="Text 29"/>
          <p:cNvSpPr txBox="1"/>
          <p:nvPr/>
        </p:nvSpPr>
        <p:spPr>
          <a:xfrm>
            <a:off x="694944" y="3214116"/>
            <a:ext cx="2331720" cy="333756"/>
          </a:xfrm>
          <a:prstGeom prst="rect">
            <a:avLst/>
          </a:prstGeom>
          <a:noFill/>
          <a:ln/>
        </p:spPr>
        <p:txBody>
          <a:bodyPr wrap="square" lIns="0" tIns="0" rIns="0" bIns="0" rtlCol="0" anchor="ctr"/>
          <a:lstStyle/>
          <a:p>
            <a:pPr indent="0" marL="0">
              <a:buNone/>
            </a:pPr>
            <a:r>
              <a:rPr lang="en-US" sz="800" dirty="0">
                <a:solidFill>
                  <a:srgbClr val="F0D9A8"/>
                </a:solidFill>
                <a:latin typeface="Calibri" pitchFamily="34" charset="0"/>
                <a:ea typeface="Calibri" pitchFamily="34" charset="-122"/>
                <a:cs typeface="Calibri" pitchFamily="34" charset="-120"/>
              </a:rPr>
              <a:t>1 Sep 2026</a:t>
            </a:r>
            <a:endParaRPr lang="en-US" sz="800" dirty="0"/>
          </a:p>
        </p:txBody>
      </p:sp>
      <p:sp>
        <p:nvSpPr>
          <p:cNvPr id="32" name="Text 30"/>
          <p:cNvSpPr txBox="1"/>
          <p:nvPr/>
        </p:nvSpPr>
        <p:spPr>
          <a:xfrm>
            <a:off x="3090672" y="3214116"/>
            <a:ext cx="2148840" cy="333756"/>
          </a:xfrm>
          <a:prstGeom prst="rect">
            <a:avLst/>
          </a:prstGeom>
          <a:noFill/>
          <a:ln/>
        </p:spPr>
        <p:txBody>
          <a:bodyPr wrap="square" lIns="0" tIns="0" rIns="0" bIns="0" rtlCol="0" anchor="ctr"/>
          <a:lstStyle/>
          <a:p>
            <a:pPr indent="0" marL="0">
              <a:buNone/>
            </a:pPr>
            <a:r>
              <a:rPr lang="en-US" sz="800" b="1" dirty="0">
                <a:solidFill>
                  <a:srgbClr val="9BC4CC"/>
                </a:solidFill>
                <a:latin typeface="Calibri" pitchFamily="34" charset="0"/>
                <a:ea typeface="Calibri" pitchFamily="34" charset="-122"/>
                <a:cs typeface="Calibri" pitchFamily="34" charset="-120"/>
              </a:rPr>
              <a:t>Colombia</a:t>
            </a:r>
            <a:endParaRPr lang="en-US" sz="800" dirty="0"/>
          </a:p>
        </p:txBody>
      </p:sp>
      <p:sp>
        <p:nvSpPr>
          <p:cNvPr id="33" name="Text 31"/>
          <p:cNvSpPr txBox="1"/>
          <p:nvPr/>
        </p:nvSpPr>
        <p:spPr>
          <a:xfrm>
            <a:off x="5321808" y="3214116"/>
            <a:ext cx="4709160" cy="33375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Nequi spun out as an independent financing company</a:t>
            </a:r>
            <a:endParaRPr lang="en-US" sz="850" dirty="0"/>
          </a:p>
        </p:txBody>
      </p:sp>
      <p:sp>
        <p:nvSpPr>
          <p:cNvPr id="34" name="Text 32"/>
          <p:cNvSpPr txBox="1"/>
          <p:nvPr/>
        </p:nvSpPr>
        <p:spPr>
          <a:xfrm>
            <a:off x="10076688" y="3214116"/>
            <a:ext cx="1417320" cy="333756"/>
          </a:xfrm>
          <a:prstGeom prst="rect">
            <a:avLst/>
          </a:prstGeom>
          <a:noFill/>
          <a:ln/>
        </p:spPr>
        <p:txBody>
          <a:bodyPr wrap="square" lIns="0" tIns="0" rIns="0" bIns="0" rtlCol="0" anchor="ctr"/>
          <a:lstStyle/>
          <a:p>
            <a:pPr algn="r" indent="0" marL="0">
              <a:buNone/>
            </a:pPr>
            <a:r>
              <a:rPr lang="en-US" sz="850" b="1" dirty="0">
                <a:solidFill>
                  <a:srgbClr val="D99A2B"/>
                </a:solidFill>
                <a:latin typeface="Calibri" pitchFamily="34" charset="0"/>
                <a:ea typeface="Calibri" pitchFamily="34" charset="-122"/>
                <a:cs typeface="Calibri" pitchFamily="34" charset="-120"/>
              </a:rPr>
              <a:t>29m users</a:t>
            </a:r>
            <a:endParaRPr lang="en-US" sz="850" dirty="0"/>
          </a:p>
        </p:txBody>
      </p:sp>
      <p:sp>
        <p:nvSpPr>
          <p:cNvPr id="35" name="Shape 33"/>
          <p:cNvSpPr/>
          <p:nvPr/>
        </p:nvSpPr>
        <p:spPr>
          <a:xfrm>
            <a:off x="566928" y="3575304"/>
            <a:ext cx="11057839" cy="333756"/>
          </a:xfrm>
          <a:prstGeom prst="rect">
            <a:avLst/>
          </a:prstGeom>
          <a:solidFill>
            <a:srgbClr val="0B3B45"/>
          </a:solidFill>
          <a:ln/>
        </p:spPr>
      </p:sp>
      <p:sp>
        <p:nvSpPr>
          <p:cNvPr id="36" name="Text 34"/>
          <p:cNvSpPr txBox="1"/>
          <p:nvPr/>
        </p:nvSpPr>
        <p:spPr>
          <a:xfrm>
            <a:off x="694944" y="3575304"/>
            <a:ext cx="2331720" cy="333756"/>
          </a:xfrm>
          <a:prstGeom prst="rect">
            <a:avLst/>
          </a:prstGeom>
          <a:noFill/>
          <a:ln/>
        </p:spPr>
        <p:txBody>
          <a:bodyPr wrap="square" lIns="0" tIns="0" rIns="0" bIns="0" rtlCol="0" anchor="ctr"/>
          <a:lstStyle/>
          <a:p>
            <a:pPr indent="0" marL="0">
              <a:buNone/>
            </a:pPr>
            <a:r>
              <a:rPr lang="en-US" sz="800" dirty="0">
                <a:solidFill>
                  <a:srgbClr val="F0D9A8"/>
                </a:solidFill>
                <a:latin typeface="Calibri" pitchFamily="34" charset="0"/>
                <a:ea typeface="Calibri" pitchFamily="34" charset="-122"/>
                <a:cs typeface="Calibri" pitchFamily="34" charset="-120"/>
              </a:rPr>
              <a:t>30 Jan - Mar 2026</a:t>
            </a:r>
            <a:endParaRPr lang="en-US" sz="800" dirty="0"/>
          </a:p>
        </p:txBody>
      </p:sp>
      <p:sp>
        <p:nvSpPr>
          <p:cNvPr id="37" name="Text 35"/>
          <p:cNvSpPr txBox="1"/>
          <p:nvPr/>
        </p:nvSpPr>
        <p:spPr>
          <a:xfrm>
            <a:off x="3090672" y="3575304"/>
            <a:ext cx="2148840" cy="333756"/>
          </a:xfrm>
          <a:prstGeom prst="rect">
            <a:avLst/>
          </a:prstGeom>
          <a:noFill/>
          <a:ln/>
        </p:spPr>
        <p:txBody>
          <a:bodyPr wrap="square" lIns="0" tIns="0" rIns="0" bIns="0" rtlCol="0" anchor="ctr"/>
          <a:lstStyle/>
          <a:p>
            <a:pPr indent="0" marL="0">
              <a:buNone/>
            </a:pPr>
            <a:r>
              <a:rPr lang="en-US" sz="800" b="1" dirty="0">
                <a:solidFill>
                  <a:srgbClr val="9BC4CC"/>
                </a:solidFill>
                <a:latin typeface="Calibri" pitchFamily="34" charset="0"/>
                <a:ea typeface="Calibri" pitchFamily="34" charset="-122"/>
                <a:cs typeface="Calibri" pitchFamily="34" charset="-120"/>
              </a:rPr>
              <a:t>Panama</a:t>
            </a:r>
            <a:endParaRPr lang="en-US" sz="800" dirty="0"/>
          </a:p>
        </p:txBody>
      </p:sp>
      <p:sp>
        <p:nvSpPr>
          <p:cNvPr id="38" name="Text 36"/>
          <p:cNvSpPr txBox="1"/>
          <p:nvPr/>
        </p:nvSpPr>
        <p:spPr>
          <a:xfrm>
            <a:off x="5321808" y="3575304"/>
            <a:ext cx="4709160" cy="33375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Supreme Court voids the CK Hutchison ports concession; Panama carved out of the USD 22.8bn global deal</a:t>
            </a:r>
            <a:endParaRPr lang="en-US" sz="850" dirty="0"/>
          </a:p>
        </p:txBody>
      </p:sp>
      <p:sp>
        <p:nvSpPr>
          <p:cNvPr id="39" name="Text 37"/>
          <p:cNvSpPr txBox="1"/>
          <p:nvPr/>
        </p:nvSpPr>
        <p:spPr>
          <a:xfrm>
            <a:off x="10076688" y="3575304"/>
            <a:ext cx="1417320" cy="333756"/>
          </a:xfrm>
          <a:prstGeom prst="rect">
            <a:avLst/>
          </a:prstGeom>
          <a:noFill/>
          <a:ln/>
        </p:spPr>
        <p:txBody>
          <a:bodyPr wrap="square" lIns="0" tIns="0" rIns="0" bIns="0" rtlCol="0" anchor="ctr"/>
          <a:lstStyle/>
          <a:p>
            <a:pPr algn="r" indent="0" marL="0">
              <a:buNone/>
            </a:pPr>
            <a:r>
              <a:rPr lang="en-US" sz="850" b="1" dirty="0">
                <a:solidFill>
                  <a:srgbClr val="D99A2B"/>
                </a:solidFill>
                <a:latin typeface="Calibri" pitchFamily="34" charset="0"/>
                <a:ea typeface="Calibri" pitchFamily="34" charset="-122"/>
                <a:cs typeface="Calibri" pitchFamily="34" charset="-120"/>
              </a:rPr>
              <a:t>CKH arbitration &gt;USD 1.5bn</a:t>
            </a:r>
            <a:endParaRPr lang="en-US" sz="850" dirty="0"/>
          </a:p>
        </p:txBody>
      </p:sp>
      <p:sp>
        <p:nvSpPr>
          <p:cNvPr id="40" name="Shape 38"/>
          <p:cNvSpPr/>
          <p:nvPr/>
        </p:nvSpPr>
        <p:spPr>
          <a:xfrm>
            <a:off x="566928" y="3936492"/>
            <a:ext cx="11057839" cy="333756"/>
          </a:xfrm>
          <a:prstGeom prst="rect">
            <a:avLst/>
          </a:prstGeom>
          <a:solidFill>
            <a:srgbClr val="0F444D"/>
          </a:solidFill>
          <a:ln/>
        </p:spPr>
      </p:sp>
      <p:sp>
        <p:nvSpPr>
          <p:cNvPr id="41" name="Text 39"/>
          <p:cNvSpPr txBox="1"/>
          <p:nvPr/>
        </p:nvSpPr>
        <p:spPr>
          <a:xfrm>
            <a:off x="694944" y="3936492"/>
            <a:ext cx="2331720" cy="333756"/>
          </a:xfrm>
          <a:prstGeom prst="rect">
            <a:avLst/>
          </a:prstGeom>
          <a:noFill/>
          <a:ln/>
        </p:spPr>
        <p:txBody>
          <a:bodyPr wrap="square" lIns="0" tIns="0" rIns="0" bIns="0" rtlCol="0" anchor="ctr"/>
          <a:lstStyle/>
          <a:p>
            <a:pPr indent="0" marL="0">
              <a:buNone/>
            </a:pPr>
            <a:r>
              <a:rPr lang="en-US" sz="800" dirty="0">
                <a:solidFill>
                  <a:srgbClr val="F0D9A8"/>
                </a:solidFill>
                <a:latin typeface="Calibri" pitchFamily="34" charset="0"/>
                <a:ea typeface="Calibri" pitchFamily="34" charset="-122"/>
                <a:cs typeface="Calibri" pitchFamily="34" charset="-120"/>
              </a:rPr>
              <a:t>Jul 2026</a:t>
            </a:r>
            <a:endParaRPr lang="en-US" sz="800" dirty="0"/>
          </a:p>
        </p:txBody>
      </p:sp>
      <p:sp>
        <p:nvSpPr>
          <p:cNvPr id="42" name="Text 40"/>
          <p:cNvSpPr txBox="1"/>
          <p:nvPr/>
        </p:nvSpPr>
        <p:spPr>
          <a:xfrm>
            <a:off x="3090672" y="3936492"/>
            <a:ext cx="2148840" cy="333756"/>
          </a:xfrm>
          <a:prstGeom prst="rect">
            <a:avLst/>
          </a:prstGeom>
          <a:noFill/>
          <a:ln/>
        </p:spPr>
        <p:txBody>
          <a:bodyPr wrap="square" lIns="0" tIns="0" rIns="0" bIns="0" rtlCol="0" anchor="ctr"/>
          <a:lstStyle/>
          <a:p>
            <a:pPr indent="0" marL="0">
              <a:buNone/>
            </a:pPr>
            <a:r>
              <a:rPr lang="en-US" sz="800" b="1" dirty="0">
                <a:solidFill>
                  <a:srgbClr val="9BC4CC"/>
                </a:solidFill>
                <a:latin typeface="Calibri" pitchFamily="34" charset="0"/>
                <a:ea typeface="Calibri" pitchFamily="34" charset="-122"/>
                <a:cs typeface="Calibri" pitchFamily="34" charset="-120"/>
              </a:rPr>
              <a:t>Guyana / Trinidad</a:t>
            </a:r>
            <a:endParaRPr lang="en-US" sz="800" dirty="0"/>
          </a:p>
        </p:txBody>
      </p:sp>
      <p:sp>
        <p:nvSpPr>
          <p:cNvPr id="43" name="Text 41"/>
          <p:cNvSpPr txBox="1"/>
          <p:nvPr/>
        </p:nvSpPr>
        <p:spPr>
          <a:xfrm>
            <a:off x="5321808" y="3936492"/>
            <a:ext cx="4709160" cy="33375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IDB Invest facility to ANSA McAL — its largest ever</a:t>
            </a:r>
            <a:endParaRPr lang="en-US" sz="850" dirty="0"/>
          </a:p>
        </p:txBody>
      </p:sp>
      <p:sp>
        <p:nvSpPr>
          <p:cNvPr id="44" name="Text 42"/>
          <p:cNvSpPr txBox="1"/>
          <p:nvPr/>
        </p:nvSpPr>
        <p:spPr>
          <a:xfrm>
            <a:off x="10076688" y="3936492"/>
            <a:ext cx="1417320" cy="333756"/>
          </a:xfrm>
          <a:prstGeom prst="rect">
            <a:avLst/>
          </a:prstGeom>
          <a:noFill/>
          <a:ln/>
        </p:spPr>
        <p:txBody>
          <a:bodyPr wrap="square" lIns="0" tIns="0" rIns="0" bIns="0" rtlCol="0" anchor="ctr"/>
          <a:lstStyle/>
          <a:p>
            <a:pPr algn="r" indent="0" marL="0">
              <a:buNone/>
            </a:pPr>
            <a:r>
              <a:rPr lang="en-US" sz="850" b="1" dirty="0">
                <a:solidFill>
                  <a:srgbClr val="D99A2B"/>
                </a:solidFill>
                <a:latin typeface="Calibri" pitchFamily="34" charset="0"/>
                <a:ea typeface="Calibri" pitchFamily="34" charset="-122"/>
                <a:cs typeface="Calibri" pitchFamily="34" charset="-120"/>
              </a:rPr>
              <a:t>USD 500m</a:t>
            </a:r>
            <a:endParaRPr lang="en-US" sz="850" dirty="0"/>
          </a:p>
        </p:txBody>
      </p:sp>
      <p:sp>
        <p:nvSpPr>
          <p:cNvPr id="45" name="Shape 43"/>
          <p:cNvSpPr/>
          <p:nvPr/>
        </p:nvSpPr>
        <p:spPr>
          <a:xfrm>
            <a:off x="566928" y="4297680"/>
            <a:ext cx="11057839" cy="333756"/>
          </a:xfrm>
          <a:prstGeom prst="rect">
            <a:avLst/>
          </a:prstGeom>
          <a:solidFill>
            <a:srgbClr val="0B3B45"/>
          </a:solidFill>
          <a:ln/>
        </p:spPr>
      </p:sp>
      <p:sp>
        <p:nvSpPr>
          <p:cNvPr id="46" name="Text 44"/>
          <p:cNvSpPr txBox="1"/>
          <p:nvPr/>
        </p:nvSpPr>
        <p:spPr>
          <a:xfrm>
            <a:off x="694944" y="4297680"/>
            <a:ext cx="2331720" cy="333756"/>
          </a:xfrm>
          <a:prstGeom prst="rect">
            <a:avLst/>
          </a:prstGeom>
          <a:noFill/>
          <a:ln/>
        </p:spPr>
        <p:txBody>
          <a:bodyPr wrap="square" lIns="0" tIns="0" rIns="0" bIns="0" rtlCol="0" anchor="ctr"/>
          <a:lstStyle/>
          <a:p>
            <a:pPr indent="0" marL="0">
              <a:buNone/>
            </a:pPr>
            <a:r>
              <a:rPr lang="en-US" sz="800" dirty="0">
                <a:solidFill>
                  <a:srgbClr val="F0D9A8"/>
                </a:solidFill>
                <a:latin typeface="Calibri" pitchFamily="34" charset="0"/>
                <a:ea typeface="Calibri" pitchFamily="34" charset="-122"/>
                <a:cs typeface="Calibri" pitchFamily="34" charset="-120"/>
              </a:rPr>
              <a:t>24 Aug 2025</a:t>
            </a:r>
            <a:endParaRPr lang="en-US" sz="800" dirty="0"/>
          </a:p>
        </p:txBody>
      </p:sp>
      <p:sp>
        <p:nvSpPr>
          <p:cNvPr id="47" name="Text 45"/>
          <p:cNvSpPr txBox="1"/>
          <p:nvPr/>
        </p:nvSpPr>
        <p:spPr>
          <a:xfrm>
            <a:off x="3090672" y="4297680"/>
            <a:ext cx="2148840" cy="333756"/>
          </a:xfrm>
          <a:prstGeom prst="rect">
            <a:avLst/>
          </a:prstGeom>
          <a:noFill/>
          <a:ln/>
        </p:spPr>
        <p:txBody>
          <a:bodyPr wrap="square" lIns="0" tIns="0" rIns="0" bIns="0" rtlCol="0" anchor="ctr"/>
          <a:lstStyle/>
          <a:p>
            <a:pPr indent="0" marL="0">
              <a:buNone/>
            </a:pPr>
            <a:r>
              <a:rPr lang="en-US" sz="800" b="1" dirty="0">
                <a:solidFill>
                  <a:srgbClr val="9BC4CC"/>
                </a:solidFill>
                <a:latin typeface="Calibri" pitchFamily="34" charset="0"/>
                <a:ea typeface="Calibri" pitchFamily="34" charset="-122"/>
                <a:cs typeface="Calibri" pitchFamily="34" charset="-120"/>
              </a:rPr>
              <a:t>El Salvador</a:t>
            </a:r>
            <a:endParaRPr lang="en-US" sz="800" dirty="0"/>
          </a:p>
        </p:txBody>
      </p:sp>
      <p:sp>
        <p:nvSpPr>
          <p:cNvPr id="48" name="Text 46"/>
          <p:cNvSpPr txBox="1"/>
          <p:nvPr/>
        </p:nvSpPr>
        <p:spPr>
          <a:xfrm>
            <a:off x="5321808" y="4297680"/>
            <a:ext cx="4709160" cy="33375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Ricardo Poma dies; Grupo Poma succession opens (9 countries, 6 divisions)</a:t>
            </a:r>
            <a:endParaRPr lang="en-US" sz="850" dirty="0"/>
          </a:p>
        </p:txBody>
      </p:sp>
      <p:sp>
        <p:nvSpPr>
          <p:cNvPr id="49" name="Text 47"/>
          <p:cNvSpPr txBox="1"/>
          <p:nvPr/>
        </p:nvSpPr>
        <p:spPr>
          <a:xfrm>
            <a:off x="10076688" y="4297680"/>
            <a:ext cx="1417320" cy="333756"/>
          </a:xfrm>
          <a:prstGeom prst="rect">
            <a:avLst/>
          </a:prstGeom>
          <a:noFill/>
          <a:ln/>
        </p:spPr>
        <p:txBody>
          <a:bodyPr wrap="square" lIns="0" tIns="0" rIns="0" bIns="0" rtlCol="0" anchor="ctr"/>
          <a:lstStyle/>
          <a:p>
            <a:pPr algn="r" indent="0" marL="0">
              <a:buNone/>
            </a:pPr>
            <a:r>
              <a:rPr lang="en-US" sz="850" b="1" dirty="0">
                <a:solidFill>
                  <a:srgbClr val="D99A2B"/>
                </a:solidFill>
                <a:latin typeface="Calibri" pitchFamily="34" charset="0"/>
                <a:ea typeface="Calibri" pitchFamily="34" charset="-122"/>
                <a:cs typeface="Calibri" pitchFamily="34" charset="-120"/>
              </a:rPr>
              <a:t>-</a:t>
            </a:r>
            <a:endParaRPr lang="en-US" sz="850" dirty="0"/>
          </a:p>
        </p:txBody>
      </p:sp>
      <p:sp>
        <p:nvSpPr>
          <p:cNvPr id="50" name="Shape 48"/>
          <p:cNvSpPr/>
          <p:nvPr/>
        </p:nvSpPr>
        <p:spPr>
          <a:xfrm>
            <a:off x="566928" y="4658868"/>
            <a:ext cx="11057839" cy="333756"/>
          </a:xfrm>
          <a:prstGeom prst="rect">
            <a:avLst/>
          </a:prstGeom>
          <a:solidFill>
            <a:srgbClr val="0F444D"/>
          </a:solidFill>
          <a:ln/>
        </p:spPr>
      </p:sp>
      <p:sp>
        <p:nvSpPr>
          <p:cNvPr id="51" name="Text 49"/>
          <p:cNvSpPr txBox="1"/>
          <p:nvPr/>
        </p:nvSpPr>
        <p:spPr>
          <a:xfrm>
            <a:off x="694944" y="4658868"/>
            <a:ext cx="2331720" cy="333756"/>
          </a:xfrm>
          <a:prstGeom prst="rect">
            <a:avLst/>
          </a:prstGeom>
          <a:noFill/>
          <a:ln/>
        </p:spPr>
        <p:txBody>
          <a:bodyPr wrap="square" lIns="0" tIns="0" rIns="0" bIns="0" rtlCol="0" anchor="ctr"/>
          <a:lstStyle/>
          <a:p>
            <a:pPr indent="0" marL="0">
              <a:buNone/>
            </a:pPr>
            <a:r>
              <a:rPr lang="en-US" sz="800" dirty="0">
                <a:solidFill>
                  <a:srgbClr val="F0D9A8"/>
                </a:solidFill>
                <a:latin typeface="Calibri" pitchFamily="34" charset="0"/>
                <a:ea typeface="Calibri" pitchFamily="34" charset="-122"/>
                <a:cs typeface="Calibri" pitchFamily="34" charset="-120"/>
              </a:rPr>
              <a:t>2026</a:t>
            </a:r>
            <a:endParaRPr lang="en-US" sz="800" dirty="0"/>
          </a:p>
        </p:txBody>
      </p:sp>
      <p:sp>
        <p:nvSpPr>
          <p:cNvPr id="52" name="Text 50"/>
          <p:cNvSpPr txBox="1"/>
          <p:nvPr/>
        </p:nvSpPr>
        <p:spPr>
          <a:xfrm>
            <a:off x="3090672" y="4658868"/>
            <a:ext cx="2148840" cy="333756"/>
          </a:xfrm>
          <a:prstGeom prst="rect">
            <a:avLst/>
          </a:prstGeom>
          <a:noFill/>
          <a:ln/>
        </p:spPr>
        <p:txBody>
          <a:bodyPr wrap="square" lIns="0" tIns="0" rIns="0" bIns="0" rtlCol="0" anchor="ctr"/>
          <a:lstStyle/>
          <a:p>
            <a:pPr indent="0" marL="0">
              <a:buNone/>
            </a:pPr>
            <a:r>
              <a:rPr lang="en-US" sz="800" b="1" dirty="0">
                <a:solidFill>
                  <a:srgbClr val="9BC4CC"/>
                </a:solidFill>
                <a:latin typeface="Calibri" pitchFamily="34" charset="0"/>
                <a:ea typeface="Calibri" pitchFamily="34" charset="-122"/>
                <a:cs typeface="Calibri" pitchFamily="34" charset="-120"/>
              </a:rPr>
              <a:t>Dominican Rep.</a:t>
            </a:r>
            <a:endParaRPr lang="en-US" sz="800" dirty="0"/>
          </a:p>
        </p:txBody>
      </p:sp>
      <p:sp>
        <p:nvSpPr>
          <p:cNvPr id="53" name="Text 51"/>
          <p:cNvSpPr txBox="1"/>
          <p:nvPr/>
        </p:nvSpPr>
        <p:spPr>
          <a:xfrm>
            <a:off x="5321808" y="4658868"/>
            <a:ext cx="4709160" cy="33375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Manuel Grullón Hernández moves to EVP, Grupo Popular</a:t>
            </a:r>
            <a:endParaRPr lang="en-US" sz="850" dirty="0"/>
          </a:p>
        </p:txBody>
      </p:sp>
      <p:sp>
        <p:nvSpPr>
          <p:cNvPr id="54" name="Text 52"/>
          <p:cNvSpPr txBox="1"/>
          <p:nvPr/>
        </p:nvSpPr>
        <p:spPr>
          <a:xfrm>
            <a:off x="10076688" y="4658868"/>
            <a:ext cx="1417320" cy="333756"/>
          </a:xfrm>
          <a:prstGeom prst="rect">
            <a:avLst/>
          </a:prstGeom>
          <a:noFill/>
          <a:ln/>
        </p:spPr>
        <p:txBody>
          <a:bodyPr wrap="square" lIns="0" tIns="0" rIns="0" bIns="0" rtlCol="0" anchor="ctr"/>
          <a:lstStyle/>
          <a:p>
            <a:pPr algn="r" indent="0" marL="0">
              <a:buNone/>
            </a:pPr>
            <a:r>
              <a:rPr lang="en-US" sz="850" b="1" dirty="0">
                <a:solidFill>
                  <a:srgbClr val="D99A2B"/>
                </a:solidFill>
                <a:latin typeface="Calibri" pitchFamily="34" charset="0"/>
                <a:ea typeface="Calibri" pitchFamily="34" charset="-122"/>
                <a:cs typeface="Calibri" pitchFamily="34" charset="-120"/>
              </a:rPr>
              <a:t>-</a:t>
            </a:r>
            <a:endParaRPr lang="en-US" sz="850" dirty="0"/>
          </a:p>
        </p:txBody>
      </p:sp>
      <p:sp>
        <p:nvSpPr>
          <p:cNvPr id="55" name="Shape 53"/>
          <p:cNvSpPr/>
          <p:nvPr/>
        </p:nvSpPr>
        <p:spPr>
          <a:xfrm>
            <a:off x="566928" y="5020056"/>
            <a:ext cx="11057839" cy="333756"/>
          </a:xfrm>
          <a:prstGeom prst="rect">
            <a:avLst/>
          </a:prstGeom>
          <a:solidFill>
            <a:srgbClr val="0B3B45"/>
          </a:solidFill>
          <a:ln/>
        </p:spPr>
      </p:sp>
      <p:sp>
        <p:nvSpPr>
          <p:cNvPr id="56" name="Text 54"/>
          <p:cNvSpPr txBox="1"/>
          <p:nvPr/>
        </p:nvSpPr>
        <p:spPr>
          <a:xfrm>
            <a:off x="694944" y="5020056"/>
            <a:ext cx="2331720" cy="333756"/>
          </a:xfrm>
          <a:prstGeom prst="rect">
            <a:avLst/>
          </a:prstGeom>
          <a:noFill/>
          <a:ln/>
        </p:spPr>
        <p:txBody>
          <a:bodyPr wrap="square" lIns="0" tIns="0" rIns="0" bIns="0" rtlCol="0" anchor="ctr"/>
          <a:lstStyle/>
          <a:p>
            <a:pPr indent="0" marL="0">
              <a:buNone/>
            </a:pPr>
            <a:r>
              <a:rPr lang="en-US" sz="800" dirty="0">
                <a:solidFill>
                  <a:srgbClr val="F0D9A8"/>
                </a:solidFill>
                <a:latin typeface="Calibri" pitchFamily="34" charset="0"/>
                <a:ea typeface="Calibri" pitchFamily="34" charset="-122"/>
                <a:cs typeface="Calibri" pitchFamily="34" charset="-120"/>
              </a:rPr>
              <a:t>Dec 2025</a:t>
            </a:r>
            <a:endParaRPr lang="en-US" sz="800" dirty="0"/>
          </a:p>
        </p:txBody>
      </p:sp>
      <p:sp>
        <p:nvSpPr>
          <p:cNvPr id="57" name="Text 55"/>
          <p:cNvSpPr txBox="1"/>
          <p:nvPr/>
        </p:nvSpPr>
        <p:spPr>
          <a:xfrm>
            <a:off x="3090672" y="5020056"/>
            <a:ext cx="2148840" cy="333756"/>
          </a:xfrm>
          <a:prstGeom prst="rect">
            <a:avLst/>
          </a:prstGeom>
          <a:noFill/>
          <a:ln/>
        </p:spPr>
        <p:txBody>
          <a:bodyPr wrap="square" lIns="0" tIns="0" rIns="0" bIns="0" rtlCol="0" anchor="ctr"/>
          <a:lstStyle/>
          <a:p>
            <a:pPr indent="0" marL="0">
              <a:buNone/>
            </a:pPr>
            <a:r>
              <a:rPr lang="en-US" sz="800" b="1" dirty="0">
                <a:solidFill>
                  <a:srgbClr val="9BC4CC"/>
                </a:solidFill>
                <a:latin typeface="Calibri" pitchFamily="34" charset="0"/>
                <a:ea typeface="Calibri" pitchFamily="34" charset="-122"/>
                <a:cs typeface="Calibri" pitchFamily="34" charset="-120"/>
              </a:rPr>
              <a:t>Guatemala</a:t>
            </a:r>
            <a:endParaRPr lang="en-US" sz="800" dirty="0"/>
          </a:p>
        </p:txBody>
      </p:sp>
      <p:sp>
        <p:nvSpPr>
          <p:cNvPr id="58" name="Text 56"/>
          <p:cNvSpPr txBox="1"/>
          <p:nvPr/>
        </p:nvSpPr>
        <p:spPr>
          <a:xfrm>
            <a:off x="5321808" y="5020056"/>
            <a:ext cx="4709160" cy="333756"/>
          </a:xfrm>
          <a:prstGeom prst="rect">
            <a:avLst/>
          </a:prstGeom>
          <a:noFill/>
          <a:ln/>
        </p:spPr>
        <p:txBody>
          <a:bodyPr wrap="square" lIns="0" tIns="0" rIns="0" bIns="0" rtlCol="0" anchor="ctr"/>
          <a:lstStyle/>
          <a:p>
            <a:pPr indent="0" marL="0">
              <a:buNone/>
            </a:pPr>
            <a:r>
              <a:rPr lang="en-US" sz="850" dirty="0">
                <a:solidFill>
                  <a:srgbClr val="FFFFFF"/>
                </a:solidFill>
                <a:latin typeface="Calibri" pitchFamily="34" charset="0"/>
                <a:ea typeface="Calibri" pitchFamily="34" charset="-122"/>
                <a:cs typeface="Calibri" pitchFamily="34" charset="-120"/>
              </a:rPr>
              <a:t>CMI Capital pivots to 'Active Asset Management' and opens to outside investors</a:t>
            </a:r>
            <a:endParaRPr lang="en-US" sz="850" dirty="0"/>
          </a:p>
        </p:txBody>
      </p:sp>
      <p:sp>
        <p:nvSpPr>
          <p:cNvPr id="59" name="Text 57"/>
          <p:cNvSpPr txBox="1"/>
          <p:nvPr/>
        </p:nvSpPr>
        <p:spPr>
          <a:xfrm>
            <a:off x="10076688" y="5020056"/>
            <a:ext cx="1417320" cy="333756"/>
          </a:xfrm>
          <a:prstGeom prst="rect">
            <a:avLst/>
          </a:prstGeom>
          <a:noFill/>
          <a:ln/>
        </p:spPr>
        <p:txBody>
          <a:bodyPr wrap="square" lIns="0" tIns="0" rIns="0" bIns="0" rtlCol="0" anchor="ctr"/>
          <a:lstStyle/>
          <a:p>
            <a:pPr algn="r" indent="0" marL="0">
              <a:buNone/>
            </a:pPr>
            <a:r>
              <a:rPr lang="en-US" sz="850" b="1" dirty="0">
                <a:solidFill>
                  <a:srgbClr val="D99A2B"/>
                </a:solidFill>
                <a:latin typeface="Calibri" pitchFamily="34" charset="0"/>
                <a:ea typeface="Calibri" pitchFamily="34" charset="-122"/>
                <a:cs typeface="Calibri" pitchFamily="34" charset="-120"/>
              </a:rPr>
              <a:t>-</a:t>
            </a:r>
            <a:endParaRPr lang="en-US" sz="850" dirty="0"/>
          </a:p>
        </p:txBody>
      </p:sp>
      <p:sp>
        <p:nvSpPr>
          <p:cNvPr id="60" name="Shape 58"/>
          <p:cNvSpPr/>
          <p:nvPr/>
        </p:nvSpPr>
        <p:spPr>
          <a:xfrm>
            <a:off x="566928" y="5527548"/>
            <a:ext cx="11057839" cy="731520"/>
          </a:xfrm>
          <a:prstGeom prst="roundRect">
            <a:avLst>
              <a:gd name="adj" fmla="val 7500"/>
            </a:avLst>
          </a:prstGeom>
          <a:solidFill>
            <a:srgbClr val="D99A2B"/>
          </a:solidFill>
          <a:ln w="6350">
            <a:solidFill>
              <a:srgbClr val="D99A2B"/>
            </a:solidFill>
            <a:prstDash val="solid"/>
          </a:ln>
        </p:spPr>
      </p:sp>
      <p:sp>
        <p:nvSpPr>
          <p:cNvPr id="61" name="Text 59"/>
          <p:cNvSpPr txBox="1"/>
          <p:nvPr/>
        </p:nvSpPr>
        <p:spPr>
          <a:xfrm>
            <a:off x="804672" y="5692140"/>
            <a:ext cx="10582351" cy="384048"/>
          </a:xfrm>
          <a:prstGeom prst="rect">
            <a:avLst/>
          </a:prstGeom>
          <a:noFill/>
          <a:ln/>
        </p:spPr>
        <p:txBody>
          <a:bodyPr wrap="square" lIns="0" tIns="0" rIns="0" bIns="0" rtlCol="0" anchor="t"/>
          <a:lstStyle/>
          <a:p>
            <a:pPr indent="0" marL="0">
              <a:lnSpc>
                <a:spcPct val="115000"/>
              </a:lnSpc>
              <a:buNone/>
            </a:pPr>
            <a:r>
              <a:rPr lang="en-US" sz="1050" dirty="0">
                <a:solidFill>
                  <a:srgbClr val="2A1D05"/>
                </a:solidFill>
                <a:latin typeface="Calibri" pitchFamily="34" charset="0"/>
                <a:ea typeface="Calibri" pitchFamily="34" charset="-122"/>
                <a:cs typeface="Calibri" pitchFamily="34" charset="-120"/>
              </a:rPr>
              <a:t>Three of these are succession events rather than transactions — Ricardo Poma's death in August 2025, the Grullón move to executive vice-president at Grupo Popular, and CMI Capital opening to outside investors in December 2025. Succession is when a family reconsiders its banking relationships.</a:t>
            </a:r>
            <a:endParaRPr lang="en-US" sz="1050" dirty="0"/>
          </a:p>
        </p:txBody>
      </p:sp>
      <p:sp>
        <p:nvSpPr>
          <p:cNvPr id="62" name="Text 60"/>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E8B92"/>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63" name="Text 61"/>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E8B92"/>
                </a:solidFill>
                <a:latin typeface="Calibri" pitchFamily="34" charset="0"/>
                <a:ea typeface="Calibri" pitchFamily="34" charset="-122"/>
                <a:cs typeface="Calibri" pitchFamily="34" charset="-120"/>
              </a:rPr>
              <a:t>27</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(E) · EXPOSURE MAP ONLY. NO VALUATION WORK, NO RECOMMENDATIONS.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Listed exposure — Guyana and Colombian energy</a:t>
            </a:r>
            <a:endParaRPr lang="en-US" sz="30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298448"/>
                <a:gridCol w="2121408"/>
                <a:gridCol w="1572768"/>
                <a:gridCol w="4471416"/>
                <a:gridCol w="1591056"/>
              </a:tblGrid>
              <a:tr h="43611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Bucket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Company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Ticker / exchange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Specific exposure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Pure play?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436110">
                <a:tc>
                  <a:txBody>
                    <a:bodyPr/>
                    <a:lstStyle/>
                    <a:p>
                      <a:pPr indent="0" marL="0">
                        <a:buNone/>
                      </a:pPr>
                      <a:r>
                        <a:rPr lang="en-US" sz="800" b="1" dirty="0">
                          <a:solidFill>
                            <a:srgbClr val="156A7A"/>
                          </a:solidFill>
                          <a:latin typeface="Calibri" pitchFamily="34" charset="0"/>
                          <a:ea typeface="Calibri" pitchFamily="34" charset="-122"/>
                          <a:cs typeface="Calibri" pitchFamily="34" charset="-120"/>
                        </a:rPr>
                        <a:t>Guyana energy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ExxonMobil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XOM (NYSE)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Operator, 45% Stabroek; Guyana is its single largest growth engine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36110">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Chevron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CVX (NYSE)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30% Stabroek via the Hess acquisition, completed 18 Jul 2025. REPLACES Hess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36110">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CNOOC</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0883.HK</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25% Stabroek; only non-China asset of this scale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36110">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CGX Energy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OYL.V (TSXV)</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Corentyne block operator; Guyana-only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59030">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Noble Corp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NE (NYSE)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4 drillships on Stabroek at ~USD 400k/day; largest single-country rig concentration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 (high torque)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36110">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TechnipFMC</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FTI (NYSE)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Substantial subsea contract for Hammerhead; 200th subsea tree delivered Sep-2026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36110">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Saipem</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SPM.MI</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~USD 500m EPCI on Hammerhead; further ExxonMobil Guyana award Apr-2026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59030">
                <a:tc>
                  <a:txBody>
                    <a:bodyPr/>
                    <a:lstStyle/>
                    <a:p>
                      <a:pPr indent="0" marL="0">
                        <a:buNone/>
                      </a:pPr>
                      <a:r>
                        <a:rPr lang="en-US" sz="800" b="1" dirty="0">
                          <a:solidFill>
                            <a:srgbClr val="156A7A"/>
                          </a:solidFill>
                          <a:latin typeface="Calibri" pitchFamily="34" charset="0"/>
                          <a:ea typeface="Calibri" pitchFamily="34" charset="-122"/>
                          <a:cs typeface="Calibri" pitchFamily="34" charset="-120"/>
                        </a:rPr>
                        <a:t>Colombia energy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Ecopetrol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EC (NYSE) / BVC</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Colombian NOC; also controls ISA. Bought 51% of Brazil's Brava Energia (~USD 1.2bn)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Company releases and filings, verified September 2026. Market caps deliberately omitted — this is an exposure map, not a screen.</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28</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(E) · EXPOSURE MAP ONLY. NO VALUATION WORK, NO RECOMMENDATIONS.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Listed exposure — Guyana and Colombian energy (continued)</a:t>
            </a:r>
            <a:endParaRPr lang="en-US" sz="3000" dirty="0"/>
          </a:p>
        </p:txBody>
      </p:sp>
      <p:graphicFrame>
        <p:nvGraphicFramePr>
          <p:cNvPr id="31"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298448"/>
                <a:gridCol w="2121408"/>
                <a:gridCol w="1572768"/>
                <a:gridCol w="4471416"/>
                <a:gridCol w="1591056"/>
              </a:tblGrid>
              <a:tr h="437518">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Bucket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Company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Ticker / exchange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Specific exposure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Pure play?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437518">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Parex Resources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PXT.TO</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Colombia-only; enlarged by the Frontera E&amp;P acquisition, Jun-2026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37518">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GeoPark</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GPRK (NYSE)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Llanos 34 core plus Chile/Brazil/Argentina/Ecuador. Gilinski has taken control</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Majority Colombia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61157">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Frontera Energy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FEC.TO</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No longer an E&amp;P. Colombia infrastructure (Puerto Bahia, ODL) + Guyana Corentyne via CGX</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61157">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Gran Tierra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GTE (NYSE/TSX)</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Colombia + Ecuador being SOLD to Maurel &amp; Prom (~USD 1.33bn, announced 4 Aug 2026, pending)</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Exposure ending</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37518">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Canacol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CNNEQ (OTCID) / CNEC (BVC)</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CCAA restructuring; TSX-delisted 29 Dec 2025, trading suspended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DISTRESSED - not investable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Company releases and filings, verified September 2026. Market caps deliberately omitted — this is an exposure map, not a screen.</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29</a:t>
            </a:r>
            <a:endParaRPr lang="en-US" sz="800" dirty="0"/>
          </a:p>
        </p:txBody>
      </p:sp>
      <p:sp>
        <p:nvSpPr>
          <p:cNvPr id="8" name="Shape 5"/>
          <p:cNvSpPr/>
          <p:nvPr/>
        </p:nvSpPr>
        <p:spPr>
          <a:xfrm>
            <a:off x="566928" y="4700016"/>
            <a:ext cx="11057839" cy="1060704"/>
          </a:xfrm>
          <a:prstGeom prst="roundRect">
            <a:avLst>
              <a:gd name="adj" fmla="val 5172"/>
            </a:avLst>
          </a:prstGeom>
          <a:solidFill>
            <a:srgbClr val="EDF1F2"/>
          </a:solidFill>
          <a:ln w="6350">
            <a:solidFill>
              <a:srgbClr val="EDF1F2"/>
            </a:solidFill>
            <a:prstDash val="solid"/>
          </a:ln>
        </p:spPr>
      </p:sp>
      <p:sp>
        <p:nvSpPr>
          <p:cNvPr id="9" name="Text 6"/>
          <p:cNvSpPr txBox="1"/>
          <p:nvPr/>
        </p:nvSpPr>
        <p:spPr>
          <a:xfrm>
            <a:off x="804672" y="4846320"/>
            <a:ext cx="10582351" cy="201168"/>
          </a:xfrm>
          <a:prstGeom prst="rect">
            <a:avLst/>
          </a:prstGeom>
          <a:noFill/>
          <a:ln/>
        </p:spPr>
        <p:txBody>
          <a:bodyPr wrap="square" lIns="0" tIns="0" rIns="0" bIns="0" rtlCol="0" anchor="ctr"/>
          <a:lstStyle/>
          <a:p>
            <a:pPr indent="0" marL="0">
              <a:buNone/>
            </a:pPr>
            <a:r>
              <a:rPr lang="en-US" sz="900" b="1" spc="140" kern="0" dirty="0">
                <a:solidFill>
                  <a:srgbClr val="156A7A"/>
                </a:solidFill>
                <a:latin typeface="Calibri" pitchFamily="34" charset="0"/>
                <a:ea typeface="Calibri" pitchFamily="34" charset="-122"/>
                <a:cs typeface="Calibri" pitchFamily="34" charset="-120"/>
              </a:rPr>
              <a:t>TWO THINGS TO CARRY OUT OF THIS TABLE</a:t>
            </a:r>
            <a:endParaRPr lang="en-US" sz="900" dirty="0"/>
          </a:p>
        </p:txBody>
      </p:sp>
      <p:sp>
        <p:nvSpPr>
          <p:cNvPr id="10" name="Text 7"/>
          <p:cNvSpPr txBox="1"/>
          <p:nvPr/>
        </p:nvSpPr>
        <p:spPr>
          <a:xfrm>
            <a:off x="804672" y="5065776"/>
            <a:ext cx="10582351" cy="530352"/>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Hess is not investable — Chevron completed the acquisition in July 2025 and holds the 30% Stabroek interest. And Frontera is no longer an exploration and production company: it sold its Colombian E&amp;P assets to Parex in June 2026 and is now a Colombian infrastructure name with a Guyanese exploration option attached.</a:t>
            </a:r>
            <a:endParaRPr lang="en-US" sz="10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(E) · EXPOSURE MAP ONLY. NO VALUATION WORK, NO RECOMMENDATIONS.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Listed exposure — mining</a:t>
            </a:r>
            <a:endParaRPr lang="en-US" sz="3000" dirty="0"/>
          </a:p>
        </p:txBody>
      </p:sp>
      <p:graphicFrame>
        <p:nvGraphicFramePr>
          <p:cNvPr id="32"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298448"/>
                <a:gridCol w="2121408"/>
                <a:gridCol w="1572768"/>
                <a:gridCol w="4471416"/>
                <a:gridCol w="1591056"/>
              </a:tblGrid>
              <a:tr h="38298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Bucket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Company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Ticker / exchange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Specific exposure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Pure play?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382980">
                <a:tc>
                  <a:txBody>
                    <a:bodyPr/>
                    <a:lstStyle/>
                    <a:p>
                      <a:pPr indent="0" marL="0">
                        <a:buNone/>
                      </a:pPr>
                      <a:r>
                        <a:rPr lang="en-US" sz="800" b="1" dirty="0">
                          <a:solidFill>
                            <a:srgbClr val="156A7A"/>
                          </a:solidFill>
                          <a:latin typeface="Calibri" pitchFamily="34" charset="0"/>
                          <a:ea typeface="Calibri" pitchFamily="34" charset="-122"/>
                          <a:cs typeface="Calibri" pitchFamily="34" charset="-120"/>
                        </a:rPr>
                        <a:t>Mining</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Barrick Mining</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B (NYSE) / ABX (TSX)</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60% of Pueblo Viejo, DR; LOM beyond 2040, ~USD 1.3bn expansion capex</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82980">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Newmont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NEM (NYSE)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40% of Pueblo Viejo, DR - the other half of the country's largest mine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78742">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First Quantum</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FM.TO</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Cobre Panamá - idle since late 2023. Binary Panama optionality; was ~5% of Panamanian GDP</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 (high torque)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82980">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Aris Mining</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ARIS (NYSE-A/TSX)</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Colombia (Segovia, Marmato) plus Guyana (Toroparu)</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Majority Colombia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78742">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 American Silver</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PAAS (NYSE/TSX)</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Escobal, Guatemala - suspended since 2017; ILO-169 consultation ongoing. Large embedded option, no production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82980">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Aura Minerals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AUGO (Nasdaq)</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Era Dorada gold-copper, Guatemala - board approved construction 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Company releases and filings, verified September 2026. Market caps deliberately omitted — this is an exposure map, not a screen.</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30</a:t>
            </a:r>
            <a:endParaRPr lang="en-US" sz="800" dirty="0"/>
          </a:p>
        </p:txBody>
      </p:sp>
      <p:sp>
        <p:nvSpPr>
          <p:cNvPr id="8" name="Shape 5"/>
          <p:cNvSpPr/>
          <p:nvPr/>
        </p:nvSpPr>
        <p:spPr>
          <a:xfrm>
            <a:off x="566928" y="4700016"/>
            <a:ext cx="11057839" cy="1060704"/>
          </a:xfrm>
          <a:prstGeom prst="roundRect">
            <a:avLst>
              <a:gd name="adj" fmla="val 5172"/>
            </a:avLst>
          </a:prstGeom>
          <a:solidFill>
            <a:srgbClr val="EDF1F2"/>
          </a:solidFill>
          <a:ln w="6350">
            <a:solidFill>
              <a:srgbClr val="EDF1F2"/>
            </a:solidFill>
            <a:prstDash val="solid"/>
          </a:ln>
        </p:spPr>
      </p:sp>
      <p:sp>
        <p:nvSpPr>
          <p:cNvPr id="9" name="Text 6"/>
          <p:cNvSpPr txBox="1"/>
          <p:nvPr/>
        </p:nvSpPr>
        <p:spPr>
          <a:xfrm>
            <a:off x="804672" y="4846320"/>
            <a:ext cx="10582351" cy="201168"/>
          </a:xfrm>
          <a:prstGeom prst="rect">
            <a:avLst/>
          </a:prstGeom>
          <a:noFill/>
          <a:ln/>
        </p:spPr>
        <p:txBody>
          <a:bodyPr wrap="square" lIns="0" tIns="0" rIns="0" bIns="0" rtlCol="0" anchor="ctr"/>
          <a:lstStyle/>
          <a:p>
            <a:pPr indent="0" marL="0">
              <a:buNone/>
            </a:pPr>
            <a:r>
              <a:rPr lang="en-US" sz="900" b="1" spc="140" kern="0" dirty="0">
                <a:solidFill>
                  <a:srgbClr val="156A7A"/>
                </a:solidFill>
                <a:latin typeface="Calibri" pitchFamily="34" charset="0"/>
                <a:ea typeface="Calibri" pitchFamily="34" charset="-122"/>
                <a:cs typeface="Calibri" pitchFamily="34" charset="-120"/>
              </a:rPr>
              <a:t>THREE OF THESE ARE OPTIONS, NOT OPERATIONS</a:t>
            </a:r>
            <a:endParaRPr lang="en-US" sz="900" dirty="0"/>
          </a:p>
        </p:txBody>
      </p:sp>
      <p:sp>
        <p:nvSpPr>
          <p:cNvPr id="10" name="Text 7"/>
          <p:cNvSpPr txBox="1"/>
          <p:nvPr/>
        </p:nvSpPr>
        <p:spPr>
          <a:xfrm>
            <a:off x="804672" y="5065776"/>
            <a:ext cx="10582351" cy="530352"/>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Cobre Panamá has been idle since late 2023, Escobal in Guatemala since 2017, and Era Dorada is a 2026 construction decision. Each carries a large embedded option on a political outcome rather than on a commodity price — which is a very different conversation to have with a client, and a very different risk to size.</a:t>
            </a:r>
            <a:endParaRPr lang="en-US" sz="10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(E) · EXPOSURE MAP ONLY. NO VALUATION WORK, NO RECOMMENDATIONS.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Listed exposure — ports, aviation and tourism</a:t>
            </a:r>
            <a:endParaRPr lang="en-US" sz="3000" dirty="0"/>
          </a:p>
        </p:txBody>
      </p:sp>
      <p:graphicFrame>
        <p:nvGraphicFramePr>
          <p:cNvPr id="33"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298448"/>
                <a:gridCol w="2121408"/>
                <a:gridCol w="1572768"/>
                <a:gridCol w="4471416"/>
                <a:gridCol w="1591056"/>
              </a:tblGrid>
              <a:tr h="513273">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Bucket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Company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Ticker / exchange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Specific exposure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Pure play?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775635">
                <a:tc>
                  <a:txBody>
                    <a:bodyPr/>
                    <a:lstStyle/>
                    <a:p>
                      <a:pPr indent="0" marL="0">
                        <a:buNone/>
                      </a:pPr>
                      <a:r>
                        <a:rPr lang="en-US" sz="800" b="1" dirty="0">
                          <a:solidFill>
                            <a:srgbClr val="156A7A"/>
                          </a:solidFill>
                          <a:latin typeface="Calibri" pitchFamily="34" charset="0"/>
                          <a:ea typeface="Calibri" pitchFamily="34" charset="-122"/>
                          <a:cs typeface="Calibri" pitchFamily="34" charset="-120"/>
                        </a:rPr>
                        <a:t>Ports &amp; aviation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Copa Holdings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CPA (NYSE)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Panama City Tocumen 'Hub of the Americas'; 126 aircraft; Panama-domiciled. Cleanest listed Panama proxy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775635">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CK Hutchison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0001.HK</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Balboa &amp; Cristobal concessions ANNULLED 24 Feb 2026; arbitration filed Aug-2026 for &gt;USD 1.5bn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13273">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A.P. Moller-Maersk</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MAERSK-B.CO</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APM Terminals Panama now operates Balboa under an 18-month temporary concession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775635">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VINCI</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DG.PA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AERODOM - concession for 6 DR airports, extended 30 years; plus Guanacaste (Liberia), Costa Rica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775635">
                <a:tc>
                  <a:txBody>
                    <a:bodyPr/>
                    <a:lstStyle/>
                    <a:p>
                      <a:pPr indent="0" marL="0">
                        <a:buNone/>
                      </a:pPr>
                      <a:r>
                        <a:rPr lang="en-US" sz="800" b="1" dirty="0">
                          <a:solidFill>
                            <a:srgbClr val="156A7A"/>
                          </a:solidFill>
                          <a:latin typeface="Calibri" pitchFamily="34" charset="0"/>
                          <a:ea typeface="Calibri" pitchFamily="34" charset="-122"/>
                          <a:cs typeface="Calibri" pitchFamily="34" charset="-120"/>
                        </a:rPr>
                        <a:t>Hotels &amp; cruise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Meliá Hotels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MEL.MC</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Largest listed DR resort exposure - Punta Cana/Bavaro estate incl. the Grupo Puntacana JV; also Costa Rica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Company releases and filings, verified September 2026. Market caps deliberately omitted — this is an exposure map, not a screen.</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31</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(E) · EXPOSURE MAP ONLY. NO VALUATION WORK, NO RECOMMENDATIONS.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Listed exposure — ports, aviation and tourism (continued)</a:t>
            </a:r>
            <a:endParaRPr lang="en-US" sz="3000" dirty="0"/>
          </a:p>
        </p:txBody>
      </p:sp>
      <p:graphicFrame>
        <p:nvGraphicFramePr>
          <p:cNvPr id="34"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298448"/>
                <a:gridCol w="2121408"/>
                <a:gridCol w="1572768"/>
                <a:gridCol w="4471416"/>
                <a:gridCol w="1591056"/>
              </a:tblGrid>
              <a:tr h="513273">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Bucket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Company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Ticker / exchange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Specific exposure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Pure play?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775635">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Hyatt Hotels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H (NYSE)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Absorbed Playa's DR platform Jun-2025, then sold the real estate to Tortuga Dec-2025. Now fees, not assets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775635">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Marriott / Hilton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MAR / HLT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Franchised and managed across DR, Panama, Costa Rica, Colombia, Guatemala; asset-light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775635">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Carnival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CCL (NYSE/LSE)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Amber Cove, Puerto Plata, DR - a Carnival-developed destination port; also Colon, Panama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Company releases and filings, verified September 2026. Market caps deliberately omitted — this is an exposure map, not a screen.</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32</a:t>
            </a:r>
            <a:endParaRPr lang="en-US" sz="800" dirty="0"/>
          </a:p>
        </p:txBody>
      </p:sp>
      <p:sp>
        <p:nvSpPr>
          <p:cNvPr id="8" name="Shape 5"/>
          <p:cNvSpPr/>
          <p:nvPr/>
        </p:nvSpPr>
        <p:spPr>
          <a:xfrm>
            <a:off x="566928" y="4467809"/>
            <a:ext cx="11057839" cy="1060704"/>
          </a:xfrm>
          <a:prstGeom prst="roundRect">
            <a:avLst>
              <a:gd name="adj" fmla="val 5172"/>
            </a:avLst>
          </a:prstGeom>
          <a:solidFill>
            <a:srgbClr val="EDF1F2"/>
          </a:solidFill>
          <a:ln w="6350">
            <a:solidFill>
              <a:srgbClr val="EDF1F2"/>
            </a:solidFill>
            <a:prstDash val="solid"/>
          </a:ln>
        </p:spPr>
      </p:sp>
      <p:sp>
        <p:nvSpPr>
          <p:cNvPr id="9" name="Text 6"/>
          <p:cNvSpPr txBox="1"/>
          <p:nvPr/>
        </p:nvSpPr>
        <p:spPr>
          <a:xfrm>
            <a:off x="804672" y="4614113"/>
            <a:ext cx="10582351" cy="201168"/>
          </a:xfrm>
          <a:prstGeom prst="rect">
            <a:avLst/>
          </a:prstGeom>
          <a:noFill/>
          <a:ln/>
        </p:spPr>
        <p:txBody>
          <a:bodyPr wrap="square" lIns="0" tIns="0" rIns="0" bIns="0" rtlCol="0" anchor="ctr"/>
          <a:lstStyle/>
          <a:p>
            <a:pPr indent="0" marL="0">
              <a:buNone/>
            </a:pPr>
            <a:r>
              <a:rPr lang="en-US" sz="900" b="1" spc="140" kern="0" dirty="0">
                <a:solidFill>
                  <a:srgbClr val="156A7A"/>
                </a:solidFill>
                <a:latin typeface="Calibri" pitchFamily="34" charset="0"/>
                <a:ea typeface="Calibri" pitchFamily="34" charset="-122"/>
                <a:cs typeface="Calibri" pitchFamily="34" charset="-120"/>
              </a:rPr>
              <a:t>THE PANAMANIAN PORTS QUESTION WAS SETTLED BY THE STATE, NOT BY THE MARKET</a:t>
            </a:r>
            <a:endParaRPr lang="en-US" sz="900" dirty="0"/>
          </a:p>
        </p:txBody>
      </p:sp>
      <p:sp>
        <p:nvSpPr>
          <p:cNvPr id="10" name="Text 7"/>
          <p:cNvSpPr txBox="1"/>
          <p:nvPr/>
        </p:nvSpPr>
        <p:spPr>
          <a:xfrm>
            <a:off x="804672" y="4833569"/>
            <a:ext cx="10582351" cy="530352"/>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The Supreme Court annulled CK Hutchison's Balboa and Cristóbal concessions in February 2026; Maersk and MSC now operate them on eighteen-month temporary terms while CK Hutchison arbitrates for more than $1.5bn. Anyone still describing this as “BlackRock and MSC buying the Panama ports” is eighteen months out of date.</a:t>
            </a:r>
            <a:endParaRPr lang="en-US" sz="10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(E) · EXPOSURE MAP ONLY. NO VALUATION WORK, NO RECOMMENDATIONS.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Listed exposure — medical devices and financials</a:t>
            </a:r>
            <a:endParaRPr lang="en-US" sz="3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298448"/>
                <a:gridCol w="2121408"/>
                <a:gridCol w="1572768"/>
                <a:gridCol w="4471416"/>
                <a:gridCol w="1591056"/>
              </a:tblGrid>
              <a:tr h="457402">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Bucket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Company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Ticker / exchange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Specific exposure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Pure play?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691205">
                <a:tc>
                  <a:txBody>
                    <a:bodyPr/>
                    <a:lstStyle/>
                    <a:p>
                      <a:pPr indent="0" marL="0">
                        <a:buNone/>
                      </a:pPr>
                      <a:r>
                        <a:rPr lang="en-US" sz="800" b="1" dirty="0">
                          <a:solidFill>
                            <a:srgbClr val="156A7A"/>
                          </a:solidFill>
                          <a:latin typeface="Calibri" pitchFamily="34" charset="0"/>
                          <a:ea typeface="Calibri" pitchFamily="34" charset="-122"/>
                          <a:cs typeface="Calibri" pitchFamily="34" charset="-120"/>
                        </a:rPr>
                        <a:t>Costa Rica medtech</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Establishment Labs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ESTA (Nasdaq)</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The only Costa Rica pure play on any exchange. HQ and sole manufacturing in Alajuela; 2025 revenue USD 211m</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91205">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Boston Scientific</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BSX (NYSE)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Among the largest CR medtech employers; multiple Coyol/Heredia plants. 2026 restructuring covers a 10,000-person CR workforce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91205">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Medtronic / Abbott / Baxter / Edwards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MDT / ABT / BAX / EW</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Costa Rica manufacturing within the Coyol cluster</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57402">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Intel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INTC (Nasdaq)</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Costa Rica assembly/test and megalab - the anchor non-medtech FDI in CR</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91205">
                <a:tc>
                  <a:txBody>
                    <a:bodyPr/>
                    <a:lstStyle/>
                    <a:p>
                      <a:pPr indent="0" marL="0">
                        <a:buNone/>
                      </a:pPr>
                      <a:r>
                        <a:rPr lang="en-US" sz="800" b="1" dirty="0">
                          <a:solidFill>
                            <a:srgbClr val="156A7A"/>
                          </a:solidFill>
                          <a:latin typeface="Calibri" pitchFamily="34" charset="0"/>
                          <a:ea typeface="Calibri" pitchFamily="34" charset="-122"/>
                          <a:cs typeface="Calibri" pitchFamily="34" charset="-120"/>
                        </a:rPr>
                        <a:t>Financials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Grupo Cibest (Bancolombia)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CIB (NYSE)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Colombia's largest bank group. NOTE: sold Banistmo (Panama) Jun-2026. Retains Banco Agrícola (SV), BAM (GT). 15.8% of the COLO ETF</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91205">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BAC Holding International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BHI (BVC)</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The closest thing to a CentAm pure-play bank. CR, SV, GT, HN, NI, PA via BAC Credomatic; ~20,600 staff</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Company releases and filings, verified September 2026. Market caps deliberately omitted — this is an exposure map, not a screen.</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33</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(E) · EXPOSURE MAP ONLY. NO VALUATION WORK, NO RECOMMENDATIONS.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2900" b="1" dirty="0">
                <a:solidFill>
                  <a:srgbClr val="0B3B45"/>
                </a:solidFill>
                <a:latin typeface="Cambria" pitchFamily="34" charset="0"/>
                <a:ea typeface="Cambria" pitchFamily="34" charset="-122"/>
                <a:cs typeface="Cambria" pitchFamily="34" charset="-120"/>
              </a:rPr>
              <a:t>Listed exposure — medical devices and financials (continued)</a:t>
            </a:r>
            <a:endParaRPr lang="en-US" sz="29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298448"/>
                <a:gridCol w="2121408"/>
                <a:gridCol w="1572768"/>
                <a:gridCol w="4471416"/>
                <a:gridCol w="1591056"/>
              </a:tblGrid>
              <a:tr h="437518">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Bucket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Company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Ticker / exchange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Specific exposure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Pure play?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437518">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Davivienda Group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PFDAVVNDA (BVC)</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Enlarged 1 Dec 2025 by Scotiabank's Colombia/CR/Panama books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61157">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Grupo Aval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AVAL (NYSE)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Colombia banking. CentAm exposure was spun off as BHI in 2022 - do not double-count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Majority Colombia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37518">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Bladex</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BLX (NYSE)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Panama-domiciled trade-finance bank founded by 23 LatAm/Caribbean central banks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 (domicile)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37518">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Scotiabank</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BNS (NYSE/TSX)</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EXITED as operator. Retains ~20% associate stake in Davivienda Group</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61157">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Western Union / Remitly / Euronet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WU / RELY / EEFT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US to CentAm/Colombia/DR remittance corridors - among the world's highest remittance-to-GDP markets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Company releases and filings, verified September 2026. Market caps deliberately omitted — this is an exposure map, not a screen.</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34</a:t>
            </a:r>
            <a:endParaRPr lang="en-US" sz="800" dirty="0"/>
          </a:p>
        </p:txBody>
      </p:sp>
      <p:sp>
        <p:nvSpPr>
          <p:cNvPr id="8" name="Shape 5"/>
          <p:cNvSpPr/>
          <p:nvPr/>
        </p:nvSpPr>
        <p:spPr>
          <a:xfrm>
            <a:off x="566928" y="4700016"/>
            <a:ext cx="11057839" cy="1060704"/>
          </a:xfrm>
          <a:prstGeom prst="roundRect">
            <a:avLst>
              <a:gd name="adj" fmla="val 5172"/>
            </a:avLst>
          </a:prstGeom>
          <a:solidFill>
            <a:srgbClr val="EDF1F2"/>
          </a:solidFill>
          <a:ln w="6350">
            <a:solidFill>
              <a:srgbClr val="EDF1F2"/>
            </a:solidFill>
            <a:prstDash val="solid"/>
          </a:ln>
        </p:spPr>
      </p:sp>
      <p:sp>
        <p:nvSpPr>
          <p:cNvPr id="9" name="Text 6"/>
          <p:cNvSpPr txBox="1"/>
          <p:nvPr/>
        </p:nvSpPr>
        <p:spPr>
          <a:xfrm>
            <a:off x="804672" y="4846320"/>
            <a:ext cx="10582351" cy="201168"/>
          </a:xfrm>
          <a:prstGeom prst="rect">
            <a:avLst/>
          </a:prstGeom>
          <a:noFill/>
          <a:ln/>
        </p:spPr>
        <p:txBody>
          <a:bodyPr wrap="square" lIns="0" tIns="0" rIns="0" bIns="0" rtlCol="0" anchor="ctr"/>
          <a:lstStyle/>
          <a:p>
            <a:pPr indent="0" marL="0">
              <a:buNone/>
            </a:pPr>
            <a:r>
              <a:rPr lang="en-US" sz="900" b="1" spc="140" kern="0" dirty="0">
                <a:solidFill>
                  <a:srgbClr val="156A7A"/>
                </a:solidFill>
                <a:latin typeface="Calibri" pitchFamily="34" charset="0"/>
                <a:ea typeface="Calibri" pitchFamily="34" charset="-122"/>
                <a:cs typeface="Calibri" pitchFamily="34" charset="-120"/>
              </a:rPr>
              <a:t>THE TWO NAMES MOST PEOPLE MISS</a:t>
            </a:r>
            <a:endParaRPr lang="en-US" sz="900" dirty="0"/>
          </a:p>
        </p:txBody>
      </p:sp>
      <p:sp>
        <p:nvSpPr>
          <p:cNvPr id="10" name="Text 7"/>
          <p:cNvSpPr txBox="1"/>
          <p:nvPr/>
        </p:nvSpPr>
        <p:spPr>
          <a:xfrm>
            <a:off x="804672" y="5065776"/>
            <a:ext cx="10582351" cy="530352"/>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Establishment Labs is the only Costa Rican pure play on any exchange. BAC Holding International, listed in Bogotá, is the closest thing that exists to a Central American pure-play bank — six countries through BAC Credomatic — and it appears on almost no screen because it does not trade in New York.</a:t>
            </a:r>
            <a:endParaRPr lang="en-US" sz="10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(E) · EXPOSURE MAP ONLY. NO VALUATION WORK, NO RECOMMENDATIONS.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Listed exposure — consumer, telecom and utilities</a:t>
            </a:r>
            <a:endParaRPr lang="en-US" sz="3000" dirty="0"/>
          </a:p>
        </p:txBody>
      </p:sp>
      <p:graphicFrame>
        <p:nvGraphicFramePr>
          <p:cNvPr id="37"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298448"/>
                <a:gridCol w="2121408"/>
                <a:gridCol w="1572768"/>
                <a:gridCol w="4471416"/>
                <a:gridCol w="1591056"/>
              </a:tblGrid>
              <a:tr h="395743">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Bucket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Company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Ticker / exchange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Specific exposure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Pure play?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598029">
                <a:tc>
                  <a:txBody>
                    <a:bodyPr/>
                    <a:lstStyle/>
                    <a:p>
                      <a:pPr indent="0" marL="0">
                        <a:buNone/>
                      </a:pPr>
                      <a:r>
                        <a:rPr lang="en-US" sz="800" b="1" dirty="0">
                          <a:solidFill>
                            <a:srgbClr val="156A7A"/>
                          </a:solidFill>
                          <a:latin typeface="Calibri" pitchFamily="34" charset="0"/>
                          <a:ea typeface="Calibri" pitchFamily="34" charset="-122"/>
                          <a:cs typeface="Calibri" pitchFamily="34" charset="-120"/>
                        </a:rPr>
                        <a:t>Consumer &amp; telecom</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Millicom (Tigo)</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TIGO (Nasdaq/Stockholm)</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The best listed proxy for the CentAm set. Q2-26: Colombia USD 816m = 40% of revenue (Coltel closed Feb-2026); Guatemala USD 382m = 19%, 55.6% EBITDA margin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95743">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Liberty Latin America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LILA (Nasdaq)</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Reports 'C&amp;W Panama' and 'Liberty Costa Rica' as named segments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 (region)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95743">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América Móvil</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AMX (NYSE/BMV)</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Claro in Colombia, Panama, CR, Guatemala, El Salvador, DR</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95743">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Coca-Cola FEMSA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KOF (NYSE/BMV)</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Bottler in Guatemala, Costa Rica, Panama, Nicaragua and Colombia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98029">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Ambev</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ABEV (NYSE/B3)</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'Central America and Caribbean' is a reported segment - anchored by Cervecería Nacional Dominicana (Presidente)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95743">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Walmart de México y Centroamérica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WALMEX (BMV)</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Costa Rica, Guatemala, El Salvador, Honduras, Nicaragua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Diversified</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98029">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Grupo Éxito</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EXITO (BVC) / EXCO32 (B3)</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Colombia retail; Grupo Calleja (El Salvador) control since 2024. NYSE ADSs DELISTED Jan-2025</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98029">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Cemex</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CX (NYSE/BMV)</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Largely exited - sold DR (USD 950m) and Panama (USD 200m) in 2025. Retains Colombia (partly divesting) + Jamaica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Exposure shrinking</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Company releases and filings, verified September 2026. Market caps deliberately omitted — this is an exposure map, not a screen.</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35</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(E) · EXPOSURE MAP ONLY. NO VALUATION WORK, NO RECOMMENDATIONS.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2800" b="1" dirty="0">
                <a:solidFill>
                  <a:srgbClr val="0B3B45"/>
                </a:solidFill>
                <a:latin typeface="Cambria" pitchFamily="34" charset="0"/>
                <a:ea typeface="Cambria" pitchFamily="34" charset="-122"/>
                <a:cs typeface="Cambria" pitchFamily="34" charset="-120"/>
              </a:rPr>
              <a:t>Listed exposure — consumer, telecom and utilities (continued)</a:t>
            </a:r>
            <a:endParaRPr lang="en-US" sz="2800" dirty="0"/>
          </a:p>
        </p:txBody>
      </p:sp>
      <p:graphicFrame>
        <p:nvGraphicFramePr>
          <p:cNvPr id="38"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298448"/>
                <a:gridCol w="2121408"/>
                <a:gridCol w="1572768"/>
                <a:gridCol w="4471416"/>
                <a:gridCol w="1591056"/>
              </a:tblGrid>
              <a:tr h="381918">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Bucket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Company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Ticker / exchange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Specific exposure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Pure play?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577137">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Grupo Argos / Cementos Argos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GRUPOARGOS / CEMARGOS (BVC)</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Colombian cement, energy (Celsia) and concessions. Summit stake fully monetised Feb-2025</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77137">
                <a:tc>
                  <a:txBody>
                    <a:bodyPr/>
                    <a:lstStyle/>
                    <a:p>
                      <a:pPr indent="0" marL="0">
                        <a:buNone/>
                      </a:pPr>
                      <a:r>
                        <a:rPr lang="en-US" sz="800" b="1" dirty="0">
                          <a:solidFill>
                            <a:srgbClr val="156A7A"/>
                          </a:solidFill>
                          <a:latin typeface="Calibri" pitchFamily="34" charset="0"/>
                          <a:ea typeface="Calibri" pitchFamily="34" charset="-122"/>
                          <a:cs typeface="Calibri" pitchFamily="34" charset="-120"/>
                        </a:rPr>
                        <a:t>Utilities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AES Corp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AES (NYSE)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Panama, DR, El Salvador generation and LNG. BEING TAKEN PRIVATE by GIP/EQT at USD 15/sh; approved Jun-2026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A8322D"/>
                          </a:solidFill>
                          <a:latin typeface="Calibri" pitchFamily="34" charset="0"/>
                          <a:ea typeface="Calibri" pitchFamily="34" charset="-122"/>
                          <a:cs typeface="Calibri" pitchFamily="34" charset="-120"/>
                        </a:rPr>
                        <a:t>Exiting public markets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81918">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ISA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ISA (BVC)</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Colombian transmission backbone, Ecopetrol-controlled. 7.6% of the COLO ETF</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77137">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Celsia / Promigas / Grupo Energia Bogotá</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CELSIA / PROMIGAS / GEB (BVC)</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Colombian generation, gas transport and transmission; Celsia also has Panama assets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b="1" dirty="0">
                          <a:solidFill>
                            <a:srgbClr val="3E7C59"/>
                          </a:solidFill>
                          <a:latin typeface="Calibri" pitchFamily="34" charset="0"/>
                          <a:ea typeface="Calibri" pitchFamily="34" charset="-122"/>
                          <a:cs typeface="Calibri" pitchFamily="34" charset="-120"/>
                        </a:rPr>
                        <a:t>PURE PLAY</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77137">
                <a:tc>
                  <a:txBody>
                    <a:bodyPr/>
                    <a:lstStyle/>
                    <a:p>
                      <a:pPr indent="0" marL="0">
                        <a:buNone/>
                      </a:pP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Enel 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ENELCOLOMBIA (BVC) / ENEL.MI</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Bogotá distribution plus Colombian generation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C6A71"/>
                          </a:solidFill>
                          <a:latin typeface="Calibri" pitchFamily="34" charset="0"/>
                          <a:ea typeface="Calibri" pitchFamily="34" charset="-122"/>
                          <a:cs typeface="Calibri" pitchFamily="34" charset="-120"/>
                        </a:rPr>
                        <a:t>Sub: pure Colombia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Company releases and filings, verified September 2026. Market caps deliberately omitted — this is an exposure map, not a screen.</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36</a:t>
            </a:r>
            <a:endParaRPr lang="en-US" sz="800" dirty="0"/>
          </a:p>
        </p:txBody>
      </p:sp>
      <p:sp>
        <p:nvSpPr>
          <p:cNvPr id="8" name="Shape 5"/>
          <p:cNvSpPr/>
          <p:nvPr/>
        </p:nvSpPr>
        <p:spPr>
          <a:xfrm>
            <a:off x="566928" y="4700016"/>
            <a:ext cx="11057839" cy="1060704"/>
          </a:xfrm>
          <a:prstGeom prst="roundRect">
            <a:avLst>
              <a:gd name="adj" fmla="val 5172"/>
            </a:avLst>
          </a:prstGeom>
          <a:solidFill>
            <a:srgbClr val="EDF1F2"/>
          </a:solidFill>
          <a:ln w="6350">
            <a:solidFill>
              <a:srgbClr val="EDF1F2"/>
            </a:solidFill>
            <a:prstDash val="solid"/>
          </a:ln>
        </p:spPr>
      </p:sp>
      <p:sp>
        <p:nvSpPr>
          <p:cNvPr id="9" name="Text 6"/>
          <p:cNvSpPr txBox="1"/>
          <p:nvPr/>
        </p:nvSpPr>
        <p:spPr>
          <a:xfrm>
            <a:off x="804672" y="4846320"/>
            <a:ext cx="10582351" cy="201168"/>
          </a:xfrm>
          <a:prstGeom prst="rect">
            <a:avLst/>
          </a:prstGeom>
          <a:noFill/>
          <a:ln/>
        </p:spPr>
        <p:txBody>
          <a:bodyPr wrap="square" lIns="0" tIns="0" rIns="0" bIns="0" rtlCol="0" anchor="ctr"/>
          <a:lstStyle/>
          <a:p>
            <a:pPr indent="0" marL="0">
              <a:buNone/>
            </a:pPr>
            <a:r>
              <a:rPr lang="en-US" sz="900" b="1" spc="140" kern="0" dirty="0">
                <a:solidFill>
                  <a:srgbClr val="156A7A"/>
                </a:solidFill>
                <a:latin typeface="Calibri" pitchFamily="34" charset="0"/>
                <a:ea typeface="Calibri" pitchFamily="34" charset="-122"/>
                <a:cs typeface="Calibri" pitchFamily="34" charset="-120"/>
              </a:rPr>
              <a:t>IF YOU ONLY REMEMBER ONE TICKER FROM THIS SECTION</a:t>
            </a:r>
            <a:endParaRPr lang="en-US" sz="900" dirty="0"/>
          </a:p>
        </p:txBody>
      </p:sp>
      <p:sp>
        <p:nvSpPr>
          <p:cNvPr id="10" name="Text 7"/>
          <p:cNvSpPr txBox="1"/>
          <p:nvPr/>
        </p:nvSpPr>
        <p:spPr>
          <a:xfrm>
            <a:off x="804672" y="5065776"/>
            <a:ext cx="10582351" cy="530352"/>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Millicom. Colombia is 40% of group revenue after the Coltel acquisition closed in February 2026 and Guatemala is another 19% at the highest margin in the group. It is the single best listed proxy for this set of markets, and it is not a Latin American index constituent that most portfolios already own.</a:t>
            </a:r>
            <a:endParaRPr lang="en-US" sz="10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ITEM (E) · READ BEFORE QUOTING ANY NAME</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The traps, and why six of the seven have no vehicle</a:t>
            </a:r>
            <a:endParaRPr lang="en-US" sz="3000" dirty="0"/>
          </a:p>
        </p:txBody>
      </p:sp>
      <p:sp>
        <p:nvSpPr>
          <p:cNvPr id="4" name="Text 2"/>
          <p:cNvSpPr txBox="1"/>
          <p:nvPr/>
        </p:nvSpPr>
        <p:spPr>
          <a:xfrm>
            <a:off x="566928" y="1225296"/>
            <a:ext cx="6035040" cy="219456"/>
          </a:xfrm>
          <a:prstGeom prst="rect">
            <a:avLst/>
          </a:prstGeom>
          <a:noFill/>
          <a:ln/>
        </p:spPr>
        <p:txBody>
          <a:bodyPr wrap="square" lIns="0" tIns="0" rIns="0" bIns="0" rtlCol="0" anchor="ctr"/>
          <a:lstStyle/>
          <a:p>
            <a:pPr indent="0" marL="0">
              <a:buNone/>
            </a:pPr>
            <a:r>
              <a:rPr lang="en-US" sz="1000" b="1" dirty="0">
                <a:solidFill>
                  <a:srgbClr val="A8322D"/>
                </a:solidFill>
                <a:latin typeface="Calibri" pitchFamily="34" charset="0"/>
                <a:ea typeface="Calibri" pitchFamily="34" charset="-122"/>
                <a:cs typeface="Calibri" pitchFamily="34" charset="-120"/>
              </a:rPr>
              <a:t>Acquired, delisted, restructured — or never had the exposure</a:t>
            </a:r>
            <a:endParaRPr lang="en-US" sz="1000" dirty="0"/>
          </a:p>
        </p:txBody>
      </p:sp>
      <p:graphicFrame>
        <p:nvGraphicFramePr>
          <p:cNvPr id="39" name="Table 0"/>
          <p:cNvGraphicFramePr>
            <a:graphicFrameLocks noGrp="1"/>
          </p:cNvGraphicFramePr>
          <p:nvPr>
            <p:extLst>
              <p:ext uri="{D42A27DB-BD31-4B8C-83A1-F6EECF244321}">
                <p14:modId xmlns:p14="http://schemas.microsoft.com/office/powerpoint/2010/main" val="1579011935"/>
              </p:ext>
            </p:extLst>
          </p:nvPr>
        </p:nvGraphicFramePr>
        <p:xfrm>
          <a:off x="566928" y="1463040"/>
          <a:ext cx="5989320" cy="914400"/>
        </p:xfrm>
        <a:graphic>
          <a:graphicData uri="http://schemas.openxmlformats.org/drawingml/2006/table">
            <a:tbl>
              <a:tblPr/>
              <a:tblGrid>
                <a:gridCol w="1572768"/>
                <a:gridCol w="4416552"/>
              </a:tblGrid>
              <a:tr h="275661">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Name</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A8322D"/>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Status</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A8322D"/>
                    </a:solidFill>
                  </a:tcPr>
                </a:tc>
              </a:tr>
              <a:tr h="274320">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Hess</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NOT INVESTABLE - Chevron completed the acquisition 18 Jul 2025. Use CVX.</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90307">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Playa Hotels (PLYA)</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DELISTED - Hyatt completed the acquisition 17 Jun 2025; real estate sold to Tortuga 30 Dec 2025.</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90307">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AES (AES)</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GOING PRIVATE - GIP/EQT at USD 15/sh, shareholder-approved Jun-2026, close expected late-2026/early-2027.</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274320">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Grupo Éxito ADS (EXTO)</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DELISTED from NYSE Jan 2025; ADR programme terminated 21 Jan 2025. BVC/B3 only.</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274320">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Summit Materials</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DELISTED - Quikrete acquisition closed Feb 2025; Cementos Argos sold its entire stake.</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274320">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Canacol (CNE.TO)</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IN CREDITOR PROTECTION - TSX delisting effective 29 Dec 2025; trading suspended.</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274320">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Cemex (CX)</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LARGELY EXITED the region - sold DR and Panama operations in 2025.</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274320">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Avianca</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NOT PUBLICLY TRADED - sits inside Abra Group; Abra's NYSE IPO was delayed in 2026.</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274320">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MoneyGram</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PRIVATE since June 2023 (Madison Dearborn).</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274320">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GXG (Colombia ETF)</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TICKER CHANGED TO COLO, effective ~20 Jun 2025.</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90307">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iShares Frontier &amp; Select EM (FM)</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LIQUIDATED in 2024. No successor.</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90307">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PAC / CAAP</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NO EXPOSURE to any of the seven markets. PAC = Mexico + Jamaica. CAAP = Southern Cone + Armenia/Italy.</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274320">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Bancolombia S.A.</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The NYSE issuer is now GRUPO CIBEST S.A. Ticker CIB unchanged.</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274320">
                <a:tc>
                  <a:txBody>
                    <a:bodyPr/>
                    <a:lstStyle/>
                    <a:p>
                      <a:pPr indent="0" marL="0">
                        <a:buNone/>
                      </a:pPr>
                      <a:r>
                        <a:rPr lang="en-US" sz="700" b="1" dirty="0">
                          <a:solidFill>
                            <a:srgbClr val="0B3B45"/>
                          </a:solidFill>
                          <a:latin typeface="Calibri" pitchFamily="34" charset="0"/>
                          <a:ea typeface="Calibri" pitchFamily="34" charset="-122"/>
                          <a:cs typeface="Calibri" pitchFamily="34" charset="-120"/>
                        </a:rPr>
                        <a:t>Grupo Rey (Panama)</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700" dirty="0">
                          <a:solidFill>
                            <a:srgbClr val="0B3B45"/>
                          </a:solidFill>
                          <a:latin typeface="Calibri" pitchFamily="34" charset="0"/>
                          <a:ea typeface="Calibri" pitchFamily="34" charset="-122"/>
                          <a:cs typeface="Calibri" pitchFamily="34" charset="-120"/>
                        </a:rPr>
                        <a:t>NOT a Panamanian family group - Corporación Favorita (Ecuador) has held 73% since 2019.</a:t>
                      </a:r>
                      <a:endParaRPr lang="en-US" sz="7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6" name="Text 3"/>
          <p:cNvSpPr txBox="1"/>
          <p:nvPr/>
        </p:nvSpPr>
        <p:spPr>
          <a:xfrm>
            <a:off x="6894576" y="1225296"/>
            <a:ext cx="4754880" cy="219456"/>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Index status</a:t>
            </a:r>
            <a:endParaRPr lang="en-US" sz="1000" dirty="0"/>
          </a:p>
        </p:txBody>
      </p:sp>
      <p:graphicFrame>
        <p:nvGraphicFramePr>
          <p:cNvPr id="77" name="Table 1"/>
          <p:cNvGraphicFramePr>
            <a:graphicFrameLocks noGrp="1"/>
          </p:cNvGraphicFramePr>
          <p:nvPr>
            <p:extLst>
              <p:ext uri="{D42A27DB-BD31-4B8C-83A1-F6EECF244321}">
                <p14:modId xmlns:p14="http://schemas.microsoft.com/office/powerpoint/2010/main" val="1579011935"/>
              </p:ext>
            </p:extLst>
          </p:nvPr>
        </p:nvGraphicFramePr>
        <p:xfrm>
          <a:off x="6894576" y="1463040"/>
          <a:ext cx="4727448" cy="914400"/>
        </p:xfrm>
        <a:graphic>
          <a:graphicData uri="http://schemas.openxmlformats.org/drawingml/2006/table">
            <a:tbl>
              <a:tblPr/>
              <a:tblGrid>
                <a:gridCol w="1143000"/>
                <a:gridCol w="3584448"/>
              </a:tblGrid>
              <a:tr h="275661">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Market</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156A7A"/>
                    </a:solidFill>
                  </a:tcPr>
                </a:tc>
                <a:tc>
                  <a:txBody>
                    <a:bodyPr/>
                    <a:lstStyle/>
                    <a:p>
                      <a:pPr algn="l" indent="0" marL="0">
                        <a:buNone/>
                      </a:pPr>
                      <a:r>
                        <a:rPr lang="en-US" sz="750" b="1" dirty="0">
                          <a:solidFill>
                            <a:srgbClr val="FFFFFF"/>
                          </a:solidFill>
                          <a:latin typeface="Calibri" pitchFamily="34" charset="0"/>
                          <a:ea typeface="Calibri" pitchFamily="34" charset="-122"/>
                          <a:cs typeface="Calibri" pitchFamily="34" charset="-120"/>
                        </a:rPr>
                        <a:t>Classification and access</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156A7A"/>
                    </a:solidFill>
                  </a:tcPr>
                </a:tc>
              </a:tr>
              <a:tr h="540228">
                <a:tc>
                  <a:txBody>
                    <a:bodyPr/>
                    <a:lstStyle/>
                    <a:p>
                      <a:pPr indent="0" marL="0">
                        <a:buNone/>
                      </a:pPr>
                      <a:r>
                        <a:rPr lang="en-US" sz="750" b="1" dirty="0">
                          <a:solidFill>
                            <a:srgbClr val="8A5F12"/>
                          </a:solidFill>
                          <a:latin typeface="Calibri" pitchFamily="34" charset="0"/>
                          <a:ea typeface="Calibri" pitchFamily="34" charset="-122"/>
                          <a:cs typeface="Calibri" pitchFamily="34" charset="-120"/>
                        </a:rPr>
                        <a:t>Colombia</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MSCI Emerging Markets; FTSE Secondary Emerging — Global X MSCI Colombia ETF - ticker COLO (was GXG until Jun-2025). AUM USD 226m, 26 holdings, 39.4% financials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07944">
                <a:tc>
                  <a:txBody>
                    <a:bodyPr/>
                    <a:lstStyle/>
                    <a:p>
                      <a:pPr indent="0" marL="0">
                        <a:buNone/>
                      </a:pPr>
                      <a:r>
                        <a:rPr lang="en-US" sz="750" b="1" dirty="0">
                          <a:solidFill>
                            <a:srgbClr val="0B3B45"/>
                          </a:solidFill>
                          <a:latin typeface="Calibri" pitchFamily="34" charset="0"/>
                          <a:ea typeface="Calibri" pitchFamily="34" charset="-122"/>
                          <a:cs typeface="Calibri" pitchFamily="34" charset="-120"/>
                        </a:rPr>
                        <a:t>Panama</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Absent from the FTSE country classification matrix entirely (Apr-2026) — No dedicated vehicle. Access via CPA, BLX, FM.TO, LILA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07944">
                <a:tc>
                  <a:txBody>
                    <a:bodyPr/>
                    <a:lstStyle/>
                    <a:p>
                      <a:pPr indent="0" marL="0">
                        <a:buNone/>
                      </a:pPr>
                      <a:r>
                        <a:rPr lang="en-US" sz="750" b="1" dirty="0">
                          <a:solidFill>
                            <a:srgbClr val="156A7A"/>
                          </a:solidFill>
                          <a:latin typeface="Calibri" pitchFamily="34" charset="0"/>
                          <a:ea typeface="Calibri" pitchFamily="34" charset="-122"/>
                          <a:cs typeface="Calibri" pitchFamily="34" charset="-120"/>
                        </a:rPr>
                        <a:t>Costa Rica</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Absent from the FTSE matrix — No dedicated vehicle. Access via ESTA, TIGO, LILA, BHI</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07944">
                <a:tc>
                  <a:txBody>
                    <a:bodyPr/>
                    <a:lstStyle/>
                    <a:p>
                      <a:pPr indent="0" marL="0">
                        <a:buNone/>
                      </a:pPr>
                      <a:r>
                        <a:rPr lang="en-US" sz="750" b="1" dirty="0">
                          <a:solidFill>
                            <a:srgbClr val="2C6470"/>
                          </a:solidFill>
                          <a:latin typeface="Calibri" pitchFamily="34" charset="0"/>
                          <a:ea typeface="Calibri" pitchFamily="34" charset="-122"/>
                          <a:cs typeface="Calibri" pitchFamily="34" charset="-120"/>
                        </a:rPr>
                        <a:t>Guatemala</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Absent from the FTSE matrix — No dedicated vehicle. Access via TIGO, KOF, PAAS, AUGO, BHI</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07944">
                <a:tc>
                  <a:txBody>
                    <a:bodyPr/>
                    <a:lstStyle/>
                    <a:p>
                      <a:pPr indent="0" marL="0">
                        <a:buNone/>
                      </a:pPr>
                      <a:r>
                        <a:rPr lang="en-US" sz="750" b="1" dirty="0">
                          <a:solidFill>
                            <a:srgbClr val="2E6F6B"/>
                          </a:solidFill>
                          <a:latin typeface="Calibri" pitchFamily="34" charset="0"/>
                          <a:ea typeface="Calibri" pitchFamily="34" charset="-122"/>
                          <a:cs typeface="Calibri" pitchFamily="34" charset="-120"/>
                        </a:rPr>
                        <a:t>Dominican Rep.</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Absent from the FTSE matrix — No dedicated vehicle. Access via B, NEM, MEL.MC, ABEV, DG.PA</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07944">
                <a:tc>
                  <a:txBody>
                    <a:bodyPr/>
                    <a:lstStyle/>
                    <a:p>
                      <a:pPr indent="0" marL="0">
                        <a:buNone/>
                      </a:pPr>
                      <a:r>
                        <a:rPr lang="en-US" sz="750" b="1" dirty="0">
                          <a:solidFill>
                            <a:srgbClr val="7A5C3E"/>
                          </a:solidFill>
                          <a:latin typeface="Calibri" pitchFamily="34" charset="0"/>
                          <a:ea typeface="Calibri" pitchFamily="34" charset="-122"/>
                          <a:cs typeface="Calibri" pitchFamily="34" charset="-120"/>
                        </a:rPr>
                        <a:t>El Salvador</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Absent from the FTSE matrix — No dedicated vehicle. Access via TIGO, CIB (Banco Agrícola), BHI</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407944">
                <a:tc>
                  <a:txBody>
                    <a:bodyPr/>
                    <a:lstStyle/>
                    <a:p>
                      <a:pPr indent="0" marL="0">
                        <a:buNone/>
                      </a:pPr>
                      <a:r>
                        <a:rPr lang="en-US" sz="750" b="1" dirty="0">
                          <a:solidFill>
                            <a:srgbClr val="3E5C7A"/>
                          </a:solidFill>
                          <a:latin typeface="Calibri" pitchFamily="34" charset="0"/>
                          <a:ea typeface="Calibri" pitchFamily="34" charset="-122"/>
                          <a:cs typeface="Calibri" pitchFamily="34" charset="-120"/>
                        </a:rPr>
                        <a:t>Guyana</a:t>
                      </a:r>
                      <a:endParaRPr lang="en-US" sz="7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0B3B45"/>
                          </a:solidFill>
                          <a:latin typeface="Calibri" pitchFamily="34" charset="0"/>
                          <a:ea typeface="Calibri" pitchFamily="34" charset="-122"/>
                          <a:cs typeface="Calibri" pitchFamily="34" charset="-120"/>
                        </a:rPr>
                        <a:t>Absent from the FTSE matrix; sovereign is UNRATED — No dedicated vehicle. Access via XOM, CVX, 0883.HK, NE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8" name="Text 4"/>
          <p:cNvSpPr txBox="1"/>
          <p:nvPr/>
        </p:nvSpPr>
        <p:spPr>
          <a:xfrm>
            <a:off x="566928" y="638251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Company releases and exchange notices; MSCI 2026 Market Classification Review; FTSE country-classification matrix, April 2026.</a:t>
            </a:r>
            <a:endParaRPr lang="en-US" sz="800" dirty="0"/>
          </a:p>
        </p:txBody>
      </p:sp>
      <p:sp>
        <p:nvSpPr>
          <p:cNvPr id="9" name="Shape 5"/>
          <p:cNvSpPr/>
          <p:nvPr/>
        </p:nvSpPr>
        <p:spPr>
          <a:xfrm>
            <a:off x="6894576" y="4946051"/>
            <a:ext cx="4727448" cy="1133856"/>
          </a:xfrm>
          <a:prstGeom prst="roundRect">
            <a:avLst>
              <a:gd name="adj" fmla="val 4839"/>
            </a:avLst>
          </a:prstGeom>
          <a:solidFill>
            <a:srgbClr val="0B3B45"/>
          </a:solidFill>
          <a:ln w="6350">
            <a:solidFill>
              <a:srgbClr val="0B3B45"/>
            </a:solidFill>
            <a:prstDash val="solid"/>
          </a:ln>
        </p:spPr>
      </p:sp>
      <p:sp>
        <p:nvSpPr>
          <p:cNvPr id="10" name="Text 6"/>
          <p:cNvSpPr txBox="1"/>
          <p:nvPr/>
        </p:nvSpPr>
        <p:spPr>
          <a:xfrm>
            <a:off x="7132320" y="5110643"/>
            <a:ext cx="4251960" cy="786384"/>
          </a:xfrm>
          <a:prstGeom prst="rect">
            <a:avLst/>
          </a:prstGeom>
          <a:noFill/>
          <a:ln/>
        </p:spPr>
        <p:txBody>
          <a:bodyPr wrap="square" lIns="0" tIns="0" rIns="0" bIns="0" rtlCol="0" anchor="t"/>
          <a:lstStyle/>
          <a:p>
            <a:pPr indent="0" marL="0">
              <a:lnSpc>
                <a:spcPct val="115000"/>
              </a:lnSpc>
              <a:buNone/>
            </a:pPr>
            <a:r>
              <a:rPr lang="en-US" sz="950" dirty="0">
                <a:solidFill>
                  <a:srgbClr val="FFFFFF"/>
                </a:solidFill>
                <a:latin typeface="Calibri" pitchFamily="34" charset="0"/>
                <a:ea typeface="Calibri" pitchFamily="34" charset="-122"/>
                <a:cs typeface="Calibri" pitchFamily="34" charset="-120"/>
              </a:rPr>
              <a:t>Only Colombia sits in any major index. The other six are absent from the FTSE country-classification matrix entirely and none is in MSCI Frontier. Exposure to them is obtainable only through US- and European-listed operating companies, or locally on the Bolsa de Valores de Colombia. Say that plainly to a client who asks for "Central America" in a portfolio.</a:t>
            </a:r>
            <a:endParaRPr lang="en-US" sz="950" dirty="0"/>
          </a:p>
        </p:txBody>
      </p:sp>
      <p:sp>
        <p:nvSpPr>
          <p:cNvPr id="11" name="Text 7"/>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12" name="Text 8"/>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37</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bg>
      <p:bgPr>
        <a:solidFill>
          <a:srgbClr val="0B3B45"/>
        </a:solidFill>
      </p:bgPr>
    </p:bg>
    <p:spTree>
      <p:nvGrpSpPr>
        <p:cNvPr id="1" name=""/>
        <p:cNvGrpSpPr/>
        <p:nvPr/>
      </p:nvGrpSpPr>
      <p:grpSpPr>
        <a:xfrm>
          <a:off x="0" y="0"/>
          <a:ext cx="0" cy="0"/>
          <a:chOff x="0" y="0"/>
          <a:chExt cx="0" cy="0"/>
        </a:xfrm>
      </p:grpSpPr>
      <p:sp>
        <p:nvSpPr>
          <p:cNvPr id="2" name="Shape 0"/>
          <p:cNvSpPr/>
          <p:nvPr/>
        </p:nvSpPr>
        <p:spPr>
          <a:xfrm>
            <a:off x="566928" y="1737360"/>
            <a:ext cx="822960" cy="822960"/>
          </a:xfrm>
          <a:prstGeom prst="ellipse">
            <a:avLst/>
          </a:prstGeom>
          <a:solidFill>
            <a:srgbClr val="D99A2B"/>
          </a:solidFill>
          <a:ln/>
        </p:spPr>
      </p:sp>
      <p:sp>
        <p:nvSpPr>
          <p:cNvPr id="3" name="Text 1"/>
          <p:cNvSpPr txBox="1"/>
          <p:nvPr/>
        </p:nvSpPr>
        <p:spPr>
          <a:xfrm>
            <a:off x="566928" y="1737360"/>
            <a:ext cx="822960" cy="8229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a:t>
            </a:r>
            <a:endParaRPr lang="en-US" sz="1500" dirty="0"/>
          </a:p>
        </p:txBody>
      </p:sp>
      <p:sp>
        <p:nvSpPr>
          <p:cNvPr id="4" name="Text 2"/>
          <p:cNvSpPr txBox="1"/>
          <p:nvPr/>
        </p:nvSpPr>
        <p:spPr>
          <a:xfrm>
            <a:off x="566928" y="2724912"/>
            <a:ext cx="7315200" cy="877824"/>
          </a:xfrm>
          <a:prstGeom prst="rect">
            <a:avLst/>
          </a:prstGeom>
          <a:noFill/>
          <a:ln/>
        </p:spPr>
        <p:txBody>
          <a:bodyPr wrap="square" lIns="0" tIns="0" rIns="0" bIns="0" rtlCol="0" anchor="ctr"/>
          <a:lstStyle/>
          <a:p>
            <a:pPr indent="0" marL="0">
              <a:buNone/>
            </a:pPr>
            <a:r>
              <a:rPr lang="en-US" sz="5400" b="1" dirty="0">
                <a:solidFill>
                  <a:srgbClr val="FFFFFF"/>
                </a:solidFill>
                <a:latin typeface="Cambria" pitchFamily="34" charset="0"/>
                <a:ea typeface="Cambria" pitchFamily="34" charset="-122"/>
                <a:cs typeface="Cambria" pitchFamily="34" charset="-120"/>
              </a:rPr>
              <a:t>Colombia</a:t>
            </a:r>
            <a:endParaRPr lang="en-US" sz="5400" dirty="0"/>
          </a:p>
        </p:txBody>
      </p:sp>
      <p:sp>
        <p:nvSpPr>
          <p:cNvPr id="5" name="Text 3"/>
          <p:cNvSpPr txBox="1"/>
          <p:nvPr/>
        </p:nvSpPr>
        <p:spPr>
          <a:xfrm>
            <a:off x="566928" y="3602736"/>
            <a:ext cx="7315200" cy="402336"/>
          </a:xfrm>
          <a:prstGeom prst="rect">
            <a:avLst/>
          </a:prstGeom>
          <a:noFill/>
          <a:ln/>
        </p:spPr>
        <p:txBody>
          <a:bodyPr wrap="square" lIns="0" tIns="0" rIns="0" bIns="0" rtlCol="0" anchor="ctr"/>
          <a:lstStyle/>
          <a:p>
            <a:pPr indent="0" marL="0">
              <a:buNone/>
            </a:pPr>
            <a:r>
              <a:rPr lang="en-US" sz="1800" dirty="0">
                <a:solidFill>
                  <a:srgbClr val="D99A2B"/>
                </a:solidFill>
                <a:latin typeface="Calibri" pitchFamily="34" charset="0"/>
                <a:ea typeface="Calibri" pitchFamily="34" charset="-122"/>
                <a:cs typeface="Calibri" pitchFamily="34" charset="-120"/>
              </a:rPr>
              <a:t>The annex</a:t>
            </a:r>
            <a:endParaRPr lang="en-US" sz="1800" dirty="0"/>
          </a:p>
        </p:txBody>
      </p:sp>
      <p:sp>
        <p:nvSpPr>
          <p:cNvPr id="6" name="Text 4"/>
          <p:cNvSpPr txBox="1"/>
          <p:nvPr/>
        </p:nvSpPr>
        <p:spPr>
          <a:xfrm>
            <a:off x="566928" y="4224528"/>
            <a:ext cx="7863840" cy="1371600"/>
          </a:xfrm>
          <a:prstGeom prst="rect">
            <a:avLst/>
          </a:prstGeom>
          <a:noFill/>
          <a:ln/>
        </p:spPr>
        <p:txBody>
          <a:bodyPr wrap="square" lIns="0" tIns="0" rIns="0" bIns="0" rtlCol="0" anchor="t"/>
          <a:lstStyle/>
          <a:p>
            <a:pPr indent="0" marL="0">
              <a:lnSpc>
                <a:spcPct val="120000"/>
              </a:lnSpc>
              <a:buNone/>
            </a:pPr>
            <a:r>
              <a:rPr lang="en-US" sz="1300" dirty="0">
                <a:solidFill>
                  <a:srgbClr val="AFC4C9"/>
                </a:solidFill>
                <a:latin typeface="Calibri" pitchFamily="34" charset="0"/>
                <a:ea typeface="Calibri" pitchFamily="34" charset="-122"/>
                <a:cs typeface="Calibri" pitchFamily="34" charset="-120"/>
              </a:rPr>
              <a:t>A new president took office on 7 August. An earthquake struck on 10 August. A budget landed on 28 August that BanRep says implies a 9.4%-of-GDP deficit. The honest answer to most Colombian questions in September 2026 is "not yet decided" — and that is precisely why the client wants to talk.</a:t>
            </a:r>
            <a:endParaRPr lang="en-US" sz="1300" dirty="0"/>
          </a:p>
        </p:txBody>
      </p:sp>
      <p:sp>
        <p:nvSpPr>
          <p:cNvPr id="7" name="Text 5"/>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E8B92"/>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8" name="Text 6"/>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E8B92"/>
                </a:solidFill>
                <a:latin typeface="Calibri" pitchFamily="34" charset="0"/>
                <a:ea typeface="Calibri" pitchFamily="34" charset="-122"/>
                <a:cs typeface="Calibri" pitchFamily="34" charset="-120"/>
              </a:rPr>
              <a:t>38</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COLOMBIA · 10 AUGUST 2026</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The fact that reframes the fiscal arithmetic</a:t>
            </a:r>
            <a:endParaRPr lang="en-US" sz="3000" dirty="0"/>
          </a:p>
        </p:txBody>
      </p:sp>
      <p:sp>
        <p:nvSpPr>
          <p:cNvPr id="4" name="Shape 2"/>
          <p:cNvSpPr/>
          <p:nvPr/>
        </p:nvSpPr>
        <p:spPr>
          <a:xfrm>
            <a:off x="566928" y="1389888"/>
            <a:ext cx="2682164" cy="1188720"/>
          </a:xfrm>
          <a:prstGeom prst="roundRect">
            <a:avLst>
              <a:gd name="adj" fmla="val 4615"/>
            </a:avLst>
          </a:prstGeom>
          <a:solidFill>
            <a:srgbClr val="EDF1F2"/>
          </a:solidFill>
          <a:ln w="6350">
            <a:solidFill>
              <a:srgbClr val="EDF1F2"/>
            </a:solidFill>
            <a:prstDash val="solid"/>
          </a:ln>
        </p:spPr>
      </p:sp>
      <p:sp>
        <p:nvSpPr>
          <p:cNvPr id="5" name="Text 3"/>
          <p:cNvSpPr txBox="1"/>
          <p:nvPr/>
        </p:nvSpPr>
        <p:spPr>
          <a:xfrm>
            <a:off x="731520" y="1499616"/>
            <a:ext cx="2352980" cy="457200"/>
          </a:xfrm>
          <a:prstGeom prst="rect">
            <a:avLst/>
          </a:prstGeom>
          <a:noFill/>
          <a:ln/>
        </p:spPr>
        <p:txBody>
          <a:bodyPr wrap="square" lIns="0" tIns="0" rIns="0" bIns="0" rtlCol="0" anchor="ctr"/>
          <a:lstStyle/>
          <a:p>
            <a:pPr indent="0" marL="0">
              <a:buNone/>
            </a:pPr>
            <a:r>
              <a:rPr lang="en-US" sz="2500" b="1" dirty="0">
                <a:solidFill>
                  <a:srgbClr val="0B3B45"/>
                </a:solidFill>
                <a:latin typeface="Cambria" pitchFamily="34" charset="0"/>
                <a:ea typeface="Cambria" pitchFamily="34" charset="-122"/>
                <a:cs typeface="Cambria" pitchFamily="34" charset="-120"/>
              </a:rPr>
              <a:t>Mw 7.4</a:t>
            </a:r>
            <a:endParaRPr lang="en-US" sz="2500" dirty="0"/>
          </a:p>
        </p:txBody>
      </p:sp>
      <p:sp>
        <p:nvSpPr>
          <p:cNvPr id="6" name="Text 4"/>
          <p:cNvSpPr txBox="1"/>
          <p:nvPr/>
        </p:nvSpPr>
        <p:spPr>
          <a:xfrm>
            <a:off x="731520" y="1975104"/>
            <a:ext cx="2352980" cy="512064"/>
          </a:xfrm>
          <a:prstGeom prst="rect">
            <a:avLst/>
          </a:prstGeom>
          <a:noFill/>
          <a:ln/>
        </p:spPr>
        <p:txBody>
          <a:bodyPr wrap="square" lIns="0" tIns="0" rIns="0" bIns="0" rtlCol="0" anchor="t"/>
          <a:lstStyle/>
          <a:p>
            <a:pPr indent="0" marL="0">
              <a:lnSpc>
                <a:spcPct val="108000"/>
              </a:lnSpc>
              <a:buNone/>
            </a:pPr>
            <a:r>
              <a:rPr lang="en-US" sz="950" dirty="0">
                <a:solidFill>
                  <a:srgbClr val="45646C"/>
                </a:solidFill>
                <a:latin typeface="Calibri" pitchFamily="34" charset="0"/>
                <a:ea typeface="Calibri" pitchFamily="34" charset="-122"/>
                <a:cs typeface="Calibri" pitchFamily="34" charset="-120"/>
              </a:rPr>
              <a:t>Chocó, near San José del Palmar</a:t>
            </a:r>
            <a:endParaRPr lang="en-US" sz="950" dirty="0"/>
          </a:p>
          <a:p>
            <a:pPr indent="0" marL="0">
              <a:lnSpc>
                <a:spcPct val="108000"/>
              </a:lnSpc>
              <a:buNone/>
            </a:pPr>
            <a:r>
              <a:rPr lang="en-US" sz="950" dirty="0">
                <a:solidFill>
                  <a:srgbClr val="45646C"/>
                </a:solidFill>
                <a:latin typeface="Calibri" pitchFamily="34" charset="0"/>
                <a:ea typeface="Calibri" pitchFamily="34" charset="-122"/>
                <a:cs typeface="Calibri" pitchFamily="34" charset="-120"/>
              </a:rPr>
              <a:t>depth ~108 km (USGS)</a:t>
            </a:r>
            <a:endParaRPr lang="en-US" sz="950" dirty="0"/>
          </a:p>
        </p:txBody>
      </p:sp>
      <p:sp>
        <p:nvSpPr>
          <p:cNvPr id="7" name="Shape 5"/>
          <p:cNvSpPr/>
          <p:nvPr/>
        </p:nvSpPr>
        <p:spPr>
          <a:xfrm>
            <a:off x="3358820" y="1389888"/>
            <a:ext cx="2682164" cy="1188720"/>
          </a:xfrm>
          <a:prstGeom prst="roundRect">
            <a:avLst>
              <a:gd name="adj" fmla="val 4615"/>
            </a:avLst>
          </a:prstGeom>
          <a:solidFill>
            <a:srgbClr val="F6E4E3"/>
          </a:solidFill>
          <a:ln w="6350">
            <a:solidFill>
              <a:srgbClr val="F6E4E3"/>
            </a:solidFill>
            <a:prstDash val="solid"/>
          </a:ln>
        </p:spPr>
      </p:sp>
      <p:sp>
        <p:nvSpPr>
          <p:cNvPr id="8" name="Text 6"/>
          <p:cNvSpPr txBox="1"/>
          <p:nvPr/>
        </p:nvSpPr>
        <p:spPr>
          <a:xfrm>
            <a:off x="3523412" y="1499616"/>
            <a:ext cx="2352980" cy="457200"/>
          </a:xfrm>
          <a:prstGeom prst="rect">
            <a:avLst/>
          </a:prstGeom>
          <a:noFill/>
          <a:ln/>
        </p:spPr>
        <p:txBody>
          <a:bodyPr wrap="square" lIns="0" tIns="0" rIns="0" bIns="0" rtlCol="0" anchor="ctr"/>
          <a:lstStyle/>
          <a:p>
            <a:pPr indent="0" marL="0">
              <a:buNone/>
            </a:pPr>
            <a:r>
              <a:rPr lang="en-US" sz="2500" b="1" dirty="0">
                <a:solidFill>
                  <a:srgbClr val="A8322D"/>
                </a:solidFill>
                <a:latin typeface="Cambria" pitchFamily="34" charset="0"/>
                <a:ea typeface="Cambria" pitchFamily="34" charset="-122"/>
                <a:cs typeface="Cambria" pitchFamily="34" charset="-120"/>
              </a:rPr>
              <a:t>331</a:t>
            </a:r>
            <a:endParaRPr lang="en-US" sz="2500" dirty="0"/>
          </a:p>
        </p:txBody>
      </p:sp>
      <p:sp>
        <p:nvSpPr>
          <p:cNvPr id="9" name="Text 7"/>
          <p:cNvSpPr txBox="1"/>
          <p:nvPr/>
        </p:nvSpPr>
        <p:spPr>
          <a:xfrm>
            <a:off x="3523412" y="1975104"/>
            <a:ext cx="2352980" cy="512064"/>
          </a:xfrm>
          <a:prstGeom prst="rect">
            <a:avLst/>
          </a:prstGeom>
          <a:noFill/>
          <a:ln/>
        </p:spPr>
        <p:txBody>
          <a:bodyPr wrap="square" lIns="0" tIns="0" rIns="0" bIns="0" rtlCol="0" anchor="t"/>
          <a:lstStyle/>
          <a:p>
            <a:pPr indent="0" marL="0">
              <a:lnSpc>
                <a:spcPct val="108000"/>
              </a:lnSpc>
              <a:buNone/>
            </a:pPr>
            <a:r>
              <a:rPr lang="en-US" sz="950" dirty="0">
                <a:solidFill>
                  <a:srgbClr val="45646C"/>
                </a:solidFill>
                <a:latin typeface="Calibri" pitchFamily="34" charset="0"/>
                <a:ea typeface="Calibri" pitchFamily="34" charset="-122"/>
                <a:cs typeface="Calibri" pitchFamily="34" charset="-120"/>
              </a:rPr>
              <a:t>dead; 4,613 injured, 240 missing</a:t>
            </a:r>
            <a:endParaRPr lang="en-US" sz="950" dirty="0"/>
          </a:p>
          <a:p>
            <a:pPr indent="0" marL="0">
              <a:lnSpc>
                <a:spcPct val="108000"/>
              </a:lnSpc>
              <a:buNone/>
            </a:pPr>
            <a:r>
              <a:rPr lang="en-US" sz="950" dirty="0">
                <a:solidFill>
                  <a:srgbClr val="45646C"/>
                </a:solidFill>
                <a:latin typeface="Calibri" pitchFamily="34" charset="0"/>
                <a:ea typeface="Calibri" pitchFamily="34" charset="-122"/>
                <a:cs typeface="Calibri" pitchFamily="34" charset="-120"/>
              </a:rPr>
              <a:t>178,555 homes damaged</a:t>
            </a:r>
            <a:endParaRPr lang="en-US" sz="950" dirty="0"/>
          </a:p>
        </p:txBody>
      </p:sp>
      <p:sp>
        <p:nvSpPr>
          <p:cNvPr id="10" name="Shape 8"/>
          <p:cNvSpPr/>
          <p:nvPr/>
        </p:nvSpPr>
        <p:spPr>
          <a:xfrm>
            <a:off x="6150712" y="1389888"/>
            <a:ext cx="2682164" cy="1188720"/>
          </a:xfrm>
          <a:prstGeom prst="roundRect">
            <a:avLst>
              <a:gd name="adj" fmla="val 4615"/>
            </a:avLst>
          </a:prstGeom>
          <a:solidFill>
            <a:srgbClr val="F6E4E3"/>
          </a:solidFill>
          <a:ln w="6350">
            <a:solidFill>
              <a:srgbClr val="F6E4E3"/>
            </a:solidFill>
            <a:prstDash val="solid"/>
          </a:ln>
        </p:spPr>
      </p:sp>
      <p:sp>
        <p:nvSpPr>
          <p:cNvPr id="11" name="Text 9"/>
          <p:cNvSpPr txBox="1"/>
          <p:nvPr/>
        </p:nvSpPr>
        <p:spPr>
          <a:xfrm>
            <a:off x="6315304" y="1499616"/>
            <a:ext cx="2352980" cy="457200"/>
          </a:xfrm>
          <a:prstGeom prst="rect">
            <a:avLst/>
          </a:prstGeom>
          <a:noFill/>
          <a:ln/>
        </p:spPr>
        <p:txBody>
          <a:bodyPr wrap="square" lIns="0" tIns="0" rIns="0" bIns="0" rtlCol="0" anchor="ctr"/>
          <a:lstStyle/>
          <a:p>
            <a:pPr indent="0" marL="0">
              <a:buNone/>
            </a:pPr>
            <a:r>
              <a:rPr lang="en-US" sz="2500" b="1" dirty="0">
                <a:solidFill>
                  <a:srgbClr val="A8322D"/>
                </a:solidFill>
                <a:latin typeface="Cambria" pitchFamily="34" charset="0"/>
                <a:ea typeface="Cambria" pitchFamily="34" charset="-122"/>
                <a:cs typeface="Cambria" pitchFamily="34" charset="-120"/>
              </a:rPr>
              <a:t>$9.6bn</a:t>
            </a:r>
            <a:endParaRPr lang="en-US" sz="2500" dirty="0"/>
          </a:p>
        </p:txBody>
      </p:sp>
      <p:sp>
        <p:nvSpPr>
          <p:cNvPr id="12" name="Text 10"/>
          <p:cNvSpPr txBox="1"/>
          <p:nvPr/>
        </p:nvSpPr>
        <p:spPr>
          <a:xfrm>
            <a:off x="6315304" y="1975104"/>
            <a:ext cx="2352980" cy="512064"/>
          </a:xfrm>
          <a:prstGeom prst="rect">
            <a:avLst/>
          </a:prstGeom>
          <a:noFill/>
          <a:ln/>
        </p:spPr>
        <p:txBody>
          <a:bodyPr wrap="square" lIns="0" tIns="0" rIns="0" bIns="0" rtlCol="0" anchor="t"/>
          <a:lstStyle/>
          <a:p>
            <a:pPr indent="0" marL="0">
              <a:lnSpc>
                <a:spcPct val="108000"/>
              </a:lnSpc>
              <a:buNone/>
            </a:pPr>
            <a:r>
              <a:rPr lang="en-US" sz="950" dirty="0">
                <a:solidFill>
                  <a:srgbClr val="45646C"/>
                </a:solidFill>
                <a:latin typeface="Calibri" pitchFamily="34" charset="0"/>
                <a:ea typeface="Calibri" pitchFamily="34" charset="-122"/>
                <a:cs typeface="Calibri" pitchFamily="34" charset="-120"/>
              </a:rPr>
              <a:t>government damage estimate</a:t>
            </a:r>
            <a:endParaRPr lang="en-US" sz="950" dirty="0"/>
          </a:p>
          <a:p>
            <a:pPr indent="0" marL="0">
              <a:lnSpc>
                <a:spcPct val="108000"/>
              </a:lnSpc>
              <a:buNone/>
            </a:pPr>
            <a:r>
              <a:rPr lang="en-US" sz="950" dirty="0">
                <a:solidFill>
                  <a:srgbClr val="45646C"/>
                </a:solidFill>
                <a:latin typeface="Calibri" pitchFamily="34" charset="0"/>
                <a:ea typeface="Calibri" pitchFamily="34" charset="-122"/>
                <a:cs typeface="Calibri" pitchFamily="34" charset="-120"/>
              </a:rPr>
              <a:t>reconstruction COP 30–40tn</a:t>
            </a:r>
            <a:endParaRPr lang="en-US" sz="950" dirty="0"/>
          </a:p>
        </p:txBody>
      </p:sp>
      <p:sp>
        <p:nvSpPr>
          <p:cNvPr id="13" name="Shape 11"/>
          <p:cNvSpPr/>
          <p:nvPr/>
        </p:nvSpPr>
        <p:spPr>
          <a:xfrm>
            <a:off x="8942603" y="1389888"/>
            <a:ext cx="2682164" cy="1188720"/>
          </a:xfrm>
          <a:prstGeom prst="roundRect">
            <a:avLst>
              <a:gd name="adj" fmla="val 4615"/>
            </a:avLst>
          </a:prstGeom>
          <a:solidFill>
            <a:srgbClr val="F6E4E3"/>
          </a:solidFill>
          <a:ln w="6350">
            <a:solidFill>
              <a:srgbClr val="F6E4E3"/>
            </a:solidFill>
            <a:prstDash val="solid"/>
          </a:ln>
        </p:spPr>
      </p:sp>
      <p:sp>
        <p:nvSpPr>
          <p:cNvPr id="14" name="Text 12"/>
          <p:cNvSpPr txBox="1"/>
          <p:nvPr/>
        </p:nvSpPr>
        <p:spPr>
          <a:xfrm>
            <a:off x="9107195" y="1499616"/>
            <a:ext cx="2352980" cy="457200"/>
          </a:xfrm>
          <a:prstGeom prst="rect">
            <a:avLst/>
          </a:prstGeom>
          <a:noFill/>
          <a:ln/>
        </p:spPr>
        <p:txBody>
          <a:bodyPr wrap="square" lIns="0" tIns="0" rIns="0" bIns="0" rtlCol="0" anchor="ctr"/>
          <a:lstStyle/>
          <a:p>
            <a:pPr indent="0" marL="0">
              <a:buNone/>
            </a:pPr>
            <a:r>
              <a:rPr lang="en-US" sz="2500" b="1" dirty="0">
                <a:solidFill>
                  <a:srgbClr val="A8322D"/>
                </a:solidFill>
                <a:latin typeface="Cambria" pitchFamily="34" charset="0"/>
                <a:ea typeface="Cambria" pitchFamily="34" charset="-122"/>
                <a:cs typeface="Cambria" pitchFamily="34" charset="-120"/>
              </a:rPr>
              <a:t>34–45%</a:t>
            </a:r>
            <a:endParaRPr lang="en-US" sz="2500" dirty="0"/>
          </a:p>
        </p:txBody>
      </p:sp>
      <p:sp>
        <p:nvSpPr>
          <p:cNvPr id="15" name="Text 13"/>
          <p:cNvSpPr txBox="1"/>
          <p:nvPr/>
        </p:nvSpPr>
        <p:spPr>
          <a:xfrm>
            <a:off x="9107195" y="1975104"/>
            <a:ext cx="2352980" cy="512064"/>
          </a:xfrm>
          <a:prstGeom prst="rect">
            <a:avLst/>
          </a:prstGeom>
          <a:noFill/>
          <a:ln/>
        </p:spPr>
        <p:txBody>
          <a:bodyPr wrap="square" lIns="0" tIns="0" rIns="0" bIns="0" rtlCol="0" anchor="t"/>
          <a:lstStyle/>
          <a:p>
            <a:pPr indent="0" marL="0">
              <a:lnSpc>
                <a:spcPct val="108000"/>
              </a:lnSpc>
              <a:buNone/>
            </a:pPr>
            <a:r>
              <a:rPr lang="en-US" sz="950" dirty="0">
                <a:solidFill>
                  <a:srgbClr val="45646C"/>
                </a:solidFill>
                <a:latin typeface="Calibri" pitchFamily="34" charset="0"/>
                <a:ea typeface="Calibri" pitchFamily="34" charset="-122"/>
                <a:cs typeface="Calibri" pitchFamily="34" charset="-120"/>
              </a:rPr>
              <a:t>of the entire 2026 public</a:t>
            </a:r>
            <a:endParaRPr lang="en-US" sz="950" dirty="0"/>
          </a:p>
          <a:p>
            <a:pPr indent="0" marL="0">
              <a:lnSpc>
                <a:spcPct val="108000"/>
              </a:lnSpc>
              <a:buNone/>
            </a:pPr>
            <a:r>
              <a:rPr lang="en-US" sz="950" dirty="0">
                <a:solidFill>
                  <a:srgbClr val="45646C"/>
                </a:solidFill>
                <a:latin typeface="Calibri" pitchFamily="34" charset="0"/>
                <a:ea typeface="Calibri" pitchFamily="34" charset="-122"/>
                <a:cs typeface="Calibri" pitchFamily="34" charset="-120"/>
              </a:rPr>
              <a:t>investment budget of COP 88.4tn</a:t>
            </a:r>
            <a:endParaRPr lang="en-US" sz="950" dirty="0"/>
          </a:p>
        </p:txBody>
      </p:sp>
      <p:sp>
        <p:nvSpPr>
          <p:cNvPr id="16" name="Text 14"/>
          <p:cNvSpPr txBox="1"/>
          <p:nvPr/>
        </p:nvSpPr>
        <p:spPr>
          <a:xfrm>
            <a:off x="566928" y="2798064"/>
            <a:ext cx="11057839" cy="914400"/>
          </a:xfrm>
          <a:prstGeom prst="rect">
            <a:avLst/>
          </a:prstGeom>
          <a:noFill/>
          <a:ln/>
        </p:spPr>
        <p:txBody>
          <a:bodyPr wrap="square" lIns="0" tIns="0" rIns="0" bIns="0" rtlCol="0" anchor="t"/>
          <a:lstStyle/>
          <a:p>
            <a:pPr indent="0" marL="0">
              <a:lnSpc>
                <a:spcPct val="118000"/>
              </a:lnSpc>
              <a:buNone/>
            </a:pPr>
            <a:r>
              <a:rPr lang="en-US" sz="1300" dirty="0">
                <a:solidFill>
                  <a:srgbClr val="1E4650"/>
                </a:solidFill>
                <a:latin typeface="Calibri" pitchFamily="34" charset="0"/>
                <a:ea typeface="Calibri" pitchFamily="34" charset="-122"/>
                <a:cs typeface="Calibri" pitchFamily="34" charset="-120"/>
              </a:rPr>
              <a:t>It struck three days after the inauguration, in the industrial corridor around Cali, Pereira, Manizales, Armenia and Buenaventura — 1.4 million formal jobs, roughly 15% of the national total. It is why the 2027 budget jumped COP 59.3tn, and why the fiscal picture on the next slides is materially worse than the June Marco Fiscal implied.</a:t>
            </a:r>
            <a:endParaRPr lang="en-US" sz="1300" dirty="0"/>
          </a:p>
        </p:txBody>
      </p:sp>
      <p:sp>
        <p:nvSpPr>
          <p:cNvPr id="17" name="Shape 15"/>
          <p:cNvSpPr/>
          <p:nvPr/>
        </p:nvSpPr>
        <p:spPr>
          <a:xfrm>
            <a:off x="566928" y="3822192"/>
            <a:ext cx="11057839" cy="621792"/>
          </a:xfrm>
          <a:prstGeom prst="roundRect">
            <a:avLst>
              <a:gd name="adj" fmla="val 8824"/>
            </a:avLst>
          </a:prstGeom>
          <a:solidFill>
            <a:srgbClr val="EDF1F2"/>
          </a:solidFill>
          <a:ln w="6350">
            <a:solidFill>
              <a:srgbClr val="EDF1F2"/>
            </a:solidFill>
            <a:prstDash val="solid"/>
          </a:ln>
        </p:spPr>
      </p:sp>
      <p:sp>
        <p:nvSpPr>
          <p:cNvPr id="18" name="Text 16"/>
          <p:cNvSpPr txBox="1"/>
          <p:nvPr/>
        </p:nvSpPr>
        <p:spPr>
          <a:xfrm>
            <a:off x="786384" y="3931920"/>
            <a:ext cx="10618927" cy="420624"/>
          </a:xfrm>
          <a:prstGeom prst="rect">
            <a:avLst/>
          </a:prstGeom>
          <a:noFill/>
          <a:ln/>
        </p:spPr>
        <p:txBody>
          <a:bodyPr wrap="square" lIns="0" tIns="0" rIns="0" bIns="0" rtlCol="0" anchor="t"/>
          <a:lstStyle/>
          <a:p>
            <a:pPr indent="0" marL="0">
              <a:lnSpc>
                <a:spcPct val="116000"/>
              </a:lnSpc>
              <a:buNone/>
            </a:pPr>
            <a:r>
              <a:rPr lang="en-US" sz="1050" i="1" dirty="0">
                <a:solidFill>
                  <a:srgbClr val="45646C"/>
                </a:solidFill>
                <a:latin typeface="Calibri" pitchFamily="34" charset="0"/>
                <a:ea typeface="Calibri" pitchFamily="34" charset="-122"/>
                <a:cs typeface="Calibri" pitchFamily="34" charset="-120"/>
              </a:rPr>
              <a:t>A note on sourcing: one outlet dates the quake to 25 August. USGS-referenced reporting gives 10 August, which is correct — the reconstruction-cost coverage begins on the 18th. Use 10 August.</a:t>
            </a:r>
            <a:endParaRPr lang="en-US" sz="1050" dirty="0"/>
          </a:p>
        </p:txBody>
      </p:sp>
      <p:sp>
        <p:nvSpPr>
          <p:cNvPr id="19" name="Shape 17"/>
          <p:cNvSpPr/>
          <p:nvPr/>
        </p:nvSpPr>
        <p:spPr>
          <a:xfrm>
            <a:off x="566928" y="4626864"/>
            <a:ext cx="11057839" cy="1060704"/>
          </a:xfrm>
          <a:prstGeom prst="roundRect">
            <a:avLst>
              <a:gd name="adj" fmla="val 5172"/>
            </a:avLst>
          </a:prstGeom>
          <a:solidFill>
            <a:srgbClr val="0B3B45"/>
          </a:solidFill>
          <a:ln w="6350">
            <a:solidFill>
              <a:srgbClr val="0B3B45"/>
            </a:solidFill>
            <a:prstDash val="solid"/>
          </a:ln>
        </p:spPr>
      </p:sp>
      <p:sp>
        <p:nvSpPr>
          <p:cNvPr id="20" name="Text 18"/>
          <p:cNvSpPr txBox="1"/>
          <p:nvPr/>
        </p:nvSpPr>
        <p:spPr>
          <a:xfrm>
            <a:off x="804672" y="4773168"/>
            <a:ext cx="10582351" cy="201168"/>
          </a:xfrm>
          <a:prstGeom prst="rect">
            <a:avLst/>
          </a:prstGeom>
          <a:noFill/>
          <a:ln/>
        </p:spPr>
        <p:txBody>
          <a:bodyPr wrap="square" lIns="0" tIns="0" rIns="0" bIns="0" rtlCol="0" anchor="ctr"/>
          <a:lstStyle/>
          <a:p>
            <a:pPr indent="0" marL="0">
              <a:buNone/>
            </a:pPr>
            <a:r>
              <a:rPr lang="en-US" sz="900" b="1" spc="140" kern="0" dirty="0">
                <a:solidFill>
                  <a:srgbClr val="D99A2B"/>
                </a:solidFill>
                <a:latin typeface="Calibri" pitchFamily="34" charset="0"/>
                <a:ea typeface="Calibri" pitchFamily="34" charset="-122"/>
                <a:cs typeface="Calibri" pitchFamily="34" charset="-120"/>
              </a:rPr>
              <a:t>THE READ FOR AN ADVISOR</a:t>
            </a:r>
            <a:endParaRPr lang="en-US" sz="900" dirty="0"/>
          </a:p>
        </p:txBody>
      </p:sp>
      <p:sp>
        <p:nvSpPr>
          <p:cNvPr id="21" name="Text 19"/>
          <p:cNvSpPr txBox="1"/>
          <p:nvPr/>
        </p:nvSpPr>
        <p:spPr>
          <a:xfrm>
            <a:off x="804672" y="4992624"/>
            <a:ext cx="10582351" cy="530352"/>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The 2026 growth forecast came down only two tenths, to 2.5%. The fiscal consequence is far larger than the growth consequence, and it arrived at exactly the moment a new government with no congressional majority was trying to establish fiscal credibility. That is the sequencing a client needs explained — not the seismology.</a:t>
            </a:r>
            <a:endParaRPr lang="en-US" sz="1150" dirty="0"/>
          </a:p>
        </p:txBody>
      </p:sp>
      <p:sp>
        <p:nvSpPr>
          <p:cNvPr id="22" name="Text 20"/>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23" name="Text 21"/>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39</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COLOMBIA · THE TRANSITION</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He won by 0.96 of a point and does not control Congress</a:t>
            </a:r>
            <a:endParaRPr lang="en-US" sz="3000" dirty="0"/>
          </a:p>
        </p:txBody>
      </p:sp>
      <p:sp>
        <p:nvSpPr>
          <p:cNvPr id="4" name="Text 2"/>
          <p:cNvSpPr txBox="1"/>
          <p:nvPr/>
        </p:nvSpPr>
        <p:spPr>
          <a:xfrm>
            <a:off x="566928" y="1353312"/>
            <a:ext cx="5303520" cy="256032"/>
          </a:xfrm>
          <a:prstGeom prst="rect">
            <a:avLst/>
          </a:prstGeom>
          <a:noFill/>
          <a:ln/>
        </p:spPr>
        <p:txBody>
          <a:bodyPr wrap="square" lIns="0" tIns="0" rIns="0" bIns="0" rtlCol="0" anchor="ctr"/>
          <a:lstStyle/>
          <a:p>
            <a:pPr indent="0" marL="0">
              <a:buNone/>
            </a:pPr>
            <a:r>
              <a:rPr lang="en-US" sz="1100" b="1" dirty="0">
                <a:solidFill>
                  <a:srgbClr val="0B3B45"/>
                </a:solidFill>
                <a:latin typeface="Calibri" pitchFamily="34" charset="0"/>
                <a:ea typeface="Calibri" pitchFamily="34" charset="-122"/>
                <a:cs typeface="Calibri" pitchFamily="34" charset="-120"/>
              </a:rPr>
              <a:t>Runoff, 21 June 2026 — turnout 63.60%, a record</a:t>
            </a:r>
            <a:endParaRPr lang="en-US" sz="1100" dirty="0"/>
          </a:p>
        </p:txBody>
      </p:sp>
      <p:sp>
        <p:nvSpPr>
          <p:cNvPr id="5" name="Text 3"/>
          <p:cNvSpPr txBox="1"/>
          <p:nvPr/>
        </p:nvSpPr>
        <p:spPr>
          <a:xfrm>
            <a:off x="566928" y="1682496"/>
            <a:ext cx="1783080" cy="420624"/>
          </a:xfrm>
          <a:prstGeom prst="rect">
            <a:avLst/>
          </a:prstGeom>
          <a:noFill/>
          <a:ln/>
        </p:spPr>
        <p:txBody>
          <a:bodyPr wrap="square" lIns="0" tIns="0" rIns="0" bIns="0" rtlCol="0" anchor="ctr"/>
          <a:lstStyle/>
          <a:p>
            <a:pPr indent="0" marL="0">
              <a:buNone/>
            </a:pPr>
            <a:r>
              <a:rPr lang="en-US" sz="1050" b="1" dirty="0">
                <a:solidFill>
                  <a:srgbClr val="0B3B45"/>
                </a:solidFill>
                <a:latin typeface="Calibri" pitchFamily="34" charset="0"/>
                <a:ea typeface="Calibri" pitchFamily="34" charset="-122"/>
                <a:cs typeface="Calibri" pitchFamily="34" charset="-120"/>
              </a:rPr>
              <a:t>De la Espriella</a:t>
            </a:r>
            <a:endParaRPr lang="en-US" sz="1050" dirty="0"/>
          </a:p>
        </p:txBody>
      </p:sp>
      <p:sp>
        <p:nvSpPr>
          <p:cNvPr id="6" name="Shape 4"/>
          <p:cNvSpPr/>
          <p:nvPr/>
        </p:nvSpPr>
        <p:spPr>
          <a:xfrm>
            <a:off x="2423160" y="1775033"/>
            <a:ext cx="2761488" cy="235549"/>
          </a:xfrm>
          <a:prstGeom prst="rect">
            <a:avLst/>
          </a:prstGeom>
          <a:solidFill>
            <a:srgbClr val="EDF1F2"/>
          </a:solidFill>
          <a:ln/>
        </p:spPr>
      </p:sp>
      <p:sp>
        <p:nvSpPr>
          <p:cNvPr id="7" name="Shape 5"/>
          <p:cNvSpPr/>
          <p:nvPr/>
        </p:nvSpPr>
        <p:spPr>
          <a:xfrm>
            <a:off x="2423160" y="1775033"/>
            <a:ext cx="2493373" cy="235549"/>
          </a:xfrm>
          <a:prstGeom prst="rect">
            <a:avLst/>
          </a:prstGeom>
          <a:solidFill>
            <a:srgbClr val="D99A2B"/>
          </a:solidFill>
          <a:ln/>
        </p:spPr>
      </p:sp>
      <p:sp>
        <p:nvSpPr>
          <p:cNvPr id="8" name="Text 6"/>
          <p:cNvSpPr txBox="1"/>
          <p:nvPr/>
        </p:nvSpPr>
        <p:spPr>
          <a:xfrm>
            <a:off x="5257800" y="1682496"/>
            <a:ext cx="685800" cy="420624"/>
          </a:xfrm>
          <a:prstGeom prst="rect">
            <a:avLst/>
          </a:prstGeom>
          <a:noFill/>
          <a:ln/>
        </p:spPr>
        <p:txBody>
          <a:bodyPr wrap="square" lIns="0" tIns="0" rIns="0" bIns="0" rtlCol="0" anchor="ctr"/>
          <a:lstStyle/>
          <a:p>
            <a:pPr indent="0" marL="0">
              <a:buNone/>
            </a:pPr>
            <a:r>
              <a:rPr lang="en-US" sz="1050" b="1" dirty="0">
                <a:solidFill>
                  <a:srgbClr val="D99A2B"/>
                </a:solidFill>
                <a:latin typeface="Calibri" pitchFamily="34" charset="0"/>
                <a:ea typeface="Calibri" pitchFamily="34" charset="-122"/>
                <a:cs typeface="Calibri" pitchFamily="34" charset="-120"/>
              </a:rPr>
              <a:t>49.66%</a:t>
            </a:r>
            <a:endParaRPr lang="en-US" sz="1050" dirty="0"/>
          </a:p>
        </p:txBody>
      </p:sp>
      <p:sp>
        <p:nvSpPr>
          <p:cNvPr id="9" name="Text 7"/>
          <p:cNvSpPr txBox="1"/>
          <p:nvPr/>
        </p:nvSpPr>
        <p:spPr>
          <a:xfrm>
            <a:off x="566928" y="2139696"/>
            <a:ext cx="1783080" cy="420624"/>
          </a:xfrm>
          <a:prstGeom prst="rect">
            <a:avLst/>
          </a:prstGeom>
          <a:noFill/>
          <a:ln/>
        </p:spPr>
        <p:txBody>
          <a:bodyPr wrap="square" lIns="0" tIns="0" rIns="0" bIns="0" rtlCol="0" anchor="ctr"/>
          <a:lstStyle/>
          <a:p>
            <a:pPr indent="0" marL="0">
              <a:buNone/>
            </a:pPr>
            <a:r>
              <a:rPr lang="en-US" sz="1050" dirty="0">
                <a:solidFill>
                  <a:srgbClr val="0B3B45"/>
                </a:solidFill>
                <a:latin typeface="Calibri" pitchFamily="34" charset="0"/>
                <a:ea typeface="Calibri" pitchFamily="34" charset="-122"/>
                <a:cs typeface="Calibri" pitchFamily="34" charset="-120"/>
              </a:rPr>
              <a:t>Cepeda</a:t>
            </a:r>
            <a:endParaRPr lang="en-US" sz="1050" dirty="0"/>
          </a:p>
        </p:txBody>
      </p:sp>
      <p:sp>
        <p:nvSpPr>
          <p:cNvPr id="10" name="Shape 8"/>
          <p:cNvSpPr/>
          <p:nvPr/>
        </p:nvSpPr>
        <p:spPr>
          <a:xfrm>
            <a:off x="2423160" y="2232233"/>
            <a:ext cx="2761488" cy="235549"/>
          </a:xfrm>
          <a:prstGeom prst="rect">
            <a:avLst/>
          </a:prstGeom>
          <a:solidFill>
            <a:srgbClr val="EDF1F2"/>
          </a:solidFill>
          <a:ln/>
        </p:spPr>
      </p:sp>
      <p:sp>
        <p:nvSpPr>
          <p:cNvPr id="11" name="Shape 9"/>
          <p:cNvSpPr/>
          <p:nvPr/>
        </p:nvSpPr>
        <p:spPr>
          <a:xfrm>
            <a:off x="2423160" y="2232233"/>
            <a:ext cx="2445172" cy="235549"/>
          </a:xfrm>
          <a:prstGeom prst="rect">
            <a:avLst/>
          </a:prstGeom>
          <a:solidFill>
            <a:srgbClr val="156A7A"/>
          </a:solidFill>
          <a:ln/>
        </p:spPr>
      </p:sp>
      <p:sp>
        <p:nvSpPr>
          <p:cNvPr id="12" name="Text 10"/>
          <p:cNvSpPr txBox="1"/>
          <p:nvPr/>
        </p:nvSpPr>
        <p:spPr>
          <a:xfrm>
            <a:off x="5257800" y="2139696"/>
            <a:ext cx="685800" cy="420624"/>
          </a:xfrm>
          <a:prstGeom prst="rect">
            <a:avLst/>
          </a:prstGeom>
          <a:noFill/>
          <a:ln/>
        </p:spPr>
        <p:txBody>
          <a:bodyPr wrap="square" lIns="0" tIns="0" rIns="0" bIns="0" rtlCol="0" anchor="ctr"/>
          <a:lstStyle/>
          <a:p>
            <a:pPr indent="0" marL="0">
              <a:buNone/>
            </a:pPr>
            <a:r>
              <a:rPr lang="en-US" sz="1050" b="1" dirty="0">
                <a:solidFill>
                  <a:srgbClr val="156A7A"/>
                </a:solidFill>
                <a:latin typeface="Calibri" pitchFamily="34" charset="0"/>
                <a:ea typeface="Calibri" pitchFamily="34" charset="-122"/>
                <a:cs typeface="Calibri" pitchFamily="34" charset="-120"/>
              </a:rPr>
              <a:t>48.70%</a:t>
            </a:r>
            <a:endParaRPr lang="en-US" sz="1050" dirty="0"/>
          </a:p>
        </p:txBody>
      </p:sp>
      <p:sp>
        <p:nvSpPr>
          <p:cNvPr id="13" name="Shape 11"/>
          <p:cNvSpPr/>
          <p:nvPr/>
        </p:nvSpPr>
        <p:spPr>
          <a:xfrm>
            <a:off x="566928" y="2651760"/>
            <a:ext cx="5303520" cy="603504"/>
          </a:xfrm>
          <a:prstGeom prst="roundRect">
            <a:avLst>
              <a:gd name="adj" fmla="val 9091"/>
            </a:avLst>
          </a:prstGeom>
          <a:solidFill>
            <a:srgbClr val="F6E4E3"/>
          </a:solidFill>
          <a:ln w="6350">
            <a:solidFill>
              <a:srgbClr val="F6E4E3"/>
            </a:solidFill>
            <a:prstDash val="solid"/>
          </a:ln>
        </p:spPr>
      </p:sp>
      <p:sp>
        <p:nvSpPr>
          <p:cNvPr id="14" name="Text 12"/>
          <p:cNvSpPr txBox="1"/>
          <p:nvPr/>
        </p:nvSpPr>
        <p:spPr>
          <a:xfrm>
            <a:off x="749808" y="2724912"/>
            <a:ext cx="4937760" cy="457200"/>
          </a:xfrm>
          <a:prstGeom prst="rect">
            <a:avLst/>
          </a:prstGeom>
          <a:noFill/>
          <a:ln/>
        </p:spPr>
        <p:txBody>
          <a:bodyPr wrap="square" lIns="0" tIns="0" rIns="0" bIns="0" rtlCol="0" anchor="ctr"/>
          <a:lstStyle/>
          <a:p>
            <a:pPr indent="0" marL="0">
              <a:buNone/>
            </a:pPr>
            <a:r>
              <a:rPr lang="en-US" sz="1100" b="1" dirty="0">
                <a:solidFill>
                  <a:srgbClr val="A8322D"/>
                </a:solidFill>
                <a:latin typeface="Calibri" pitchFamily="34" charset="0"/>
                <a:ea typeface="Calibri" pitchFamily="34" charset="-122"/>
                <a:cs typeface="Calibri" pitchFamily="34" charset="-120"/>
              </a:rPr>
              <a:t>251,854 votes — the narrowest presidential margin in Colombian history</a:t>
            </a:r>
            <a:endParaRPr lang="en-US" sz="1100" dirty="0"/>
          </a:p>
        </p:txBody>
      </p:sp>
      <p:sp>
        <p:nvSpPr>
          <p:cNvPr id="15" name="Text 13"/>
          <p:cNvSpPr txBox="1"/>
          <p:nvPr/>
        </p:nvSpPr>
        <p:spPr>
          <a:xfrm>
            <a:off x="6327648" y="1353312"/>
            <a:ext cx="5303520" cy="256032"/>
          </a:xfrm>
          <a:prstGeom prst="rect">
            <a:avLst/>
          </a:prstGeom>
          <a:noFill/>
          <a:ln/>
        </p:spPr>
        <p:txBody>
          <a:bodyPr wrap="square" lIns="0" tIns="0" rIns="0" bIns="0" rtlCol="0" anchor="ctr"/>
          <a:lstStyle/>
          <a:p>
            <a:pPr indent="0" marL="0">
              <a:buNone/>
            </a:pPr>
            <a:r>
              <a:rPr lang="en-US" sz="1100" b="1" dirty="0">
                <a:solidFill>
                  <a:srgbClr val="0B3B45"/>
                </a:solidFill>
                <a:latin typeface="Calibri" pitchFamily="34" charset="0"/>
                <a:ea typeface="Calibri" pitchFamily="34" charset="-122"/>
                <a:cs typeface="Calibri" pitchFamily="34" charset="-120"/>
              </a:rPr>
              <a:t>Senate after 8 March 2026 — 103 seats</a:t>
            </a:r>
            <a:endParaRPr lang="en-US" sz="1100" dirty="0"/>
          </a:p>
        </p:txBody>
      </p:sp>
      <p:sp>
        <p:nvSpPr>
          <p:cNvPr id="16" name="Text 14"/>
          <p:cNvSpPr txBox="1"/>
          <p:nvPr/>
        </p:nvSpPr>
        <p:spPr>
          <a:xfrm>
            <a:off x="6327648" y="1682496"/>
            <a:ext cx="1965960" cy="292608"/>
          </a:xfrm>
          <a:prstGeom prst="rect">
            <a:avLst/>
          </a:prstGeom>
          <a:noFill/>
          <a:ln/>
        </p:spPr>
        <p:txBody>
          <a:bodyPr wrap="square" lIns="0" tIns="0" rIns="0" bIns="0" rtlCol="0" anchor="ctr"/>
          <a:lstStyle/>
          <a:p>
            <a:pPr indent="0" marL="0">
              <a:buNone/>
            </a:pPr>
            <a:r>
              <a:rPr lang="en-US" sz="950" dirty="0">
                <a:solidFill>
                  <a:srgbClr val="0B3B45"/>
                </a:solidFill>
                <a:latin typeface="Calibri" pitchFamily="34" charset="0"/>
                <a:ea typeface="Calibri" pitchFamily="34" charset="-122"/>
                <a:cs typeface="Calibri" pitchFamily="34" charset="-120"/>
              </a:rPr>
              <a:t>Pacto Histórico</a:t>
            </a:r>
            <a:endParaRPr lang="en-US" sz="950" dirty="0"/>
          </a:p>
        </p:txBody>
      </p:sp>
      <p:sp>
        <p:nvSpPr>
          <p:cNvPr id="17" name="Shape 15"/>
          <p:cNvSpPr/>
          <p:nvPr/>
        </p:nvSpPr>
        <p:spPr>
          <a:xfrm>
            <a:off x="8366760" y="1746870"/>
            <a:ext cx="2871216" cy="163860"/>
          </a:xfrm>
          <a:prstGeom prst="rect">
            <a:avLst/>
          </a:prstGeom>
          <a:solidFill>
            <a:srgbClr val="EDF1F2"/>
          </a:solidFill>
          <a:ln/>
        </p:spPr>
      </p:sp>
      <p:sp>
        <p:nvSpPr>
          <p:cNvPr id="18" name="Shape 16"/>
          <p:cNvSpPr/>
          <p:nvPr/>
        </p:nvSpPr>
        <p:spPr>
          <a:xfrm>
            <a:off x="8366760" y="1746870"/>
            <a:ext cx="2760785" cy="163860"/>
          </a:xfrm>
          <a:prstGeom prst="rect">
            <a:avLst/>
          </a:prstGeom>
          <a:solidFill>
            <a:srgbClr val="4E93A3"/>
          </a:solidFill>
          <a:ln/>
        </p:spPr>
      </p:sp>
      <p:sp>
        <p:nvSpPr>
          <p:cNvPr id="19" name="Text 17"/>
          <p:cNvSpPr txBox="1"/>
          <p:nvPr/>
        </p:nvSpPr>
        <p:spPr>
          <a:xfrm>
            <a:off x="11311128" y="1682496"/>
            <a:ext cx="384048" cy="292608"/>
          </a:xfrm>
          <a:prstGeom prst="rect">
            <a:avLst/>
          </a:prstGeom>
          <a:noFill/>
          <a:ln/>
        </p:spPr>
        <p:txBody>
          <a:bodyPr wrap="square" lIns="0" tIns="0" rIns="0" bIns="0" rtlCol="0" anchor="ctr"/>
          <a:lstStyle/>
          <a:p>
            <a:pPr indent="0" marL="0">
              <a:buNone/>
            </a:pPr>
            <a:r>
              <a:rPr lang="en-US" sz="950" b="1" dirty="0">
                <a:solidFill>
                  <a:srgbClr val="4E93A3"/>
                </a:solidFill>
                <a:latin typeface="Calibri" pitchFamily="34" charset="0"/>
                <a:ea typeface="Calibri" pitchFamily="34" charset="-122"/>
                <a:cs typeface="Calibri" pitchFamily="34" charset="-120"/>
              </a:rPr>
              <a:t>25</a:t>
            </a:r>
            <a:endParaRPr lang="en-US" sz="950" dirty="0"/>
          </a:p>
        </p:txBody>
      </p:sp>
      <p:sp>
        <p:nvSpPr>
          <p:cNvPr id="20" name="Text 18"/>
          <p:cNvSpPr txBox="1"/>
          <p:nvPr/>
        </p:nvSpPr>
        <p:spPr>
          <a:xfrm>
            <a:off x="6327648" y="2007108"/>
            <a:ext cx="1965960" cy="292608"/>
          </a:xfrm>
          <a:prstGeom prst="rect">
            <a:avLst/>
          </a:prstGeom>
          <a:noFill/>
          <a:ln/>
        </p:spPr>
        <p:txBody>
          <a:bodyPr wrap="square" lIns="0" tIns="0" rIns="0" bIns="0" rtlCol="0" anchor="ctr"/>
          <a:lstStyle/>
          <a:p>
            <a:pPr indent="0" marL="0">
              <a:buNone/>
            </a:pPr>
            <a:r>
              <a:rPr lang="en-US" sz="950" dirty="0">
                <a:solidFill>
                  <a:srgbClr val="0B3B45"/>
                </a:solidFill>
                <a:latin typeface="Calibri" pitchFamily="34" charset="0"/>
                <a:ea typeface="Calibri" pitchFamily="34" charset="-122"/>
                <a:cs typeface="Calibri" pitchFamily="34" charset="-120"/>
              </a:rPr>
              <a:t>Centro Democrático</a:t>
            </a:r>
            <a:endParaRPr lang="en-US" sz="950" dirty="0"/>
          </a:p>
        </p:txBody>
      </p:sp>
      <p:sp>
        <p:nvSpPr>
          <p:cNvPr id="21" name="Shape 19"/>
          <p:cNvSpPr/>
          <p:nvPr/>
        </p:nvSpPr>
        <p:spPr>
          <a:xfrm>
            <a:off x="8366760" y="2071482"/>
            <a:ext cx="2871216" cy="163860"/>
          </a:xfrm>
          <a:prstGeom prst="rect">
            <a:avLst/>
          </a:prstGeom>
          <a:solidFill>
            <a:srgbClr val="EDF1F2"/>
          </a:solidFill>
          <a:ln/>
        </p:spPr>
      </p:sp>
      <p:sp>
        <p:nvSpPr>
          <p:cNvPr id="22" name="Shape 20"/>
          <p:cNvSpPr/>
          <p:nvPr/>
        </p:nvSpPr>
        <p:spPr>
          <a:xfrm>
            <a:off x="8366760" y="2071482"/>
            <a:ext cx="1877334" cy="163860"/>
          </a:xfrm>
          <a:prstGeom prst="rect">
            <a:avLst/>
          </a:prstGeom>
          <a:solidFill>
            <a:srgbClr val="4E93A3"/>
          </a:solidFill>
          <a:ln/>
        </p:spPr>
      </p:sp>
      <p:sp>
        <p:nvSpPr>
          <p:cNvPr id="23" name="Text 21"/>
          <p:cNvSpPr txBox="1"/>
          <p:nvPr/>
        </p:nvSpPr>
        <p:spPr>
          <a:xfrm>
            <a:off x="11311128" y="2007108"/>
            <a:ext cx="384048" cy="292608"/>
          </a:xfrm>
          <a:prstGeom prst="rect">
            <a:avLst/>
          </a:prstGeom>
          <a:noFill/>
          <a:ln/>
        </p:spPr>
        <p:txBody>
          <a:bodyPr wrap="square" lIns="0" tIns="0" rIns="0" bIns="0" rtlCol="0" anchor="ctr"/>
          <a:lstStyle/>
          <a:p>
            <a:pPr indent="0" marL="0">
              <a:buNone/>
            </a:pPr>
            <a:r>
              <a:rPr lang="en-US" sz="950" b="1" dirty="0">
                <a:solidFill>
                  <a:srgbClr val="4E93A3"/>
                </a:solidFill>
                <a:latin typeface="Calibri" pitchFamily="34" charset="0"/>
                <a:ea typeface="Calibri" pitchFamily="34" charset="-122"/>
                <a:cs typeface="Calibri" pitchFamily="34" charset="-120"/>
              </a:rPr>
              <a:t>17</a:t>
            </a:r>
            <a:endParaRPr lang="en-US" sz="950" dirty="0"/>
          </a:p>
        </p:txBody>
      </p:sp>
      <p:sp>
        <p:nvSpPr>
          <p:cNvPr id="24" name="Text 22"/>
          <p:cNvSpPr txBox="1"/>
          <p:nvPr/>
        </p:nvSpPr>
        <p:spPr>
          <a:xfrm>
            <a:off x="6327648" y="2331720"/>
            <a:ext cx="1965960" cy="292608"/>
          </a:xfrm>
          <a:prstGeom prst="rect">
            <a:avLst/>
          </a:prstGeom>
          <a:noFill/>
          <a:ln/>
        </p:spPr>
        <p:txBody>
          <a:bodyPr wrap="square" lIns="0" tIns="0" rIns="0" bIns="0" rtlCol="0" anchor="ctr"/>
          <a:lstStyle/>
          <a:p>
            <a:pPr indent="0" marL="0">
              <a:buNone/>
            </a:pPr>
            <a:r>
              <a:rPr lang="en-US" sz="950" dirty="0">
                <a:solidFill>
                  <a:srgbClr val="0B3B45"/>
                </a:solidFill>
                <a:latin typeface="Calibri" pitchFamily="34" charset="0"/>
                <a:ea typeface="Calibri" pitchFamily="34" charset="-122"/>
                <a:cs typeface="Calibri" pitchFamily="34" charset="-120"/>
              </a:rPr>
              <a:t>Partido Liberal</a:t>
            </a:r>
            <a:endParaRPr lang="en-US" sz="950" dirty="0"/>
          </a:p>
        </p:txBody>
      </p:sp>
      <p:sp>
        <p:nvSpPr>
          <p:cNvPr id="25" name="Shape 23"/>
          <p:cNvSpPr/>
          <p:nvPr/>
        </p:nvSpPr>
        <p:spPr>
          <a:xfrm>
            <a:off x="8366760" y="2396094"/>
            <a:ext cx="2871216" cy="163860"/>
          </a:xfrm>
          <a:prstGeom prst="rect">
            <a:avLst/>
          </a:prstGeom>
          <a:solidFill>
            <a:srgbClr val="EDF1F2"/>
          </a:solidFill>
          <a:ln/>
        </p:spPr>
      </p:sp>
      <p:sp>
        <p:nvSpPr>
          <p:cNvPr id="26" name="Shape 24"/>
          <p:cNvSpPr/>
          <p:nvPr/>
        </p:nvSpPr>
        <p:spPr>
          <a:xfrm>
            <a:off x="8366760" y="2396094"/>
            <a:ext cx="1435608" cy="163860"/>
          </a:xfrm>
          <a:prstGeom prst="rect">
            <a:avLst/>
          </a:prstGeom>
          <a:solidFill>
            <a:srgbClr val="4E93A3"/>
          </a:solidFill>
          <a:ln/>
        </p:spPr>
      </p:sp>
      <p:sp>
        <p:nvSpPr>
          <p:cNvPr id="27" name="Text 25"/>
          <p:cNvSpPr txBox="1"/>
          <p:nvPr/>
        </p:nvSpPr>
        <p:spPr>
          <a:xfrm>
            <a:off x="11311128" y="2331720"/>
            <a:ext cx="384048" cy="292608"/>
          </a:xfrm>
          <a:prstGeom prst="rect">
            <a:avLst/>
          </a:prstGeom>
          <a:noFill/>
          <a:ln/>
        </p:spPr>
        <p:txBody>
          <a:bodyPr wrap="square" lIns="0" tIns="0" rIns="0" bIns="0" rtlCol="0" anchor="ctr"/>
          <a:lstStyle/>
          <a:p>
            <a:pPr indent="0" marL="0">
              <a:buNone/>
            </a:pPr>
            <a:r>
              <a:rPr lang="en-US" sz="950" b="1" dirty="0">
                <a:solidFill>
                  <a:srgbClr val="4E93A3"/>
                </a:solidFill>
                <a:latin typeface="Calibri" pitchFamily="34" charset="0"/>
                <a:ea typeface="Calibri" pitchFamily="34" charset="-122"/>
                <a:cs typeface="Calibri" pitchFamily="34" charset="-120"/>
              </a:rPr>
              <a:t>13</a:t>
            </a:r>
            <a:endParaRPr lang="en-US" sz="950" dirty="0"/>
          </a:p>
        </p:txBody>
      </p:sp>
      <p:sp>
        <p:nvSpPr>
          <p:cNvPr id="28" name="Text 26"/>
          <p:cNvSpPr txBox="1"/>
          <p:nvPr/>
        </p:nvSpPr>
        <p:spPr>
          <a:xfrm>
            <a:off x="6327648" y="2656332"/>
            <a:ext cx="1965960" cy="292608"/>
          </a:xfrm>
          <a:prstGeom prst="rect">
            <a:avLst/>
          </a:prstGeom>
          <a:noFill/>
          <a:ln/>
        </p:spPr>
        <p:txBody>
          <a:bodyPr wrap="square" lIns="0" tIns="0" rIns="0" bIns="0" rtlCol="0" anchor="ctr"/>
          <a:lstStyle/>
          <a:p>
            <a:pPr indent="0" marL="0">
              <a:buNone/>
            </a:pPr>
            <a:r>
              <a:rPr lang="en-US" sz="950" dirty="0">
                <a:solidFill>
                  <a:srgbClr val="0B3B45"/>
                </a:solidFill>
                <a:latin typeface="Calibri" pitchFamily="34" charset="0"/>
                <a:ea typeface="Calibri" pitchFamily="34" charset="-122"/>
                <a:cs typeface="Calibri" pitchFamily="34" charset="-120"/>
              </a:rPr>
              <a:t>Alianza por Colombia</a:t>
            </a:r>
            <a:endParaRPr lang="en-US" sz="950" dirty="0"/>
          </a:p>
        </p:txBody>
      </p:sp>
      <p:sp>
        <p:nvSpPr>
          <p:cNvPr id="29" name="Shape 27"/>
          <p:cNvSpPr/>
          <p:nvPr/>
        </p:nvSpPr>
        <p:spPr>
          <a:xfrm>
            <a:off x="8366760" y="2720706"/>
            <a:ext cx="2871216" cy="163860"/>
          </a:xfrm>
          <a:prstGeom prst="rect">
            <a:avLst/>
          </a:prstGeom>
          <a:solidFill>
            <a:srgbClr val="EDF1F2"/>
          </a:solidFill>
          <a:ln/>
        </p:spPr>
      </p:sp>
      <p:sp>
        <p:nvSpPr>
          <p:cNvPr id="30" name="Shape 28"/>
          <p:cNvSpPr/>
          <p:nvPr/>
        </p:nvSpPr>
        <p:spPr>
          <a:xfrm>
            <a:off x="8366760" y="2720706"/>
            <a:ext cx="1104314" cy="163860"/>
          </a:xfrm>
          <a:prstGeom prst="rect">
            <a:avLst/>
          </a:prstGeom>
          <a:solidFill>
            <a:srgbClr val="4E93A3"/>
          </a:solidFill>
          <a:ln/>
        </p:spPr>
      </p:sp>
      <p:sp>
        <p:nvSpPr>
          <p:cNvPr id="31" name="Text 29"/>
          <p:cNvSpPr txBox="1"/>
          <p:nvPr/>
        </p:nvSpPr>
        <p:spPr>
          <a:xfrm>
            <a:off x="11311128" y="2656332"/>
            <a:ext cx="384048" cy="292608"/>
          </a:xfrm>
          <a:prstGeom prst="rect">
            <a:avLst/>
          </a:prstGeom>
          <a:noFill/>
          <a:ln/>
        </p:spPr>
        <p:txBody>
          <a:bodyPr wrap="square" lIns="0" tIns="0" rIns="0" bIns="0" rtlCol="0" anchor="ctr"/>
          <a:lstStyle/>
          <a:p>
            <a:pPr indent="0" marL="0">
              <a:buNone/>
            </a:pPr>
            <a:r>
              <a:rPr lang="en-US" sz="950" b="1" dirty="0">
                <a:solidFill>
                  <a:srgbClr val="4E93A3"/>
                </a:solidFill>
                <a:latin typeface="Calibri" pitchFamily="34" charset="0"/>
                <a:ea typeface="Calibri" pitchFamily="34" charset="-122"/>
                <a:cs typeface="Calibri" pitchFamily="34" charset="-120"/>
              </a:rPr>
              <a:t>10</a:t>
            </a:r>
            <a:endParaRPr lang="en-US" sz="950" dirty="0"/>
          </a:p>
        </p:txBody>
      </p:sp>
      <p:sp>
        <p:nvSpPr>
          <p:cNvPr id="32" name="Text 30"/>
          <p:cNvSpPr txBox="1"/>
          <p:nvPr/>
        </p:nvSpPr>
        <p:spPr>
          <a:xfrm>
            <a:off x="6327648" y="2980944"/>
            <a:ext cx="1965960" cy="292608"/>
          </a:xfrm>
          <a:prstGeom prst="rect">
            <a:avLst/>
          </a:prstGeom>
          <a:noFill/>
          <a:ln/>
        </p:spPr>
        <p:txBody>
          <a:bodyPr wrap="square" lIns="0" tIns="0" rIns="0" bIns="0" rtlCol="0" anchor="ctr"/>
          <a:lstStyle/>
          <a:p>
            <a:pPr indent="0" marL="0">
              <a:buNone/>
            </a:pPr>
            <a:r>
              <a:rPr lang="en-US" sz="950" dirty="0">
                <a:solidFill>
                  <a:srgbClr val="0B3B45"/>
                </a:solidFill>
                <a:latin typeface="Calibri" pitchFamily="34" charset="0"/>
                <a:ea typeface="Calibri" pitchFamily="34" charset="-122"/>
                <a:cs typeface="Calibri" pitchFamily="34" charset="-120"/>
              </a:rPr>
              <a:t>Partido Conservador</a:t>
            </a:r>
            <a:endParaRPr lang="en-US" sz="950" dirty="0"/>
          </a:p>
        </p:txBody>
      </p:sp>
      <p:sp>
        <p:nvSpPr>
          <p:cNvPr id="33" name="Shape 31"/>
          <p:cNvSpPr/>
          <p:nvPr/>
        </p:nvSpPr>
        <p:spPr>
          <a:xfrm>
            <a:off x="8366760" y="3045318"/>
            <a:ext cx="2871216" cy="163860"/>
          </a:xfrm>
          <a:prstGeom prst="rect">
            <a:avLst/>
          </a:prstGeom>
          <a:solidFill>
            <a:srgbClr val="EDF1F2"/>
          </a:solidFill>
          <a:ln/>
        </p:spPr>
      </p:sp>
      <p:sp>
        <p:nvSpPr>
          <p:cNvPr id="34" name="Shape 32"/>
          <p:cNvSpPr/>
          <p:nvPr/>
        </p:nvSpPr>
        <p:spPr>
          <a:xfrm>
            <a:off x="8366760" y="3045318"/>
            <a:ext cx="1104314" cy="163860"/>
          </a:xfrm>
          <a:prstGeom prst="rect">
            <a:avLst/>
          </a:prstGeom>
          <a:solidFill>
            <a:srgbClr val="4E93A3"/>
          </a:solidFill>
          <a:ln/>
        </p:spPr>
      </p:sp>
      <p:sp>
        <p:nvSpPr>
          <p:cNvPr id="35" name="Text 33"/>
          <p:cNvSpPr txBox="1"/>
          <p:nvPr/>
        </p:nvSpPr>
        <p:spPr>
          <a:xfrm>
            <a:off x="11311128" y="2980944"/>
            <a:ext cx="384048" cy="292608"/>
          </a:xfrm>
          <a:prstGeom prst="rect">
            <a:avLst/>
          </a:prstGeom>
          <a:noFill/>
          <a:ln/>
        </p:spPr>
        <p:txBody>
          <a:bodyPr wrap="square" lIns="0" tIns="0" rIns="0" bIns="0" rtlCol="0" anchor="ctr"/>
          <a:lstStyle/>
          <a:p>
            <a:pPr indent="0" marL="0">
              <a:buNone/>
            </a:pPr>
            <a:r>
              <a:rPr lang="en-US" sz="950" b="1" dirty="0">
                <a:solidFill>
                  <a:srgbClr val="4E93A3"/>
                </a:solidFill>
                <a:latin typeface="Calibri" pitchFamily="34" charset="0"/>
                <a:ea typeface="Calibri" pitchFamily="34" charset="-122"/>
                <a:cs typeface="Calibri" pitchFamily="34" charset="-120"/>
              </a:rPr>
              <a:t>10</a:t>
            </a:r>
            <a:endParaRPr lang="en-US" sz="950" dirty="0"/>
          </a:p>
        </p:txBody>
      </p:sp>
      <p:sp>
        <p:nvSpPr>
          <p:cNvPr id="36" name="Text 34"/>
          <p:cNvSpPr txBox="1"/>
          <p:nvPr/>
        </p:nvSpPr>
        <p:spPr>
          <a:xfrm>
            <a:off x="6327648" y="3305556"/>
            <a:ext cx="1965960" cy="292608"/>
          </a:xfrm>
          <a:prstGeom prst="rect">
            <a:avLst/>
          </a:prstGeom>
          <a:noFill/>
          <a:ln/>
        </p:spPr>
        <p:txBody>
          <a:bodyPr wrap="square" lIns="0" tIns="0" rIns="0" bIns="0" rtlCol="0" anchor="ctr"/>
          <a:lstStyle/>
          <a:p>
            <a:pPr indent="0" marL="0">
              <a:buNone/>
            </a:pPr>
            <a:r>
              <a:rPr lang="en-US" sz="950" dirty="0">
                <a:solidFill>
                  <a:srgbClr val="0B3B45"/>
                </a:solidFill>
                <a:latin typeface="Calibri" pitchFamily="34" charset="0"/>
                <a:ea typeface="Calibri" pitchFamily="34" charset="-122"/>
                <a:cs typeface="Calibri" pitchFamily="34" charset="-120"/>
              </a:rPr>
              <a:t>Partido de la U</a:t>
            </a:r>
            <a:endParaRPr lang="en-US" sz="950" dirty="0"/>
          </a:p>
        </p:txBody>
      </p:sp>
      <p:sp>
        <p:nvSpPr>
          <p:cNvPr id="37" name="Shape 35"/>
          <p:cNvSpPr/>
          <p:nvPr/>
        </p:nvSpPr>
        <p:spPr>
          <a:xfrm>
            <a:off x="8366760" y="3369930"/>
            <a:ext cx="2871216" cy="163860"/>
          </a:xfrm>
          <a:prstGeom prst="rect">
            <a:avLst/>
          </a:prstGeom>
          <a:solidFill>
            <a:srgbClr val="EDF1F2"/>
          </a:solidFill>
          <a:ln/>
        </p:spPr>
      </p:sp>
      <p:sp>
        <p:nvSpPr>
          <p:cNvPr id="38" name="Shape 36"/>
          <p:cNvSpPr/>
          <p:nvPr/>
        </p:nvSpPr>
        <p:spPr>
          <a:xfrm>
            <a:off x="8366760" y="3369930"/>
            <a:ext cx="993882" cy="163860"/>
          </a:xfrm>
          <a:prstGeom prst="rect">
            <a:avLst/>
          </a:prstGeom>
          <a:solidFill>
            <a:srgbClr val="4E93A3"/>
          </a:solidFill>
          <a:ln/>
        </p:spPr>
      </p:sp>
      <p:sp>
        <p:nvSpPr>
          <p:cNvPr id="39" name="Text 37"/>
          <p:cNvSpPr txBox="1"/>
          <p:nvPr/>
        </p:nvSpPr>
        <p:spPr>
          <a:xfrm>
            <a:off x="11311128" y="3305556"/>
            <a:ext cx="384048" cy="292608"/>
          </a:xfrm>
          <a:prstGeom prst="rect">
            <a:avLst/>
          </a:prstGeom>
          <a:noFill/>
          <a:ln/>
        </p:spPr>
        <p:txBody>
          <a:bodyPr wrap="square" lIns="0" tIns="0" rIns="0" bIns="0" rtlCol="0" anchor="ctr"/>
          <a:lstStyle/>
          <a:p>
            <a:pPr indent="0" marL="0">
              <a:buNone/>
            </a:pPr>
            <a:r>
              <a:rPr lang="en-US" sz="950" b="1" dirty="0">
                <a:solidFill>
                  <a:srgbClr val="4E93A3"/>
                </a:solidFill>
                <a:latin typeface="Calibri" pitchFamily="34" charset="0"/>
                <a:ea typeface="Calibri" pitchFamily="34" charset="-122"/>
                <a:cs typeface="Calibri" pitchFamily="34" charset="-120"/>
              </a:rPr>
              <a:t>9</a:t>
            </a:r>
            <a:endParaRPr lang="en-US" sz="950" dirty="0"/>
          </a:p>
        </p:txBody>
      </p:sp>
      <p:sp>
        <p:nvSpPr>
          <p:cNvPr id="40" name="Text 38"/>
          <p:cNvSpPr txBox="1"/>
          <p:nvPr/>
        </p:nvSpPr>
        <p:spPr>
          <a:xfrm>
            <a:off x="6327648" y="3630168"/>
            <a:ext cx="1965960" cy="292608"/>
          </a:xfrm>
          <a:prstGeom prst="rect">
            <a:avLst/>
          </a:prstGeom>
          <a:noFill/>
          <a:ln/>
        </p:spPr>
        <p:txBody>
          <a:bodyPr wrap="square" lIns="0" tIns="0" rIns="0" bIns="0" rtlCol="0" anchor="ctr"/>
          <a:lstStyle/>
          <a:p>
            <a:pPr indent="0" marL="0">
              <a:buNone/>
            </a:pPr>
            <a:r>
              <a:rPr lang="en-US" sz="950" dirty="0">
                <a:solidFill>
                  <a:srgbClr val="0B3B45"/>
                </a:solidFill>
                <a:latin typeface="Calibri" pitchFamily="34" charset="0"/>
                <a:ea typeface="Calibri" pitchFamily="34" charset="-122"/>
                <a:cs typeface="Calibri" pitchFamily="34" charset="-120"/>
              </a:rPr>
              <a:t>Cambio Radical-ALMA</a:t>
            </a:r>
            <a:endParaRPr lang="en-US" sz="950" dirty="0"/>
          </a:p>
        </p:txBody>
      </p:sp>
      <p:sp>
        <p:nvSpPr>
          <p:cNvPr id="41" name="Shape 39"/>
          <p:cNvSpPr/>
          <p:nvPr/>
        </p:nvSpPr>
        <p:spPr>
          <a:xfrm>
            <a:off x="8366760" y="3694542"/>
            <a:ext cx="2871216" cy="163860"/>
          </a:xfrm>
          <a:prstGeom prst="rect">
            <a:avLst/>
          </a:prstGeom>
          <a:solidFill>
            <a:srgbClr val="EDF1F2"/>
          </a:solidFill>
          <a:ln/>
        </p:spPr>
      </p:sp>
      <p:sp>
        <p:nvSpPr>
          <p:cNvPr id="42" name="Shape 40"/>
          <p:cNvSpPr/>
          <p:nvPr/>
        </p:nvSpPr>
        <p:spPr>
          <a:xfrm>
            <a:off x="8366760" y="3694542"/>
            <a:ext cx="773020" cy="163860"/>
          </a:xfrm>
          <a:prstGeom prst="rect">
            <a:avLst/>
          </a:prstGeom>
          <a:solidFill>
            <a:srgbClr val="4E93A3"/>
          </a:solidFill>
          <a:ln/>
        </p:spPr>
      </p:sp>
      <p:sp>
        <p:nvSpPr>
          <p:cNvPr id="43" name="Text 41"/>
          <p:cNvSpPr txBox="1"/>
          <p:nvPr/>
        </p:nvSpPr>
        <p:spPr>
          <a:xfrm>
            <a:off x="11311128" y="3630168"/>
            <a:ext cx="384048" cy="292608"/>
          </a:xfrm>
          <a:prstGeom prst="rect">
            <a:avLst/>
          </a:prstGeom>
          <a:noFill/>
          <a:ln/>
        </p:spPr>
        <p:txBody>
          <a:bodyPr wrap="square" lIns="0" tIns="0" rIns="0" bIns="0" rtlCol="0" anchor="ctr"/>
          <a:lstStyle/>
          <a:p>
            <a:pPr indent="0" marL="0">
              <a:buNone/>
            </a:pPr>
            <a:r>
              <a:rPr lang="en-US" sz="950" b="1" dirty="0">
                <a:solidFill>
                  <a:srgbClr val="4E93A3"/>
                </a:solidFill>
                <a:latin typeface="Calibri" pitchFamily="34" charset="0"/>
                <a:ea typeface="Calibri" pitchFamily="34" charset="-122"/>
                <a:cs typeface="Calibri" pitchFamily="34" charset="-120"/>
              </a:rPr>
              <a:t>7</a:t>
            </a:r>
            <a:endParaRPr lang="en-US" sz="950" dirty="0"/>
          </a:p>
        </p:txBody>
      </p:sp>
      <p:sp>
        <p:nvSpPr>
          <p:cNvPr id="44" name="Text 42"/>
          <p:cNvSpPr txBox="1"/>
          <p:nvPr/>
        </p:nvSpPr>
        <p:spPr>
          <a:xfrm>
            <a:off x="6327648" y="3991356"/>
            <a:ext cx="5294376" cy="256032"/>
          </a:xfrm>
          <a:prstGeom prst="rect">
            <a:avLst/>
          </a:prstGeom>
          <a:noFill/>
          <a:ln/>
        </p:spPr>
        <p:txBody>
          <a:bodyPr wrap="square" lIns="0" tIns="0" rIns="0" bIns="0" rtlCol="0" anchor="ctr"/>
          <a:lstStyle/>
          <a:p>
            <a:pPr indent="0" marL="0">
              <a:buNone/>
            </a:pPr>
            <a:r>
              <a:rPr lang="en-US" sz="950" i="1" dirty="0">
                <a:solidFill>
                  <a:srgbClr val="6B7B80"/>
                </a:solidFill>
                <a:latin typeface="Calibri" pitchFamily="34" charset="0"/>
                <a:ea typeface="Calibri" pitchFamily="34" charset="-122"/>
                <a:cs typeface="Calibri" pitchFamily="34" charset="-120"/>
              </a:rPr>
              <a:t>Plus 1 seat for the presidential runner-up. Salvación Nacional, which endorsed the president, holds 4; his own movement contested no legislative seats.</a:t>
            </a:r>
            <a:endParaRPr lang="en-US" sz="950" dirty="0"/>
          </a:p>
        </p:txBody>
      </p:sp>
      <p:sp>
        <p:nvSpPr>
          <p:cNvPr id="45" name="Shape 43"/>
          <p:cNvSpPr/>
          <p:nvPr/>
        </p:nvSpPr>
        <p:spPr>
          <a:xfrm>
            <a:off x="566928" y="4590288"/>
            <a:ext cx="5303520" cy="1298448"/>
          </a:xfrm>
          <a:prstGeom prst="roundRect">
            <a:avLst>
              <a:gd name="adj" fmla="val 4225"/>
            </a:avLst>
          </a:prstGeom>
          <a:solidFill>
            <a:srgbClr val="0B3B45"/>
          </a:solidFill>
          <a:ln w="6350">
            <a:solidFill>
              <a:srgbClr val="0B3B45"/>
            </a:solidFill>
            <a:prstDash val="solid"/>
          </a:ln>
        </p:spPr>
      </p:sp>
      <p:sp>
        <p:nvSpPr>
          <p:cNvPr id="46" name="Text 44"/>
          <p:cNvSpPr txBox="1"/>
          <p:nvPr/>
        </p:nvSpPr>
        <p:spPr>
          <a:xfrm>
            <a:off x="804672" y="4736592"/>
            <a:ext cx="4828032" cy="201168"/>
          </a:xfrm>
          <a:prstGeom prst="rect">
            <a:avLst/>
          </a:prstGeom>
          <a:noFill/>
          <a:ln/>
        </p:spPr>
        <p:txBody>
          <a:bodyPr wrap="square" lIns="0" tIns="0" rIns="0" bIns="0" rtlCol="0" anchor="ctr"/>
          <a:lstStyle/>
          <a:p>
            <a:pPr indent="0" marL="0">
              <a:buNone/>
            </a:pPr>
            <a:r>
              <a:rPr lang="en-US" sz="900" b="1" spc="140" kern="0" dirty="0">
                <a:solidFill>
                  <a:srgbClr val="D99A2B"/>
                </a:solidFill>
                <a:latin typeface="Calibri" pitchFamily="34" charset="0"/>
                <a:ea typeface="Calibri" pitchFamily="34" charset="-122"/>
                <a:cs typeface="Calibri" pitchFamily="34" charset="-120"/>
              </a:rPr>
              <a:t>THE THING TO UNDERSTAND</a:t>
            </a:r>
            <a:endParaRPr lang="en-US" sz="900" dirty="0"/>
          </a:p>
        </p:txBody>
      </p:sp>
      <p:sp>
        <p:nvSpPr>
          <p:cNvPr id="47" name="Text 45"/>
          <p:cNvSpPr txBox="1"/>
          <p:nvPr/>
        </p:nvSpPr>
        <p:spPr>
          <a:xfrm>
            <a:off x="804672" y="4956048"/>
            <a:ext cx="4828032" cy="768096"/>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The left won the Senate plurality on the same day the right won the presidency. He rejected Conservative and Liberal endorsements during the campaign on anti-traditional-party grounds, so the coalition is being built from scratch. Cambio Radical has declared support; Alianza Verde is independent.</a:t>
            </a:r>
            <a:endParaRPr lang="en-US" sz="1100" dirty="0"/>
          </a:p>
        </p:txBody>
      </p:sp>
      <p:sp>
        <p:nvSpPr>
          <p:cNvPr id="48" name="Shape 46"/>
          <p:cNvSpPr/>
          <p:nvPr/>
        </p:nvSpPr>
        <p:spPr>
          <a:xfrm>
            <a:off x="6327648" y="4590288"/>
            <a:ext cx="5294376" cy="1298448"/>
          </a:xfrm>
          <a:prstGeom prst="roundRect">
            <a:avLst>
              <a:gd name="adj" fmla="val 4225"/>
            </a:avLst>
          </a:prstGeom>
          <a:solidFill>
            <a:srgbClr val="EDF1F2"/>
          </a:solidFill>
          <a:ln w="6350">
            <a:solidFill>
              <a:srgbClr val="EDF1F2"/>
            </a:solidFill>
            <a:prstDash val="solid"/>
          </a:ln>
        </p:spPr>
      </p:sp>
      <p:sp>
        <p:nvSpPr>
          <p:cNvPr id="49" name="Text 47"/>
          <p:cNvSpPr txBox="1"/>
          <p:nvPr/>
        </p:nvSpPr>
        <p:spPr>
          <a:xfrm>
            <a:off x="6565392" y="4736592"/>
            <a:ext cx="4818888" cy="201168"/>
          </a:xfrm>
          <a:prstGeom prst="rect">
            <a:avLst/>
          </a:prstGeom>
          <a:noFill/>
          <a:ln/>
        </p:spPr>
        <p:txBody>
          <a:bodyPr wrap="square" lIns="0" tIns="0" rIns="0" bIns="0" rtlCol="0" anchor="ctr"/>
          <a:lstStyle/>
          <a:p>
            <a:pPr indent="0" marL="0">
              <a:buNone/>
            </a:pPr>
            <a:r>
              <a:rPr lang="en-US" sz="900" b="1" spc="140" kern="0" dirty="0">
                <a:solidFill>
                  <a:srgbClr val="156A7A"/>
                </a:solidFill>
                <a:latin typeface="Calibri" pitchFamily="34" charset="0"/>
                <a:ea typeface="Calibri" pitchFamily="34" charset="-122"/>
                <a:cs typeface="Calibri" pitchFamily="34" charset="-120"/>
              </a:rPr>
              <a:t>THE REASSURANCE</a:t>
            </a:r>
            <a:endParaRPr lang="en-US" sz="900" dirty="0"/>
          </a:p>
        </p:txBody>
      </p:sp>
      <p:sp>
        <p:nvSpPr>
          <p:cNvPr id="50" name="Text 48"/>
          <p:cNvSpPr txBox="1"/>
          <p:nvPr/>
        </p:nvSpPr>
        <p:spPr>
          <a:xfrm>
            <a:off x="6565392" y="4956048"/>
            <a:ext cx="4818888" cy="768096"/>
          </a:xfrm>
          <a:prstGeom prst="rect">
            <a:avLst/>
          </a:prstGeom>
          <a:noFill/>
          <a:ln/>
        </p:spPr>
        <p:txBody>
          <a:bodyPr wrap="square" lIns="0" tIns="0" rIns="0" bIns="0" rtlCol="0" anchor="t"/>
          <a:lstStyle/>
          <a:p>
            <a:pPr indent="0" marL="0">
              <a:lnSpc>
                <a:spcPct val="115000"/>
              </a:lnSpc>
              <a:buNone/>
            </a:pPr>
            <a:r>
              <a:rPr lang="en-US" sz="1100" dirty="0">
                <a:solidFill>
                  <a:srgbClr val="0B3B45"/>
                </a:solidFill>
                <a:latin typeface="Calibri" pitchFamily="34" charset="0"/>
                <a:ea typeface="Calibri" pitchFamily="34" charset="-122"/>
                <a:cs typeface="Calibri" pitchFamily="34" charset="-120"/>
              </a:rPr>
              <a:t>Vice-President José Manuel Restrepo was Duque's finance minister in 2021–22 and is the most orthodox economic figure in the government. The president pledged in the inaugural address to guarantee BanRep's autonomy. Board appointments were not reported as at the date of this pack — do not speculate on them.</a:t>
            </a:r>
            <a:endParaRPr lang="en-US" sz="1100" dirty="0"/>
          </a:p>
        </p:txBody>
      </p:sp>
      <p:sp>
        <p:nvSpPr>
          <p:cNvPr id="51" name="Text 49"/>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52" name="Text 50"/>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40</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COLOMBIA · ONE MONTH IN, ALMOST NOTHING IS LAW</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Enacted, announced, and unverified</a:t>
            </a:r>
            <a:endParaRPr lang="en-US" sz="3000" dirty="0"/>
          </a:p>
        </p:txBody>
      </p:sp>
      <p:sp>
        <p:nvSpPr>
          <p:cNvPr id="4" name="Text 2"/>
          <p:cNvSpPr txBox="1"/>
          <p:nvPr/>
        </p:nvSpPr>
        <p:spPr>
          <a:xfrm>
            <a:off x="566928" y="1353312"/>
            <a:ext cx="3539642" cy="256032"/>
          </a:xfrm>
          <a:prstGeom prst="rect">
            <a:avLst/>
          </a:prstGeom>
          <a:noFill/>
          <a:ln/>
        </p:spPr>
        <p:txBody>
          <a:bodyPr wrap="square" lIns="0" tIns="0" rIns="0" bIns="0" rtlCol="0" anchor="ctr"/>
          <a:lstStyle/>
          <a:p>
            <a:pPr indent="0" marL="0">
              <a:buNone/>
            </a:pPr>
            <a:r>
              <a:rPr lang="en-US" sz="1150" b="1" spc="120" kern="0" dirty="0">
                <a:solidFill>
                  <a:srgbClr val="3E7C59"/>
                </a:solidFill>
                <a:latin typeface="Calibri" pitchFamily="34" charset="0"/>
                <a:ea typeface="Calibri" pitchFamily="34" charset="-122"/>
                <a:cs typeface="Calibri" pitchFamily="34" charset="-120"/>
              </a:rPr>
              <a:t>ENACTED</a:t>
            </a:r>
            <a:endParaRPr lang="en-US" sz="1150" dirty="0"/>
          </a:p>
        </p:txBody>
      </p:sp>
      <p:sp>
        <p:nvSpPr>
          <p:cNvPr id="5" name="Shape 3"/>
          <p:cNvSpPr/>
          <p:nvPr/>
        </p:nvSpPr>
        <p:spPr>
          <a:xfrm>
            <a:off x="566928" y="1645920"/>
            <a:ext cx="3539642" cy="2944368"/>
          </a:xfrm>
          <a:prstGeom prst="roundRect">
            <a:avLst>
              <a:gd name="adj" fmla="val 1863"/>
            </a:avLst>
          </a:prstGeom>
          <a:solidFill>
            <a:srgbClr val="DCE9E1"/>
          </a:solidFill>
          <a:ln w="6350">
            <a:solidFill>
              <a:srgbClr val="DCE9E1"/>
            </a:solidFill>
            <a:prstDash val="solid"/>
          </a:ln>
        </p:spPr>
      </p:sp>
      <p:sp>
        <p:nvSpPr>
          <p:cNvPr id="6" name="Text 4"/>
          <p:cNvSpPr txBox="1"/>
          <p:nvPr/>
        </p:nvSpPr>
        <p:spPr>
          <a:xfrm>
            <a:off x="749808" y="1764792"/>
            <a:ext cx="3173882" cy="130556"/>
          </a:xfrm>
          <a:prstGeom prst="rect">
            <a:avLst/>
          </a:prstGeom>
          <a:noFill/>
          <a:ln/>
        </p:spPr>
        <p:txBody>
          <a:bodyPr wrap="square" lIns="0" tIns="0" rIns="0" bIns="0" rtlCol="0" anchor="t"/>
          <a:lstStyle/>
          <a:p>
            <a:pPr indent="0" marL="0">
              <a:lnSpc>
                <a:spcPct val="100000"/>
              </a:lnSpc>
              <a:buNone/>
            </a:pPr>
            <a:r>
              <a:rPr lang="en-US" sz="700" b="1" dirty="0">
                <a:solidFill>
                  <a:srgbClr val="0B3B45"/>
                </a:solidFill>
                <a:latin typeface="Calibri" pitchFamily="34" charset="0"/>
                <a:ea typeface="Calibri" pitchFamily="34" charset="-122"/>
                <a:cs typeface="Calibri" pitchFamily="34" charset="-120"/>
              </a:rPr>
              <a:t>Cabinet installed - Decree 1136</a:t>
            </a:r>
            <a:endParaRPr lang="en-US" sz="700" dirty="0"/>
          </a:p>
        </p:txBody>
      </p:sp>
      <p:sp>
        <p:nvSpPr>
          <p:cNvPr id="7" name="Text 5"/>
          <p:cNvSpPr txBox="1"/>
          <p:nvPr/>
        </p:nvSpPr>
        <p:spPr>
          <a:xfrm>
            <a:off x="749808" y="1895348"/>
            <a:ext cx="3173882" cy="211582"/>
          </a:xfrm>
          <a:prstGeom prst="rect">
            <a:avLst/>
          </a:prstGeom>
          <a:noFill/>
          <a:ln/>
        </p:spPr>
        <p:txBody>
          <a:bodyPr wrap="square" lIns="0" tIns="0" rIns="0" bIns="0" rtlCol="0" anchor="t"/>
          <a:lstStyle/>
          <a:p>
            <a:pPr indent="0" marL="0">
              <a:lnSpc>
                <a:spcPct val="100000"/>
              </a:lnSpc>
              <a:buNone/>
            </a:pPr>
            <a:r>
              <a:rPr lang="en-US" sz="625" dirty="0">
                <a:solidFill>
                  <a:srgbClr val="45646C"/>
                </a:solidFill>
                <a:latin typeface="Calibri" pitchFamily="34" charset="0"/>
                <a:ea typeface="Calibri" pitchFamily="34" charset="-122"/>
                <a:cs typeface="Calibri" pitchFamily="34" charset="-120"/>
              </a:rPr>
              <a:t>7 Aug 2026 — Finance: Miguel Gómez Martinez. VP José Manuel Restrepo (Duque's finance minister 2021-22) is the orthodox anchor</a:t>
            </a:r>
            <a:endParaRPr lang="en-US" sz="625" dirty="0"/>
          </a:p>
        </p:txBody>
      </p:sp>
      <p:sp>
        <p:nvSpPr>
          <p:cNvPr id="8" name="Text 6"/>
          <p:cNvSpPr txBox="1"/>
          <p:nvPr/>
        </p:nvSpPr>
        <p:spPr>
          <a:xfrm>
            <a:off x="749808" y="2170938"/>
            <a:ext cx="3173882" cy="130556"/>
          </a:xfrm>
          <a:prstGeom prst="rect">
            <a:avLst/>
          </a:prstGeom>
          <a:noFill/>
          <a:ln/>
        </p:spPr>
        <p:txBody>
          <a:bodyPr wrap="square" lIns="0" tIns="0" rIns="0" bIns="0" rtlCol="0" anchor="t"/>
          <a:lstStyle/>
          <a:p>
            <a:pPr indent="0" marL="0">
              <a:lnSpc>
                <a:spcPct val="100000"/>
              </a:lnSpc>
              <a:buNone/>
            </a:pPr>
            <a:r>
              <a:rPr lang="en-US" sz="700" b="1" dirty="0">
                <a:solidFill>
                  <a:srgbClr val="0B3B45"/>
                </a:solidFill>
                <a:latin typeface="Calibri" pitchFamily="34" charset="0"/>
                <a:ea typeface="Calibri" pitchFamily="34" charset="-122"/>
                <a:cs typeface="Calibri" pitchFamily="34" charset="-120"/>
              </a:rPr>
              <a:t>Decree freezing public spending</a:t>
            </a:r>
            <a:endParaRPr lang="en-US" sz="700" dirty="0"/>
          </a:p>
        </p:txBody>
      </p:sp>
      <p:sp>
        <p:nvSpPr>
          <p:cNvPr id="9" name="Text 7"/>
          <p:cNvSpPr txBox="1"/>
          <p:nvPr/>
        </p:nvSpPr>
        <p:spPr>
          <a:xfrm>
            <a:off x="749808" y="2301494"/>
            <a:ext cx="3173882" cy="119507"/>
          </a:xfrm>
          <a:prstGeom prst="rect">
            <a:avLst/>
          </a:prstGeom>
          <a:noFill/>
          <a:ln/>
        </p:spPr>
        <p:txBody>
          <a:bodyPr wrap="square" lIns="0" tIns="0" rIns="0" bIns="0" rtlCol="0" anchor="t"/>
          <a:lstStyle/>
          <a:p>
            <a:pPr indent="0" marL="0">
              <a:lnSpc>
                <a:spcPct val="100000"/>
              </a:lnSpc>
              <a:buNone/>
            </a:pPr>
            <a:r>
              <a:rPr lang="en-US" sz="625" dirty="0">
                <a:solidFill>
                  <a:srgbClr val="45646C"/>
                </a:solidFill>
                <a:latin typeface="Calibri" pitchFamily="34" charset="0"/>
                <a:ea typeface="Calibri" pitchFamily="34" charset="-122"/>
                <a:cs typeface="Calibri" pitchFamily="34" charset="-120"/>
              </a:rPr>
              <a:t>Aug 2026 — Decree number and peso amount NOT FOUND</a:t>
            </a:r>
            <a:endParaRPr lang="en-US" sz="625" dirty="0"/>
          </a:p>
        </p:txBody>
      </p:sp>
      <p:sp>
        <p:nvSpPr>
          <p:cNvPr id="10" name="Text 8"/>
          <p:cNvSpPr txBox="1"/>
          <p:nvPr/>
        </p:nvSpPr>
        <p:spPr>
          <a:xfrm>
            <a:off x="749808" y="2485009"/>
            <a:ext cx="3173882" cy="130556"/>
          </a:xfrm>
          <a:prstGeom prst="rect">
            <a:avLst/>
          </a:prstGeom>
          <a:noFill/>
          <a:ln/>
        </p:spPr>
        <p:txBody>
          <a:bodyPr wrap="square" lIns="0" tIns="0" rIns="0" bIns="0" rtlCol="0" anchor="t"/>
          <a:lstStyle/>
          <a:p>
            <a:pPr indent="0" marL="0">
              <a:lnSpc>
                <a:spcPct val="100000"/>
              </a:lnSpc>
              <a:buNone/>
            </a:pPr>
            <a:r>
              <a:rPr lang="en-US" sz="700" b="1" dirty="0">
                <a:solidFill>
                  <a:srgbClr val="0B3B45"/>
                </a:solidFill>
                <a:latin typeface="Calibri" pitchFamily="34" charset="0"/>
                <a:ea typeface="Calibri" pitchFamily="34" charset="-122"/>
                <a:cs typeface="Calibri" pitchFamily="34" charset="-120"/>
              </a:rPr>
              <a:t>2027 budget filed</a:t>
            </a:r>
            <a:endParaRPr lang="en-US" sz="700" dirty="0"/>
          </a:p>
        </p:txBody>
      </p:sp>
      <p:sp>
        <p:nvSpPr>
          <p:cNvPr id="11" name="Text 9"/>
          <p:cNvSpPr txBox="1"/>
          <p:nvPr/>
        </p:nvSpPr>
        <p:spPr>
          <a:xfrm>
            <a:off x="749808" y="2615565"/>
            <a:ext cx="3173882" cy="119507"/>
          </a:xfrm>
          <a:prstGeom prst="rect">
            <a:avLst/>
          </a:prstGeom>
          <a:noFill/>
          <a:ln/>
        </p:spPr>
        <p:txBody>
          <a:bodyPr wrap="square" lIns="0" tIns="0" rIns="0" bIns="0" rtlCol="0" anchor="t"/>
          <a:lstStyle/>
          <a:p>
            <a:pPr indent="0" marL="0">
              <a:lnSpc>
                <a:spcPct val="100000"/>
              </a:lnSpc>
              <a:buNone/>
            </a:pPr>
            <a:r>
              <a:rPr lang="en-US" sz="625" dirty="0">
                <a:solidFill>
                  <a:srgbClr val="45646C"/>
                </a:solidFill>
                <a:latin typeface="Calibri" pitchFamily="34" charset="0"/>
                <a:ea typeface="Calibri" pitchFamily="34" charset="-122"/>
                <a:cs typeface="Calibri" pitchFamily="34" charset="-120"/>
              </a:rPr>
              <a:t>28 Aug 2026 — COP 634.9tn, vs Petro's COP 575.6tn proposal</a:t>
            </a:r>
            <a:endParaRPr lang="en-US" sz="625" dirty="0"/>
          </a:p>
        </p:txBody>
      </p:sp>
      <p:sp>
        <p:nvSpPr>
          <p:cNvPr id="12" name="Text 10"/>
          <p:cNvSpPr txBox="1"/>
          <p:nvPr/>
        </p:nvSpPr>
        <p:spPr>
          <a:xfrm>
            <a:off x="749808" y="2799080"/>
            <a:ext cx="3173882" cy="130556"/>
          </a:xfrm>
          <a:prstGeom prst="rect">
            <a:avLst/>
          </a:prstGeom>
          <a:noFill/>
          <a:ln/>
        </p:spPr>
        <p:txBody>
          <a:bodyPr wrap="square" lIns="0" tIns="0" rIns="0" bIns="0" rtlCol="0" anchor="t"/>
          <a:lstStyle/>
          <a:p>
            <a:pPr indent="0" marL="0">
              <a:lnSpc>
                <a:spcPct val="100000"/>
              </a:lnSpc>
              <a:buNone/>
            </a:pPr>
            <a:r>
              <a:rPr lang="en-US" sz="700" b="1" dirty="0">
                <a:solidFill>
                  <a:srgbClr val="0B3B45"/>
                </a:solidFill>
                <a:latin typeface="Calibri" pitchFamily="34" charset="0"/>
                <a:ea typeface="Calibri" pitchFamily="34" charset="-122"/>
                <a:cs typeface="Calibri" pitchFamily="34" charset="-120"/>
              </a:rPr>
              <a:t>'Total Peace' negotiations terminated</a:t>
            </a:r>
            <a:endParaRPr lang="en-US" sz="700" dirty="0"/>
          </a:p>
        </p:txBody>
      </p:sp>
      <p:sp>
        <p:nvSpPr>
          <p:cNvPr id="13" name="Text 11"/>
          <p:cNvSpPr txBox="1"/>
          <p:nvPr/>
        </p:nvSpPr>
        <p:spPr>
          <a:xfrm>
            <a:off x="749808" y="2929636"/>
            <a:ext cx="3173882" cy="119507"/>
          </a:xfrm>
          <a:prstGeom prst="rect">
            <a:avLst/>
          </a:prstGeom>
          <a:noFill/>
          <a:ln/>
        </p:spPr>
        <p:txBody>
          <a:bodyPr wrap="square" lIns="0" tIns="0" rIns="0" bIns="0" rtlCol="0" anchor="t"/>
          <a:lstStyle/>
          <a:p>
            <a:pPr indent="0" marL="0">
              <a:lnSpc>
                <a:spcPct val="100000"/>
              </a:lnSpc>
              <a:buNone/>
            </a:pPr>
            <a:r>
              <a:rPr lang="en-US" sz="625" dirty="0">
                <a:solidFill>
                  <a:srgbClr val="45646C"/>
                </a:solidFill>
                <a:latin typeface="Calibri" pitchFamily="34" charset="0"/>
                <a:ea typeface="Calibri" pitchFamily="34" charset="-122"/>
                <a:cs typeface="Calibri" pitchFamily="34" charset="-120"/>
              </a:rPr>
              <a:t>29 Aug 2026</a:t>
            </a:r>
            <a:endParaRPr lang="en-US" sz="625" dirty="0"/>
          </a:p>
        </p:txBody>
      </p:sp>
      <p:sp>
        <p:nvSpPr>
          <p:cNvPr id="14" name="Text 12"/>
          <p:cNvSpPr txBox="1"/>
          <p:nvPr/>
        </p:nvSpPr>
        <p:spPr>
          <a:xfrm>
            <a:off x="749808" y="3113151"/>
            <a:ext cx="3173882" cy="130556"/>
          </a:xfrm>
          <a:prstGeom prst="rect">
            <a:avLst/>
          </a:prstGeom>
          <a:noFill/>
          <a:ln/>
        </p:spPr>
        <p:txBody>
          <a:bodyPr wrap="square" lIns="0" tIns="0" rIns="0" bIns="0" rtlCol="0" anchor="t"/>
          <a:lstStyle/>
          <a:p>
            <a:pPr indent="0" marL="0">
              <a:lnSpc>
                <a:spcPct val="100000"/>
              </a:lnSpc>
              <a:buNone/>
            </a:pPr>
            <a:r>
              <a:rPr lang="en-US" sz="700" b="1" dirty="0">
                <a:solidFill>
                  <a:srgbClr val="0B3B45"/>
                </a:solidFill>
                <a:latin typeface="Calibri" pitchFamily="34" charset="0"/>
                <a:ea typeface="Calibri" pitchFamily="34" charset="-122"/>
                <a:cs typeface="Calibri" pitchFamily="34" charset="-120"/>
              </a:rPr>
              <a:t>Fuel price freeze for earthquake relief</a:t>
            </a:r>
            <a:endParaRPr lang="en-US" sz="700" dirty="0"/>
          </a:p>
        </p:txBody>
      </p:sp>
      <p:sp>
        <p:nvSpPr>
          <p:cNvPr id="15" name="Text 13"/>
          <p:cNvSpPr txBox="1"/>
          <p:nvPr/>
        </p:nvSpPr>
        <p:spPr>
          <a:xfrm>
            <a:off x="749808" y="3243707"/>
            <a:ext cx="3173882" cy="119507"/>
          </a:xfrm>
          <a:prstGeom prst="rect">
            <a:avLst/>
          </a:prstGeom>
          <a:noFill/>
          <a:ln/>
        </p:spPr>
        <p:txBody>
          <a:bodyPr wrap="square" lIns="0" tIns="0" rIns="0" bIns="0" rtlCol="0" anchor="t"/>
          <a:lstStyle/>
          <a:p>
            <a:pPr indent="0" marL="0">
              <a:lnSpc>
                <a:spcPct val="100000"/>
              </a:lnSpc>
              <a:buNone/>
            </a:pPr>
            <a:r>
              <a:rPr lang="en-US" sz="625" dirty="0">
                <a:solidFill>
                  <a:srgbClr val="45646C"/>
                </a:solidFill>
                <a:latin typeface="Calibri" pitchFamily="34" charset="0"/>
                <a:ea typeface="Calibri" pitchFamily="34" charset="-122"/>
                <a:cs typeface="Calibri" pitchFamily="34" charset="-120"/>
              </a:rPr>
              <a:t>29 Aug 2026</a:t>
            </a:r>
            <a:endParaRPr lang="en-US" sz="625" dirty="0"/>
          </a:p>
        </p:txBody>
      </p:sp>
      <p:sp>
        <p:nvSpPr>
          <p:cNvPr id="16" name="Text 14"/>
          <p:cNvSpPr txBox="1"/>
          <p:nvPr/>
        </p:nvSpPr>
        <p:spPr>
          <a:xfrm>
            <a:off x="749808" y="3427222"/>
            <a:ext cx="3173882" cy="130556"/>
          </a:xfrm>
          <a:prstGeom prst="rect">
            <a:avLst/>
          </a:prstGeom>
          <a:noFill/>
          <a:ln/>
        </p:spPr>
        <p:txBody>
          <a:bodyPr wrap="square" lIns="0" tIns="0" rIns="0" bIns="0" rtlCol="0" anchor="t"/>
          <a:lstStyle/>
          <a:p>
            <a:pPr indent="0" marL="0">
              <a:lnSpc>
                <a:spcPct val="100000"/>
              </a:lnSpc>
              <a:buNone/>
            </a:pPr>
            <a:r>
              <a:rPr lang="en-US" sz="700" b="1" dirty="0">
                <a:solidFill>
                  <a:srgbClr val="0B3B45"/>
                </a:solidFill>
                <a:latin typeface="Calibri" pitchFamily="34" charset="0"/>
                <a:ea typeface="Calibri" pitchFamily="34" charset="-122"/>
                <a:cs typeface="Calibri" pitchFamily="34" charset="-120"/>
              </a:rPr>
              <a:t>Mining restrictions revoked in 119 municipalities</a:t>
            </a:r>
            <a:endParaRPr lang="en-US" sz="700" dirty="0"/>
          </a:p>
        </p:txBody>
      </p:sp>
      <p:sp>
        <p:nvSpPr>
          <p:cNvPr id="17" name="Text 15"/>
          <p:cNvSpPr txBox="1"/>
          <p:nvPr/>
        </p:nvSpPr>
        <p:spPr>
          <a:xfrm>
            <a:off x="749808" y="3557778"/>
            <a:ext cx="3173882" cy="119507"/>
          </a:xfrm>
          <a:prstGeom prst="rect">
            <a:avLst/>
          </a:prstGeom>
          <a:noFill/>
          <a:ln/>
        </p:spPr>
        <p:txBody>
          <a:bodyPr wrap="square" lIns="0" tIns="0" rIns="0" bIns="0" rtlCol="0" anchor="t"/>
          <a:lstStyle/>
          <a:p>
            <a:pPr indent="0" marL="0">
              <a:lnSpc>
                <a:spcPct val="100000"/>
              </a:lnSpc>
              <a:buNone/>
            </a:pPr>
            <a:r>
              <a:rPr lang="en-US" sz="625" dirty="0">
                <a:solidFill>
                  <a:srgbClr val="45646C"/>
                </a:solidFill>
                <a:latin typeface="Calibri" pitchFamily="34" charset="0"/>
                <a:ea typeface="Calibri" pitchFamily="34" charset="-122"/>
                <a:cs typeface="Calibri" pitchFamily="34" charset="-120"/>
              </a:rPr>
              <a:t>4 Sep 2026 — By eliminating mining districts</a:t>
            </a:r>
            <a:endParaRPr lang="en-US" sz="625" dirty="0"/>
          </a:p>
        </p:txBody>
      </p:sp>
      <p:sp>
        <p:nvSpPr>
          <p:cNvPr id="18" name="Text 16"/>
          <p:cNvSpPr txBox="1"/>
          <p:nvPr/>
        </p:nvSpPr>
        <p:spPr>
          <a:xfrm>
            <a:off x="749808" y="3741293"/>
            <a:ext cx="3173882" cy="130556"/>
          </a:xfrm>
          <a:prstGeom prst="rect">
            <a:avLst/>
          </a:prstGeom>
          <a:noFill/>
          <a:ln/>
        </p:spPr>
        <p:txBody>
          <a:bodyPr wrap="square" lIns="0" tIns="0" rIns="0" bIns="0" rtlCol="0" anchor="t"/>
          <a:lstStyle/>
          <a:p>
            <a:pPr indent="0" marL="0">
              <a:lnSpc>
                <a:spcPct val="100000"/>
              </a:lnSpc>
              <a:buNone/>
            </a:pPr>
            <a:r>
              <a:rPr lang="en-US" sz="700" b="1" dirty="0">
                <a:solidFill>
                  <a:srgbClr val="0B3B45"/>
                </a:solidFill>
                <a:latin typeface="Calibri" pitchFamily="34" charset="0"/>
                <a:ea typeface="Calibri" pitchFamily="34" charset="-122"/>
                <a:cs typeface="Calibri" pitchFamily="34" charset="-120"/>
              </a:rPr>
              <a:t>New ANH president (Ernesto Forero); Strategic Gas Acceleration Group</a:t>
            </a:r>
            <a:endParaRPr lang="en-US" sz="700" dirty="0"/>
          </a:p>
        </p:txBody>
      </p:sp>
      <p:sp>
        <p:nvSpPr>
          <p:cNvPr id="19" name="Text 17"/>
          <p:cNvSpPr txBox="1"/>
          <p:nvPr/>
        </p:nvSpPr>
        <p:spPr>
          <a:xfrm>
            <a:off x="749808" y="3871849"/>
            <a:ext cx="3173882" cy="119507"/>
          </a:xfrm>
          <a:prstGeom prst="rect">
            <a:avLst/>
          </a:prstGeom>
          <a:noFill/>
          <a:ln/>
        </p:spPr>
        <p:txBody>
          <a:bodyPr wrap="square" lIns="0" tIns="0" rIns="0" bIns="0" rtlCol="0" anchor="t"/>
          <a:lstStyle/>
          <a:p>
            <a:pPr indent="0" marL="0">
              <a:lnSpc>
                <a:spcPct val="100000"/>
              </a:lnSpc>
              <a:buNone/>
            </a:pPr>
            <a:r>
              <a:rPr lang="en-US" sz="625" dirty="0">
                <a:solidFill>
                  <a:srgbClr val="45646C"/>
                </a:solidFill>
                <a:latin typeface="Calibri" pitchFamily="34" charset="0"/>
                <a:ea typeface="Calibri" pitchFamily="34" charset="-122"/>
                <a:cs typeface="Calibri" pitchFamily="34" charset="-120"/>
              </a:rPr>
              <a:t>20 / 25 Aug 2026</a:t>
            </a:r>
            <a:endParaRPr lang="en-US" sz="625" dirty="0"/>
          </a:p>
        </p:txBody>
      </p:sp>
      <p:sp>
        <p:nvSpPr>
          <p:cNvPr id="20" name="Text 18"/>
          <p:cNvSpPr txBox="1"/>
          <p:nvPr/>
        </p:nvSpPr>
        <p:spPr>
          <a:xfrm>
            <a:off x="749808" y="4055364"/>
            <a:ext cx="3173882" cy="130556"/>
          </a:xfrm>
          <a:prstGeom prst="rect">
            <a:avLst/>
          </a:prstGeom>
          <a:noFill/>
          <a:ln/>
        </p:spPr>
        <p:txBody>
          <a:bodyPr wrap="square" lIns="0" tIns="0" rIns="0" bIns="0" rtlCol="0" anchor="t"/>
          <a:lstStyle/>
          <a:p>
            <a:pPr indent="0" marL="0">
              <a:lnSpc>
                <a:spcPct val="100000"/>
              </a:lnSpc>
              <a:buNone/>
            </a:pPr>
            <a:r>
              <a:rPr lang="en-US" sz="700" b="1" dirty="0">
                <a:solidFill>
                  <a:srgbClr val="0B3B45"/>
                </a:solidFill>
                <a:latin typeface="Calibri" pitchFamily="34" charset="0"/>
                <a:ea typeface="Calibri" pitchFamily="34" charset="-122"/>
                <a:cs typeface="Calibri" pitchFamily="34" charset="-120"/>
              </a:rPr>
              <a:t>Petro's Proyecto de Ley 004 tax reform publicly rejected</a:t>
            </a:r>
            <a:endParaRPr lang="en-US" sz="700" dirty="0"/>
          </a:p>
        </p:txBody>
      </p:sp>
      <p:sp>
        <p:nvSpPr>
          <p:cNvPr id="21" name="Text 19"/>
          <p:cNvSpPr txBox="1"/>
          <p:nvPr/>
        </p:nvSpPr>
        <p:spPr>
          <a:xfrm>
            <a:off x="749808" y="4185920"/>
            <a:ext cx="3173882" cy="211582"/>
          </a:xfrm>
          <a:prstGeom prst="rect">
            <a:avLst/>
          </a:prstGeom>
          <a:noFill/>
          <a:ln/>
        </p:spPr>
        <p:txBody>
          <a:bodyPr wrap="square" lIns="0" tIns="0" rIns="0" bIns="0" rtlCol="0" anchor="t"/>
          <a:lstStyle/>
          <a:p>
            <a:pPr indent="0" marL="0">
              <a:lnSpc>
                <a:spcPct val="100000"/>
              </a:lnSpc>
              <a:buNone/>
            </a:pPr>
            <a:r>
              <a:rPr lang="en-US" sz="625" dirty="0">
                <a:solidFill>
                  <a:srgbClr val="45646C"/>
                </a:solidFill>
                <a:latin typeface="Calibri" pitchFamily="34" charset="0"/>
                <a:ea typeface="Calibri" pitchFamily="34" charset="-122"/>
                <a:cs typeface="Calibri" pitchFamily="34" charset="-120"/>
              </a:rPr>
              <a:t>22 Jul 2026 — Formal withdrawal NOT confirmed - it can technically continue through committee</a:t>
            </a:r>
            <a:endParaRPr lang="en-US" sz="625" dirty="0"/>
          </a:p>
        </p:txBody>
      </p:sp>
      <p:sp>
        <p:nvSpPr>
          <p:cNvPr id="22" name="Text 20"/>
          <p:cNvSpPr txBox="1"/>
          <p:nvPr/>
        </p:nvSpPr>
        <p:spPr>
          <a:xfrm>
            <a:off x="4326026" y="1353312"/>
            <a:ext cx="3539642" cy="256032"/>
          </a:xfrm>
          <a:prstGeom prst="rect">
            <a:avLst/>
          </a:prstGeom>
          <a:noFill/>
          <a:ln/>
        </p:spPr>
        <p:txBody>
          <a:bodyPr wrap="square" lIns="0" tIns="0" rIns="0" bIns="0" rtlCol="0" anchor="ctr"/>
          <a:lstStyle/>
          <a:p>
            <a:pPr indent="0" marL="0">
              <a:buNone/>
            </a:pPr>
            <a:r>
              <a:rPr lang="en-US" sz="1150" b="1" spc="120" kern="0" dirty="0">
                <a:solidFill>
                  <a:srgbClr val="D99A2B"/>
                </a:solidFill>
                <a:latin typeface="Calibri" pitchFamily="34" charset="0"/>
                <a:ea typeface="Calibri" pitchFamily="34" charset="-122"/>
                <a:cs typeface="Calibri" pitchFamily="34" charset="-120"/>
              </a:rPr>
              <a:t>ANNOUNCED ONLY</a:t>
            </a:r>
            <a:endParaRPr lang="en-US" sz="1150" dirty="0"/>
          </a:p>
        </p:txBody>
      </p:sp>
      <p:sp>
        <p:nvSpPr>
          <p:cNvPr id="23" name="Shape 21"/>
          <p:cNvSpPr/>
          <p:nvPr/>
        </p:nvSpPr>
        <p:spPr>
          <a:xfrm>
            <a:off x="4326026" y="1645920"/>
            <a:ext cx="3539642" cy="2944368"/>
          </a:xfrm>
          <a:prstGeom prst="roundRect">
            <a:avLst>
              <a:gd name="adj" fmla="val 1863"/>
            </a:avLst>
          </a:prstGeom>
          <a:solidFill>
            <a:srgbClr val="FBF3E3"/>
          </a:solidFill>
          <a:ln w="6350">
            <a:solidFill>
              <a:srgbClr val="FBF3E3"/>
            </a:solidFill>
            <a:prstDash val="solid"/>
          </a:ln>
        </p:spPr>
      </p:sp>
      <p:sp>
        <p:nvSpPr>
          <p:cNvPr id="24" name="Text 22"/>
          <p:cNvSpPr txBox="1"/>
          <p:nvPr/>
        </p:nvSpPr>
        <p:spPr>
          <a:xfrm>
            <a:off x="4508906" y="1764792"/>
            <a:ext cx="3173882" cy="167386"/>
          </a:xfrm>
          <a:prstGeom prst="rect">
            <a:avLst/>
          </a:prstGeom>
          <a:noFill/>
          <a:ln/>
        </p:spPr>
        <p:txBody>
          <a:bodyPr wrap="square" lIns="0" tIns="0" rIns="0" bIns="0" rtlCol="0" anchor="t"/>
          <a:lstStyle/>
          <a:p>
            <a:pPr indent="0" marL="0">
              <a:lnSpc>
                <a:spcPct val="100000"/>
              </a:lnSpc>
              <a:buNone/>
            </a:pPr>
            <a:r>
              <a:rPr lang="en-US" sz="950" b="1" dirty="0">
                <a:solidFill>
                  <a:srgbClr val="0B3B45"/>
                </a:solidFill>
                <a:latin typeface="Calibri" pitchFamily="34" charset="0"/>
                <a:ea typeface="Calibri" pitchFamily="34" charset="-122"/>
                <a:cs typeface="Calibri" pitchFamily="34" charset="-120"/>
              </a:rPr>
              <a:t>Abolition of the impuesto al patrimonio</a:t>
            </a:r>
            <a:endParaRPr lang="en-US" sz="950" dirty="0"/>
          </a:p>
        </p:txBody>
      </p:sp>
      <p:sp>
        <p:nvSpPr>
          <p:cNvPr id="25" name="Text 23"/>
          <p:cNvSpPr txBox="1"/>
          <p:nvPr/>
        </p:nvSpPr>
        <p:spPr>
          <a:xfrm>
            <a:off x="4508906" y="1932178"/>
            <a:ext cx="3173882" cy="137922"/>
          </a:xfrm>
          <a:prstGeom prst="rect">
            <a:avLst/>
          </a:prstGeom>
          <a:noFill/>
          <a:ln/>
        </p:spPr>
        <p:txBody>
          <a:bodyPr wrap="square" lIns="0" tIns="0" rIns="0" bIns="0" rtlCol="0" anchor="t"/>
          <a:lstStyle/>
          <a:p>
            <a:pPr indent="0" marL="0">
              <a:lnSpc>
                <a:spcPct val="100000"/>
              </a:lnSpc>
              <a:buNone/>
            </a:pPr>
            <a:r>
              <a:rPr lang="en-US" sz="750" dirty="0">
                <a:solidFill>
                  <a:srgbClr val="45646C"/>
                </a:solidFill>
                <a:latin typeface="Calibri" pitchFamily="34" charset="0"/>
                <a:ea typeface="Calibri" pitchFamily="34" charset="-122"/>
                <a:cs typeface="Calibri" pitchFamily="34" charset="-120"/>
              </a:rPr>
              <a:t>Stated 7 Aug 2026 — No bill filed as of 4 Sep 2026</a:t>
            </a:r>
            <a:endParaRPr lang="en-US" sz="750" dirty="0"/>
          </a:p>
        </p:txBody>
      </p:sp>
      <p:sp>
        <p:nvSpPr>
          <p:cNvPr id="26" name="Text 24"/>
          <p:cNvSpPr txBox="1"/>
          <p:nvPr/>
        </p:nvSpPr>
        <p:spPr>
          <a:xfrm>
            <a:off x="4508906" y="2179828"/>
            <a:ext cx="3173882" cy="167386"/>
          </a:xfrm>
          <a:prstGeom prst="rect">
            <a:avLst/>
          </a:prstGeom>
          <a:noFill/>
          <a:ln/>
        </p:spPr>
        <p:txBody>
          <a:bodyPr wrap="square" lIns="0" tIns="0" rIns="0" bIns="0" rtlCol="0" anchor="t"/>
          <a:lstStyle/>
          <a:p>
            <a:pPr indent="0" marL="0">
              <a:lnSpc>
                <a:spcPct val="100000"/>
              </a:lnSpc>
              <a:buNone/>
            </a:pPr>
            <a:r>
              <a:rPr lang="en-US" sz="950" b="1" dirty="0">
                <a:solidFill>
                  <a:srgbClr val="0B3B45"/>
                </a:solidFill>
                <a:latin typeface="Calibri" pitchFamily="34" charset="0"/>
                <a:ea typeface="Calibri" pitchFamily="34" charset="-122"/>
                <a:cs typeface="Calibri" pitchFamily="34" charset="-120"/>
              </a:rPr>
              <a:t>'Ley de rescate económico'</a:t>
            </a:r>
            <a:endParaRPr lang="en-US" sz="950" dirty="0"/>
          </a:p>
        </p:txBody>
      </p:sp>
      <p:sp>
        <p:nvSpPr>
          <p:cNvPr id="27" name="Text 25"/>
          <p:cNvSpPr txBox="1"/>
          <p:nvPr/>
        </p:nvSpPr>
        <p:spPr>
          <a:xfrm>
            <a:off x="4508906" y="2347214"/>
            <a:ext cx="3173882" cy="248412"/>
          </a:xfrm>
          <a:prstGeom prst="rect">
            <a:avLst/>
          </a:prstGeom>
          <a:noFill/>
          <a:ln/>
        </p:spPr>
        <p:txBody>
          <a:bodyPr wrap="square" lIns="0" tIns="0" rIns="0" bIns="0" rtlCol="0" anchor="t"/>
          <a:lstStyle/>
          <a:p>
            <a:pPr indent="0" marL="0">
              <a:lnSpc>
                <a:spcPct val="100000"/>
              </a:lnSpc>
              <a:buNone/>
            </a:pPr>
            <a:r>
              <a:rPr lang="en-US" sz="750" dirty="0">
                <a:solidFill>
                  <a:srgbClr val="45646C"/>
                </a:solidFill>
                <a:latin typeface="Calibri" pitchFamily="34" charset="0"/>
                <a:ea typeface="Calibri" pitchFamily="34" charset="-122"/>
                <a:cs typeface="Calibri" pitchFamily="34" charset="-120"/>
              </a:rPr>
              <a:t>Promised for Sep 2026 — Framed as spending cuts, not revenue-raising. Not yet filed</a:t>
            </a:r>
            <a:endParaRPr lang="en-US" sz="750" dirty="0"/>
          </a:p>
        </p:txBody>
      </p:sp>
      <p:sp>
        <p:nvSpPr>
          <p:cNvPr id="28" name="Text 26"/>
          <p:cNvSpPr txBox="1"/>
          <p:nvPr/>
        </p:nvSpPr>
        <p:spPr>
          <a:xfrm>
            <a:off x="4508906" y="2705354"/>
            <a:ext cx="3173882" cy="167386"/>
          </a:xfrm>
          <a:prstGeom prst="rect">
            <a:avLst/>
          </a:prstGeom>
          <a:noFill/>
          <a:ln/>
        </p:spPr>
        <p:txBody>
          <a:bodyPr wrap="square" lIns="0" tIns="0" rIns="0" bIns="0" rtlCol="0" anchor="t"/>
          <a:lstStyle/>
          <a:p>
            <a:pPr indent="0" marL="0">
              <a:lnSpc>
                <a:spcPct val="100000"/>
              </a:lnSpc>
              <a:buNone/>
            </a:pPr>
            <a:r>
              <a:rPr lang="en-US" sz="950" b="1" dirty="0">
                <a:solidFill>
                  <a:srgbClr val="0B3B45"/>
                </a:solidFill>
                <a:latin typeface="Calibri" pitchFamily="34" charset="0"/>
                <a:ea typeface="Calibri" pitchFamily="34" charset="-122"/>
                <a:cs typeface="Calibri" pitchFamily="34" charset="-120"/>
              </a:rPr>
              <a:t>Fracking authorisation</a:t>
            </a:r>
            <a:endParaRPr lang="en-US" sz="950" dirty="0"/>
          </a:p>
        </p:txBody>
      </p:sp>
      <p:sp>
        <p:nvSpPr>
          <p:cNvPr id="29" name="Text 27"/>
          <p:cNvSpPr txBox="1"/>
          <p:nvPr/>
        </p:nvSpPr>
        <p:spPr>
          <a:xfrm>
            <a:off x="4508906" y="2872740"/>
            <a:ext cx="3173882" cy="358902"/>
          </a:xfrm>
          <a:prstGeom prst="rect">
            <a:avLst/>
          </a:prstGeom>
          <a:noFill/>
          <a:ln/>
        </p:spPr>
        <p:txBody>
          <a:bodyPr wrap="square" lIns="0" tIns="0" rIns="0" bIns="0" rtlCol="0" anchor="t"/>
          <a:lstStyle/>
          <a:p>
            <a:pPr indent="0" marL="0">
              <a:lnSpc>
                <a:spcPct val="100000"/>
              </a:lnSpc>
              <a:buNone/>
            </a:pPr>
            <a:r>
              <a:rPr lang="en-US" sz="750" dirty="0">
                <a:solidFill>
                  <a:srgbClr val="45646C"/>
                </a:solidFill>
                <a:latin typeface="Calibri" pitchFamily="34" charset="0"/>
                <a:ea typeface="Calibri" pitchFamily="34" charset="-122"/>
                <a:cs typeface="Calibri" pitchFamily="34" charset="-120"/>
              </a:rPr>
              <a:t>Announced 7 Aug 2026 — Not authorised. Industry is mapping 8 zones for a 2027 start. The outgoing government filed an ANTI-fracking bill on 11 Jul 2026</a:t>
            </a:r>
            <a:endParaRPr lang="en-US" sz="750" dirty="0"/>
          </a:p>
        </p:txBody>
      </p:sp>
      <p:sp>
        <p:nvSpPr>
          <p:cNvPr id="30" name="Text 28"/>
          <p:cNvSpPr txBox="1"/>
          <p:nvPr/>
        </p:nvSpPr>
        <p:spPr>
          <a:xfrm>
            <a:off x="4508906" y="3341370"/>
            <a:ext cx="3173882" cy="307340"/>
          </a:xfrm>
          <a:prstGeom prst="rect">
            <a:avLst/>
          </a:prstGeom>
          <a:noFill/>
          <a:ln/>
        </p:spPr>
        <p:txBody>
          <a:bodyPr wrap="square" lIns="0" tIns="0" rIns="0" bIns="0" rtlCol="0" anchor="t"/>
          <a:lstStyle/>
          <a:p>
            <a:pPr indent="0" marL="0">
              <a:lnSpc>
                <a:spcPct val="100000"/>
              </a:lnSpc>
              <a:buNone/>
            </a:pPr>
            <a:r>
              <a:rPr lang="en-US" sz="950" b="1" dirty="0">
                <a:solidFill>
                  <a:srgbClr val="0B3B45"/>
                </a:solidFill>
                <a:latin typeface="Calibri" pitchFamily="34" charset="0"/>
                <a:ea typeface="Calibri" pitchFamily="34" charset="-122"/>
                <a:cs typeface="Calibri" pitchFamily="34" charset="-120"/>
              </a:rPr>
              <a:t>Reversal of the no-new-exploration-contracts policy</a:t>
            </a:r>
            <a:endParaRPr lang="en-US" sz="950" dirty="0"/>
          </a:p>
        </p:txBody>
      </p:sp>
      <p:sp>
        <p:nvSpPr>
          <p:cNvPr id="31" name="Text 29"/>
          <p:cNvSpPr txBox="1"/>
          <p:nvPr/>
        </p:nvSpPr>
        <p:spPr>
          <a:xfrm>
            <a:off x="4508906" y="3648710"/>
            <a:ext cx="3173882" cy="248412"/>
          </a:xfrm>
          <a:prstGeom prst="rect">
            <a:avLst/>
          </a:prstGeom>
          <a:noFill/>
          <a:ln/>
        </p:spPr>
        <p:txBody>
          <a:bodyPr wrap="square" lIns="0" tIns="0" rIns="0" bIns="0" rtlCol="0" anchor="t"/>
          <a:lstStyle/>
          <a:p>
            <a:pPr indent="0" marL="0">
              <a:lnSpc>
                <a:spcPct val="100000"/>
              </a:lnSpc>
              <a:buNone/>
            </a:pPr>
            <a:r>
              <a:rPr lang="en-US" sz="750" dirty="0">
                <a:solidFill>
                  <a:srgbClr val="45646C"/>
                </a:solidFill>
                <a:latin typeface="Calibri" pitchFamily="34" charset="0"/>
                <a:ea typeface="Calibri" pitchFamily="34" charset="-122"/>
                <a:cs typeface="Calibri" pitchFamily="34" charset="-120"/>
              </a:rPr>
              <a:t>Campaign platform — No formal reversal enacted. No new E&amp;P contract signings found. this is the question clients will ask</a:t>
            </a:r>
            <a:endParaRPr lang="en-US" sz="750" dirty="0"/>
          </a:p>
        </p:txBody>
      </p:sp>
      <p:sp>
        <p:nvSpPr>
          <p:cNvPr id="32" name="Text 30"/>
          <p:cNvSpPr txBox="1"/>
          <p:nvPr/>
        </p:nvSpPr>
        <p:spPr>
          <a:xfrm>
            <a:off x="4508906" y="4006850"/>
            <a:ext cx="3173882" cy="307340"/>
          </a:xfrm>
          <a:prstGeom prst="rect">
            <a:avLst/>
          </a:prstGeom>
          <a:noFill/>
          <a:ln/>
        </p:spPr>
        <p:txBody>
          <a:bodyPr wrap="square" lIns="0" tIns="0" rIns="0" bIns="0" rtlCol="0" anchor="t"/>
          <a:lstStyle/>
          <a:p>
            <a:pPr indent="0" marL="0">
              <a:lnSpc>
                <a:spcPct val="100000"/>
              </a:lnSpc>
              <a:buNone/>
            </a:pPr>
            <a:r>
              <a:rPr lang="en-US" sz="950" b="1" dirty="0">
                <a:solidFill>
                  <a:srgbClr val="0B3B45"/>
                </a:solidFill>
                <a:latin typeface="Calibri" pitchFamily="34" charset="0"/>
                <a:ea typeface="Calibri" pitchFamily="34" charset="-122"/>
                <a:cs typeface="Calibri" pitchFamily="34" charset="-120"/>
              </a:rPr>
              <a:t>40% reduction in the size of the state (~700,000 posts)</a:t>
            </a:r>
            <a:endParaRPr lang="en-US" sz="950" dirty="0"/>
          </a:p>
        </p:txBody>
      </p:sp>
      <p:sp>
        <p:nvSpPr>
          <p:cNvPr id="33" name="Text 31"/>
          <p:cNvSpPr txBox="1"/>
          <p:nvPr/>
        </p:nvSpPr>
        <p:spPr>
          <a:xfrm>
            <a:off x="4508906" y="4314190"/>
            <a:ext cx="3173882" cy="137922"/>
          </a:xfrm>
          <a:prstGeom prst="rect">
            <a:avLst/>
          </a:prstGeom>
          <a:noFill/>
          <a:ln/>
        </p:spPr>
        <p:txBody>
          <a:bodyPr wrap="square" lIns="0" tIns="0" rIns="0" bIns="0" rtlCol="0" anchor="t"/>
          <a:lstStyle/>
          <a:p>
            <a:pPr indent="0" marL="0">
              <a:lnSpc>
                <a:spcPct val="100000"/>
              </a:lnSpc>
              <a:buNone/>
            </a:pPr>
            <a:r>
              <a:rPr lang="en-US" sz="750" dirty="0">
                <a:solidFill>
                  <a:srgbClr val="45646C"/>
                </a:solidFill>
                <a:latin typeface="Calibri" pitchFamily="34" charset="0"/>
                <a:ea typeface="Calibri" pitchFamily="34" charset="-122"/>
                <a:cs typeface="Calibri" pitchFamily="34" charset="-120"/>
              </a:rPr>
              <a:t>Platform</a:t>
            </a:r>
            <a:endParaRPr lang="en-US" sz="750" dirty="0"/>
          </a:p>
        </p:txBody>
      </p:sp>
      <p:sp>
        <p:nvSpPr>
          <p:cNvPr id="34" name="Text 32"/>
          <p:cNvSpPr txBox="1"/>
          <p:nvPr/>
        </p:nvSpPr>
        <p:spPr>
          <a:xfrm>
            <a:off x="8085125" y="1353312"/>
            <a:ext cx="3539642" cy="256032"/>
          </a:xfrm>
          <a:prstGeom prst="rect">
            <a:avLst/>
          </a:prstGeom>
          <a:noFill/>
          <a:ln/>
        </p:spPr>
        <p:txBody>
          <a:bodyPr wrap="square" lIns="0" tIns="0" rIns="0" bIns="0" rtlCol="0" anchor="ctr"/>
          <a:lstStyle/>
          <a:p>
            <a:pPr indent="0" marL="0">
              <a:buNone/>
            </a:pPr>
            <a:r>
              <a:rPr lang="en-US" sz="1150" b="1" spc="120" kern="0" dirty="0">
                <a:solidFill>
                  <a:srgbClr val="A8322D"/>
                </a:solidFill>
                <a:latin typeface="Calibri" pitchFamily="34" charset="0"/>
                <a:ea typeface="Calibri" pitchFamily="34" charset="-122"/>
                <a:cs typeface="Calibri" pitchFamily="34" charset="-120"/>
              </a:rPr>
              <a:t>UNVERIFIED</a:t>
            </a:r>
            <a:endParaRPr lang="en-US" sz="1150" dirty="0"/>
          </a:p>
        </p:txBody>
      </p:sp>
      <p:sp>
        <p:nvSpPr>
          <p:cNvPr id="35" name="Shape 33"/>
          <p:cNvSpPr/>
          <p:nvPr/>
        </p:nvSpPr>
        <p:spPr>
          <a:xfrm>
            <a:off x="8085125" y="1645920"/>
            <a:ext cx="3539642" cy="2944368"/>
          </a:xfrm>
          <a:prstGeom prst="roundRect">
            <a:avLst>
              <a:gd name="adj" fmla="val 1863"/>
            </a:avLst>
          </a:prstGeom>
          <a:solidFill>
            <a:srgbClr val="F6E4E3"/>
          </a:solidFill>
          <a:ln w="6350">
            <a:solidFill>
              <a:srgbClr val="F6E4E3"/>
            </a:solidFill>
            <a:prstDash val="solid"/>
          </a:ln>
        </p:spPr>
      </p:sp>
      <p:sp>
        <p:nvSpPr>
          <p:cNvPr id="36" name="Text 34"/>
          <p:cNvSpPr txBox="1"/>
          <p:nvPr/>
        </p:nvSpPr>
        <p:spPr>
          <a:xfrm>
            <a:off x="8268005" y="1764792"/>
            <a:ext cx="3173882" cy="167386"/>
          </a:xfrm>
          <a:prstGeom prst="rect">
            <a:avLst/>
          </a:prstGeom>
          <a:noFill/>
          <a:ln/>
        </p:spPr>
        <p:txBody>
          <a:bodyPr wrap="square" lIns="0" tIns="0" rIns="0" bIns="0" rtlCol="0" anchor="t"/>
          <a:lstStyle/>
          <a:p>
            <a:pPr indent="0" marL="0">
              <a:lnSpc>
                <a:spcPct val="100000"/>
              </a:lnSpc>
              <a:buNone/>
            </a:pPr>
            <a:r>
              <a:rPr lang="en-US" sz="950" b="1" dirty="0">
                <a:solidFill>
                  <a:srgbClr val="0B3B45"/>
                </a:solidFill>
                <a:latin typeface="Calibri" pitchFamily="34" charset="0"/>
                <a:ea typeface="Calibri" pitchFamily="34" charset="-122"/>
                <a:cs typeface="Calibri" pitchFamily="34" charset="-120"/>
              </a:rPr>
              <a:t>'90 decrees on day one'</a:t>
            </a:r>
            <a:endParaRPr lang="en-US" sz="950" dirty="0"/>
          </a:p>
        </p:txBody>
      </p:sp>
      <p:sp>
        <p:nvSpPr>
          <p:cNvPr id="37" name="Text 35"/>
          <p:cNvSpPr txBox="1"/>
          <p:nvPr/>
        </p:nvSpPr>
        <p:spPr>
          <a:xfrm>
            <a:off x="8268005" y="1932178"/>
            <a:ext cx="3173882" cy="248412"/>
          </a:xfrm>
          <a:prstGeom prst="rect">
            <a:avLst/>
          </a:prstGeom>
          <a:noFill/>
          <a:ln/>
        </p:spPr>
        <p:txBody>
          <a:bodyPr wrap="square" lIns="0" tIns="0" rIns="0" bIns="0" rtlCol="0" anchor="t"/>
          <a:lstStyle/>
          <a:p>
            <a:pPr indent="0" marL="0">
              <a:lnSpc>
                <a:spcPct val="100000"/>
              </a:lnSpc>
              <a:buNone/>
            </a:pPr>
            <a:r>
              <a:rPr lang="en-US" sz="750" dirty="0">
                <a:solidFill>
                  <a:srgbClr val="45646C"/>
                </a:solidFill>
                <a:latin typeface="Calibri" pitchFamily="34" charset="0"/>
                <a:ea typeface="Calibri" pitchFamily="34" charset="-122"/>
                <a:cs typeface="Calibri" pitchFamily="34" charset="-120"/>
              </a:rPr>
              <a:t>Trailed pre-inauguration — Could not verify how many were actually issued - do not repeat as fact</a:t>
            </a:r>
            <a:endParaRPr lang="en-US" sz="750" dirty="0"/>
          </a:p>
        </p:txBody>
      </p:sp>
      <p:sp>
        <p:nvSpPr>
          <p:cNvPr id="38" name="Text 36"/>
          <p:cNvSpPr txBox="1"/>
          <p:nvPr/>
        </p:nvSpPr>
        <p:spPr>
          <a:xfrm>
            <a:off x="8268005" y="2290318"/>
            <a:ext cx="3173882" cy="167386"/>
          </a:xfrm>
          <a:prstGeom prst="rect">
            <a:avLst/>
          </a:prstGeom>
          <a:noFill/>
          <a:ln/>
        </p:spPr>
        <p:txBody>
          <a:bodyPr wrap="square" lIns="0" tIns="0" rIns="0" bIns="0" rtlCol="0" anchor="t"/>
          <a:lstStyle/>
          <a:p>
            <a:pPr indent="0" marL="0">
              <a:lnSpc>
                <a:spcPct val="100000"/>
              </a:lnSpc>
              <a:buNone/>
            </a:pPr>
            <a:r>
              <a:rPr lang="en-US" sz="950" b="1" dirty="0">
                <a:solidFill>
                  <a:srgbClr val="0B3B45"/>
                </a:solidFill>
                <a:latin typeface="Calibri" pitchFamily="34" charset="0"/>
                <a:ea typeface="Calibri" pitchFamily="34" charset="-122"/>
                <a:cs typeface="Calibri" pitchFamily="34" charset="-120"/>
              </a:rPr>
              <a:t>BanRep board appointments</a:t>
            </a:r>
            <a:endParaRPr lang="en-US" sz="950" dirty="0"/>
          </a:p>
        </p:txBody>
      </p:sp>
      <p:sp>
        <p:nvSpPr>
          <p:cNvPr id="39" name="Text 37"/>
          <p:cNvSpPr txBox="1"/>
          <p:nvPr/>
        </p:nvSpPr>
        <p:spPr>
          <a:xfrm>
            <a:off x="8268005" y="2457704"/>
            <a:ext cx="3173882" cy="469392"/>
          </a:xfrm>
          <a:prstGeom prst="rect">
            <a:avLst/>
          </a:prstGeom>
          <a:noFill/>
          <a:ln/>
        </p:spPr>
        <p:txBody>
          <a:bodyPr wrap="square" lIns="0" tIns="0" rIns="0" bIns="0" rtlCol="0" anchor="t"/>
          <a:lstStyle/>
          <a:p>
            <a:pPr indent="0" marL="0">
              <a:lnSpc>
                <a:spcPct val="100000"/>
              </a:lnSpc>
              <a:buNone/>
            </a:pPr>
            <a:r>
              <a:rPr lang="en-US" sz="750" dirty="0">
                <a:solidFill>
                  <a:srgbClr val="45646C"/>
                </a:solidFill>
                <a:latin typeface="Calibri" pitchFamily="34" charset="0"/>
                <a:ea typeface="Calibri" pitchFamily="34" charset="-122"/>
                <a:cs typeface="Calibri" pitchFamily="34" charset="-120"/>
              </a:rPr>
              <a:t>Nothing reported — The president appoints two co-directors at the four-year mark, and Leonardo Villar's term as General Manager is a live question. Nothing was reported as at 4 Sep 2026 - do not speculate</a:t>
            </a:r>
            <a:endParaRPr lang="en-US" sz="750" dirty="0"/>
          </a:p>
        </p:txBody>
      </p:sp>
      <p:sp>
        <p:nvSpPr>
          <p:cNvPr id="40" name="Text 38"/>
          <p:cNvSpPr txBox="1"/>
          <p:nvPr/>
        </p:nvSpPr>
        <p:spPr>
          <a:xfrm>
            <a:off x="8268005" y="3036824"/>
            <a:ext cx="3173882" cy="167386"/>
          </a:xfrm>
          <a:prstGeom prst="rect">
            <a:avLst/>
          </a:prstGeom>
          <a:noFill/>
          <a:ln/>
        </p:spPr>
        <p:txBody>
          <a:bodyPr wrap="square" lIns="0" tIns="0" rIns="0" bIns="0" rtlCol="0" anchor="t"/>
          <a:lstStyle/>
          <a:p>
            <a:pPr indent="0" marL="0">
              <a:lnSpc>
                <a:spcPct val="100000"/>
              </a:lnSpc>
              <a:buNone/>
            </a:pPr>
            <a:r>
              <a:rPr lang="en-US" sz="950" b="1" dirty="0">
                <a:solidFill>
                  <a:srgbClr val="0B3B45"/>
                </a:solidFill>
                <a:latin typeface="Calibri" pitchFamily="34" charset="0"/>
                <a:ea typeface="Calibri" pitchFamily="34" charset="-122"/>
                <a:cs typeface="Calibri" pitchFamily="34" charset="-120"/>
              </a:rPr>
              <a:t>Formal withdrawal of Proyecto de Ley 004</a:t>
            </a:r>
            <a:endParaRPr lang="en-US" sz="950" dirty="0"/>
          </a:p>
        </p:txBody>
      </p:sp>
      <p:sp>
        <p:nvSpPr>
          <p:cNvPr id="41" name="Text 39"/>
          <p:cNvSpPr txBox="1"/>
          <p:nvPr/>
        </p:nvSpPr>
        <p:spPr>
          <a:xfrm>
            <a:off x="8268005" y="3204210"/>
            <a:ext cx="3173882" cy="248412"/>
          </a:xfrm>
          <a:prstGeom prst="rect">
            <a:avLst/>
          </a:prstGeom>
          <a:noFill/>
          <a:ln/>
        </p:spPr>
        <p:txBody>
          <a:bodyPr wrap="square" lIns="0" tIns="0" rIns="0" bIns="0" rtlCol="0" anchor="t"/>
          <a:lstStyle/>
          <a:p>
            <a:pPr indent="0" marL="0">
              <a:lnSpc>
                <a:spcPct val="100000"/>
              </a:lnSpc>
              <a:buNone/>
            </a:pPr>
            <a:r>
              <a:rPr lang="en-US" sz="750" dirty="0">
                <a:solidFill>
                  <a:srgbClr val="45646C"/>
                </a:solidFill>
                <a:latin typeface="Calibri" pitchFamily="34" charset="0"/>
                <a:ea typeface="Calibri" pitchFamily="34" charset="-122"/>
                <a:cs typeface="Calibri" pitchFamily="34" charset="-120"/>
              </a:rPr>
              <a:t>Not confirmed — Publicly rejected 22 Jul 2026, but the bill can technically continue through committee on its own</a:t>
            </a:r>
            <a:endParaRPr lang="en-US" sz="750" dirty="0"/>
          </a:p>
        </p:txBody>
      </p:sp>
      <p:sp>
        <p:nvSpPr>
          <p:cNvPr id="42" name="Shape 40"/>
          <p:cNvSpPr/>
          <p:nvPr/>
        </p:nvSpPr>
        <p:spPr>
          <a:xfrm>
            <a:off x="566928" y="4791456"/>
            <a:ext cx="11057839" cy="1298448"/>
          </a:xfrm>
          <a:prstGeom prst="roundRect">
            <a:avLst>
              <a:gd name="adj" fmla="val 4225"/>
            </a:avLst>
          </a:prstGeom>
          <a:solidFill>
            <a:srgbClr val="0B3B45"/>
          </a:solidFill>
          <a:ln w="6350">
            <a:solidFill>
              <a:srgbClr val="0B3B45"/>
            </a:solidFill>
            <a:prstDash val="solid"/>
          </a:ln>
        </p:spPr>
      </p:sp>
      <p:sp>
        <p:nvSpPr>
          <p:cNvPr id="43" name="Text 41"/>
          <p:cNvSpPr txBox="1"/>
          <p:nvPr/>
        </p:nvSpPr>
        <p:spPr>
          <a:xfrm>
            <a:off x="804672" y="4937760"/>
            <a:ext cx="10582351" cy="201168"/>
          </a:xfrm>
          <a:prstGeom prst="rect">
            <a:avLst/>
          </a:prstGeom>
          <a:noFill/>
          <a:ln/>
        </p:spPr>
        <p:txBody>
          <a:bodyPr wrap="square" lIns="0" tIns="0" rIns="0" bIns="0" rtlCol="0" anchor="ctr"/>
          <a:lstStyle/>
          <a:p>
            <a:pPr indent="0" marL="0">
              <a:buNone/>
            </a:pPr>
            <a:r>
              <a:rPr lang="en-US" sz="900" b="1" spc="140" kern="0" dirty="0">
                <a:solidFill>
                  <a:srgbClr val="D99A2B"/>
                </a:solidFill>
                <a:latin typeface="Calibri" pitchFamily="34" charset="0"/>
                <a:ea typeface="Calibri" pitchFamily="34" charset="-122"/>
                <a:cs typeface="Calibri" pitchFamily="34" charset="-120"/>
              </a:rPr>
              <a:t>THE QUESTION EVERY CLIENT WILL ASK</a:t>
            </a:r>
            <a:endParaRPr lang="en-US" sz="900" dirty="0"/>
          </a:p>
        </p:txBody>
      </p:sp>
      <p:sp>
        <p:nvSpPr>
          <p:cNvPr id="44" name="Text 42"/>
          <p:cNvSpPr txBox="1"/>
          <p:nvPr/>
        </p:nvSpPr>
        <p:spPr>
          <a:xfrm>
            <a:off x="804672" y="5157216"/>
            <a:ext cx="10582351" cy="768096"/>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“Has he reversed the exploration ban?” As of 4 September 2026: no. What exists is inaugural rhetoric on fracking, a new head of the ANH, a gas acceleration working group and the revocation of mining restrictions in 119 municipalities. No decree or resolution reversing the policy has been found and no new exploration contracts have been signed. Meanwhile the outgoing government filed an anti-fracking bill on 11 July that still sits on the ministry's site. Say “not yet, and here is what would have to happen” — not “yes”.</a:t>
            </a:r>
            <a:endParaRPr lang="en-US" sz="1150" dirty="0"/>
          </a:p>
        </p:txBody>
      </p:sp>
      <p:sp>
        <p:nvSpPr>
          <p:cNvPr id="45" name="Text 4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46" name="Text 4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41</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COLOMBIA · RATES AND THE CURRENCY</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The only central bank here that raised rates this year</a:t>
            </a:r>
            <a:endParaRPr lang="en-US" sz="3000" dirty="0"/>
          </a:p>
        </p:txBody>
      </p:sp>
      <p:sp>
        <p:nvSpPr>
          <p:cNvPr id="4" name="Text 2"/>
          <p:cNvSpPr txBox="1"/>
          <p:nvPr/>
        </p:nvSpPr>
        <p:spPr>
          <a:xfrm>
            <a:off x="566928" y="1353312"/>
            <a:ext cx="5303520" cy="256032"/>
          </a:xfrm>
          <a:prstGeom prst="rect">
            <a:avLst/>
          </a:prstGeom>
          <a:noFill/>
          <a:ln/>
        </p:spPr>
        <p:txBody>
          <a:bodyPr wrap="square" lIns="0" tIns="0" rIns="0" bIns="0" rtlCol="0" anchor="ctr"/>
          <a:lstStyle/>
          <a:p>
            <a:pPr indent="0" marL="0">
              <a:buNone/>
            </a:pPr>
            <a:r>
              <a:rPr lang="en-US" sz="1100" b="1" dirty="0">
                <a:solidFill>
                  <a:srgbClr val="0B3B45"/>
                </a:solidFill>
                <a:latin typeface="Calibri" pitchFamily="34" charset="0"/>
                <a:ea typeface="Calibri" pitchFamily="34" charset="-122"/>
                <a:cs typeface="Calibri" pitchFamily="34" charset="-120"/>
              </a:rPr>
              <a:t>BanRep policy rate</a:t>
            </a:r>
            <a:endParaRPr lang="en-US" sz="1100" dirty="0"/>
          </a:p>
        </p:txBody>
      </p:sp>
      <p:sp>
        <p:nvSpPr>
          <p:cNvPr id="5" name="Text 3"/>
          <p:cNvSpPr txBox="1"/>
          <p:nvPr/>
        </p:nvSpPr>
        <p:spPr>
          <a:xfrm>
            <a:off x="566928" y="1682496"/>
            <a:ext cx="1508760" cy="384048"/>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Apr 2025</a:t>
            </a:r>
            <a:endParaRPr lang="en-US" sz="1000" dirty="0"/>
          </a:p>
        </p:txBody>
      </p:sp>
      <p:sp>
        <p:nvSpPr>
          <p:cNvPr id="6" name="Shape 4"/>
          <p:cNvSpPr/>
          <p:nvPr/>
        </p:nvSpPr>
        <p:spPr>
          <a:xfrm>
            <a:off x="2148840" y="1766987"/>
            <a:ext cx="3035808" cy="215067"/>
          </a:xfrm>
          <a:prstGeom prst="rect">
            <a:avLst/>
          </a:prstGeom>
          <a:solidFill>
            <a:srgbClr val="EDF1F2"/>
          </a:solidFill>
          <a:ln/>
        </p:spPr>
      </p:sp>
      <p:sp>
        <p:nvSpPr>
          <p:cNvPr id="7" name="Shape 5"/>
          <p:cNvSpPr/>
          <p:nvPr/>
        </p:nvSpPr>
        <p:spPr>
          <a:xfrm>
            <a:off x="2148840" y="1766987"/>
            <a:ext cx="2160094" cy="215067"/>
          </a:xfrm>
          <a:prstGeom prst="rect">
            <a:avLst/>
          </a:prstGeom>
          <a:solidFill>
            <a:srgbClr val="3E7C59"/>
          </a:solidFill>
          <a:ln/>
        </p:spPr>
      </p:sp>
      <p:sp>
        <p:nvSpPr>
          <p:cNvPr id="8" name="Text 6"/>
          <p:cNvSpPr txBox="1"/>
          <p:nvPr/>
        </p:nvSpPr>
        <p:spPr>
          <a:xfrm>
            <a:off x="5257800" y="1682496"/>
            <a:ext cx="685800" cy="384048"/>
          </a:xfrm>
          <a:prstGeom prst="rect">
            <a:avLst/>
          </a:prstGeom>
          <a:noFill/>
          <a:ln/>
        </p:spPr>
        <p:txBody>
          <a:bodyPr wrap="square" lIns="0" tIns="0" rIns="0" bIns="0" rtlCol="0" anchor="ctr"/>
          <a:lstStyle/>
          <a:p>
            <a:pPr indent="0" marL="0">
              <a:buNone/>
            </a:pPr>
            <a:r>
              <a:rPr lang="en-US" sz="1000" b="1" dirty="0">
                <a:solidFill>
                  <a:srgbClr val="3E7C59"/>
                </a:solidFill>
                <a:latin typeface="Calibri" pitchFamily="34" charset="0"/>
                <a:ea typeface="Calibri" pitchFamily="34" charset="-122"/>
                <a:cs typeface="Calibri" pitchFamily="34" charset="-120"/>
              </a:rPr>
              <a:t>9.25%</a:t>
            </a:r>
            <a:endParaRPr lang="en-US" sz="1000" dirty="0"/>
          </a:p>
        </p:txBody>
      </p:sp>
      <p:sp>
        <p:nvSpPr>
          <p:cNvPr id="9" name="Text 7"/>
          <p:cNvSpPr txBox="1"/>
          <p:nvPr/>
        </p:nvSpPr>
        <p:spPr>
          <a:xfrm>
            <a:off x="2167128" y="2048256"/>
            <a:ext cx="3657600" cy="0"/>
          </a:xfrm>
          <a:prstGeom prst="rect">
            <a:avLst/>
          </a:prstGeom>
          <a:noFill/>
          <a:ln/>
        </p:spPr>
        <p:txBody>
          <a:bodyPr wrap="square" lIns="0" tIns="0" rIns="0" bIns="0" rtlCol="0" anchor="ctr"/>
          <a:lstStyle/>
          <a:p>
            <a:pPr indent="0" marL="0">
              <a:buNone/>
            </a:pPr>
            <a:r>
              <a:rPr lang="en-US" sz="100" dirty="0">
                <a:solidFill>
                  <a:srgbClr val="FFFFFF"/>
                </a:solidFill>
                <a:latin typeface="Calibri" pitchFamily="34" charset="0"/>
                <a:ea typeface="Calibri" pitchFamily="34" charset="-122"/>
                <a:cs typeface="Calibri" pitchFamily="34" charset="-120"/>
              </a:rPr>
              <a:t>-25bp  ·  unanimous</a:t>
            </a:r>
            <a:endParaRPr lang="en-US" sz="100" dirty="0"/>
          </a:p>
        </p:txBody>
      </p:sp>
      <p:sp>
        <p:nvSpPr>
          <p:cNvPr id="10" name="Text 8"/>
          <p:cNvSpPr txBox="1"/>
          <p:nvPr/>
        </p:nvSpPr>
        <p:spPr>
          <a:xfrm>
            <a:off x="566928" y="2103120"/>
            <a:ext cx="1508760" cy="384048"/>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Dec 2025</a:t>
            </a:r>
            <a:endParaRPr lang="en-US" sz="1000" dirty="0"/>
          </a:p>
        </p:txBody>
      </p:sp>
      <p:sp>
        <p:nvSpPr>
          <p:cNvPr id="11" name="Shape 9"/>
          <p:cNvSpPr/>
          <p:nvPr/>
        </p:nvSpPr>
        <p:spPr>
          <a:xfrm>
            <a:off x="2148840" y="2187611"/>
            <a:ext cx="3035808" cy="215067"/>
          </a:xfrm>
          <a:prstGeom prst="rect">
            <a:avLst/>
          </a:prstGeom>
          <a:solidFill>
            <a:srgbClr val="EDF1F2"/>
          </a:solidFill>
          <a:ln/>
        </p:spPr>
      </p:sp>
      <p:sp>
        <p:nvSpPr>
          <p:cNvPr id="12" name="Shape 10"/>
          <p:cNvSpPr/>
          <p:nvPr/>
        </p:nvSpPr>
        <p:spPr>
          <a:xfrm>
            <a:off x="2148840" y="2187611"/>
            <a:ext cx="2160094" cy="215067"/>
          </a:xfrm>
          <a:prstGeom prst="rect">
            <a:avLst/>
          </a:prstGeom>
          <a:solidFill>
            <a:srgbClr val="156A7A"/>
          </a:solidFill>
          <a:ln/>
        </p:spPr>
      </p:sp>
      <p:sp>
        <p:nvSpPr>
          <p:cNvPr id="13" name="Text 11"/>
          <p:cNvSpPr txBox="1"/>
          <p:nvPr/>
        </p:nvSpPr>
        <p:spPr>
          <a:xfrm>
            <a:off x="5257800" y="2103120"/>
            <a:ext cx="685800" cy="384048"/>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9.25%</a:t>
            </a:r>
            <a:endParaRPr lang="en-US" sz="1000" dirty="0"/>
          </a:p>
        </p:txBody>
      </p:sp>
      <p:sp>
        <p:nvSpPr>
          <p:cNvPr id="14" name="Text 12"/>
          <p:cNvSpPr txBox="1"/>
          <p:nvPr/>
        </p:nvSpPr>
        <p:spPr>
          <a:xfrm>
            <a:off x="2167128" y="2468880"/>
            <a:ext cx="3657600" cy="0"/>
          </a:xfrm>
          <a:prstGeom prst="rect">
            <a:avLst/>
          </a:prstGeom>
          <a:noFill/>
          <a:ln/>
        </p:spPr>
        <p:txBody>
          <a:bodyPr wrap="square" lIns="0" tIns="0" rIns="0" bIns="0" rtlCol="0" anchor="ctr"/>
          <a:lstStyle/>
          <a:p>
            <a:pPr indent="0" marL="0">
              <a:buNone/>
            </a:pPr>
            <a:r>
              <a:rPr lang="en-US" sz="100" dirty="0">
                <a:solidFill>
                  <a:srgbClr val="FFFFFF"/>
                </a:solidFill>
                <a:latin typeface="Calibri" pitchFamily="34" charset="0"/>
                <a:ea typeface="Calibri" pitchFamily="34" charset="-122"/>
                <a:cs typeface="Calibri" pitchFamily="34" charset="-120"/>
              </a:rPr>
              <a:t>hold  ·  majority</a:t>
            </a:r>
            <a:endParaRPr lang="en-US" sz="100" dirty="0"/>
          </a:p>
        </p:txBody>
      </p:sp>
      <p:sp>
        <p:nvSpPr>
          <p:cNvPr id="15" name="Text 13"/>
          <p:cNvSpPr txBox="1"/>
          <p:nvPr/>
        </p:nvSpPr>
        <p:spPr>
          <a:xfrm>
            <a:off x="566928" y="2523744"/>
            <a:ext cx="1508760" cy="384048"/>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Jan 2026</a:t>
            </a:r>
            <a:endParaRPr lang="en-US" sz="1000" dirty="0"/>
          </a:p>
        </p:txBody>
      </p:sp>
      <p:sp>
        <p:nvSpPr>
          <p:cNvPr id="16" name="Shape 14"/>
          <p:cNvSpPr/>
          <p:nvPr/>
        </p:nvSpPr>
        <p:spPr>
          <a:xfrm>
            <a:off x="2148840" y="2608235"/>
            <a:ext cx="3035808" cy="215067"/>
          </a:xfrm>
          <a:prstGeom prst="rect">
            <a:avLst/>
          </a:prstGeom>
          <a:solidFill>
            <a:srgbClr val="EDF1F2"/>
          </a:solidFill>
          <a:ln/>
        </p:spPr>
      </p:sp>
      <p:sp>
        <p:nvSpPr>
          <p:cNvPr id="17" name="Shape 15"/>
          <p:cNvSpPr/>
          <p:nvPr/>
        </p:nvSpPr>
        <p:spPr>
          <a:xfrm>
            <a:off x="2148840" y="2608235"/>
            <a:ext cx="2393618" cy="215067"/>
          </a:xfrm>
          <a:prstGeom prst="rect">
            <a:avLst/>
          </a:prstGeom>
          <a:solidFill>
            <a:srgbClr val="A8322D"/>
          </a:solidFill>
          <a:ln/>
        </p:spPr>
      </p:sp>
      <p:sp>
        <p:nvSpPr>
          <p:cNvPr id="18" name="Text 16"/>
          <p:cNvSpPr txBox="1"/>
          <p:nvPr/>
        </p:nvSpPr>
        <p:spPr>
          <a:xfrm>
            <a:off x="5257800" y="2523744"/>
            <a:ext cx="685800" cy="384048"/>
          </a:xfrm>
          <a:prstGeom prst="rect">
            <a:avLst/>
          </a:prstGeom>
          <a:noFill/>
          <a:ln/>
        </p:spPr>
        <p:txBody>
          <a:bodyPr wrap="square" lIns="0" tIns="0" rIns="0" bIns="0" rtlCol="0" anchor="ctr"/>
          <a:lstStyle/>
          <a:p>
            <a:pPr indent="0" marL="0">
              <a:buNone/>
            </a:pPr>
            <a:r>
              <a:rPr lang="en-US" sz="1000" b="1" dirty="0">
                <a:solidFill>
                  <a:srgbClr val="A8322D"/>
                </a:solidFill>
                <a:latin typeface="Calibri" pitchFamily="34" charset="0"/>
                <a:ea typeface="Calibri" pitchFamily="34" charset="-122"/>
                <a:cs typeface="Calibri" pitchFamily="34" charset="-120"/>
              </a:rPr>
              <a:t>10.25%</a:t>
            </a:r>
            <a:endParaRPr lang="en-US" sz="1000" dirty="0"/>
          </a:p>
        </p:txBody>
      </p:sp>
      <p:sp>
        <p:nvSpPr>
          <p:cNvPr id="19" name="Text 17"/>
          <p:cNvSpPr txBox="1"/>
          <p:nvPr/>
        </p:nvSpPr>
        <p:spPr>
          <a:xfrm>
            <a:off x="2167128" y="2889504"/>
            <a:ext cx="3657600" cy="0"/>
          </a:xfrm>
          <a:prstGeom prst="rect">
            <a:avLst/>
          </a:prstGeom>
          <a:noFill/>
          <a:ln/>
        </p:spPr>
        <p:txBody>
          <a:bodyPr wrap="square" lIns="0" tIns="0" rIns="0" bIns="0" rtlCol="0" anchor="ctr"/>
          <a:lstStyle/>
          <a:p>
            <a:pPr indent="0" marL="0">
              <a:buNone/>
            </a:pPr>
            <a:r>
              <a:rPr lang="en-US" sz="100" dirty="0">
                <a:solidFill>
                  <a:srgbClr val="FFFFFF"/>
                </a:solidFill>
                <a:latin typeface="Calibri" pitchFamily="34" charset="0"/>
                <a:ea typeface="Calibri" pitchFamily="34" charset="-122"/>
                <a:cs typeface="Calibri" pitchFamily="34" charset="-120"/>
              </a:rPr>
              <a:t>+100bp  ·  majority</a:t>
            </a:r>
            <a:endParaRPr lang="en-US" sz="100" dirty="0"/>
          </a:p>
        </p:txBody>
      </p:sp>
      <p:sp>
        <p:nvSpPr>
          <p:cNvPr id="20" name="Text 18"/>
          <p:cNvSpPr txBox="1"/>
          <p:nvPr/>
        </p:nvSpPr>
        <p:spPr>
          <a:xfrm>
            <a:off x="566928" y="2944368"/>
            <a:ext cx="1508760" cy="384048"/>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Mar 2026</a:t>
            </a:r>
            <a:endParaRPr lang="en-US" sz="1000" dirty="0"/>
          </a:p>
        </p:txBody>
      </p:sp>
      <p:sp>
        <p:nvSpPr>
          <p:cNvPr id="21" name="Shape 19"/>
          <p:cNvSpPr/>
          <p:nvPr/>
        </p:nvSpPr>
        <p:spPr>
          <a:xfrm>
            <a:off x="2148840" y="3028859"/>
            <a:ext cx="3035808" cy="215067"/>
          </a:xfrm>
          <a:prstGeom prst="rect">
            <a:avLst/>
          </a:prstGeom>
          <a:solidFill>
            <a:srgbClr val="EDF1F2"/>
          </a:solidFill>
          <a:ln/>
        </p:spPr>
      </p:sp>
      <p:sp>
        <p:nvSpPr>
          <p:cNvPr id="22" name="Shape 20"/>
          <p:cNvSpPr/>
          <p:nvPr/>
        </p:nvSpPr>
        <p:spPr>
          <a:xfrm>
            <a:off x="2148840" y="3028859"/>
            <a:ext cx="2627142" cy="215067"/>
          </a:xfrm>
          <a:prstGeom prst="rect">
            <a:avLst/>
          </a:prstGeom>
          <a:solidFill>
            <a:srgbClr val="A8322D"/>
          </a:solidFill>
          <a:ln/>
        </p:spPr>
      </p:sp>
      <p:sp>
        <p:nvSpPr>
          <p:cNvPr id="23" name="Text 21"/>
          <p:cNvSpPr txBox="1"/>
          <p:nvPr/>
        </p:nvSpPr>
        <p:spPr>
          <a:xfrm>
            <a:off x="5257800" y="2944368"/>
            <a:ext cx="685800" cy="384048"/>
          </a:xfrm>
          <a:prstGeom prst="rect">
            <a:avLst/>
          </a:prstGeom>
          <a:noFill/>
          <a:ln/>
        </p:spPr>
        <p:txBody>
          <a:bodyPr wrap="square" lIns="0" tIns="0" rIns="0" bIns="0" rtlCol="0" anchor="ctr"/>
          <a:lstStyle/>
          <a:p>
            <a:pPr indent="0" marL="0">
              <a:buNone/>
            </a:pPr>
            <a:r>
              <a:rPr lang="en-US" sz="1000" b="1" dirty="0">
                <a:solidFill>
                  <a:srgbClr val="A8322D"/>
                </a:solidFill>
                <a:latin typeface="Calibri" pitchFamily="34" charset="0"/>
                <a:ea typeface="Calibri" pitchFamily="34" charset="-122"/>
                <a:cs typeface="Calibri" pitchFamily="34" charset="-120"/>
              </a:rPr>
              <a:t>11.25%</a:t>
            </a:r>
            <a:endParaRPr lang="en-US" sz="1000" dirty="0"/>
          </a:p>
        </p:txBody>
      </p:sp>
      <p:sp>
        <p:nvSpPr>
          <p:cNvPr id="24" name="Text 22"/>
          <p:cNvSpPr txBox="1"/>
          <p:nvPr/>
        </p:nvSpPr>
        <p:spPr>
          <a:xfrm>
            <a:off x="2167128" y="3310128"/>
            <a:ext cx="3657600" cy="0"/>
          </a:xfrm>
          <a:prstGeom prst="rect">
            <a:avLst/>
          </a:prstGeom>
          <a:noFill/>
          <a:ln/>
        </p:spPr>
        <p:txBody>
          <a:bodyPr wrap="square" lIns="0" tIns="0" rIns="0" bIns="0" rtlCol="0" anchor="ctr"/>
          <a:lstStyle/>
          <a:p>
            <a:pPr indent="0" marL="0">
              <a:buNone/>
            </a:pPr>
            <a:r>
              <a:rPr lang="en-US" sz="100" dirty="0">
                <a:solidFill>
                  <a:srgbClr val="FFFFFF"/>
                </a:solidFill>
                <a:latin typeface="Calibri" pitchFamily="34" charset="0"/>
                <a:ea typeface="Calibri" pitchFamily="34" charset="-122"/>
                <a:cs typeface="Calibri" pitchFamily="34" charset="-120"/>
              </a:rPr>
              <a:t>+100bp  ·  majority</a:t>
            </a:r>
            <a:endParaRPr lang="en-US" sz="100" dirty="0"/>
          </a:p>
        </p:txBody>
      </p:sp>
      <p:sp>
        <p:nvSpPr>
          <p:cNvPr id="25" name="Text 23"/>
          <p:cNvSpPr txBox="1"/>
          <p:nvPr/>
        </p:nvSpPr>
        <p:spPr>
          <a:xfrm>
            <a:off x="566928" y="3364992"/>
            <a:ext cx="1508760" cy="384048"/>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Jun 2026</a:t>
            </a:r>
            <a:endParaRPr lang="en-US" sz="1000" dirty="0"/>
          </a:p>
        </p:txBody>
      </p:sp>
      <p:sp>
        <p:nvSpPr>
          <p:cNvPr id="26" name="Shape 24"/>
          <p:cNvSpPr/>
          <p:nvPr/>
        </p:nvSpPr>
        <p:spPr>
          <a:xfrm>
            <a:off x="2148840" y="3449483"/>
            <a:ext cx="3035808" cy="215067"/>
          </a:xfrm>
          <a:prstGeom prst="rect">
            <a:avLst/>
          </a:prstGeom>
          <a:solidFill>
            <a:srgbClr val="EDF1F2"/>
          </a:solidFill>
          <a:ln/>
        </p:spPr>
      </p:sp>
      <p:sp>
        <p:nvSpPr>
          <p:cNvPr id="27" name="Shape 25"/>
          <p:cNvSpPr/>
          <p:nvPr/>
        </p:nvSpPr>
        <p:spPr>
          <a:xfrm>
            <a:off x="2148840" y="3449483"/>
            <a:ext cx="2802284" cy="215067"/>
          </a:xfrm>
          <a:prstGeom prst="rect">
            <a:avLst/>
          </a:prstGeom>
          <a:solidFill>
            <a:srgbClr val="A8322D"/>
          </a:solidFill>
          <a:ln/>
        </p:spPr>
      </p:sp>
      <p:sp>
        <p:nvSpPr>
          <p:cNvPr id="28" name="Text 26"/>
          <p:cNvSpPr txBox="1"/>
          <p:nvPr/>
        </p:nvSpPr>
        <p:spPr>
          <a:xfrm>
            <a:off x="5257800" y="3364992"/>
            <a:ext cx="685800" cy="384048"/>
          </a:xfrm>
          <a:prstGeom prst="rect">
            <a:avLst/>
          </a:prstGeom>
          <a:noFill/>
          <a:ln/>
        </p:spPr>
        <p:txBody>
          <a:bodyPr wrap="square" lIns="0" tIns="0" rIns="0" bIns="0" rtlCol="0" anchor="ctr"/>
          <a:lstStyle/>
          <a:p>
            <a:pPr indent="0" marL="0">
              <a:buNone/>
            </a:pPr>
            <a:r>
              <a:rPr lang="en-US" sz="1000" b="1" dirty="0">
                <a:solidFill>
                  <a:srgbClr val="A8322D"/>
                </a:solidFill>
                <a:latin typeface="Calibri" pitchFamily="34" charset="0"/>
                <a:ea typeface="Calibri" pitchFamily="34" charset="-122"/>
                <a:cs typeface="Calibri" pitchFamily="34" charset="-120"/>
              </a:rPr>
              <a:t>12.00%</a:t>
            </a:r>
            <a:endParaRPr lang="en-US" sz="1000" dirty="0"/>
          </a:p>
        </p:txBody>
      </p:sp>
      <p:sp>
        <p:nvSpPr>
          <p:cNvPr id="29" name="Text 27"/>
          <p:cNvSpPr txBox="1"/>
          <p:nvPr/>
        </p:nvSpPr>
        <p:spPr>
          <a:xfrm>
            <a:off x="2167128" y="3730752"/>
            <a:ext cx="3657600" cy="0"/>
          </a:xfrm>
          <a:prstGeom prst="rect">
            <a:avLst/>
          </a:prstGeom>
          <a:noFill/>
          <a:ln/>
        </p:spPr>
        <p:txBody>
          <a:bodyPr wrap="square" lIns="0" tIns="0" rIns="0" bIns="0" rtlCol="0" anchor="ctr"/>
          <a:lstStyle/>
          <a:p>
            <a:pPr indent="0" marL="0">
              <a:buNone/>
            </a:pPr>
            <a:r>
              <a:rPr lang="en-US" sz="100" dirty="0">
                <a:solidFill>
                  <a:srgbClr val="FFFFFF"/>
                </a:solidFill>
                <a:latin typeface="Calibri" pitchFamily="34" charset="0"/>
                <a:ea typeface="Calibri" pitchFamily="34" charset="-122"/>
                <a:cs typeface="Calibri" pitchFamily="34" charset="-120"/>
              </a:rPr>
              <a:t>+75bp  ·  majority (split)</a:t>
            </a:r>
            <a:endParaRPr lang="en-US" sz="100" dirty="0"/>
          </a:p>
        </p:txBody>
      </p:sp>
      <p:sp>
        <p:nvSpPr>
          <p:cNvPr id="30" name="Text 28"/>
          <p:cNvSpPr txBox="1"/>
          <p:nvPr/>
        </p:nvSpPr>
        <p:spPr>
          <a:xfrm>
            <a:off x="566928" y="3785616"/>
            <a:ext cx="1508760" cy="384048"/>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31 Jul 2026</a:t>
            </a:r>
            <a:endParaRPr lang="en-US" sz="1000" dirty="0"/>
          </a:p>
        </p:txBody>
      </p:sp>
      <p:sp>
        <p:nvSpPr>
          <p:cNvPr id="31" name="Shape 29"/>
          <p:cNvSpPr/>
          <p:nvPr/>
        </p:nvSpPr>
        <p:spPr>
          <a:xfrm>
            <a:off x="2148840" y="3870107"/>
            <a:ext cx="3035808" cy="215067"/>
          </a:xfrm>
          <a:prstGeom prst="rect">
            <a:avLst/>
          </a:prstGeom>
          <a:solidFill>
            <a:srgbClr val="EDF1F2"/>
          </a:solidFill>
          <a:ln/>
        </p:spPr>
      </p:sp>
      <p:sp>
        <p:nvSpPr>
          <p:cNvPr id="32" name="Shape 30"/>
          <p:cNvSpPr/>
          <p:nvPr/>
        </p:nvSpPr>
        <p:spPr>
          <a:xfrm>
            <a:off x="2148840" y="3870107"/>
            <a:ext cx="2802284" cy="215067"/>
          </a:xfrm>
          <a:prstGeom prst="rect">
            <a:avLst/>
          </a:prstGeom>
          <a:solidFill>
            <a:srgbClr val="156A7A"/>
          </a:solidFill>
          <a:ln/>
        </p:spPr>
      </p:sp>
      <p:sp>
        <p:nvSpPr>
          <p:cNvPr id="33" name="Text 31"/>
          <p:cNvSpPr txBox="1"/>
          <p:nvPr/>
        </p:nvSpPr>
        <p:spPr>
          <a:xfrm>
            <a:off x="5257800" y="3785616"/>
            <a:ext cx="685800" cy="384048"/>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12.00%</a:t>
            </a:r>
            <a:endParaRPr lang="en-US" sz="1000" dirty="0"/>
          </a:p>
        </p:txBody>
      </p:sp>
      <p:sp>
        <p:nvSpPr>
          <p:cNvPr id="34" name="Text 32"/>
          <p:cNvSpPr txBox="1"/>
          <p:nvPr/>
        </p:nvSpPr>
        <p:spPr>
          <a:xfrm>
            <a:off x="2167128" y="4151376"/>
            <a:ext cx="3657600" cy="0"/>
          </a:xfrm>
          <a:prstGeom prst="rect">
            <a:avLst/>
          </a:prstGeom>
          <a:noFill/>
          <a:ln/>
        </p:spPr>
        <p:txBody>
          <a:bodyPr wrap="square" lIns="0" tIns="0" rIns="0" bIns="0" rtlCol="0" anchor="ctr"/>
          <a:lstStyle/>
          <a:p>
            <a:pPr indent="0" marL="0">
              <a:buNone/>
            </a:pPr>
            <a:r>
              <a:rPr lang="en-US" sz="100" dirty="0">
                <a:solidFill>
                  <a:srgbClr val="FFFFFF"/>
                </a:solidFill>
                <a:latin typeface="Calibri" pitchFamily="34" charset="0"/>
                <a:ea typeface="Calibri" pitchFamily="34" charset="-122"/>
                <a:cs typeface="Calibri" pitchFamily="34" charset="-120"/>
              </a:rPr>
              <a:t>hold  ·  4 hold / 3 for +50bp</a:t>
            </a:r>
            <a:endParaRPr lang="en-US" sz="100" dirty="0"/>
          </a:p>
        </p:txBody>
      </p:sp>
      <p:sp>
        <p:nvSpPr>
          <p:cNvPr id="35" name="Shape 33"/>
          <p:cNvSpPr/>
          <p:nvPr/>
        </p:nvSpPr>
        <p:spPr>
          <a:xfrm>
            <a:off x="566928" y="4242816"/>
            <a:ext cx="5303520" cy="658368"/>
          </a:xfrm>
          <a:prstGeom prst="roundRect">
            <a:avLst>
              <a:gd name="adj" fmla="val 8333"/>
            </a:avLst>
          </a:prstGeom>
          <a:solidFill>
            <a:srgbClr val="FBF3E3"/>
          </a:solidFill>
          <a:ln w="6350">
            <a:solidFill>
              <a:srgbClr val="FBF3E3"/>
            </a:solidFill>
            <a:prstDash val="solid"/>
          </a:ln>
        </p:spPr>
      </p:sp>
      <p:sp>
        <p:nvSpPr>
          <p:cNvPr id="36" name="Text 34"/>
          <p:cNvSpPr txBox="1"/>
          <p:nvPr/>
        </p:nvSpPr>
        <p:spPr>
          <a:xfrm>
            <a:off x="749808" y="4315968"/>
            <a:ext cx="4937760" cy="512064"/>
          </a:xfrm>
          <a:prstGeom prst="rect">
            <a:avLst/>
          </a:prstGeom>
          <a:noFill/>
          <a:ln/>
        </p:spPr>
        <p:txBody>
          <a:bodyPr wrap="square" lIns="0" tIns="0" rIns="0" bIns="0" rtlCol="0" anchor="ctr"/>
          <a:lstStyle/>
          <a:p>
            <a:pPr indent="0" marL="0">
              <a:buNone/>
            </a:pPr>
            <a:r>
              <a:rPr lang="en-US" sz="1100" b="1" dirty="0">
                <a:solidFill>
                  <a:srgbClr val="6B4E10"/>
                </a:solidFill>
                <a:latin typeface="Calibri" pitchFamily="34" charset="0"/>
                <a:ea typeface="Calibri" pitchFamily="34" charset="-122"/>
                <a:cs typeface="Calibri" pitchFamily="34" charset="-120"/>
              </a:rPr>
              <a:t>Real policy rate 5.97pp — among the highest in emerging markets, and the engine of the peso story</a:t>
            </a:r>
            <a:endParaRPr lang="en-US" sz="1100" dirty="0"/>
          </a:p>
        </p:txBody>
      </p:sp>
      <p:sp>
        <p:nvSpPr>
          <p:cNvPr id="37" name="Text 35"/>
          <p:cNvSpPr txBox="1"/>
          <p:nvPr/>
        </p:nvSpPr>
        <p:spPr>
          <a:xfrm>
            <a:off x="6327648" y="1353312"/>
            <a:ext cx="5303520" cy="256032"/>
          </a:xfrm>
          <a:prstGeom prst="rect">
            <a:avLst/>
          </a:prstGeom>
          <a:noFill/>
          <a:ln/>
        </p:spPr>
        <p:txBody>
          <a:bodyPr wrap="square" lIns="0" tIns="0" rIns="0" bIns="0" rtlCol="0" anchor="ctr"/>
          <a:lstStyle/>
          <a:p>
            <a:pPr indent="0" marL="0">
              <a:buNone/>
            </a:pPr>
            <a:r>
              <a:rPr lang="en-US" sz="1050" b="1" dirty="0">
                <a:solidFill>
                  <a:srgbClr val="0B3B45"/>
                </a:solidFill>
                <a:latin typeface="Calibri" pitchFamily="34" charset="0"/>
                <a:ea typeface="Calibri" pitchFamily="34" charset="-122"/>
                <a:cs typeface="Calibri" pitchFamily="34" charset="-120"/>
              </a:rPr>
              <a:t>The peso, 2026 — pesos per dollar, so a lower bar is a stronger peso</a:t>
            </a:r>
            <a:endParaRPr lang="en-US" sz="1050" dirty="0"/>
          </a:p>
        </p:txBody>
      </p:sp>
      <p:sp>
        <p:nvSpPr>
          <p:cNvPr id="38" name="Text 36"/>
          <p:cNvSpPr txBox="1"/>
          <p:nvPr/>
        </p:nvSpPr>
        <p:spPr>
          <a:xfrm>
            <a:off x="6327648" y="1682496"/>
            <a:ext cx="1508760" cy="384048"/>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1 Jan 2026</a:t>
            </a:r>
            <a:endParaRPr lang="en-US" sz="1000" dirty="0"/>
          </a:p>
        </p:txBody>
      </p:sp>
      <p:sp>
        <p:nvSpPr>
          <p:cNvPr id="39" name="Shape 37"/>
          <p:cNvSpPr/>
          <p:nvPr/>
        </p:nvSpPr>
        <p:spPr>
          <a:xfrm>
            <a:off x="7909560" y="1766987"/>
            <a:ext cx="2816352" cy="215067"/>
          </a:xfrm>
          <a:prstGeom prst="rect">
            <a:avLst/>
          </a:prstGeom>
          <a:solidFill>
            <a:srgbClr val="EDF1F2"/>
          </a:solidFill>
          <a:ln/>
        </p:spPr>
      </p:sp>
      <p:sp>
        <p:nvSpPr>
          <p:cNvPr id="40" name="Shape 38"/>
          <p:cNvSpPr/>
          <p:nvPr/>
        </p:nvSpPr>
        <p:spPr>
          <a:xfrm>
            <a:off x="7909560" y="1766987"/>
            <a:ext cx="2540883" cy="215067"/>
          </a:xfrm>
          <a:prstGeom prst="rect">
            <a:avLst/>
          </a:prstGeom>
          <a:solidFill>
            <a:srgbClr val="156A7A"/>
          </a:solidFill>
          <a:ln/>
        </p:spPr>
      </p:sp>
      <p:sp>
        <p:nvSpPr>
          <p:cNvPr id="41" name="Text 39"/>
          <p:cNvSpPr txBox="1"/>
          <p:nvPr/>
        </p:nvSpPr>
        <p:spPr>
          <a:xfrm>
            <a:off x="10799064" y="1682496"/>
            <a:ext cx="896112" cy="384048"/>
          </a:xfrm>
          <a:prstGeom prst="rect">
            <a:avLst/>
          </a:prstGeom>
          <a:noFill/>
          <a:ln/>
        </p:spPr>
        <p:txBody>
          <a:bodyPr wrap="square" lIns="0" tIns="0" rIns="0" bIns="0" rtlCol="0" anchor="ctr"/>
          <a:lstStyle/>
          <a:p>
            <a:pPr indent="0" marL="0">
              <a:buNone/>
            </a:pPr>
            <a:r>
              <a:rPr lang="en-US" sz="1000" b="1" dirty="0">
                <a:solidFill>
                  <a:srgbClr val="156A7A"/>
                </a:solidFill>
                <a:latin typeface="Calibri" pitchFamily="34" charset="0"/>
                <a:ea typeface="Calibri" pitchFamily="34" charset="-122"/>
                <a:cs typeface="Calibri" pitchFamily="34" charset="-120"/>
              </a:rPr>
              <a:t>3,757.08</a:t>
            </a:r>
            <a:endParaRPr lang="en-US" sz="1000" dirty="0"/>
          </a:p>
        </p:txBody>
      </p:sp>
      <p:sp>
        <p:nvSpPr>
          <p:cNvPr id="42" name="Text 40"/>
          <p:cNvSpPr txBox="1"/>
          <p:nvPr/>
        </p:nvSpPr>
        <p:spPr>
          <a:xfrm>
            <a:off x="6327648" y="2103120"/>
            <a:ext cx="1508760" cy="384048"/>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High, 4 Mar</a:t>
            </a:r>
            <a:endParaRPr lang="en-US" sz="1000" dirty="0"/>
          </a:p>
        </p:txBody>
      </p:sp>
      <p:sp>
        <p:nvSpPr>
          <p:cNvPr id="43" name="Shape 41"/>
          <p:cNvSpPr/>
          <p:nvPr/>
        </p:nvSpPr>
        <p:spPr>
          <a:xfrm>
            <a:off x="7909560" y="2187611"/>
            <a:ext cx="2816352" cy="215067"/>
          </a:xfrm>
          <a:prstGeom prst="rect">
            <a:avLst/>
          </a:prstGeom>
          <a:solidFill>
            <a:srgbClr val="EDF1F2"/>
          </a:solidFill>
          <a:ln/>
        </p:spPr>
      </p:sp>
      <p:sp>
        <p:nvSpPr>
          <p:cNvPr id="44" name="Shape 42"/>
          <p:cNvSpPr/>
          <p:nvPr/>
        </p:nvSpPr>
        <p:spPr>
          <a:xfrm>
            <a:off x="7909560" y="2187611"/>
            <a:ext cx="2661127" cy="215067"/>
          </a:xfrm>
          <a:prstGeom prst="rect">
            <a:avLst/>
          </a:prstGeom>
          <a:solidFill>
            <a:srgbClr val="4E93A3"/>
          </a:solidFill>
          <a:ln/>
        </p:spPr>
      </p:sp>
      <p:sp>
        <p:nvSpPr>
          <p:cNvPr id="45" name="Text 43"/>
          <p:cNvSpPr txBox="1"/>
          <p:nvPr/>
        </p:nvSpPr>
        <p:spPr>
          <a:xfrm>
            <a:off x="10799064" y="2103120"/>
            <a:ext cx="896112" cy="384048"/>
          </a:xfrm>
          <a:prstGeom prst="rect">
            <a:avLst/>
          </a:prstGeom>
          <a:noFill/>
          <a:ln/>
        </p:spPr>
        <p:txBody>
          <a:bodyPr wrap="square" lIns="0" tIns="0" rIns="0" bIns="0" rtlCol="0" anchor="ctr"/>
          <a:lstStyle/>
          <a:p>
            <a:pPr indent="0" marL="0">
              <a:buNone/>
            </a:pPr>
            <a:r>
              <a:rPr lang="en-US" sz="1000" b="1" dirty="0">
                <a:solidFill>
                  <a:srgbClr val="4E93A3"/>
                </a:solidFill>
                <a:latin typeface="Calibri" pitchFamily="34" charset="0"/>
                <a:ea typeface="Calibri" pitchFamily="34" charset="-122"/>
                <a:cs typeface="Calibri" pitchFamily="34" charset="-120"/>
              </a:rPr>
              <a:t>3,797.64</a:t>
            </a:r>
            <a:endParaRPr lang="en-US" sz="1000" dirty="0"/>
          </a:p>
        </p:txBody>
      </p:sp>
      <p:sp>
        <p:nvSpPr>
          <p:cNvPr id="46" name="Text 44"/>
          <p:cNvSpPr txBox="1"/>
          <p:nvPr/>
        </p:nvSpPr>
        <p:spPr>
          <a:xfrm>
            <a:off x="6327648" y="2523744"/>
            <a:ext cx="1508760" cy="384048"/>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Low, 20 Aug</a:t>
            </a:r>
            <a:endParaRPr lang="en-US" sz="1000" dirty="0"/>
          </a:p>
        </p:txBody>
      </p:sp>
      <p:sp>
        <p:nvSpPr>
          <p:cNvPr id="47" name="Shape 45"/>
          <p:cNvSpPr/>
          <p:nvPr/>
        </p:nvSpPr>
        <p:spPr>
          <a:xfrm>
            <a:off x="7909560" y="2608235"/>
            <a:ext cx="2816352" cy="215067"/>
          </a:xfrm>
          <a:prstGeom prst="rect">
            <a:avLst/>
          </a:prstGeom>
          <a:solidFill>
            <a:srgbClr val="EDF1F2"/>
          </a:solidFill>
          <a:ln/>
        </p:spPr>
      </p:sp>
      <p:sp>
        <p:nvSpPr>
          <p:cNvPr id="48" name="Shape 46"/>
          <p:cNvSpPr/>
          <p:nvPr/>
        </p:nvSpPr>
        <p:spPr>
          <a:xfrm>
            <a:off x="7909560" y="2608235"/>
            <a:ext cx="455004" cy="215067"/>
          </a:xfrm>
          <a:prstGeom prst="rect">
            <a:avLst/>
          </a:prstGeom>
          <a:solidFill>
            <a:srgbClr val="8A5F12"/>
          </a:solidFill>
          <a:ln/>
        </p:spPr>
      </p:sp>
      <p:sp>
        <p:nvSpPr>
          <p:cNvPr id="49" name="Text 47"/>
          <p:cNvSpPr txBox="1"/>
          <p:nvPr/>
        </p:nvSpPr>
        <p:spPr>
          <a:xfrm>
            <a:off x="10799064" y="2523744"/>
            <a:ext cx="896112" cy="384048"/>
          </a:xfrm>
          <a:prstGeom prst="rect">
            <a:avLst/>
          </a:prstGeom>
          <a:noFill/>
          <a:ln/>
        </p:spPr>
        <p:txBody>
          <a:bodyPr wrap="square" lIns="0" tIns="0" rIns="0" bIns="0" rtlCol="0" anchor="ctr"/>
          <a:lstStyle/>
          <a:p>
            <a:pPr indent="0" marL="0">
              <a:buNone/>
            </a:pPr>
            <a:r>
              <a:rPr lang="en-US" sz="1000" b="1" dirty="0">
                <a:solidFill>
                  <a:srgbClr val="8A5F12"/>
                </a:solidFill>
                <a:latin typeface="Calibri" pitchFamily="34" charset="0"/>
                <a:ea typeface="Calibri" pitchFamily="34" charset="-122"/>
                <a:cs typeface="Calibri" pitchFamily="34" charset="-120"/>
              </a:rPr>
              <a:t>3,053.48</a:t>
            </a:r>
            <a:endParaRPr lang="en-US" sz="1000" dirty="0"/>
          </a:p>
        </p:txBody>
      </p:sp>
      <p:sp>
        <p:nvSpPr>
          <p:cNvPr id="50" name="Text 48"/>
          <p:cNvSpPr txBox="1"/>
          <p:nvPr/>
        </p:nvSpPr>
        <p:spPr>
          <a:xfrm>
            <a:off x="6327648" y="2944368"/>
            <a:ext cx="1508760" cy="384048"/>
          </a:xfrm>
          <a:prstGeom prst="rect">
            <a:avLst/>
          </a:prstGeom>
          <a:noFill/>
          <a:ln/>
        </p:spPr>
        <p:txBody>
          <a:bodyPr wrap="square" lIns="0" tIns="0" rIns="0" bIns="0" rtlCol="0" anchor="ctr"/>
          <a:lstStyle/>
          <a:p>
            <a:pPr indent="0" marL="0">
              <a:buNone/>
            </a:pPr>
            <a:r>
              <a:rPr lang="en-US" sz="1000" dirty="0">
                <a:solidFill>
                  <a:srgbClr val="0B3B45"/>
                </a:solidFill>
                <a:latin typeface="Calibri" pitchFamily="34" charset="0"/>
                <a:ea typeface="Calibri" pitchFamily="34" charset="-122"/>
                <a:cs typeface="Calibri" pitchFamily="34" charset="-120"/>
              </a:rPr>
              <a:t>3 Sep 2026</a:t>
            </a:r>
            <a:endParaRPr lang="en-US" sz="1000" dirty="0"/>
          </a:p>
        </p:txBody>
      </p:sp>
      <p:sp>
        <p:nvSpPr>
          <p:cNvPr id="51" name="Shape 49"/>
          <p:cNvSpPr/>
          <p:nvPr/>
        </p:nvSpPr>
        <p:spPr>
          <a:xfrm>
            <a:off x="7909560" y="3028859"/>
            <a:ext cx="2816352" cy="215067"/>
          </a:xfrm>
          <a:prstGeom prst="rect">
            <a:avLst/>
          </a:prstGeom>
          <a:solidFill>
            <a:srgbClr val="EDF1F2"/>
          </a:solidFill>
          <a:ln/>
        </p:spPr>
      </p:sp>
      <p:sp>
        <p:nvSpPr>
          <p:cNvPr id="52" name="Shape 50"/>
          <p:cNvSpPr/>
          <p:nvPr/>
        </p:nvSpPr>
        <p:spPr>
          <a:xfrm>
            <a:off x="7909560" y="3028859"/>
            <a:ext cx="713130" cy="215067"/>
          </a:xfrm>
          <a:prstGeom prst="rect">
            <a:avLst/>
          </a:prstGeom>
          <a:solidFill>
            <a:srgbClr val="8A5F12"/>
          </a:solidFill>
          <a:ln/>
        </p:spPr>
      </p:sp>
      <p:sp>
        <p:nvSpPr>
          <p:cNvPr id="53" name="Text 51"/>
          <p:cNvSpPr txBox="1"/>
          <p:nvPr/>
        </p:nvSpPr>
        <p:spPr>
          <a:xfrm>
            <a:off x="10799064" y="2944368"/>
            <a:ext cx="896112" cy="384048"/>
          </a:xfrm>
          <a:prstGeom prst="rect">
            <a:avLst/>
          </a:prstGeom>
          <a:noFill/>
          <a:ln/>
        </p:spPr>
        <p:txBody>
          <a:bodyPr wrap="square" lIns="0" tIns="0" rIns="0" bIns="0" rtlCol="0" anchor="ctr"/>
          <a:lstStyle/>
          <a:p>
            <a:pPr indent="0" marL="0">
              <a:buNone/>
            </a:pPr>
            <a:r>
              <a:rPr lang="en-US" sz="1000" b="1" dirty="0">
                <a:solidFill>
                  <a:srgbClr val="8A5F12"/>
                </a:solidFill>
                <a:latin typeface="Calibri" pitchFamily="34" charset="0"/>
                <a:ea typeface="Calibri" pitchFamily="34" charset="-122"/>
                <a:cs typeface="Calibri" pitchFamily="34" charset="-120"/>
              </a:rPr>
              <a:t>3,140.55</a:t>
            </a:r>
            <a:endParaRPr lang="en-US" sz="1000" dirty="0"/>
          </a:p>
        </p:txBody>
      </p:sp>
      <p:sp>
        <p:nvSpPr>
          <p:cNvPr id="54" name="Shape 52"/>
          <p:cNvSpPr/>
          <p:nvPr/>
        </p:nvSpPr>
        <p:spPr>
          <a:xfrm>
            <a:off x="6327648" y="3401568"/>
            <a:ext cx="5294376" cy="658368"/>
          </a:xfrm>
          <a:prstGeom prst="roundRect">
            <a:avLst>
              <a:gd name="adj" fmla="val 8333"/>
            </a:avLst>
          </a:prstGeom>
          <a:solidFill>
            <a:srgbClr val="EDF1F2"/>
          </a:solidFill>
          <a:ln w="6350">
            <a:solidFill>
              <a:srgbClr val="EDF1F2"/>
            </a:solidFill>
            <a:prstDash val="solid"/>
          </a:ln>
        </p:spPr>
      </p:sp>
      <p:sp>
        <p:nvSpPr>
          <p:cNvPr id="55" name="Text 53"/>
          <p:cNvSpPr txBox="1"/>
          <p:nvPr/>
        </p:nvSpPr>
        <p:spPr>
          <a:xfrm>
            <a:off x="6510528" y="3474720"/>
            <a:ext cx="4928616" cy="512064"/>
          </a:xfrm>
          <a:prstGeom prst="rect">
            <a:avLst/>
          </a:prstGeom>
          <a:noFill/>
          <a:ln/>
        </p:spPr>
        <p:txBody>
          <a:bodyPr wrap="square" lIns="0" tIns="0" rIns="0" bIns="0" rtlCol="0" anchor="ctr"/>
          <a:lstStyle/>
          <a:p>
            <a:pPr indent="0" marL="0">
              <a:buNone/>
            </a:pPr>
            <a:r>
              <a:rPr lang="en-US" sz="1050" b="1" dirty="0">
                <a:solidFill>
                  <a:srgbClr val="0B3B45"/>
                </a:solidFill>
                <a:latin typeface="Calibri" pitchFamily="34" charset="0"/>
                <a:ea typeface="Calibri" pitchFamily="34" charset="-122"/>
                <a:cs typeface="Calibri" pitchFamily="34" charset="-120"/>
              </a:rPr>
              <a:t>The peso has gained 19.6% against the dollar this year (USD/COP down 16.4%) and was the strongest major emerging-market currency over the twelve months to 28 July</a:t>
            </a:r>
            <a:endParaRPr lang="en-US" sz="1050" dirty="0"/>
          </a:p>
        </p:txBody>
      </p:sp>
      <p:sp>
        <p:nvSpPr>
          <p:cNvPr id="56" name="Shape 54"/>
          <p:cNvSpPr/>
          <p:nvPr/>
        </p:nvSpPr>
        <p:spPr>
          <a:xfrm>
            <a:off x="566928" y="4956048"/>
            <a:ext cx="11057839" cy="932688"/>
          </a:xfrm>
          <a:prstGeom prst="roundRect">
            <a:avLst>
              <a:gd name="adj" fmla="val 5882"/>
            </a:avLst>
          </a:prstGeom>
          <a:solidFill>
            <a:srgbClr val="0B3B45"/>
          </a:solidFill>
          <a:ln w="6350">
            <a:solidFill>
              <a:srgbClr val="0B3B45"/>
            </a:solidFill>
            <a:prstDash val="solid"/>
          </a:ln>
        </p:spPr>
      </p:sp>
      <p:sp>
        <p:nvSpPr>
          <p:cNvPr id="57" name="Text 55"/>
          <p:cNvSpPr txBox="1"/>
          <p:nvPr/>
        </p:nvSpPr>
        <p:spPr>
          <a:xfrm>
            <a:off x="804672" y="5102352"/>
            <a:ext cx="10582351" cy="201168"/>
          </a:xfrm>
          <a:prstGeom prst="rect">
            <a:avLst/>
          </a:prstGeom>
          <a:noFill/>
          <a:ln/>
        </p:spPr>
        <p:txBody>
          <a:bodyPr wrap="square" lIns="0" tIns="0" rIns="0" bIns="0" rtlCol="0" anchor="ctr"/>
          <a:lstStyle/>
          <a:p>
            <a:pPr indent="0" marL="0">
              <a:buNone/>
            </a:pPr>
            <a:r>
              <a:rPr lang="en-US" sz="900" b="1" spc="140" kern="0" dirty="0">
                <a:solidFill>
                  <a:srgbClr val="D99A2B"/>
                </a:solidFill>
                <a:latin typeface="Calibri" pitchFamily="34" charset="0"/>
                <a:ea typeface="Calibri" pitchFamily="34" charset="-122"/>
                <a:cs typeface="Calibri" pitchFamily="34" charset="-120"/>
              </a:rPr>
              <a:t>TELL THE CLIENT THE CENTRAL BANK IS ON THE OTHER SIDE</a:t>
            </a:r>
            <a:endParaRPr lang="en-US" sz="900" dirty="0"/>
          </a:p>
        </p:txBody>
      </p:sp>
      <p:sp>
        <p:nvSpPr>
          <p:cNvPr id="58" name="Text 56"/>
          <p:cNvSpPr txBox="1"/>
          <p:nvPr/>
        </p:nvSpPr>
        <p:spPr>
          <a:xfrm>
            <a:off x="804672" y="5321808"/>
            <a:ext cx="10582351" cy="402336"/>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BanRep held at 12.00% on 31 July on a four-to-three vote, with three directors wanting another 50 basis points. Next decision 30 September. It is simultaneously running dollar purchase auctions — a second $400m auction was announced on 3 September — which is an explicit lean against further appreciation. Analysts call the rally largely exhausted. Revisit hedge ratios before the conversation, not after.</a:t>
            </a:r>
            <a:endParaRPr lang="en-US" sz="1100" dirty="0"/>
          </a:p>
        </p:txBody>
      </p:sp>
      <p:sp>
        <p:nvSpPr>
          <p:cNvPr id="59" name="Text 57"/>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60" name="Text 58"/>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42</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COLOMBIA · FISCAL</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2600" b="1" dirty="0">
                <a:solidFill>
                  <a:srgbClr val="0B3B45"/>
                </a:solidFill>
                <a:latin typeface="Cambria" pitchFamily="34" charset="0"/>
                <a:ea typeface="Cambria" pitchFamily="34" charset="-122"/>
                <a:cs typeface="Cambria" pitchFamily="34" charset="-120"/>
              </a:rPr>
              <a:t>The crux: a budget nobody believes and a rule nobody has restored</a:t>
            </a:r>
            <a:endParaRPr lang="en-US" sz="2600" dirty="0"/>
          </a:p>
        </p:txBody>
      </p:sp>
      <p:sp>
        <p:nvSpPr>
          <p:cNvPr id="4" name="Text 2"/>
          <p:cNvSpPr txBox="1"/>
          <p:nvPr/>
        </p:nvSpPr>
        <p:spPr>
          <a:xfrm>
            <a:off x="566928" y="1353312"/>
            <a:ext cx="5303520" cy="256032"/>
          </a:xfrm>
          <a:prstGeom prst="rect">
            <a:avLst/>
          </a:prstGeom>
          <a:noFill/>
          <a:ln/>
        </p:spPr>
        <p:txBody>
          <a:bodyPr wrap="square" lIns="0" tIns="0" rIns="0" bIns="0" rtlCol="0" anchor="ctr"/>
          <a:lstStyle/>
          <a:p>
            <a:pPr indent="0" marL="0">
              <a:buNone/>
            </a:pPr>
            <a:r>
              <a:rPr lang="en-US" sz="1100" b="1" dirty="0">
                <a:solidFill>
                  <a:srgbClr val="0B3B45"/>
                </a:solidFill>
                <a:latin typeface="Calibri" pitchFamily="34" charset="0"/>
                <a:ea typeface="Calibri" pitchFamily="34" charset="-122"/>
                <a:cs typeface="Calibri" pitchFamily="34" charset="-120"/>
              </a:rPr>
              <a:t>Revised 2027 budget, filed late August 2026 — COP 634.9tn</a:t>
            </a:r>
            <a:endParaRPr lang="en-US" sz="1100" dirty="0"/>
          </a:p>
        </p:txBody>
      </p:sp>
      <p:sp>
        <p:nvSpPr>
          <p:cNvPr id="5" name="Text 3"/>
          <p:cNvSpPr txBox="1"/>
          <p:nvPr/>
        </p:nvSpPr>
        <p:spPr>
          <a:xfrm>
            <a:off x="566928" y="1700784"/>
            <a:ext cx="1572768" cy="402336"/>
          </a:xfrm>
          <a:prstGeom prst="rect">
            <a:avLst/>
          </a:prstGeom>
          <a:noFill/>
          <a:ln/>
        </p:spPr>
        <p:txBody>
          <a:bodyPr wrap="square" lIns="0" tIns="0" rIns="0" bIns="0" rtlCol="0" anchor="ctr"/>
          <a:lstStyle/>
          <a:p>
            <a:pPr indent="0" marL="0">
              <a:buNone/>
            </a:pPr>
            <a:r>
              <a:rPr lang="en-US" sz="1050" dirty="0">
                <a:solidFill>
                  <a:srgbClr val="0B3B45"/>
                </a:solidFill>
                <a:latin typeface="Calibri" pitchFamily="34" charset="0"/>
                <a:ea typeface="Calibri" pitchFamily="34" charset="-122"/>
                <a:cs typeface="Calibri" pitchFamily="34" charset="-120"/>
              </a:rPr>
              <a:t>Funcionamiento</a:t>
            </a:r>
            <a:endParaRPr lang="en-US" sz="1050" dirty="0"/>
          </a:p>
        </p:txBody>
      </p:sp>
      <p:sp>
        <p:nvSpPr>
          <p:cNvPr id="6" name="Shape 4"/>
          <p:cNvSpPr/>
          <p:nvPr/>
        </p:nvSpPr>
        <p:spPr>
          <a:xfrm>
            <a:off x="2212848" y="1789298"/>
            <a:ext cx="2240280" cy="225308"/>
          </a:xfrm>
          <a:prstGeom prst="rect">
            <a:avLst/>
          </a:prstGeom>
          <a:solidFill>
            <a:srgbClr val="EDF1F2"/>
          </a:solidFill>
          <a:ln/>
        </p:spPr>
      </p:sp>
      <p:sp>
        <p:nvSpPr>
          <p:cNvPr id="7" name="Shape 5"/>
          <p:cNvSpPr/>
          <p:nvPr/>
        </p:nvSpPr>
        <p:spPr>
          <a:xfrm>
            <a:off x="2212848" y="1789298"/>
            <a:ext cx="2094128" cy="225308"/>
          </a:xfrm>
          <a:prstGeom prst="rect">
            <a:avLst/>
          </a:prstGeom>
          <a:solidFill>
            <a:srgbClr val="156A7A"/>
          </a:solidFill>
          <a:ln/>
        </p:spPr>
      </p:sp>
      <p:sp>
        <p:nvSpPr>
          <p:cNvPr id="8" name="Text 6"/>
          <p:cNvSpPr txBox="1"/>
          <p:nvPr/>
        </p:nvSpPr>
        <p:spPr>
          <a:xfrm>
            <a:off x="4526280" y="1700784"/>
            <a:ext cx="1417320" cy="402336"/>
          </a:xfrm>
          <a:prstGeom prst="rect">
            <a:avLst/>
          </a:prstGeom>
          <a:noFill/>
          <a:ln/>
        </p:spPr>
        <p:txBody>
          <a:bodyPr wrap="square" lIns="0" tIns="0" rIns="0" bIns="0" rtlCol="0" anchor="ctr"/>
          <a:lstStyle/>
          <a:p>
            <a:pPr indent="0" marL="0">
              <a:buNone/>
            </a:pPr>
            <a:r>
              <a:rPr lang="en-US" sz="1050" b="1" dirty="0">
                <a:solidFill>
                  <a:srgbClr val="156A7A"/>
                </a:solidFill>
                <a:latin typeface="Calibri" pitchFamily="34" charset="0"/>
                <a:ea typeface="Calibri" pitchFamily="34" charset="-122"/>
                <a:cs typeface="Calibri" pitchFamily="34" charset="-120"/>
              </a:rPr>
              <a:t>392.6tn  operating spend</a:t>
            </a:r>
            <a:endParaRPr lang="en-US" sz="1050" dirty="0"/>
          </a:p>
        </p:txBody>
      </p:sp>
      <p:sp>
        <p:nvSpPr>
          <p:cNvPr id="9" name="Text 7"/>
          <p:cNvSpPr txBox="1"/>
          <p:nvPr/>
        </p:nvSpPr>
        <p:spPr>
          <a:xfrm>
            <a:off x="566928" y="2194560"/>
            <a:ext cx="1572768" cy="402336"/>
          </a:xfrm>
          <a:prstGeom prst="rect">
            <a:avLst/>
          </a:prstGeom>
          <a:noFill/>
          <a:ln/>
        </p:spPr>
        <p:txBody>
          <a:bodyPr wrap="square" lIns="0" tIns="0" rIns="0" bIns="0" rtlCol="0" anchor="ctr"/>
          <a:lstStyle/>
          <a:p>
            <a:pPr indent="0" marL="0">
              <a:buNone/>
            </a:pPr>
            <a:r>
              <a:rPr lang="en-US" sz="1050" b="1" dirty="0">
                <a:solidFill>
                  <a:srgbClr val="0B3B45"/>
                </a:solidFill>
                <a:latin typeface="Calibri" pitchFamily="34" charset="0"/>
                <a:ea typeface="Calibri" pitchFamily="34" charset="-122"/>
                <a:cs typeface="Calibri" pitchFamily="34" charset="-120"/>
              </a:rPr>
              <a:t>Debt service</a:t>
            </a:r>
            <a:endParaRPr lang="en-US" sz="1050" dirty="0"/>
          </a:p>
        </p:txBody>
      </p:sp>
      <p:sp>
        <p:nvSpPr>
          <p:cNvPr id="10" name="Shape 8"/>
          <p:cNvSpPr/>
          <p:nvPr/>
        </p:nvSpPr>
        <p:spPr>
          <a:xfrm>
            <a:off x="2212848" y="2283074"/>
            <a:ext cx="2240280" cy="225308"/>
          </a:xfrm>
          <a:prstGeom prst="rect">
            <a:avLst/>
          </a:prstGeom>
          <a:solidFill>
            <a:srgbClr val="EDF1F2"/>
          </a:solidFill>
          <a:ln/>
        </p:spPr>
      </p:sp>
      <p:sp>
        <p:nvSpPr>
          <p:cNvPr id="11" name="Shape 9"/>
          <p:cNvSpPr/>
          <p:nvPr/>
        </p:nvSpPr>
        <p:spPr>
          <a:xfrm>
            <a:off x="2212848" y="2283074"/>
            <a:ext cx="828904" cy="225308"/>
          </a:xfrm>
          <a:prstGeom prst="rect">
            <a:avLst/>
          </a:prstGeom>
          <a:solidFill>
            <a:srgbClr val="A8322D"/>
          </a:solidFill>
          <a:ln/>
        </p:spPr>
      </p:sp>
      <p:sp>
        <p:nvSpPr>
          <p:cNvPr id="12" name="Text 10"/>
          <p:cNvSpPr txBox="1"/>
          <p:nvPr/>
        </p:nvSpPr>
        <p:spPr>
          <a:xfrm>
            <a:off x="4526280" y="2194560"/>
            <a:ext cx="1417320" cy="402336"/>
          </a:xfrm>
          <a:prstGeom prst="rect">
            <a:avLst/>
          </a:prstGeom>
          <a:noFill/>
          <a:ln/>
        </p:spPr>
        <p:txBody>
          <a:bodyPr wrap="square" lIns="0" tIns="0" rIns="0" bIns="0" rtlCol="0" anchor="ctr"/>
          <a:lstStyle/>
          <a:p>
            <a:pPr indent="0" marL="0">
              <a:buNone/>
            </a:pPr>
            <a:r>
              <a:rPr lang="en-US" sz="1050" b="1" dirty="0">
                <a:solidFill>
                  <a:srgbClr val="A8322D"/>
                </a:solidFill>
                <a:latin typeface="Calibri" pitchFamily="34" charset="0"/>
                <a:ea typeface="Calibri" pitchFamily="34" charset="-122"/>
                <a:cs typeface="Calibri" pitchFamily="34" charset="-120"/>
              </a:rPr>
              <a:t>155.4tn  ~25% of the budget</a:t>
            </a:r>
            <a:endParaRPr lang="en-US" sz="1050" dirty="0"/>
          </a:p>
        </p:txBody>
      </p:sp>
      <p:sp>
        <p:nvSpPr>
          <p:cNvPr id="13" name="Text 11"/>
          <p:cNvSpPr txBox="1"/>
          <p:nvPr/>
        </p:nvSpPr>
        <p:spPr>
          <a:xfrm>
            <a:off x="566928" y="2688336"/>
            <a:ext cx="1572768" cy="402336"/>
          </a:xfrm>
          <a:prstGeom prst="rect">
            <a:avLst/>
          </a:prstGeom>
          <a:noFill/>
          <a:ln/>
        </p:spPr>
        <p:txBody>
          <a:bodyPr wrap="square" lIns="0" tIns="0" rIns="0" bIns="0" rtlCol="0" anchor="ctr"/>
          <a:lstStyle/>
          <a:p>
            <a:pPr indent="0" marL="0">
              <a:buNone/>
            </a:pPr>
            <a:r>
              <a:rPr lang="en-US" sz="1050" dirty="0">
                <a:solidFill>
                  <a:srgbClr val="0B3B45"/>
                </a:solidFill>
                <a:latin typeface="Calibri" pitchFamily="34" charset="0"/>
                <a:ea typeface="Calibri" pitchFamily="34" charset="-122"/>
                <a:cs typeface="Calibri" pitchFamily="34" charset="-120"/>
              </a:rPr>
              <a:t>Inversion</a:t>
            </a:r>
            <a:endParaRPr lang="en-US" sz="1050" dirty="0"/>
          </a:p>
        </p:txBody>
      </p:sp>
      <p:sp>
        <p:nvSpPr>
          <p:cNvPr id="14" name="Shape 12"/>
          <p:cNvSpPr/>
          <p:nvPr/>
        </p:nvSpPr>
        <p:spPr>
          <a:xfrm>
            <a:off x="2212848" y="2776850"/>
            <a:ext cx="2240280" cy="225308"/>
          </a:xfrm>
          <a:prstGeom prst="rect">
            <a:avLst/>
          </a:prstGeom>
          <a:solidFill>
            <a:srgbClr val="EDF1F2"/>
          </a:solidFill>
          <a:ln/>
        </p:spPr>
      </p:sp>
      <p:sp>
        <p:nvSpPr>
          <p:cNvPr id="15" name="Shape 13"/>
          <p:cNvSpPr/>
          <p:nvPr/>
        </p:nvSpPr>
        <p:spPr>
          <a:xfrm>
            <a:off x="2212848" y="2776850"/>
            <a:ext cx="464058" cy="225308"/>
          </a:xfrm>
          <a:prstGeom prst="rect">
            <a:avLst/>
          </a:prstGeom>
          <a:solidFill>
            <a:srgbClr val="156A7A"/>
          </a:solidFill>
          <a:ln/>
        </p:spPr>
      </p:sp>
      <p:sp>
        <p:nvSpPr>
          <p:cNvPr id="16" name="Text 14"/>
          <p:cNvSpPr txBox="1"/>
          <p:nvPr/>
        </p:nvSpPr>
        <p:spPr>
          <a:xfrm>
            <a:off x="4526280" y="2688336"/>
            <a:ext cx="1417320" cy="402336"/>
          </a:xfrm>
          <a:prstGeom prst="rect">
            <a:avLst/>
          </a:prstGeom>
          <a:noFill/>
          <a:ln/>
        </p:spPr>
        <p:txBody>
          <a:bodyPr wrap="square" lIns="0" tIns="0" rIns="0" bIns="0" rtlCol="0" anchor="ctr"/>
          <a:lstStyle/>
          <a:p>
            <a:pPr indent="0" marL="0">
              <a:buNone/>
            </a:pPr>
            <a:r>
              <a:rPr lang="en-US" sz="1050" b="1" dirty="0">
                <a:solidFill>
                  <a:srgbClr val="156A7A"/>
                </a:solidFill>
                <a:latin typeface="Calibri" pitchFamily="34" charset="0"/>
                <a:ea typeface="Calibri" pitchFamily="34" charset="-122"/>
                <a:cs typeface="Calibri" pitchFamily="34" charset="-120"/>
              </a:rPr>
              <a:t>87.0tn  investment</a:t>
            </a:r>
            <a:endParaRPr lang="en-US" sz="1050" dirty="0"/>
          </a:p>
        </p:txBody>
      </p:sp>
      <p:sp>
        <p:nvSpPr>
          <p:cNvPr id="17" name="Shape 15"/>
          <p:cNvSpPr/>
          <p:nvPr/>
        </p:nvSpPr>
        <p:spPr>
          <a:xfrm>
            <a:off x="566928" y="3218688"/>
            <a:ext cx="5303520" cy="640080"/>
          </a:xfrm>
          <a:prstGeom prst="roundRect">
            <a:avLst>
              <a:gd name="adj" fmla="val 8571"/>
            </a:avLst>
          </a:prstGeom>
          <a:solidFill>
            <a:srgbClr val="F6E4E3"/>
          </a:solidFill>
          <a:ln w="6350">
            <a:solidFill>
              <a:srgbClr val="F6E4E3"/>
            </a:solidFill>
            <a:prstDash val="solid"/>
          </a:ln>
        </p:spPr>
      </p:sp>
      <p:sp>
        <p:nvSpPr>
          <p:cNvPr id="18" name="Text 16"/>
          <p:cNvSpPr txBox="1"/>
          <p:nvPr/>
        </p:nvSpPr>
        <p:spPr>
          <a:xfrm>
            <a:off x="749808" y="3291840"/>
            <a:ext cx="4937760" cy="493776"/>
          </a:xfrm>
          <a:prstGeom prst="rect">
            <a:avLst/>
          </a:prstGeom>
          <a:noFill/>
          <a:ln/>
        </p:spPr>
        <p:txBody>
          <a:bodyPr wrap="square" lIns="0" tIns="0" rIns="0" bIns="0" rtlCol="0" anchor="ctr"/>
          <a:lstStyle/>
          <a:p>
            <a:pPr indent="0" marL="0">
              <a:buNone/>
            </a:pPr>
            <a:r>
              <a:rPr lang="en-US" sz="1100" b="1" dirty="0">
                <a:solidFill>
                  <a:srgbClr val="A8322D"/>
                </a:solidFill>
                <a:latin typeface="Calibri" pitchFamily="34" charset="0"/>
                <a:ea typeface="Calibri" pitchFamily="34" charset="-122"/>
                <a:cs typeface="Calibri" pitchFamily="34" charset="-120"/>
              </a:rPr>
              <a:t>Debt service is now roughly a quarter of the entire budget, and investment falls</a:t>
            </a:r>
            <a:endParaRPr lang="en-US" sz="1100" dirty="0"/>
          </a:p>
        </p:txBody>
      </p:sp>
      <p:sp>
        <p:nvSpPr>
          <p:cNvPr id="19" name="Text 17"/>
          <p:cNvSpPr txBox="1"/>
          <p:nvPr/>
        </p:nvSpPr>
        <p:spPr>
          <a:xfrm>
            <a:off x="6327648" y="1353312"/>
            <a:ext cx="5303520" cy="256032"/>
          </a:xfrm>
          <a:prstGeom prst="rect">
            <a:avLst/>
          </a:prstGeom>
          <a:noFill/>
          <a:ln/>
        </p:spPr>
        <p:txBody>
          <a:bodyPr wrap="square" lIns="0" tIns="0" rIns="0" bIns="0" rtlCol="0" anchor="ctr"/>
          <a:lstStyle/>
          <a:p>
            <a:pPr indent="0" marL="0">
              <a:buNone/>
            </a:pPr>
            <a:r>
              <a:rPr lang="en-US" sz="1100" b="1" dirty="0">
                <a:solidFill>
                  <a:srgbClr val="0B3B45"/>
                </a:solidFill>
                <a:latin typeface="Calibri" pitchFamily="34" charset="0"/>
                <a:ea typeface="Calibri" pitchFamily="34" charset="-122"/>
                <a:cs typeface="Calibri" pitchFamily="34" charset="-120"/>
              </a:rPr>
              <a:t>What BanRep says it actually implies — Villar, 1 September 2026</a:t>
            </a:r>
            <a:endParaRPr lang="en-US" sz="1100" dirty="0"/>
          </a:p>
        </p:txBody>
      </p:sp>
      <p:graphicFrame>
        <p:nvGraphicFramePr>
          <p:cNvPr id="45" name="Table 0"/>
          <p:cNvGraphicFramePr>
            <a:graphicFrameLocks noGrp="1"/>
          </p:cNvGraphicFramePr>
          <p:nvPr>
            <p:extLst>
              <p:ext uri="{D42A27DB-BD31-4B8C-83A1-F6EECF244321}">
                <p14:modId xmlns:p14="http://schemas.microsoft.com/office/powerpoint/2010/main" val="1579011935"/>
              </p:ext>
            </p:extLst>
          </p:nvPr>
        </p:nvGraphicFramePr>
        <p:xfrm>
          <a:off x="6327648" y="1700784"/>
          <a:ext cx="5294376" cy="914400"/>
        </p:xfrm>
        <a:graphic>
          <a:graphicData uri="http://schemas.openxmlformats.org/drawingml/2006/table">
            <a:tbl>
              <a:tblPr/>
              <a:tblGrid>
                <a:gridCol w="1783080"/>
                <a:gridCol w="1572768"/>
                <a:gridCol w="1938528"/>
              </a:tblGrid>
              <a:tr h="30211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Metric</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June plan</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August revision</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319756">
                <a:tc>
                  <a:txBody>
                    <a:bodyPr/>
                    <a:lstStyle/>
                    <a:p>
                      <a:pPr indent="0" marL="0">
                        <a:buNone/>
                      </a:pPr>
                      <a:r>
                        <a:rPr lang="en-US" sz="1000" b="1" dirty="0">
                          <a:solidFill>
                            <a:srgbClr val="0B3B45"/>
                          </a:solidFill>
                          <a:latin typeface="Calibri" pitchFamily="34" charset="0"/>
                          <a:ea typeface="Calibri" pitchFamily="34" charset="-122"/>
                          <a:cs typeface="Calibri" pitchFamily="34" charset="-120"/>
                        </a:rPr>
                        <a:t>2027 total deficit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4.5% of GDP</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b="1" dirty="0">
                          <a:solidFill>
                            <a:srgbClr val="A8322D"/>
                          </a:solidFill>
                          <a:latin typeface="Calibri" pitchFamily="34" charset="0"/>
                          <a:ea typeface="Calibri" pitchFamily="34" charset="-122"/>
                          <a:cs typeface="Calibri" pitchFamily="34" charset="-120"/>
                        </a:rPr>
                        <a:t>9.4% of GDP</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19756">
                <a:tc>
                  <a:txBody>
                    <a:bodyPr/>
                    <a:lstStyle/>
                    <a:p>
                      <a:pPr indent="0" marL="0">
                        <a:buNone/>
                      </a:pPr>
                      <a:r>
                        <a:rPr lang="en-US" sz="1000" b="1" dirty="0">
                          <a:solidFill>
                            <a:srgbClr val="0B3B45"/>
                          </a:solidFill>
                          <a:latin typeface="Calibri" pitchFamily="34" charset="0"/>
                          <a:ea typeface="Calibri" pitchFamily="34" charset="-122"/>
                          <a:cs typeface="Calibri" pitchFamily="34" charset="-120"/>
                        </a:rPr>
                        <a:t>Net debt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58.9% of GDP</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b="1" dirty="0">
                          <a:solidFill>
                            <a:srgbClr val="A8322D"/>
                          </a:solidFill>
                          <a:latin typeface="Calibri" pitchFamily="34" charset="0"/>
                          <a:ea typeface="Calibri" pitchFamily="34" charset="-122"/>
                          <a:cs typeface="Calibri" pitchFamily="34" charset="-120"/>
                        </a:rPr>
                        <a:t>66.2% of GDP</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19756">
                <a:tc>
                  <a:txBody>
                    <a:bodyPr/>
                    <a:lstStyle/>
                    <a:p>
                      <a:pPr indent="0" marL="0">
                        <a:buNone/>
                      </a:pPr>
                      <a:r>
                        <a:rPr lang="en-US" sz="1000" b="1" dirty="0">
                          <a:solidFill>
                            <a:srgbClr val="0B3B45"/>
                          </a:solidFill>
                          <a:latin typeface="Calibri" pitchFamily="34" charset="0"/>
                          <a:ea typeface="Calibri" pitchFamily="34" charset="-122"/>
                          <a:cs typeface="Calibri" pitchFamily="34" charset="-120"/>
                        </a:rPr>
                        <a:t>Financing needs</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COP 187tn</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1000" b="1" dirty="0">
                          <a:solidFill>
                            <a:srgbClr val="A8322D"/>
                          </a:solidFill>
                          <a:latin typeface="Calibri" pitchFamily="34" charset="0"/>
                          <a:ea typeface="Calibri" pitchFamily="34" charset="-122"/>
                          <a:cs typeface="Calibri" pitchFamily="34" charset="-120"/>
                        </a:rPr>
                        <a:t>COP 287tn</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319756">
                <a:tc>
                  <a:txBody>
                    <a:bodyPr/>
                    <a:lstStyle/>
                    <a:p>
                      <a:pPr indent="0" marL="0">
                        <a:buNone/>
                      </a:pPr>
                      <a:r>
                        <a:rPr lang="en-US" sz="1000" b="1" dirty="0">
                          <a:solidFill>
                            <a:srgbClr val="0B3B45"/>
                          </a:solidFill>
                          <a:latin typeface="Calibri" pitchFamily="34" charset="0"/>
                          <a:ea typeface="Calibri" pitchFamily="34" charset="-122"/>
                          <a:cs typeface="Calibri" pitchFamily="34" charset="-120"/>
                        </a:rPr>
                        <a:t>Primary deficit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dirty="0">
                          <a:solidFill>
                            <a:srgbClr val="0B3B45"/>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1000" b="1" dirty="0">
                          <a:solidFill>
                            <a:srgbClr val="A8322D"/>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bl>
          </a:graphicData>
        </a:graphic>
      </p:graphicFrame>
      <p:sp>
        <p:nvSpPr>
          <p:cNvPr id="21" name="Shape 18"/>
          <p:cNvSpPr/>
          <p:nvPr/>
        </p:nvSpPr>
        <p:spPr>
          <a:xfrm>
            <a:off x="6327648" y="3428228"/>
            <a:ext cx="5294376" cy="1170432"/>
          </a:xfrm>
          <a:prstGeom prst="roundRect">
            <a:avLst>
              <a:gd name="adj" fmla="val 4688"/>
            </a:avLst>
          </a:prstGeom>
          <a:solidFill>
            <a:srgbClr val="EDF1F2"/>
          </a:solidFill>
          <a:ln w="6350">
            <a:solidFill>
              <a:srgbClr val="EDF1F2"/>
            </a:solidFill>
            <a:prstDash val="solid"/>
          </a:ln>
        </p:spPr>
      </p:sp>
      <p:sp>
        <p:nvSpPr>
          <p:cNvPr id="22" name="Text 19"/>
          <p:cNvSpPr txBox="1"/>
          <p:nvPr/>
        </p:nvSpPr>
        <p:spPr>
          <a:xfrm>
            <a:off x="6528816" y="3537956"/>
            <a:ext cx="4892040" cy="950976"/>
          </a:xfrm>
          <a:prstGeom prst="rect">
            <a:avLst/>
          </a:prstGeom>
          <a:noFill/>
          <a:ln/>
        </p:spPr>
        <p:txBody>
          <a:bodyPr wrap="square" lIns="0" tIns="0" rIns="0" bIns="0" rtlCol="0" anchor="t"/>
          <a:lstStyle/>
          <a:p>
            <a:pPr indent="0" marL="0">
              <a:lnSpc>
                <a:spcPct val="116000"/>
              </a:lnSpc>
              <a:buNone/>
            </a:pPr>
            <a:r>
              <a:rPr lang="en-US" sz="1000" dirty="0">
                <a:solidFill>
                  <a:srgbClr val="0B3B45"/>
                </a:solidFill>
                <a:latin typeface="Calibri" pitchFamily="34" charset="0"/>
                <a:ea typeface="Calibri" pitchFamily="34" charset="-122"/>
                <a:cs typeface="Calibri" pitchFamily="34" charset="-120"/>
              </a:rPr>
              <a:t>The escape clause was activated on 9 June 2025 for up to three years — covering 2025 to 2027 — over the CARF's formal objection. The new government has not announced re-activation. CARF puts net debt at 61% of GDP in 2026, the highest in history, and calls for an adjustment of 3.7% of GDP in 2027 rising to 6.1% by 2030.</a:t>
            </a:r>
            <a:endParaRPr lang="en-US" sz="1000" dirty="0"/>
          </a:p>
        </p:txBody>
      </p:sp>
      <p:sp>
        <p:nvSpPr>
          <p:cNvPr id="23" name="Shape 20"/>
          <p:cNvSpPr/>
          <p:nvPr/>
        </p:nvSpPr>
        <p:spPr>
          <a:xfrm>
            <a:off x="566928" y="5138928"/>
            <a:ext cx="11057839" cy="786384"/>
          </a:xfrm>
          <a:prstGeom prst="roundRect">
            <a:avLst>
              <a:gd name="adj" fmla="val 6977"/>
            </a:avLst>
          </a:prstGeom>
          <a:solidFill>
            <a:srgbClr val="0B3B45"/>
          </a:solidFill>
          <a:ln w="6350">
            <a:solidFill>
              <a:srgbClr val="0B3B45"/>
            </a:solidFill>
            <a:prstDash val="solid"/>
          </a:ln>
        </p:spPr>
      </p:sp>
      <p:sp>
        <p:nvSpPr>
          <p:cNvPr id="24" name="Text 21"/>
          <p:cNvSpPr txBox="1"/>
          <p:nvPr/>
        </p:nvSpPr>
        <p:spPr>
          <a:xfrm>
            <a:off x="804672" y="5303520"/>
            <a:ext cx="10582351" cy="438912"/>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Calibri" pitchFamily="34" charset="0"/>
                <a:ea typeface="Calibri" pitchFamily="34" charset="-122"/>
                <a:cs typeface="Calibri" pitchFamily="34" charset="-120"/>
              </a:rPr>
              <a:t>Country risk rose to 142 basis points on 1 September specifically on the budget filing. Committees must fix the amount by 15 September and approve by 20 October. BTG Pactual titled its note on the June fiscal plan "magical realism at its finest" — the market's scepticism predates this government.</a:t>
            </a:r>
            <a:endParaRPr lang="en-US" sz="1100" dirty="0"/>
          </a:p>
        </p:txBody>
      </p:sp>
      <p:sp>
        <p:nvSpPr>
          <p:cNvPr id="25" name="Text 22"/>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26" name="Text 23"/>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43</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D99A2B"/>
                </a:solidFill>
                <a:latin typeface="Calibri" pitchFamily="34" charset="0"/>
                <a:ea typeface="Calibri" pitchFamily="34" charset="-122"/>
                <a:cs typeface="Calibri" pitchFamily="34" charset="-120"/>
              </a:rPr>
              <a:t>COLOMBIA · AND WHY THAT IS THE CONVERSATION</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The wealth tax nobody can currently plan around</a:t>
            </a:r>
            <a:endParaRPr lang="en-US" sz="3000" dirty="0"/>
          </a:p>
        </p:txBody>
      </p:sp>
      <p:sp>
        <p:nvSpPr>
          <p:cNvPr id="4" name="Shape 2"/>
          <p:cNvSpPr/>
          <p:nvPr/>
        </p:nvSpPr>
        <p:spPr>
          <a:xfrm>
            <a:off x="566928" y="1335024"/>
            <a:ext cx="11057839" cy="1060704"/>
          </a:xfrm>
          <a:prstGeom prst="roundRect">
            <a:avLst>
              <a:gd name="adj" fmla="val 5172"/>
            </a:avLst>
          </a:prstGeom>
          <a:solidFill>
            <a:srgbClr val="10474F"/>
          </a:solidFill>
          <a:ln w="12700">
            <a:solidFill>
              <a:srgbClr val="1C5C66"/>
            </a:solidFill>
            <a:prstDash val="solid"/>
          </a:ln>
        </p:spPr>
      </p:sp>
      <p:sp>
        <p:nvSpPr>
          <p:cNvPr id="5" name="Text 3"/>
          <p:cNvSpPr txBox="1"/>
          <p:nvPr/>
        </p:nvSpPr>
        <p:spPr>
          <a:xfrm>
            <a:off x="804672" y="1481328"/>
            <a:ext cx="2377440" cy="219456"/>
          </a:xfrm>
          <a:prstGeom prst="rect">
            <a:avLst/>
          </a:prstGeom>
          <a:noFill/>
          <a:ln/>
        </p:spPr>
        <p:txBody>
          <a:bodyPr wrap="square" lIns="0" tIns="0" rIns="0" bIns="0" rtlCol="0" anchor="ctr"/>
          <a:lstStyle/>
          <a:p>
            <a:pPr indent="0" marL="0">
              <a:buNone/>
            </a:pPr>
            <a:r>
              <a:rPr lang="en-US" sz="900" b="1" spc="130" kern="0" dirty="0">
                <a:solidFill>
                  <a:srgbClr val="4E93A3"/>
                </a:solidFill>
                <a:latin typeface="Calibri" pitchFamily="34" charset="0"/>
                <a:ea typeface="Calibri" pitchFamily="34" charset="-122"/>
                <a:cs typeface="Calibri" pitchFamily="34" charset="-120"/>
              </a:rPr>
              <a:t>OPERATIVE LAW</a:t>
            </a:r>
            <a:endParaRPr lang="en-US" sz="900" dirty="0"/>
          </a:p>
        </p:txBody>
      </p:sp>
      <p:sp>
        <p:nvSpPr>
          <p:cNvPr id="6" name="Text 4"/>
          <p:cNvSpPr txBox="1"/>
          <p:nvPr/>
        </p:nvSpPr>
        <p:spPr>
          <a:xfrm>
            <a:off x="804672" y="1719072"/>
            <a:ext cx="265176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Ley 2277 de 2022</a:t>
            </a:r>
            <a:endParaRPr lang="en-US" sz="1600" dirty="0"/>
          </a:p>
        </p:txBody>
      </p:sp>
      <p:sp>
        <p:nvSpPr>
          <p:cNvPr id="7" name="Text 5"/>
          <p:cNvSpPr txBox="1"/>
          <p:nvPr/>
        </p:nvSpPr>
        <p:spPr>
          <a:xfrm>
            <a:off x="3639312" y="1499616"/>
            <a:ext cx="7680960" cy="786384"/>
          </a:xfrm>
          <a:prstGeom prst="rect">
            <a:avLst/>
          </a:prstGeom>
          <a:noFill/>
          <a:ln/>
        </p:spPr>
        <p:txBody>
          <a:bodyPr wrap="square" lIns="0" tIns="0" rIns="0" bIns="0" rtlCol="0" anchor="ctr"/>
          <a:lstStyle/>
          <a:p>
            <a:pPr indent="0" marL="0">
              <a:lnSpc>
                <a:spcPct val="114000"/>
              </a:lnSpc>
              <a:buNone/>
            </a:pPr>
            <a:r>
              <a:rPr lang="en-US" sz="1100" dirty="0">
                <a:solidFill>
                  <a:srgbClr val="BCD2D7"/>
                </a:solidFill>
                <a:latin typeface="Calibri" pitchFamily="34" charset="0"/>
                <a:ea typeface="Calibri" pitchFamily="34" charset="-122"/>
                <a:cs typeface="Calibri" pitchFamily="34" charset="-120"/>
              </a:rPr>
              <a:t>0.5% to 1.5% on net wealth above 72,000 UVT — roughly COP 3.77bn, about $1.2m at 3,140. The 1.5% top band is scheduled to lapse after the 2026 year of assessment absent new legislation.</a:t>
            </a:r>
            <a:endParaRPr lang="en-US" sz="1100" dirty="0"/>
          </a:p>
        </p:txBody>
      </p:sp>
      <p:sp>
        <p:nvSpPr>
          <p:cNvPr id="8" name="Shape 6"/>
          <p:cNvSpPr/>
          <p:nvPr/>
        </p:nvSpPr>
        <p:spPr>
          <a:xfrm>
            <a:off x="566928" y="2505456"/>
            <a:ext cx="11057839" cy="1060704"/>
          </a:xfrm>
          <a:prstGeom prst="roundRect">
            <a:avLst>
              <a:gd name="adj" fmla="val 5172"/>
            </a:avLst>
          </a:prstGeom>
          <a:solidFill>
            <a:srgbClr val="10474F"/>
          </a:solidFill>
          <a:ln w="12700">
            <a:solidFill>
              <a:srgbClr val="1C5C66"/>
            </a:solidFill>
            <a:prstDash val="solid"/>
          </a:ln>
        </p:spPr>
      </p:sp>
      <p:sp>
        <p:nvSpPr>
          <p:cNvPr id="9" name="Text 7"/>
          <p:cNvSpPr txBox="1"/>
          <p:nvPr/>
        </p:nvSpPr>
        <p:spPr>
          <a:xfrm>
            <a:off x="804672" y="2651760"/>
            <a:ext cx="2377440" cy="219456"/>
          </a:xfrm>
          <a:prstGeom prst="rect">
            <a:avLst/>
          </a:prstGeom>
          <a:noFill/>
          <a:ln/>
        </p:spPr>
        <p:txBody>
          <a:bodyPr wrap="square" lIns="0" tIns="0" rIns="0" bIns="0" rtlCol="0" anchor="ctr"/>
          <a:lstStyle/>
          <a:p>
            <a:pPr indent="0" marL="0">
              <a:buNone/>
            </a:pPr>
            <a:r>
              <a:rPr lang="en-US" sz="900" b="1" spc="130" kern="0" dirty="0">
                <a:solidFill>
                  <a:srgbClr val="D99A2B"/>
                </a:solidFill>
                <a:latin typeface="Calibri" pitchFamily="34" charset="0"/>
                <a:ea typeface="Calibri" pitchFamily="34" charset="-122"/>
                <a:cs typeface="Calibri" pitchFamily="34" charset="-120"/>
              </a:rPr>
              <a:t>UNDER COURT REVIEW</a:t>
            </a:r>
            <a:endParaRPr lang="en-US" sz="900" dirty="0"/>
          </a:p>
        </p:txBody>
      </p:sp>
      <p:sp>
        <p:nvSpPr>
          <p:cNvPr id="10" name="Text 8"/>
          <p:cNvSpPr txBox="1"/>
          <p:nvPr/>
        </p:nvSpPr>
        <p:spPr>
          <a:xfrm>
            <a:off x="804672" y="2889504"/>
            <a:ext cx="265176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Decreto 1474 de 2026</a:t>
            </a:r>
            <a:endParaRPr lang="en-US" sz="1600" dirty="0"/>
          </a:p>
        </p:txBody>
      </p:sp>
      <p:sp>
        <p:nvSpPr>
          <p:cNvPr id="11" name="Text 9"/>
          <p:cNvSpPr txBox="1"/>
          <p:nvPr/>
        </p:nvSpPr>
        <p:spPr>
          <a:xfrm>
            <a:off x="3639312" y="2670048"/>
            <a:ext cx="7680960" cy="786384"/>
          </a:xfrm>
          <a:prstGeom prst="rect">
            <a:avLst/>
          </a:prstGeom>
          <a:noFill/>
          <a:ln/>
        </p:spPr>
        <p:txBody>
          <a:bodyPr wrap="square" lIns="0" tIns="0" rIns="0" bIns="0" rtlCol="0" anchor="ctr"/>
          <a:lstStyle/>
          <a:p>
            <a:pPr indent="0" marL="0">
              <a:lnSpc>
                <a:spcPct val="114000"/>
              </a:lnSpc>
              <a:buNone/>
            </a:pPr>
            <a:r>
              <a:rPr lang="en-US" sz="1100" dirty="0">
                <a:solidFill>
                  <a:srgbClr val="BCD2D7"/>
                </a:solidFill>
                <a:latin typeface="Calibri" pitchFamily="34" charset="0"/>
                <a:ea typeface="Calibri" pitchFamily="34" charset="-122"/>
                <a:cs typeface="Calibri" pitchFamily="34" charset="-120"/>
              </a:rPr>
              <a:t>Issued under a declared economic emergency in January 2026. Would cut the threshold to 40,000 UVT and raise the top rate to 5%. It is before the Constitutional Court.</a:t>
            </a:r>
            <a:endParaRPr lang="en-US" sz="1100" dirty="0"/>
          </a:p>
        </p:txBody>
      </p:sp>
      <p:sp>
        <p:nvSpPr>
          <p:cNvPr id="12" name="Shape 10"/>
          <p:cNvSpPr/>
          <p:nvPr/>
        </p:nvSpPr>
        <p:spPr>
          <a:xfrm>
            <a:off x="566928" y="3675888"/>
            <a:ext cx="11057839" cy="1060704"/>
          </a:xfrm>
          <a:prstGeom prst="roundRect">
            <a:avLst>
              <a:gd name="adj" fmla="val 5172"/>
            </a:avLst>
          </a:prstGeom>
          <a:solidFill>
            <a:srgbClr val="10474F"/>
          </a:solidFill>
          <a:ln w="12700">
            <a:solidFill>
              <a:srgbClr val="1C5C66"/>
            </a:solidFill>
            <a:prstDash val="solid"/>
          </a:ln>
        </p:spPr>
      </p:sp>
      <p:sp>
        <p:nvSpPr>
          <p:cNvPr id="13" name="Text 11"/>
          <p:cNvSpPr txBox="1"/>
          <p:nvPr/>
        </p:nvSpPr>
        <p:spPr>
          <a:xfrm>
            <a:off x="804672" y="3822192"/>
            <a:ext cx="2377440" cy="219456"/>
          </a:xfrm>
          <a:prstGeom prst="rect">
            <a:avLst/>
          </a:prstGeom>
          <a:noFill/>
          <a:ln/>
        </p:spPr>
        <p:txBody>
          <a:bodyPr wrap="square" lIns="0" tIns="0" rIns="0" bIns="0" rtlCol="0" anchor="ctr"/>
          <a:lstStyle/>
          <a:p>
            <a:pPr indent="0" marL="0">
              <a:buNone/>
            </a:pPr>
            <a:r>
              <a:rPr lang="en-US" sz="900" b="1" spc="130" kern="0" dirty="0">
                <a:solidFill>
                  <a:srgbClr val="9FB8BE"/>
                </a:solidFill>
                <a:latin typeface="Calibri" pitchFamily="34" charset="0"/>
                <a:ea typeface="Calibri" pitchFamily="34" charset="-122"/>
                <a:cs typeface="Calibri" pitchFamily="34" charset="-120"/>
              </a:rPr>
              <a:t>PROMISED, UNFILED</a:t>
            </a:r>
            <a:endParaRPr lang="en-US" sz="900" dirty="0"/>
          </a:p>
        </p:txBody>
      </p:sp>
      <p:sp>
        <p:nvSpPr>
          <p:cNvPr id="14" name="Text 12"/>
          <p:cNvSpPr txBox="1"/>
          <p:nvPr/>
        </p:nvSpPr>
        <p:spPr>
          <a:xfrm>
            <a:off x="804672" y="4059936"/>
            <a:ext cx="2651760" cy="310896"/>
          </a:xfrm>
          <a:prstGeom prst="rect">
            <a:avLst/>
          </a:prstGeom>
          <a:noFill/>
          <a:ln/>
        </p:spPr>
        <p:txBody>
          <a:bodyPr wrap="square" lIns="0" tIns="0" rIns="0" bIns="0" rtlCol="0" anchor="ctr"/>
          <a:lstStyle/>
          <a:p>
            <a:pPr indent="0" marL="0">
              <a:buNone/>
            </a:pPr>
            <a:r>
              <a:rPr lang="en-US" sz="1600" b="1" dirty="0">
                <a:solidFill>
                  <a:srgbClr val="FFFFFF"/>
                </a:solidFill>
                <a:latin typeface="Cambria" pitchFamily="34" charset="0"/>
                <a:ea typeface="Cambria" pitchFamily="34" charset="-122"/>
                <a:cs typeface="Cambria" pitchFamily="34" charset="-120"/>
              </a:rPr>
              <a:t>Abolition</a:t>
            </a:r>
            <a:endParaRPr lang="en-US" sz="1600" dirty="0"/>
          </a:p>
        </p:txBody>
      </p:sp>
      <p:sp>
        <p:nvSpPr>
          <p:cNvPr id="15" name="Text 13"/>
          <p:cNvSpPr txBox="1"/>
          <p:nvPr/>
        </p:nvSpPr>
        <p:spPr>
          <a:xfrm>
            <a:off x="3639312" y="3840480"/>
            <a:ext cx="7680960" cy="786384"/>
          </a:xfrm>
          <a:prstGeom prst="rect">
            <a:avLst/>
          </a:prstGeom>
          <a:noFill/>
          <a:ln/>
        </p:spPr>
        <p:txBody>
          <a:bodyPr wrap="square" lIns="0" tIns="0" rIns="0" bIns="0" rtlCol="0" anchor="ctr"/>
          <a:lstStyle/>
          <a:p>
            <a:pPr indent="0" marL="0">
              <a:lnSpc>
                <a:spcPct val="114000"/>
              </a:lnSpc>
              <a:buNone/>
            </a:pPr>
            <a:r>
              <a:rPr lang="en-US" sz="1100" dirty="0">
                <a:solidFill>
                  <a:srgbClr val="BCD2D7"/>
                </a:solidFill>
                <a:latin typeface="Calibri" pitchFamily="34" charset="0"/>
                <a:ea typeface="Calibri" pitchFamily="34" charset="-122"/>
                <a:cs typeface="Calibri" pitchFamily="34" charset="-120"/>
              </a:rPr>
              <a:t>Pledged flatly in the inaugural address of 7 August 2026. No bill had been filed as at the date of this pack.</a:t>
            </a:r>
            <a:endParaRPr lang="en-US" sz="1100" dirty="0"/>
          </a:p>
        </p:txBody>
      </p:sp>
      <p:sp>
        <p:nvSpPr>
          <p:cNvPr id="16" name="Shape 14"/>
          <p:cNvSpPr/>
          <p:nvPr/>
        </p:nvSpPr>
        <p:spPr>
          <a:xfrm>
            <a:off x="566928" y="4901184"/>
            <a:ext cx="5358384" cy="1225296"/>
          </a:xfrm>
          <a:prstGeom prst="roundRect">
            <a:avLst>
              <a:gd name="adj" fmla="val 4478"/>
            </a:avLst>
          </a:prstGeom>
          <a:solidFill>
            <a:srgbClr val="D99A2B"/>
          </a:solidFill>
          <a:ln w="6350">
            <a:solidFill>
              <a:srgbClr val="D99A2B"/>
            </a:solidFill>
            <a:prstDash val="solid"/>
          </a:ln>
        </p:spPr>
      </p:sp>
      <p:sp>
        <p:nvSpPr>
          <p:cNvPr id="17" name="Text 15"/>
          <p:cNvSpPr txBox="1"/>
          <p:nvPr/>
        </p:nvSpPr>
        <p:spPr>
          <a:xfrm>
            <a:off x="804672" y="5047488"/>
            <a:ext cx="4882896" cy="201168"/>
          </a:xfrm>
          <a:prstGeom prst="rect">
            <a:avLst/>
          </a:prstGeom>
          <a:noFill/>
          <a:ln/>
        </p:spPr>
        <p:txBody>
          <a:bodyPr wrap="square" lIns="0" tIns="0" rIns="0" bIns="0" rtlCol="0" anchor="ctr"/>
          <a:lstStyle/>
          <a:p>
            <a:pPr indent="0" marL="0">
              <a:buNone/>
            </a:pPr>
            <a:r>
              <a:rPr lang="en-US" sz="900" b="1" spc="140" kern="0" dirty="0">
                <a:solidFill>
                  <a:srgbClr val="5A4210"/>
                </a:solidFill>
                <a:latin typeface="Calibri" pitchFamily="34" charset="0"/>
                <a:ea typeface="Calibri" pitchFamily="34" charset="-122"/>
                <a:cs typeface="Calibri" pitchFamily="34" charset="-120"/>
              </a:rPr>
              <a:t>THE REVENUE ARGUMENT WRITES ITSELF</a:t>
            </a:r>
            <a:endParaRPr lang="en-US" sz="900" dirty="0"/>
          </a:p>
        </p:txBody>
      </p:sp>
      <p:sp>
        <p:nvSpPr>
          <p:cNvPr id="18" name="Text 16"/>
          <p:cNvSpPr txBox="1"/>
          <p:nvPr/>
        </p:nvSpPr>
        <p:spPr>
          <a:xfrm>
            <a:off x="804672" y="5266944"/>
            <a:ext cx="4882896" cy="694944"/>
          </a:xfrm>
          <a:prstGeom prst="rect">
            <a:avLst/>
          </a:prstGeom>
          <a:noFill/>
          <a:ln/>
        </p:spPr>
        <p:txBody>
          <a:bodyPr wrap="square" lIns="0" tIns="0" rIns="0" bIns="0" rtlCol="0" anchor="t"/>
          <a:lstStyle/>
          <a:p>
            <a:pPr indent="0" marL="0">
              <a:lnSpc>
                <a:spcPct val="115000"/>
              </a:lnSpc>
              <a:buNone/>
            </a:pPr>
            <a:r>
              <a:rPr lang="en-US" sz="1050" dirty="0">
                <a:solidFill>
                  <a:srgbClr val="2A1D05"/>
                </a:solidFill>
                <a:latin typeface="Calibri" pitchFamily="34" charset="0"/>
                <a:ea typeface="Calibri" pitchFamily="34" charset="-122"/>
                <a:cs typeface="Calibri" pitchFamily="34" charset="-120"/>
              </a:rPr>
              <a:t>The wealth and riqueza taxes have raised roughly COP 49tn cumulatively since 2006. First-half 2026 collections were COP 776bn against a COP 1.37tn full-year target — under 0.1% of GDP. It costs a great deal of political capital to collect very little.</a:t>
            </a:r>
            <a:endParaRPr lang="en-US" sz="1050" dirty="0"/>
          </a:p>
        </p:txBody>
      </p:sp>
      <p:sp>
        <p:nvSpPr>
          <p:cNvPr id="19" name="Shape 17"/>
          <p:cNvSpPr/>
          <p:nvPr/>
        </p:nvSpPr>
        <p:spPr>
          <a:xfrm>
            <a:off x="6272784" y="4901184"/>
            <a:ext cx="5358384" cy="1225296"/>
          </a:xfrm>
          <a:prstGeom prst="roundRect">
            <a:avLst>
              <a:gd name="adj" fmla="val 4478"/>
            </a:avLst>
          </a:prstGeom>
          <a:solidFill>
            <a:srgbClr val="10474F"/>
          </a:solidFill>
          <a:ln w="6350">
            <a:solidFill>
              <a:srgbClr val="10474F"/>
            </a:solidFill>
            <a:prstDash val="solid"/>
          </a:ln>
        </p:spPr>
      </p:sp>
      <p:sp>
        <p:nvSpPr>
          <p:cNvPr id="20" name="Text 18"/>
          <p:cNvSpPr txBox="1"/>
          <p:nvPr/>
        </p:nvSpPr>
        <p:spPr>
          <a:xfrm>
            <a:off x="6510528" y="5047488"/>
            <a:ext cx="4882896" cy="201168"/>
          </a:xfrm>
          <a:prstGeom prst="rect">
            <a:avLst/>
          </a:prstGeom>
          <a:noFill/>
          <a:ln/>
        </p:spPr>
        <p:txBody>
          <a:bodyPr wrap="square" lIns="0" tIns="0" rIns="0" bIns="0" rtlCol="0" anchor="ctr"/>
          <a:lstStyle/>
          <a:p>
            <a:pPr indent="0" marL="0">
              <a:buNone/>
            </a:pPr>
            <a:r>
              <a:rPr lang="en-US" sz="900" b="1" spc="140" kern="0" dirty="0">
                <a:solidFill>
                  <a:srgbClr val="4E93A3"/>
                </a:solidFill>
                <a:latin typeface="Calibri" pitchFamily="34" charset="0"/>
                <a:ea typeface="Calibri" pitchFamily="34" charset="-122"/>
                <a:cs typeface="Calibri" pitchFamily="34" charset="-120"/>
              </a:rPr>
              <a:t>WHAT TO SAY</a:t>
            </a:r>
            <a:endParaRPr lang="en-US" sz="900" dirty="0"/>
          </a:p>
        </p:txBody>
      </p:sp>
      <p:sp>
        <p:nvSpPr>
          <p:cNvPr id="21" name="Text 19"/>
          <p:cNvSpPr txBox="1"/>
          <p:nvPr/>
        </p:nvSpPr>
        <p:spPr>
          <a:xfrm>
            <a:off x="6510528" y="5266944"/>
            <a:ext cx="4882896" cy="694944"/>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Calibri" pitchFamily="34" charset="0"/>
                <a:ea typeface="Calibri" pitchFamily="34" charset="-122"/>
                <a:cs typeface="Calibri" pitchFamily="34" charset="-120"/>
              </a:rPr>
              <a:t>Colombian wealth-tax planning cannot be closed out until the Court rules. That is not a hedge — it is the accurate answer, and no competitor can give a better one. The client who hears it from you first is the client who calls you when the ruling lands.</a:t>
            </a:r>
            <a:endParaRPr lang="en-US" sz="1050" dirty="0"/>
          </a:p>
        </p:txBody>
      </p:sp>
      <p:sp>
        <p:nvSpPr>
          <p:cNvPr id="22" name="Text 20"/>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E8B92"/>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23" name="Text 21"/>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E8B92"/>
                </a:solidFill>
                <a:latin typeface="Calibri" pitchFamily="34" charset="0"/>
                <a:ea typeface="Calibri" pitchFamily="34" charset="-122"/>
                <a:cs typeface="Calibri" pitchFamily="34" charset="-120"/>
              </a:rPr>
              <a:t>44</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COLOMBIA · THE PRACTICAL CORE OF THE ANNEX</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2500" b="1" dirty="0">
                <a:solidFill>
                  <a:srgbClr val="0B3B45"/>
                </a:solidFill>
                <a:latin typeface="Cambria" pitchFamily="34" charset="0"/>
                <a:ea typeface="Cambria" pitchFamily="34" charset="-122"/>
                <a:cs typeface="Cambria" pitchFamily="34" charset="-120"/>
              </a:rPr>
              <a:t>What a Colombian resident must legally do to hold a foreign account</a:t>
            </a:r>
            <a:endParaRPr lang="en-US" sz="25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2103120"/>
                <a:gridCol w="2880360"/>
                <a:gridCol w="6071616"/>
              </a:tblGrid>
              <a:tr h="302118">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Obligation</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Instrument</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900" b="1" dirty="0">
                          <a:solidFill>
                            <a:srgbClr val="FFFFFF"/>
                          </a:solidFill>
                          <a:latin typeface="Calibri" pitchFamily="34" charset="0"/>
                          <a:ea typeface="Calibri" pitchFamily="34" charset="-122"/>
                          <a:cs typeface="Calibri" pitchFamily="34" charset="-120"/>
                        </a:rPr>
                        <a:t>What it means in practice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460858">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Exchange-control regime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Resolución Externa 1 de 2018; Circular DCIP-83 (amended 25 Aug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35545C"/>
                          </a:solidFill>
                          <a:latin typeface="Calibri" pitchFamily="34" charset="0"/>
                          <a:ea typeface="Calibri" pitchFamily="34" charset="-122"/>
                          <a:cs typeface="Calibri" pitchFamily="34" charset="-120"/>
                        </a:rPr>
                        <a:t>Colombia does not restrict capital movement - it channels and registers it. Both inbound FDI and Colombian investment abroad must be registered.</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19597">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Cuenta de compensación</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Monthly Informe de Movimientos to BanRep</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35545C"/>
                          </a:solidFill>
                          <a:latin typeface="Calibri" pitchFamily="34" charset="0"/>
                          <a:ea typeface="Calibri" pitchFamily="34" charset="-122"/>
                          <a:cs typeface="Calibri" pitchFamily="34" charset="-120"/>
                        </a:rPr>
                        <a:t>A resident holding a foreign bank account for mandatorily-channelled operations must register it and file monthly. Aug-2026 movements were due by 30 Sep 2026. Failure creates obligations to both BanRep and DIAN.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778337">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Declaración de activos en el exterior (Form 160)</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Ley 1739/2014 as amended by art. 63 Ley 2277/2022</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35545C"/>
                          </a:solidFill>
                          <a:latin typeface="Calibri" pitchFamily="34" charset="0"/>
                          <a:ea typeface="Calibri" pitchFamily="34" charset="-122"/>
                          <a:cs typeface="Calibri" pitchFamily="34" charset="-120"/>
                        </a:rPr>
                        <a:t>Filed by tax residents whose foreign assets at 1 Jan exceed 2,000 UVT = COP 104,748,000 (~USD 33,000). A low threshold - most affluent clients are caught. Assets above 3,580 UVT must be itemised by jurisdiction. Individuals' 2026 window: 12 Aug - 26 Oct. Penalties: late filing 0.5%/month capped at 10%; failure to file 5% of gross patrimony.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19597">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CFC rules (ECE)</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Triggered at 10% ownership, direct or indirect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35545C"/>
                          </a:solidFill>
                          <a:latin typeface="Calibri" pitchFamily="34" charset="0"/>
                          <a:ea typeface="Calibri" pitchFamily="34" charset="-122"/>
                          <a:cs typeface="Calibri" pitchFamily="34" charset="-120"/>
                        </a:rPr>
                        <a:t>Passive income is attributed to the Colombian holder. 80/20 presumption. Entities in tax havens trigger full CFC application as a legal presumption, and investment vehicles are automatically classified as CFCs - critical for any offshore fund or PPLI-type structure.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302118">
                <a:tc>
                  <a:txBody>
                    <a:bodyPr/>
                    <a:lstStyle/>
                    <a:p>
                      <a:pPr indent="0" marL="0">
                        <a:buNone/>
                      </a:pPr>
                      <a:r>
                        <a:rPr lang="en-US" sz="900" b="1" dirty="0">
                          <a:solidFill>
                            <a:srgbClr val="0B3B45"/>
                          </a:solidFill>
                          <a:latin typeface="Calibri" pitchFamily="34" charset="0"/>
                          <a:ea typeface="Calibri" pitchFamily="34" charset="-122"/>
                          <a:cs typeface="Calibri" pitchFamily="34" charset="-120"/>
                        </a:rPr>
                        <a:t>Reporting</a:t>
                      </a:r>
                      <a:endParaRPr lang="en-US" sz="9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CRS + MLI + FATCA IGA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35545C"/>
                          </a:solidFill>
                          <a:latin typeface="Calibri" pitchFamily="34" charset="0"/>
                          <a:ea typeface="Calibri" pitchFamily="34" charset="-122"/>
                          <a:cs typeface="Calibri" pitchFamily="34" charset="-120"/>
                        </a:rPr>
                        <a:t>Colombia participates in automatic exchange of information.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Shape 2"/>
          <p:cNvSpPr/>
          <p:nvPr/>
        </p:nvSpPr>
        <p:spPr>
          <a:xfrm>
            <a:off x="566928" y="4710257"/>
            <a:ext cx="11057839" cy="1060704"/>
          </a:xfrm>
          <a:prstGeom prst="roundRect">
            <a:avLst>
              <a:gd name="adj" fmla="val 5172"/>
            </a:avLst>
          </a:prstGeom>
          <a:solidFill>
            <a:srgbClr val="0B3B45"/>
          </a:solidFill>
          <a:ln w="6350">
            <a:solidFill>
              <a:srgbClr val="0B3B45"/>
            </a:solidFill>
            <a:prstDash val="solid"/>
          </a:ln>
        </p:spPr>
      </p:sp>
      <p:sp>
        <p:nvSpPr>
          <p:cNvPr id="6" name="Text 3"/>
          <p:cNvSpPr txBox="1"/>
          <p:nvPr/>
        </p:nvSpPr>
        <p:spPr>
          <a:xfrm>
            <a:off x="804672" y="4856561"/>
            <a:ext cx="10582351" cy="201168"/>
          </a:xfrm>
          <a:prstGeom prst="rect">
            <a:avLst/>
          </a:prstGeom>
          <a:noFill/>
          <a:ln/>
        </p:spPr>
        <p:txBody>
          <a:bodyPr wrap="square" lIns="0" tIns="0" rIns="0" bIns="0" rtlCol="0" anchor="ctr"/>
          <a:lstStyle/>
          <a:p>
            <a:pPr indent="0" marL="0">
              <a:buNone/>
            </a:pPr>
            <a:r>
              <a:rPr lang="en-US" sz="900" b="1" spc="140" kern="0" dirty="0">
                <a:solidFill>
                  <a:srgbClr val="D99A2B"/>
                </a:solidFill>
                <a:latin typeface="Calibri" pitchFamily="34" charset="0"/>
                <a:ea typeface="Calibri" pitchFamily="34" charset="-122"/>
                <a:cs typeface="Calibri" pitchFamily="34" charset="-120"/>
              </a:rPr>
              <a:t>THREE NUMBERS TO CARRY IN YOUR HEAD</a:t>
            </a:r>
            <a:endParaRPr lang="en-US" sz="900" dirty="0"/>
          </a:p>
        </p:txBody>
      </p:sp>
      <p:sp>
        <p:nvSpPr>
          <p:cNvPr id="7" name="Text 4"/>
          <p:cNvSpPr txBox="1"/>
          <p:nvPr/>
        </p:nvSpPr>
        <p:spPr>
          <a:xfrm>
            <a:off x="804672" y="5076017"/>
            <a:ext cx="10582351" cy="530352"/>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The foreign-asset reporting threshold is 2,000 UVT — about $33,000, which catches almost every affluent client. The individuals' filing window runs 12 August to 26 October 2026. And the CFC regime bites at 10% ownership, with investment vehicles automatically classified as controlled foreign entities — which means an offshore fund or a PPLI-type structure is inside the regime by definition, not by accident.</a:t>
            </a:r>
            <a:endParaRPr lang="en-US" sz="1150" dirty="0"/>
          </a:p>
        </p:txBody>
      </p:sp>
      <p:sp>
        <p:nvSpPr>
          <p:cNvPr id="8" name="Text 5"/>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9" name="Text 6"/>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45</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COLOMBIA · PENSION REFORM AND THE MARKET</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The structural buyer is being throttled from April 2027</a:t>
            </a:r>
            <a:endParaRPr lang="en-US" sz="3000" dirty="0"/>
          </a:p>
        </p:txBody>
      </p:sp>
      <p:sp>
        <p:nvSpPr>
          <p:cNvPr id="4" name="Text 2"/>
          <p:cNvSpPr txBox="1"/>
          <p:nvPr/>
        </p:nvSpPr>
        <p:spPr>
          <a:xfrm>
            <a:off x="566928" y="1353312"/>
            <a:ext cx="5303520" cy="256032"/>
          </a:xfrm>
          <a:prstGeom prst="rect">
            <a:avLst/>
          </a:prstGeom>
          <a:noFill/>
          <a:ln/>
        </p:spPr>
        <p:txBody>
          <a:bodyPr wrap="square" lIns="0" tIns="0" rIns="0" bIns="0" rtlCol="0" anchor="ctr"/>
          <a:lstStyle/>
          <a:p>
            <a:pPr indent="0" marL="0">
              <a:buNone/>
            </a:pPr>
            <a:r>
              <a:rPr lang="en-US" sz="1100" b="1" dirty="0">
                <a:solidFill>
                  <a:srgbClr val="0B3B45"/>
                </a:solidFill>
                <a:latin typeface="Calibri" pitchFamily="34" charset="0"/>
                <a:ea typeface="Calibri" pitchFamily="34" charset="-122"/>
                <a:cs typeface="Calibri" pitchFamily="34" charset="-120"/>
              </a:rPr>
              <a:t>Pension reform — Ley 2381 de 2024</a:t>
            </a:r>
            <a:endParaRPr lang="en-US" sz="1100" dirty="0"/>
          </a:p>
        </p:txBody>
      </p:sp>
      <p:sp>
        <p:nvSpPr>
          <p:cNvPr id="5" name="Text 3"/>
          <p:cNvSpPr txBox="1"/>
          <p:nvPr/>
        </p:nvSpPr>
        <p:spPr>
          <a:xfrm>
            <a:off x="566928" y="1664208"/>
            <a:ext cx="16459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Ruling</a:t>
            </a:r>
            <a:endParaRPr lang="en-US" sz="900" dirty="0"/>
          </a:p>
        </p:txBody>
      </p:sp>
      <p:sp>
        <p:nvSpPr>
          <p:cNvPr id="6" name="Text 4"/>
          <p:cNvSpPr txBox="1"/>
          <p:nvPr/>
        </p:nvSpPr>
        <p:spPr>
          <a:xfrm>
            <a:off x="2286000" y="1664208"/>
            <a:ext cx="35844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Constitutional Court, 25 Aug 2026 - ~90% of Ley 2381/2024 upheld</a:t>
            </a:r>
            <a:endParaRPr lang="en-US" sz="800" dirty="0"/>
          </a:p>
        </p:txBody>
      </p:sp>
      <p:sp>
        <p:nvSpPr>
          <p:cNvPr id="7" name="Text 5"/>
          <p:cNvSpPr txBox="1"/>
          <p:nvPr/>
        </p:nvSpPr>
        <p:spPr>
          <a:xfrm>
            <a:off x="566928" y="2069157"/>
            <a:ext cx="16459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Upheld</a:t>
            </a:r>
            <a:endParaRPr lang="en-US" sz="900" dirty="0"/>
          </a:p>
        </p:txBody>
      </p:sp>
      <p:sp>
        <p:nvSpPr>
          <p:cNvPr id="8" name="Text 6"/>
          <p:cNvSpPr txBox="1"/>
          <p:nvPr/>
        </p:nvSpPr>
        <p:spPr>
          <a:xfrm>
            <a:off x="2286000" y="2069157"/>
            <a:ext cx="35844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Four-pillar structure; 2.3-minimum-wage threshold for mandatory Colpensiones contributions; individual-savings component; generational funds</a:t>
            </a:r>
            <a:endParaRPr lang="en-US" sz="800" dirty="0"/>
          </a:p>
        </p:txBody>
      </p:sp>
      <p:sp>
        <p:nvSpPr>
          <p:cNvPr id="9" name="Text 7"/>
          <p:cNvSpPr txBox="1"/>
          <p:nvPr/>
        </p:nvSpPr>
        <p:spPr>
          <a:xfrm>
            <a:off x="566928" y="2474105"/>
            <a:ext cx="16459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Returned to Congress</a:t>
            </a:r>
            <a:endParaRPr lang="en-US" sz="900" dirty="0"/>
          </a:p>
        </p:txBody>
      </p:sp>
      <p:sp>
        <p:nvSpPr>
          <p:cNvPr id="10" name="Text 8"/>
          <p:cNvSpPr txBox="1"/>
          <p:nvPr/>
        </p:nvSpPr>
        <p:spPr>
          <a:xfrm>
            <a:off x="2286000" y="2474105"/>
            <a:ext cx="35844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BanRep's management of contributory-pillar savings; the 0.7% AFP commission cap; individual-account ownership rules</a:t>
            </a:r>
            <a:endParaRPr lang="en-US" sz="800" dirty="0"/>
          </a:p>
        </p:txBody>
      </p:sp>
      <p:sp>
        <p:nvSpPr>
          <p:cNvPr id="11" name="Text 9"/>
          <p:cNvSpPr txBox="1"/>
          <p:nvPr/>
        </p:nvSpPr>
        <p:spPr>
          <a:xfrm>
            <a:off x="566928" y="2879054"/>
            <a:ext cx="16459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Entry into force</a:t>
            </a:r>
            <a:endParaRPr lang="en-US" sz="900" dirty="0"/>
          </a:p>
        </p:txBody>
      </p:sp>
      <p:sp>
        <p:nvSpPr>
          <p:cNvPr id="12" name="Text 10"/>
          <p:cNvSpPr txBox="1"/>
          <p:nvPr/>
        </p:nvSpPr>
        <p:spPr>
          <a:xfrm>
            <a:off x="2286000" y="2879054"/>
            <a:ext cx="35844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1 April 2027</a:t>
            </a:r>
            <a:endParaRPr lang="en-US" sz="800" dirty="0"/>
          </a:p>
        </p:txBody>
      </p:sp>
      <p:sp>
        <p:nvSpPr>
          <p:cNvPr id="13" name="Text 11"/>
          <p:cNvSpPr txBox="1"/>
          <p:nvPr/>
        </p:nvSpPr>
        <p:spPr>
          <a:xfrm>
            <a:off x="566928" y="3284002"/>
            <a:ext cx="16459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Effect</a:t>
            </a:r>
            <a:endParaRPr lang="en-US" sz="900" dirty="0"/>
          </a:p>
        </p:txBody>
      </p:sp>
      <p:sp>
        <p:nvSpPr>
          <p:cNvPr id="14" name="Text 12"/>
          <p:cNvSpPr txBox="1"/>
          <p:nvPr/>
        </p:nvSpPr>
        <p:spPr>
          <a:xfrm>
            <a:off x="2286000" y="3284002"/>
            <a:ext cx="35844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Roughly 67% of NEW contributor flows are channelled to the public system</a:t>
            </a:r>
            <a:endParaRPr lang="en-US" sz="800" dirty="0"/>
          </a:p>
        </p:txBody>
      </p:sp>
      <p:sp>
        <p:nvSpPr>
          <p:cNvPr id="15" name="Text 13"/>
          <p:cNvSpPr txBox="1"/>
          <p:nvPr/>
        </p:nvSpPr>
        <p:spPr>
          <a:xfrm>
            <a:off x="566928" y="3688951"/>
            <a:ext cx="16459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Scale of the AFPs</a:t>
            </a:r>
            <a:endParaRPr lang="en-US" sz="900" dirty="0"/>
          </a:p>
        </p:txBody>
      </p:sp>
      <p:sp>
        <p:nvSpPr>
          <p:cNvPr id="16" name="Text 14"/>
          <p:cNvSpPr txBox="1"/>
          <p:nvPr/>
        </p:nvSpPr>
        <p:spPr>
          <a:xfrm>
            <a:off x="2286000" y="3688951"/>
            <a:ext cx="35844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AFPs hold ~41% of MSCI COLCAP; equity position ~COP 28.2tn. Porvenir COP 11.8tn, Proteccion COP 10.36tn</a:t>
            </a:r>
            <a:endParaRPr lang="en-US" sz="800" dirty="0"/>
          </a:p>
        </p:txBody>
      </p:sp>
      <p:sp>
        <p:nvSpPr>
          <p:cNvPr id="17" name="Text 15"/>
          <p:cNvSpPr txBox="1"/>
          <p:nvPr/>
        </p:nvSpPr>
        <p:spPr>
          <a:xfrm>
            <a:off x="566928" y="4093899"/>
            <a:ext cx="16459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Traslados</a:t>
            </a:r>
            <a:endParaRPr lang="en-US" sz="900" dirty="0"/>
          </a:p>
        </p:txBody>
      </p:sp>
      <p:sp>
        <p:nvSpPr>
          <p:cNvPr id="18" name="Text 16"/>
          <p:cNvSpPr txBox="1"/>
          <p:nvPr/>
        </p:nvSpPr>
        <p:spPr>
          <a:xfrm>
            <a:off x="2286000" y="4093899"/>
            <a:ext cx="35844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~166,000 workers changed regime since 2024. As of Jul-2026: ~9,000 moved Colpensiones -&gt; private funds vs ~150,000 the other way</a:t>
            </a:r>
            <a:endParaRPr lang="en-US" sz="800" dirty="0"/>
          </a:p>
        </p:txBody>
      </p:sp>
      <p:sp>
        <p:nvSpPr>
          <p:cNvPr id="19" name="Text 17"/>
          <p:cNvSpPr txBox="1"/>
          <p:nvPr/>
        </p:nvSpPr>
        <p:spPr>
          <a:xfrm>
            <a:off x="6327648" y="1353312"/>
            <a:ext cx="5303520" cy="256032"/>
          </a:xfrm>
          <a:prstGeom prst="rect">
            <a:avLst/>
          </a:prstGeom>
          <a:noFill/>
          <a:ln/>
        </p:spPr>
        <p:txBody>
          <a:bodyPr wrap="square" lIns="0" tIns="0" rIns="0" bIns="0" rtlCol="0" anchor="ctr"/>
          <a:lstStyle/>
          <a:p>
            <a:pPr indent="0" marL="0">
              <a:buNone/>
            </a:pPr>
            <a:r>
              <a:rPr lang="en-US" sz="1100" b="1" dirty="0">
                <a:solidFill>
                  <a:srgbClr val="0B3B45"/>
                </a:solidFill>
                <a:latin typeface="Calibri" pitchFamily="34" charset="0"/>
                <a:ea typeface="Calibri" pitchFamily="34" charset="-122"/>
                <a:cs typeface="Calibri" pitchFamily="34" charset="-120"/>
              </a:rPr>
              <a:t>The market it has underpinned</a:t>
            </a:r>
            <a:endParaRPr lang="en-US" sz="1100" dirty="0"/>
          </a:p>
        </p:txBody>
      </p:sp>
      <p:sp>
        <p:nvSpPr>
          <p:cNvPr id="20" name="Text 18"/>
          <p:cNvSpPr txBox="1"/>
          <p:nvPr/>
        </p:nvSpPr>
        <p:spPr>
          <a:xfrm>
            <a:off x="6327648" y="1664208"/>
            <a:ext cx="18745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COLCAP 2025</a:t>
            </a:r>
            <a:endParaRPr lang="en-US" sz="900" dirty="0"/>
          </a:p>
        </p:txBody>
      </p:sp>
      <p:sp>
        <p:nvSpPr>
          <p:cNvPr id="21" name="Text 19"/>
          <p:cNvSpPr txBox="1"/>
          <p:nvPr/>
        </p:nvSpPr>
        <p:spPr>
          <a:xfrm>
            <a:off x="8266176" y="1664208"/>
            <a:ext cx="33558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+59.9% in pesos, roughly +82% in dollars</a:t>
            </a:r>
            <a:endParaRPr lang="en-US" sz="800" dirty="0"/>
          </a:p>
        </p:txBody>
      </p:sp>
      <p:sp>
        <p:nvSpPr>
          <p:cNvPr id="22" name="Text 20"/>
          <p:cNvSpPr txBox="1"/>
          <p:nvPr/>
        </p:nvSpPr>
        <p:spPr>
          <a:xfrm>
            <a:off x="6327648" y="2069157"/>
            <a:ext cx="18745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COLCAP 2026 to date</a:t>
            </a:r>
            <a:endParaRPr lang="en-US" sz="900" dirty="0"/>
          </a:p>
        </p:txBody>
      </p:sp>
      <p:sp>
        <p:nvSpPr>
          <p:cNvPr id="23" name="Text 21"/>
          <p:cNvSpPr txBox="1"/>
          <p:nvPr/>
        </p:nvSpPr>
        <p:spPr>
          <a:xfrm>
            <a:off x="8266176" y="2069157"/>
            <a:ext cx="33558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+22.5%, at 2,532.83 on 4 September</a:t>
            </a:r>
            <a:endParaRPr lang="en-US" sz="800" dirty="0"/>
          </a:p>
        </p:txBody>
      </p:sp>
      <p:sp>
        <p:nvSpPr>
          <p:cNvPr id="24" name="Text 22"/>
          <p:cNvSpPr txBox="1"/>
          <p:nvPr/>
        </p:nvSpPr>
        <p:spPr>
          <a:xfrm>
            <a:off x="6327648" y="2474105"/>
            <a:ext cx="18745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2026 leaders</a:t>
            </a:r>
            <a:endParaRPr lang="en-US" sz="900" dirty="0"/>
          </a:p>
        </p:txBody>
      </p:sp>
      <p:sp>
        <p:nvSpPr>
          <p:cNvPr id="25" name="Text 23"/>
          <p:cNvSpPr txBox="1"/>
          <p:nvPr/>
        </p:nvSpPr>
        <p:spPr>
          <a:xfrm>
            <a:off x="8266176" y="2474105"/>
            <a:ext cx="33558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Ecopetrol +42.2%, Davivienda pref +30.7%, Grupo Argos pref +24.8%</a:t>
            </a:r>
            <a:endParaRPr lang="en-US" sz="800" dirty="0"/>
          </a:p>
        </p:txBody>
      </p:sp>
      <p:sp>
        <p:nvSpPr>
          <p:cNvPr id="26" name="Text 24"/>
          <p:cNvSpPr txBox="1"/>
          <p:nvPr/>
        </p:nvSpPr>
        <p:spPr>
          <a:xfrm>
            <a:off x="6327648" y="2879054"/>
            <a:ext cx="18745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Sector mix</a:t>
            </a:r>
            <a:endParaRPr lang="en-US" sz="900" dirty="0"/>
          </a:p>
        </p:txBody>
      </p:sp>
      <p:sp>
        <p:nvSpPr>
          <p:cNvPr id="27" name="Text 25"/>
          <p:cNvSpPr txBox="1"/>
          <p:nvPr/>
        </p:nvSpPr>
        <p:spPr>
          <a:xfrm>
            <a:off x="8266176" y="2879054"/>
            <a:ext cx="33558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Financials have gone from ~46% to ~58% of the index; energy is ~8%</a:t>
            </a:r>
            <a:endParaRPr lang="en-US" sz="800" dirty="0"/>
          </a:p>
        </p:txBody>
      </p:sp>
      <p:sp>
        <p:nvSpPr>
          <p:cNvPr id="28" name="Text 26"/>
          <p:cNvSpPr txBox="1"/>
          <p:nvPr/>
        </p:nvSpPr>
        <p:spPr>
          <a:xfrm>
            <a:off x="6327648" y="3284002"/>
            <a:ext cx="18745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The AFPs</a:t>
            </a:r>
            <a:endParaRPr lang="en-US" sz="900" dirty="0"/>
          </a:p>
        </p:txBody>
      </p:sp>
      <p:sp>
        <p:nvSpPr>
          <p:cNvPr id="29" name="Text 27"/>
          <p:cNvSpPr txBox="1"/>
          <p:nvPr/>
        </p:nvSpPr>
        <p:spPr>
          <a:xfrm>
            <a:off x="8266176" y="3284002"/>
            <a:ext cx="33558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hold roughly 41% of MSCI COLCAP — an equity position near COP 28.2tn</a:t>
            </a:r>
            <a:endParaRPr lang="en-US" sz="800" dirty="0"/>
          </a:p>
        </p:txBody>
      </p:sp>
      <p:sp>
        <p:nvSpPr>
          <p:cNvPr id="30" name="Text 28"/>
          <p:cNvSpPr txBox="1"/>
          <p:nvPr/>
        </p:nvSpPr>
        <p:spPr>
          <a:xfrm>
            <a:off x="6327648" y="3688951"/>
            <a:ext cx="18745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Liability management</a:t>
            </a:r>
            <a:endParaRPr lang="en-US" sz="900" dirty="0"/>
          </a:p>
        </p:txBody>
      </p:sp>
      <p:sp>
        <p:nvSpPr>
          <p:cNvPr id="31" name="Text 29"/>
          <p:cNvSpPr txBox="1"/>
          <p:nvPr/>
        </p:nvSpPr>
        <p:spPr>
          <a:xfrm>
            <a:off x="8266176" y="3688951"/>
            <a:ext cx="33558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four operations since August 2025 totalling $16.5bn, cutting future external interest 37% from peak</a:t>
            </a:r>
            <a:endParaRPr lang="en-US" sz="800" dirty="0"/>
          </a:p>
        </p:txBody>
      </p:sp>
      <p:sp>
        <p:nvSpPr>
          <p:cNvPr id="32" name="Text 30"/>
          <p:cNvSpPr txBox="1"/>
          <p:nvPr/>
        </p:nvSpPr>
        <p:spPr>
          <a:xfrm>
            <a:off x="6327648" y="4093899"/>
            <a:ext cx="1874520" cy="350085"/>
          </a:xfrm>
          <a:prstGeom prst="rect">
            <a:avLst/>
          </a:prstGeom>
          <a:noFill/>
          <a:ln/>
        </p:spPr>
        <p:txBody>
          <a:bodyPr wrap="square" lIns="0" tIns="0" rIns="0" bIns="0" rtlCol="0" anchor="t"/>
          <a:lstStyle/>
          <a:p>
            <a:pPr indent="0" marL="0">
              <a:buNone/>
            </a:pPr>
            <a:r>
              <a:rPr lang="en-US" sz="900" b="1" dirty="0">
                <a:solidFill>
                  <a:srgbClr val="156A7A"/>
                </a:solidFill>
                <a:latin typeface="Calibri" pitchFamily="34" charset="0"/>
                <a:ea typeface="Calibri" pitchFamily="34" charset="-122"/>
                <a:cs typeface="Calibri" pitchFamily="34" charset="-120"/>
              </a:rPr>
              <a:t>nuam</a:t>
            </a:r>
            <a:endParaRPr lang="en-US" sz="900" dirty="0"/>
          </a:p>
        </p:txBody>
      </p:sp>
      <p:sp>
        <p:nvSpPr>
          <p:cNvPr id="33" name="Text 31"/>
          <p:cNvSpPr txBox="1"/>
          <p:nvPr/>
        </p:nvSpPr>
        <p:spPr>
          <a:xfrm>
            <a:off x="8266176" y="4093899"/>
            <a:ext cx="3355848" cy="350085"/>
          </a:xfrm>
          <a:prstGeom prst="rect">
            <a:avLst/>
          </a:prstGeom>
          <a:noFill/>
          <a:ln/>
        </p:spPr>
        <p:txBody>
          <a:bodyPr wrap="square" lIns="0" tIns="0" rIns="0" bIns="0" rtlCol="0" anchor="t"/>
          <a:lstStyle/>
          <a:p>
            <a:pPr indent="0" marL="0">
              <a:lnSpc>
                <a:spcPct val="104000"/>
              </a:lnSpc>
              <a:buNone/>
            </a:pPr>
            <a:r>
              <a:rPr lang="en-US" sz="800" dirty="0">
                <a:solidFill>
                  <a:srgbClr val="35545C"/>
                </a:solidFill>
                <a:latin typeface="Calibri" pitchFamily="34" charset="0"/>
                <a:ea typeface="Calibri" pitchFamily="34" charset="-122"/>
                <a:cs typeface="Calibri" pitchFamily="34" charset="-120"/>
              </a:rPr>
              <a:t>Santiago–Lima–Colombia trading technology live 21 July 2026; index convergence completed 20 August</a:t>
            </a:r>
            <a:endParaRPr lang="en-US" sz="800" dirty="0"/>
          </a:p>
        </p:txBody>
      </p:sp>
      <p:sp>
        <p:nvSpPr>
          <p:cNvPr id="34" name="Shape 32"/>
          <p:cNvSpPr/>
          <p:nvPr/>
        </p:nvSpPr>
        <p:spPr>
          <a:xfrm>
            <a:off x="566928" y="4718304"/>
            <a:ext cx="11057839" cy="1371600"/>
          </a:xfrm>
          <a:prstGeom prst="roundRect">
            <a:avLst>
              <a:gd name="adj" fmla="val 4000"/>
            </a:avLst>
          </a:prstGeom>
          <a:solidFill>
            <a:srgbClr val="0B3B45"/>
          </a:solidFill>
          <a:ln w="6350">
            <a:solidFill>
              <a:srgbClr val="0B3B45"/>
            </a:solidFill>
            <a:prstDash val="solid"/>
          </a:ln>
        </p:spPr>
      </p:sp>
      <p:sp>
        <p:nvSpPr>
          <p:cNvPr id="35" name="Text 33"/>
          <p:cNvSpPr txBox="1"/>
          <p:nvPr/>
        </p:nvSpPr>
        <p:spPr>
          <a:xfrm>
            <a:off x="804672" y="4864608"/>
            <a:ext cx="10582351" cy="201168"/>
          </a:xfrm>
          <a:prstGeom prst="rect">
            <a:avLst/>
          </a:prstGeom>
          <a:noFill/>
          <a:ln/>
        </p:spPr>
        <p:txBody>
          <a:bodyPr wrap="square" lIns="0" tIns="0" rIns="0" bIns="0" rtlCol="0" anchor="ctr"/>
          <a:lstStyle/>
          <a:p>
            <a:pPr indent="0" marL="0">
              <a:buNone/>
            </a:pPr>
            <a:r>
              <a:rPr lang="en-US" sz="900" b="1" spc="140" kern="0" dirty="0">
                <a:solidFill>
                  <a:srgbClr val="D99A2B"/>
                </a:solidFill>
                <a:latin typeface="Calibri" pitchFamily="34" charset="0"/>
                <a:ea typeface="Calibri" pitchFamily="34" charset="-122"/>
                <a:cs typeface="Calibri" pitchFamily="34" charset="-120"/>
              </a:rPr>
              <a:t>WHY THIS MATTERS MORE THAN ANY RATE CALL</a:t>
            </a:r>
            <a:endParaRPr lang="en-US" sz="900" dirty="0"/>
          </a:p>
        </p:txBody>
      </p:sp>
      <p:sp>
        <p:nvSpPr>
          <p:cNvPr id="36" name="Text 34"/>
          <p:cNvSpPr txBox="1"/>
          <p:nvPr/>
        </p:nvSpPr>
        <p:spPr>
          <a:xfrm>
            <a:off x="804672" y="5084064"/>
            <a:ext cx="10582351" cy="841248"/>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Calibri" pitchFamily="34" charset="0"/>
                <a:ea typeface="Calibri" pitchFamily="34" charset="-122"/>
                <a:cs typeface="Calibri" pitchFamily="34" charset="-120"/>
              </a:rPr>
              <a:t>The Constitutional Court upheld about 90% of the reform on 25 August 2026, returning nine articles to Congress. It enters into force on 1 April 2027 and channels roughly 67% of new contributor flows to the public system. Since 2024 some 150,000 workers have moved to Colpensiones against about 9,000 moving the other way. The domestic institutional bid that has underpinned COLCAP and the TES curve for two decades is being throttled — and unlike everything else in this annex, it survived the change of government untouched.</a:t>
            </a:r>
            <a:endParaRPr lang="en-US" sz="1150" dirty="0"/>
          </a:p>
        </p:txBody>
      </p:sp>
      <p:sp>
        <p:nvSpPr>
          <p:cNvPr id="37" name="Text 35"/>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38" name="Text 36"/>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46</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RISK REGISTER — READ BEFORE THE PACK, NOT AFTER</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The eight things that could embarrass you</a:t>
            </a:r>
            <a:endParaRPr lang="en-US" sz="3000" dirty="0"/>
          </a:p>
        </p:txBody>
      </p:sp>
      <p:sp>
        <p:nvSpPr>
          <p:cNvPr id="4" name="Shape 2"/>
          <p:cNvSpPr/>
          <p:nvPr/>
        </p:nvSpPr>
        <p:spPr>
          <a:xfrm>
            <a:off x="566928" y="1353312"/>
            <a:ext cx="5400904" cy="1097280"/>
          </a:xfrm>
          <a:prstGeom prst="roundRect">
            <a:avLst>
              <a:gd name="adj" fmla="val 5000"/>
            </a:avLst>
          </a:prstGeom>
          <a:solidFill>
            <a:srgbClr val="EDF1F2"/>
          </a:solidFill>
          <a:ln w="6350">
            <a:solidFill>
              <a:srgbClr val="EDF1F2"/>
            </a:solidFill>
            <a:prstDash val="solid"/>
          </a:ln>
        </p:spPr>
      </p:sp>
      <p:sp>
        <p:nvSpPr>
          <p:cNvPr id="5" name="Text 3"/>
          <p:cNvSpPr txBox="1"/>
          <p:nvPr/>
        </p:nvSpPr>
        <p:spPr>
          <a:xfrm>
            <a:off x="749808" y="1444752"/>
            <a:ext cx="5035144" cy="219456"/>
          </a:xfrm>
          <a:prstGeom prst="rect">
            <a:avLst/>
          </a:prstGeom>
          <a:noFill/>
          <a:ln/>
        </p:spPr>
        <p:txBody>
          <a:bodyPr wrap="square" lIns="0" tIns="0" rIns="0" bIns="0" rtlCol="0" anchor="ctr"/>
          <a:lstStyle/>
          <a:p>
            <a:pPr indent="0" marL="0">
              <a:buNone/>
            </a:pPr>
            <a:r>
              <a:rPr lang="en-US" sz="1100" b="1" dirty="0">
                <a:solidFill>
                  <a:srgbClr val="A8322D"/>
                </a:solidFill>
                <a:latin typeface="Calibri" pitchFamily="34" charset="0"/>
                <a:ea typeface="Calibri" pitchFamily="34" charset="-122"/>
                <a:cs typeface="Calibri" pitchFamily="34" charset="-120"/>
              </a:rPr>
              <a:t>The remittance cliff</a:t>
            </a:r>
            <a:endParaRPr lang="en-US" sz="1100" dirty="0"/>
          </a:p>
        </p:txBody>
      </p:sp>
      <p:sp>
        <p:nvSpPr>
          <p:cNvPr id="6" name="Text 4"/>
          <p:cNvSpPr txBox="1"/>
          <p:nvPr/>
        </p:nvSpPr>
        <p:spPr>
          <a:xfrm>
            <a:off x="749808" y="1664208"/>
            <a:ext cx="5035144" cy="201168"/>
          </a:xfrm>
          <a:prstGeom prst="rect">
            <a:avLst/>
          </a:prstGeom>
          <a:noFill/>
          <a:ln/>
        </p:spPr>
        <p:txBody>
          <a:bodyPr wrap="square" lIns="0" tIns="0" rIns="0" bIns="0" rtlCol="0" anchor="ctr"/>
          <a:lstStyle/>
          <a:p>
            <a:pPr indent="0" marL="0">
              <a:buNone/>
            </a:pPr>
            <a:r>
              <a:rPr lang="en-US" sz="850" b="1" dirty="0">
                <a:solidFill>
                  <a:srgbClr val="0B3B45"/>
                </a:solidFill>
                <a:latin typeface="Calibri" pitchFamily="34" charset="0"/>
                <a:ea typeface="Calibri" pitchFamily="34" charset="-122"/>
                <a:cs typeface="Calibri" pitchFamily="34" charset="-120"/>
              </a:rPr>
              <a:t>Guatemala 20.7% of GDP, El Salvador ~24%, DR 9.3%</a:t>
            </a:r>
            <a:endParaRPr lang="en-US" sz="850" dirty="0"/>
          </a:p>
        </p:txBody>
      </p:sp>
      <p:sp>
        <p:nvSpPr>
          <p:cNvPr id="7" name="Text 5"/>
          <p:cNvSpPr txBox="1"/>
          <p:nvPr/>
        </p:nvSpPr>
        <p:spPr>
          <a:xfrm>
            <a:off x="749808" y="1883664"/>
            <a:ext cx="5035144" cy="493776"/>
          </a:xfrm>
          <a:prstGeom prst="rect">
            <a:avLst/>
          </a:prstGeom>
          <a:noFill/>
          <a:ln/>
        </p:spPr>
        <p:txBody>
          <a:bodyPr wrap="square" lIns="0" tIns="0" rIns="0" bIns="0" rtlCol="0" anchor="t"/>
          <a:lstStyle/>
          <a:p>
            <a:pPr indent="0" marL="0">
              <a:lnSpc>
                <a:spcPct val="108000"/>
              </a:lnSpc>
              <a:buNone/>
            </a:pPr>
            <a:r>
              <a:rPr lang="en-US" sz="850" i="1" dirty="0">
                <a:solidFill>
                  <a:srgbClr val="45646C"/>
                </a:solidFill>
                <a:latin typeface="Calibri" pitchFamily="34" charset="0"/>
                <a:ea typeface="Calibri" pitchFamily="34" charset="-122"/>
                <a:cs typeface="Calibri" pitchFamily="34" charset="-120"/>
              </a:rPr>
              <a:t>Stress-test any thesis resting on remittance-driven consumption for a stop.</a:t>
            </a:r>
            <a:endParaRPr lang="en-US" sz="850" dirty="0"/>
          </a:p>
        </p:txBody>
      </p:sp>
      <p:sp>
        <p:nvSpPr>
          <p:cNvPr id="8" name="Shape 6"/>
          <p:cNvSpPr/>
          <p:nvPr/>
        </p:nvSpPr>
        <p:spPr>
          <a:xfrm>
            <a:off x="6223864" y="1353312"/>
            <a:ext cx="5400904" cy="1097280"/>
          </a:xfrm>
          <a:prstGeom prst="roundRect">
            <a:avLst>
              <a:gd name="adj" fmla="val 5000"/>
            </a:avLst>
          </a:prstGeom>
          <a:solidFill>
            <a:srgbClr val="EDF1F2"/>
          </a:solidFill>
          <a:ln w="6350">
            <a:solidFill>
              <a:srgbClr val="EDF1F2"/>
            </a:solidFill>
            <a:prstDash val="solid"/>
          </a:ln>
        </p:spPr>
      </p:sp>
      <p:sp>
        <p:nvSpPr>
          <p:cNvPr id="9" name="Text 7"/>
          <p:cNvSpPr txBox="1"/>
          <p:nvPr/>
        </p:nvSpPr>
        <p:spPr>
          <a:xfrm>
            <a:off x="6406744" y="1444752"/>
            <a:ext cx="5035144" cy="219456"/>
          </a:xfrm>
          <a:prstGeom prst="rect">
            <a:avLst/>
          </a:prstGeom>
          <a:noFill/>
          <a:ln/>
        </p:spPr>
        <p:txBody>
          <a:bodyPr wrap="square" lIns="0" tIns="0" rIns="0" bIns="0" rtlCol="0" anchor="ctr"/>
          <a:lstStyle/>
          <a:p>
            <a:pPr indent="0" marL="0">
              <a:buNone/>
            </a:pPr>
            <a:r>
              <a:rPr lang="en-US" sz="1100" b="1" dirty="0">
                <a:solidFill>
                  <a:srgbClr val="A8322D"/>
                </a:solidFill>
                <a:latin typeface="Calibri" pitchFamily="34" charset="0"/>
                <a:ea typeface="Calibri" pitchFamily="34" charset="-122"/>
                <a:cs typeface="Calibri" pitchFamily="34" charset="-120"/>
              </a:rPr>
              <a:t>The 2026 FX rally will not repeat</a:t>
            </a:r>
            <a:endParaRPr lang="en-US" sz="1100" dirty="0"/>
          </a:p>
        </p:txBody>
      </p:sp>
      <p:sp>
        <p:nvSpPr>
          <p:cNvPr id="10" name="Text 8"/>
          <p:cNvSpPr txBox="1"/>
          <p:nvPr/>
        </p:nvSpPr>
        <p:spPr>
          <a:xfrm>
            <a:off x="6406744" y="1664208"/>
            <a:ext cx="5035144" cy="201168"/>
          </a:xfrm>
          <a:prstGeom prst="rect">
            <a:avLst/>
          </a:prstGeom>
          <a:noFill/>
          <a:ln/>
        </p:spPr>
        <p:txBody>
          <a:bodyPr wrap="square" lIns="0" tIns="0" rIns="0" bIns="0" rtlCol="0" anchor="ctr"/>
          <a:lstStyle/>
          <a:p>
            <a:pPr indent="0" marL="0">
              <a:buNone/>
            </a:pPr>
            <a:r>
              <a:rPr lang="en-US" sz="850" b="1" dirty="0">
                <a:solidFill>
                  <a:srgbClr val="0B3B45"/>
                </a:solidFill>
                <a:latin typeface="Calibri" pitchFamily="34" charset="0"/>
                <a:ea typeface="Calibri" pitchFamily="34" charset="-122"/>
                <a:cs typeface="Calibri" pitchFamily="34" charset="-120"/>
              </a:rPr>
              <a:t>COP +19.6% vs USD YTD, CRC +10.3% y/y, DOP +4.7% YTD, GTQ +0.5%</a:t>
            </a:r>
            <a:endParaRPr lang="en-US" sz="850" dirty="0"/>
          </a:p>
        </p:txBody>
      </p:sp>
      <p:sp>
        <p:nvSpPr>
          <p:cNvPr id="11" name="Text 9"/>
          <p:cNvSpPr txBox="1"/>
          <p:nvPr/>
        </p:nvSpPr>
        <p:spPr>
          <a:xfrm>
            <a:off x="6406744" y="1883664"/>
            <a:ext cx="5035144" cy="493776"/>
          </a:xfrm>
          <a:prstGeom prst="rect">
            <a:avLst/>
          </a:prstGeom>
          <a:noFill/>
          <a:ln/>
        </p:spPr>
        <p:txBody>
          <a:bodyPr wrap="square" lIns="0" tIns="0" rIns="0" bIns="0" rtlCol="0" anchor="t"/>
          <a:lstStyle/>
          <a:p>
            <a:pPr indent="0" marL="0">
              <a:lnSpc>
                <a:spcPct val="108000"/>
              </a:lnSpc>
              <a:buNone/>
            </a:pPr>
            <a:r>
              <a:rPr lang="en-US" sz="850" i="1" dirty="0">
                <a:solidFill>
                  <a:srgbClr val="45646C"/>
                </a:solidFill>
                <a:latin typeface="Calibri" pitchFamily="34" charset="0"/>
                <a:ea typeface="Calibri" pitchFamily="34" charset="-122"/>
                <a:cs typeface="Calibri" pitchFamily="34" charset="-120"/>
              </a:rPr>
              <a:t>Revisit hedge ratios before the conversation, not after.</a:t>
            </a:r>
            <a:endParaRPr lang="en-US" sz="850" dirty="0"/>
          </a:p>
        </p:txBody>
      </p:sp>
      <p:sp>
        <p:nvSpPr>
          <p:cNvPr id="12" name="Shape 10"/>
          <p:cNvSpPr/>
          <p:nvPr/>
        </p:nvSpPr>
        <p:spPr>
          <a:xfrm>
            <a:off x="566928" y="2560320"/>
            <a:ext cx="5400904" cy="1097280"/>
          </a:xfrm>
          <a:prstGeom prst="roundRect">
            <a:avLst>
              <a:gd name="adj" fmla="val 5000"/>
            </a:avLst>
          </a:prstGeom>
          <a:solidFill>
            <a:srgbClr val="EDF1F2"/>
          </a:solidFill>
          <a:ln w="6350">
            <a:solidFill>
              <a:srgbClr val="EDF1F2"/>
            </a:solidFill>
            <a:prstDash val="solid"/>
          </a:ln>
        </p:spPr>
      </p:sp>
      <p:sp>
        <p:nvSpPr>
          <p:cNvPr id="13" name="Text 11"/>
          <p:cNvSpPr txBox="1"/>
          <p:nvPr/>
        </p:nvSpPr>
        <p:spPr>
          <a:xfrm>
            <a:off x="749808" y="2651760"/>
            <a:ext cx="5035144" cy="219456"/>
          </a:xfrm>
          <a:prstGeom prst="rect">
            <a:avLst/>
          </a:prstGeom>
          <a:noFill/>
          <a:ln/>
        </p:spPr>
        <p:txBody>
          <a:bodyPr wrap="square" lIns="0" tIns="0" rIns="0" bIns="0" rtlCol="0" anchor="ctr"/>
          <a:lstStyle/>
          <a:p>
            <a:pPr indent="0" marL="0">
              <a:buNone/>
            </a:pPr>
            <a:r>
              <a:rPr lang="en-US" sz="1100" b="1" dirty="0">
                <a:solidFill>
                  <a:srgbClr val="A8322D"/>
                </a:solidFill>
                <a:latin typeface="Calibri" pitchFamily="34" charset="0"/>
                <a:ea typeface="Calibri" pitchFamily="34" charset="-122"/>
                <a:cs typeface="Calibri" pitchFamily="34" charset="-120"/>
              </a:rPr>
              <a:t>Colombia's last IG notch</a:t>
            </a:r>
            <a:endParaRPr lang="en-US" sz="1100" dirty="0"/>
          </a:p>
        </p:txBody>
      </p:sp>
      <p:sp>
        <p:nvSpPr>
          <p:cNvPr id="14" name="Text 12"/>
          <p:cNvSpPr txBox="1"/>
          <p:nvPr/>
        </p:nvSpPr>
        <p:spPr>
          <a:xfrm>
            <a:off x="749808" y="2871216"/>
            <a:ext cx="5035144" cy="201168"/>
          </a:xfrm>
          <a:prstGeom prst="rect">
            <a:avLst/>
          </a:prstGeom>
          <a:noFill/>
          <a:ln/>
        </p:spPr>
        <p:txBody>
          <a:bodyPr wrap="square" lIns="0" tIns="0" rIns="0" bIns="0" rtlCol="0" anchor="ctr"/>
          <a:lstStyle/>
          <a:p>
            <a:pPr indent="0" marL="0">
              <a:buNone/>
            </a:pPr>
            <a:r>
              <a:rPr lang="en-US" sz="850" b="1" dirty="0">
                <a:solidFill>
                  <a:srgbClr val="0B3B45"/>
                </a:solidFill>
                <a:latin typeface="Calibri" pitchFamily="34" charset="0"/>
                <a:ea typeface="Calibri" pitchFamily="34" charset="-122"/>
                <a:cs typeface="Calibri" pitchFamily="34" charset="-120"/>
              </a:rPr>
              <a:t>Moody's Baa3, stable</a:t>
            </a:r>
            <a:endParaRPr lang="en-US" sz="850" dirty="0"/>
          </a:p>
        </p:txBody>
      </p:sp>
      <p:sp>
        <p:nvSpPr>
          <p:cNvPr id="15" name="Text 13"/>
          <p:cNvSpPr txBox="1"/>
          <p:nvPr/>
        </p:nvSpPr>
        <p:spPr>
          <a:xfrm>
            <a:off x="749808" y="3090672"/>
            <a:ext cx="5035144" cy="493776"/>
          </a:xfrm>
          <a:prstGeom prst="rect">
            <a:avLst/>
          </a:prstGeom>
          <a:noFill/>
          <a:ln/>
        </p:spPr>
        <p:txBody>
          <a:bodyPr wrap="square" lIns="0" tIns="0" rIns="0" bIns="0" rtlCol="0" anchor="t"/>
          <a:lstStyle/>
          <a:p>
            <a:pPr indent="0" marL="0">
              <a:lnSpc>
                <a:spcPct val="108000"/>
              </a:lnSpc>
              <a:buNone/>
            </a:pPr>
            <a:r>
              <a:rPr lang="en-US" sz="850" i="1" dirty="0">
                <a:solidFill>
                  <a:srgbClr val="45646C"/>
                </a:solidFill>
                <a:latin typeface="Calibri" pitchFamily="34" charset="0"/>
                <a:ea typeface="Calibri" pitchFamily="34" charset="-122"/>
                <a:cs typeface="Calibri" pitchFamily="34" charset="-120"/>
              </a:rPr>
              <a:t>Size Colombian sovereign exposure for a forced-selling event, not for a base case.</a:t>
            </a:r>
            <a:endParaRPr lang="en-US" sz="850" dirty="0"/>
          </a:p>
        </p:txBody>
      </p:sp>
      <p:sp>
        <p:nvSpPr>
          <p:cNvPr id="16" name="Shape 14"/>
          <p:cNvSpPr/>
          <p:nvPr/>
        </p:nvSpPr>
        <p:spPr>
          <a:xfrm>
            <a:off x="6223864" y="2560320"/>
            <a:ext cx="5400904" cy="1097280"/>
          </a:xfrm>
          <a:prstGeom prst="roundRect">
            <a:avLst>
              <a:gd name="adj" fmla="val 5000"/>
            </a:avLst>
          </a:prstGeom>
          <a:solidFill>
            <a:srgbClr val="EDF1F2"/>
          </a:solidFill>
          <a:ln w="6350">
            <a:solidFill>
              <a:srgbClr val="EDF1F2"/>
            </a:solidFill>
            <a:prstDash val="solid"/>
          </a:ln>
        </p:spPr>
      </p:sp>
      <p:sp>
        <p:nvSpPr>
          <p:cNvPr id="17" name="Text 15"/>
          <p:cNvSpPr txBox="1"/>
          <p:nvPr/>
        </p:nvSpPr>
        <p:spPr>
          <a:xfrm>
            <a:off x="6406744" y="2651760"/>
            <a:ext cx="5035144" cy="219456"/>
          </a:xfrm>
          <a:prstGeom prst="rect">
            <a:avLst/>
          </a:prstGeom>
          <a:noFill/>
          <a:ln/>
        </p:spPr>
        <p:txBody>
          <a:bodyPr wrap="square" lIns="0" tIns="0" rIns="0" bIns="0" rtlCol="0" anchor="ctr"/>
          <a:lstStyle/>
          <a:p>
            <a:pPr indent="0" marL="0">
              <a:buNone/>
            </a:pPr>
            <a:r>
              <a:rPr lang="en-US" sz="1100" b="1" dirty="0">
                <a:solidFill>
                  <a:srgbClr val="A8322D"/>
                </a:solidFill>
                <a:latin typeface="Calibri" pitchFamily="34" charset="0"/>
                <a:ea typeface="Calibri" pitchFamily="34" charset="-122"/>
                <a:cs typeface="Calibri" pitchFamily="34" charset="-120"/>
              </a:rPr>
              <a:t>Panama's IG knife-edge</a:t>
            </a:r>
            <a:endParaRPr lang="en-US" sz="1100" dirty="0"/>
          </a:p>
        </p:txBody>
      </p:sp>
      <p:sp>
        <p:nvSpPr>
          <p:cNvPr id="18" name="Text 16"/>
          <p:cNvSpPr txBox="1"/>
          <p:nvPr/>
        </p:nvSpPr>
        <p:spPr>
          <a:xfrm>
            <a:off x="6406744" y="2871216"/>
            <a:ext cx="5035144" cy="201168"/>
          </a:xfrm>
          <a:prstGeom prst="rect">
            <a:avLst/>
          </a:prstGeom>
          <a:noFill/>
          <a:ln/>
        </p:spPr>
        <p:txBody>
          <a:bodyPr wrap="square" lIns="0" tIns="0" rIns="0" bIns="0" rtlCol="0" anchor="ctr"/>
          <a:lstStyle/>
          <a:p>
            <a:pPr indent="0" marL="0">
              <a:buNone/>
            </a:pPr>
            <a:r>
              <a:rPr lang="en-US" sz="850" b="1" dirty="0">
                <a:solidFill>
                  <a:srgbClr val="0B3B45"/>
                </a:solidFill>
                <a:latin typeface="Calibri" pitchFamily="34" charset="0"/>
                <a:ea typeface="Calibri" pitchFamily="34" charset="-122"/>
                <a:cs typeface="Calibri" pitchFamily="34" charset="-120"/>
              </a:rPr>
              <a:t>Moody's Baa3 NEGATIVE, S&amp;P BBB-, Fitch already BB+</a:t>
            </a:r>
            <a:endParaRPr lang="en-US" sz="850" dirty="0"/>
          </a:p>
        </p:txBody>
      </p:sp>
      <p:sp>
        <p:nvSpPr>
          <p:cNvPr id="19" name="Text 17"/>
          <p:cNvSpPr txBox="1"/>
          <p:nvPr/>
        </p:nvSpPr>
        <p:spPr>
          <a:xfrm>
            <a:off x="6406744" y="3090672"/>
            <a:ext cx="5035144" cy="493776"/>
          </a:xfrm>
          <a:prstGeom prst="rect">
            <a:avLst/>
          </a:prstGeom>
          <a:noFill/>
          <a:ln/>
        </p:spPr>
        <p:txBody>
          <a:bodyPr wrap="square" lIns="0" tIns="0" rIns="0" bIns="0" rtlCol="0" anchor="t"/>
          <a:lstStyle/>
          <a:p>
            <a:pPr indent="0" marL="0">
              <a:lnSpc>
                <a:spcPct val="108000"/>
              </a:lnSpc>
              <a:buNone/>
            </a:pPr>
            <a:r>
              <a:rPr lang="en-US" sz="850" i="1" dirty="0">
                <a:solidFill>
                  <a:srgbClr val="45646C"/>
                </a:solidFill>
                <a:latin typeface="Calibri" pitchFamily="34" charset="0"/>
                <a:ea typeface="Calibri" pitchFamily="34" charset="-122"/>
                <a:cs typeface="Calibri" pitchFamily="34" charset="-120"/>
              </a:rPr>
              <a:t>Panama is a fallen-angel-in-progress candidate. IG index eligibility is fragile.</a:t>
            </a:r>
            <a:endParaRPr lang="en-US" sz="850" dirty="0"/>
          </a:p>
        </p:txBody>
      </p:sp>
      <p:sp>
        <p:nvSpPr>
          <p:cNvPr id="20" name="Shape 18"/>
          <p:cNvSpPr/>
          <p:nvPr/>
        </p:nvSpPr>
        <p:spPr>
          <a:xfrm>
            <a:off x="566928" y="3767328"/>
            <a:ext cx="5400904" cy="1097280"/>
          </a:xfrm>
          <a:prstGeom prst="roundRect">
            <a:avLst>
              <a:gd name="adj" fmla="val 5000"/>
            </a:avLst>
          </a:prstGeom>
          <a:solidFill>
            <a:srgbClr val="EDF1F2"/>
          </a:solidFill>
          <a:ln w="6350">
            <a:solidFill>
              <a:srgbClr val="EDF1F2"/>
            </a:solidFill>
            <a:prstDash val="solid"/>
          </a:ln>
        </p:spPr>
      </p:sp>
      <p:sp>
        <p:nvSpPr>
          <p:cNvPr id="21" name="Text 19"/>
          <p:cNvSpPr txBox="1"/>
          <p:nvPr/>
        </p:nvSpPr>
        <p:spPr>
          <a:xfrm>
            <a:off x="749808" y="3858768"/>
            <a:ext cx="5035144" cy="219456"/>
          </a:xfrm>
          <a:prstGeom prst="rect">
            <a:avLst/>
          </a:prstGeom>
          <a:noFill/>
          <a:ln/>
        </p:spPr>
        <p:txBody>
          <a:bodyPr wrap="square" lIns="0" tIns="0" rIns="0" bIns="0" rtlCol="0" anchor="ctr"/>
          <a:lstStyle/>
          <a:p>
            <a:pPr indent="0" marL="0">
              <a:buNone/>
            </a:pPr>
            <a:r>
              <a:rPr lang="en-US" sz="1100" b="1" dirty="0">
                <a:solidFill>
                  <a:srgbClr val="A8322D"/>
                </a:solidFill>
                <a:latin typeface="Calibri" pitchFamily="34" charset="0"/>
                <a:ea typeface="Calibri" pitchFamily="34" charset="-122"/>
                <a:cs typeface="Calibri" pitchFamily="34" charset="-120"/>
              </a:rPr>
              <a:t>Costa Rica's deflation-appreciation squeeze</a:t>
            </a:r>
            <a:endParaRPr lang="en-US" sz="1100" dirty="0"/>
          </a:p>
        </p:txBody>
      </p:sp>
      <p:sp>
        <p:nvSpPr>
          <p:cNvPr id="22" name="Text 20"/>
          <p:cNvSpPr txBox="1"/>
          <p:nvPr/>
        </p:nvSpPr>
        <p:spPr>
          <a:xfrm>
            <a:off x="749808" y="4078224"/>
            <a:ext cx="5035144" cy="201168"/>
          </a:xfrm>
          <a:prstGeom prst="rect">
            <a:avLst/>
          </a:prstGeom>
          <a:noFill/>
          <a:ln/>
        </p:spPr>
        <p:txBody>
          <a:bodyPr wrap="square" lIns="0" tIns="0" rIns="0" bIns="0" rtlCol="0" anchor="ctr"/>
          <a:lstStyle/>
          <a:p>
            <a:pPr indent="0" marL="0">
              <a:buNone/>
            </a:pPr>
            <a:r>
              <a:rPr lang="en-US" sz="850" b="1" dirty="0">
                <a:solidFill>
                  <a:srgbClr val="0B3B45"/>
                </a:solidFill>
                <a:latin typeface="Calibri" pitchFamily="34" charset="0"/>
                <a:ea typeface="Calibri" pitchFamily="34" charset="-122"/>
                <a:cs typeface="Calibri" pitchFamily="34" charset="-120"/>
              </a:rPr>
              <a:t>39 consecutive months of negative y/y CPI; CRC +10.25% over 12m</a:t>
            </a:r>
            <a:endParaRPr lang="en-US" sz="850" dirty="0"/>
          </a:p>
        </p:txBody>
      </p:sp>
      <p:sp>
        <p:nvSpPr>
          <p:cNvPr id="23" name="Text 21"/>
          <p:cNvSpPr txBox="1"/>
          <p:nvPr/>
        </p:nvSpPr>
        <p:spPr>
          <a:xfrm>
            <a:off x="749808" y="4297680"/>
            <a:ext cx="5035144" cy="493776"/>
          </a:xfrm>
          <a:prstGeom prst="rect">
            <a:avLst/>
          </a:prstGeom>
          <a:noFill/>
          <a:ln/>
        </p:spPr>
        <p:txBody>
          <a:bodyPr wrap="square" lIns="0" tIns="0" rIns="0" bIns="0" rtlCol="0" anchor="t"/>
          <a:lstStyle/>
          <a:p>
            <a:pPr indent="0" marL="0">
              <a:lnSpc>
                <a:spcPct val="108000"/>
              </a:lnSpc>
              <a:buNone/>
            </a:pPr>
            <a:r>
              <a:rPr lang="en-US" sz="850" i="1" dirty="0">
                <a:solidFill>
                  <a:srgbClr val="45646C"/>
                </a:solidFill>
                <a:latin typeface="Calibri" pitchFamily="34" charset="0"/>
                <a:ea typeface="Calibri" pitchFamily="34" charset="-122"/>
                <a:cs typeface="Calibri" pitchFamily="34" charset="-120"/>
              </a:rPr>
              <a:t>The best-rated momentum story in the sample has a real-economy problem underneath it.</a:t>
            </a:r>
            <a:endParaRPr lang="en-US" sz="850" dirty="0"/>
          </a:p>
        </p:txBody>
      </p:sp>
      <p:sp>
        <p:nvSpPr>
          <p:cNvPr id="24" name="Shape 22"/>
          <p:cNvSpPr/>
          <p:nvPr/>
        </p:nvSpPr>
        <p:spPr>
          <a:xfrm>
            <a:off x="6223864" y="3767328"/>
            <a:ext cx="5400904" cy="1097280"/>
          </a:xfrm>
          <a:prstGeom prst="roundRect">
            <a:avLst>
              <a:gd name="adj" fmla="val 5000"/>
            </a:avLst>
          </a:prstGeom>
          <a:solidFill>
            <a:srgbClr val="EDF1F2"/>
          </a:solidFill>
          <a:ln w="6350">
            <a:solidFill>
              <a:srgbClr val="EDF1F2"/>
            </a:solidFill>
            <a:prstDash val="solid"/>
          </a:ln>
        </p:spPr>
      </p:sp>
      <p:sp>
        <p:nvSpPr>
          <p:cNvPr id="25" name="Text 23"/>
          <p:cNvSpPr txBox="1"/>
          <p:nvPr/>
        </p:nvSpPr>
        <p:spPr>
          <a:xfrm>
            <a:off x="6406744" y="3858768"/>
            <a:ext cx="5035144" cy="219456"/>
          </a:xfrm>
          <a:prstGeom prst="rect">
            <a:avLst/>
          </a:prstGeom>
          <a:noFill/>
          <a:ln/>
        </p:spPr>
        <p:txBody>
          <a:bodyPr wrap="square" lIns="0" tIns="0" rIns="0" bIns="0" rtlCol="0" anchor="ctr"/>
          <a:lstStyle/>
          <a:p>
            <a:pPr indent="0" marL="0">
              <a:buNone/>
            </a:pPr>
            <a:r>
              <a:rPr lang="en-US" sz="1100" b="1" dirty="0">
                <a:solidFill>
                  <a:srgbClr val="A8322D"/>
                </a:solidFill>
                <a:latin typeface="Calibri" pitchFamily="34" charset="0"/>
                <a:ea typeface="Calibri" pitchFamily="34" charset="-122"/>
                <a:cs typeface="Calibri" pitchFamily="34" charset="-120"/>
              </a:rPr>
              <a:t>Guyana concentration</a:t>
            </a:r>
            <a:endParaRPr lang="en-US" sz="1100" dirty="0"/>
          </a:p>
        </p:txBody>
      </p:sp>
      <p:sp>
        <p:nvSpPr>
          <p:cNvPr id="26" name="Text 24"/>
          <p:cNvSpPr txBox="1"/>
          <p:nvPr/>
        </p:nvSpPr>
        <p:spPr>
          <a:xfrm>
            <a:off x="6406744" y="4078224"/>
            <a:ext cx="5035144" cy="201168"/>
          </a:xfrm>
          <a:prstGeom prst="rect">
            <a:avLst/>
          </a:prstGeom>
          <a:noFill/>
          <a:ln/>
        </p:spPr>
        <p:txBody>
          <a:bodyPr wrap="square" lIns="0" tIns="0" rIns="0" bIns="0" rtlCol="0" anchor="ctr"/>
          <a:lstStyle/>
          <a:p>
            <a:pPr indent="0" marL="0">
              <a:buNone/>
            </a:pPr>
            <a:r>
              <a:rPr lang="en-US" sz="850" b="1" dirty="0">
                <a:solidFill>
                  <a:srgbClr val="0B3B45"/>
                </a:solidFill>
                <a:latin typeface="Calibri" pitchFamily="34" charset="0"/>
                <a:ea typeface="Calibri" pitchFamily="34" charset="-122"/>
                <a:cs typeface="Calibri" pitchFamily="34" charset="-120"/>
              </a:rPr>
              <a:t>USD 1.06bn of central-bank reserves against a 13%-of-GDP current-account surplus</a:t>
            </a:r>
            <a:endParaRPr lang="en-US" sz="850" dirty="0"/>
          </a:p>
        </p:txBody>
      </p:sp>
      <p:sp>
        <p:nvSpPr>
          <p:cNvPr id="27" name="Text 25"/>
          <p:cNvSpPr txBox="1"/>
          <p:nvPr/>
        </p:nvSpPr>
        <p:spPr>
          <a:xfrm>
            <a:off x="6406744" y="4297680"/>
            <a:ext cx="5035144" cy="493776"/>
          </a:xfrm>
          <a:prstGeom prst="rect">
            <a:avLst/>
          </a:prstGeom>
          <a:noFill/>
          <a:ln/>
        </p:spPr>
        <p:txBody>
          <a:bodyPr wrap="square" lIns="0" tIns="0" rIns="0" bIns="0" rtlCol="0" anchor="t"/>
          <a:lstStyle/>
          <a:p>
            <a:pPr indent="0" marL="0">
              <a:lnSpc>
                <a:spcPct val="108000"/>
              </a:lnSpc>
              <a:buNone/>
            </a:pPr>
            <a:r>
              <a:rPr lang="en-US" sz="850" i="1" dirty="0">
                <a:solidFill>
                  <a:srgbClr val="45646C"/>
                </a:solidFill>
                <a:latin typeface="Calibri" pitchFamily="34" charset="0"/>
                <a:ea typeface="Calibri" pitchFamily="34" charset="-122"/>
                <a:cs typeface="Calibri" pitchFamily="34" charset="-120"/>
              </a:rPr>
              <a:t>Never present reserves as a Guyana buffer metric without the NRF alongside it. Satellite allocation only.</a:t>
            </a:r>
            <a:endParaRPr lang="en-US" sz="850" dirty="0"/>
          </a:p>
        </p:txBody>
      </p:sp>
      <p:sp>
        <p:nvSpPr>
          <p:cNvPr id="28" name="Shape 26"/>
          <p:cNvSpPr/>
          <p:nvPr/>
        </p:nvSpPr>
        <p:spPr>
          <a:xfrm>
            <a:off x="566928" y="4974336"/>
            <a:ext cx="5400904" cy="1097280"/>
          </a:xfrm>
          <a:prstGeom prst="roundRect">
            <a:avLst>
              <a:gd name="adj" fmla="val 5000"/>
            </a:avLst>
          </a:prstGeom>
          <a:solidFill>
            <a:srgbClr val="EDF1F2"/>
          </a:solidFill>
          <a:ln w="6350">
            <a:solidFill>
              <a:srgbClr val="EDF1F2"/>
            </a:solidFill>
            <a:prstDash val="solid"/>
          </a:ln>
        </p:spPr>
      </p:sp>
      <p:sp>
        <p:nvSpPr>
          <p:cNvPr id="29" name="Text 27"/>
          <p:cNvSpPr txBox="1"/>
          <p:nvPr/>
        </p:nvSpPr>
        <p:spPr>
          <a:xfrm>
            <a:off x="749808" y="5065776"/>
            <a:ext cx="5035144" cy="219456"/>
          </a:xfrm>
          <a:prstGeom prst="rect">
            <a:avLst/>
          </a:prstGeom>
          <a:noFill/>
          <a:ln/>
        </p:spPr>
        <p:txBody>
          <a:bodyPr wrap="square" lIns="0" tIns="0" rIns="0" bIns="0" rtlCol="0" anchor="ctr"/>
          <a:lstStyle/>
          <a:p>
            <a:pPr indent="0" marL="0">
              <a:buNone/>
            </a:pPr>
            <a:r>
              <a:rPr lang="en-US" sz="1100" b="1" dirty="0">
                <a:solidFill>
                  <a:srgbClr val="A8322D"/>
                </a:solidFill>
                <a:latin typeface="Calibri" pitchFamily="34" charset="0"/>
                <a:ea typeface="Calibri" pitchFamily="34" charset="-122"/>
                <a:cs typeface="Calibri" pitchFamily="34" charset="-120"/>
              </a:rPr>
              <a:t>Panama structure risk</a:t>
            </a:r>
            <a:endParaRPr lang="en-US" sz="1100" dirty="0"/>
          </a:p>
        </p:txBody>
      </p:sp>
      <p:sp>
        <p:nvSpPr>
          <p:cNvPr id="30" name="Text 28"/>
          <p:cNvSpPr txBox="1"/>
          <p:nvPr/>
        </p:nvSpPr>
        <p:spPr>
          <a:xfrm>
            <a:off x="749808" y="5285232"/>
            <a:ext cx="5035144" cy="201168"/>
          </a:xfrm>
          <a:prstGeom prst="rect">
            <a:avLst/>
          </a:prstGeom>
          <a:noFill/>
          <a:ln/>
        </p:spPr>
        <p:txBody>
          <a:bodyPr wrap="square" lIns="0" tIns="0" rIns="0" bIns="0" rtlCol="0" anchor="ctr"/>
          <a:lstStyle/>
          <a:p>
            <a:pPr indent="0" marL="0">
              <a:buNone/>
            </a:pPr>
            <a:r>
              <a:rPr lang="en-US" sz="850" b="1" dirty="0">
                <a:solidFill>
                  <a:srgbClr val="0B3B45"/>
                </a:solidFill>
                <a:latin typeface="Calibri" pitchFamily="34" charset="0"/>
                <a:ea typeface="Calibri" pitchFamily="34" charset="-122"/>
                <a:cs typeface="Calibri" pitchFamily="34" charset="-120"/>
              </a:rPr>
              <a:t>Law 526/2026 + Executive Decree 32</a:t>
            </a:r>
            <a:endParaRPr lang="en-US" sz="850" dirty="0"/>
          </a:p>
        </p:txBody>
      </p:sp>
      <p:sp>
        <p:nvSpPr>
          <p:cNvPr id="31" name="Text 29"/>
          <p:cNvSpPr txBox="1"/>
          <p:nvPr/>
        </p:nvSpPr>
        <p:spPr>
          <a:xfrm>
            <a:off x="749808" y="5504688"/>
            <a:ext cx="5035144" cy="493776"/>
          </a:xfrm>
          <a:prstGeom prst="rect">
            <a:avLst/>
          </a:prstGeom>
          <a:noFill/>
          <a:ln/>
        </p:spPr>
        <p:txBody>
          <a:bodyPr wrap="square" lIns="0" tIns="0" rIns="0" bIns="0" rtlCol="0" anchor="t"/>
          <a:lstStyle/>
          <a:p>
            <a:pPr indent="0" marL="0">
              <a:lnSpc>
                <a:spcPct val="108000"/>
              </a:lnSpc>
              <a:buNone/>
            </a:pPr>
            <a:r>
              <a:rPr lang="en-US" sz="850" i="1" dirty="0">
                <a:solidFill>
                  <a:srgbClr val="45646C"/>
                </a:solidFill>
                <a:latin typeface="Calibri" pitchFamily="34" charset="0"/>
                <a:ea typeface="Calibri" pitchFamily="34" charset="-122"/>
                <a:cs typeface="Calibri" pitchFamily="34" charset="-120"/>
              </a:rPr>
              <a:t>This is a book-wide triage, not a client-by-client one. It is also the highest-value advisory hook in the pack.</a:t>
            </a:r>
            <a:endParaRPr lang="en-US" sz="850" dirty="0"/>
          </a:p>
        </p:txBody>
      </p:sp>
      <p:sp>
        <p:nvSpPr>
          <p:cNvPr id="32" name="Shape 30"/>
          <p:cNvSpPr/>
          <p:nvPr/>
        </p:nvSpPr>
        <p:spPr>
          <a:xfrm>
            <a:off x="6223864" y="4974336"/>
            <a:ext cx="5400904" cy="1097280"/>
          </a:xfrm>
          <a:prstGeom prst="roundRect">
            <a:avLst>
              <a:gd name="adj" fmla="val 5000"/>
            </a:avLst>
          </a:prstGeom>
          <a:solidFill>
            <a:srgbClr val="EDF1F2"/>
          </a:solidFill>
          <a:ln w="6350">
            <a:solidFill>
              <a:srgbClr val="EDF1F2"/>
            </a:solidFill>
            <a:prstDash val="solid"/>
          </a:ln>
        </p:spPr>
      </p:sp>
      <p:sp>
        <p:nvSpPr>
          <p:cNvPr id="33" name="Text 31"/>
          <p:cNvSpPr txBox="1"/>
          <p:nvPr/>
        </p:nvSpPr>
        <p:spPr>
          <a:xfrm>
            <a:off x="6406744" y="5065776"/>
            <a:ext cx="5035144" cy="219456"/>
          </a:xfrm>
          <a:prstGeom prst="rect">
            <a:avLst/>
          </a:prstGeom>
          <a:noFill/>
          <a:ln/>
        </p:spPr>
        <p:txBody>
          <a:bodyPr wrap="square" lIns="0" tIns="0" rIns="0" bIns="0" rtlCol="0" anchor="ctr"/>
          <a:lstStyle/>
          <a:p>
            <a:pPr indent="0" marL="0">
              <a:buNone/>
            </a:pPr>
            <a:r>
              <a:rPr lang="en-US" sz="1100" b="1" dirty="0">
                <a:solidFill>
                  <a:srgbClr val="A8322D"/>
                </a:solidFill>
                <a:latin typeface="Calibri" pitchFamily="34" charset="0"/>
                <a:ea typeface="Calibri" pitchFamily="34" charset="-122"/>
                <a:cs typeface="Calibri" pitchFamily="34" charset="-120"/>
              </a:rPr>
              <a:t>Data hygiene</a:t>
            </a:r>
            <a:endParaRPr lang="en-US" sz="1100" dirty="0"/>
          </a:p>
        </p:txBody>
      </p:sp>
      <p:sp>
        <p:nvSpPr>
          <p:cNvPr id="34" name="Text 32"/>
          <p:cNvSpPr txBox="1"/>
          <p:nvPr/>
        </p:nvSpPr>
        <p:spPr>
          <a:xfrm>
            <a:off x="6406744" y="5285232"/>
            <a:ext cx="5035144" cy="201168"/>
          </a:xfrm>
          <a:prstGeom prst="rect">
            <a:avLst/>
          </a:prstGeom>
          <a:noFill/>
          <a:ln/>
        </p:spPr>
        <p:txBody>
          <a:bodyPr wrap="square" lIns="0" tIns="0" rIns="0" bIns="0" rtlCol="0" anchor="ctr"/>
          <a:lstStyle/>
          <a:p>
            <a:pPr indent="0" marL="0">
              <a:buNone/>
            </a:pPr>
            <a:r>
              <a:rPr lang="en-US" sz="850" b="1" dirty="0">
                <a:solidFill>
                  <a:srgbClr val="0B3B45"/>
                </a:solidFill>
                <a:latin typeface="Calibri" pitchFamily="34" charset="0"/>
                <a:ea typeface="Calibri" pitchFamily="34" charset="-122"/>
                <a:cs typeface="Calibri" pitchFamily="34" charset="-120"/>
              </a:rPr>
              <a:t>Rating aggregators carry wrong data</a:t>
            </a:r>
            <a:endParaRPr lang="en-US" sz="850" dirty="0"/>
          </a:p>
        </p:txBody>
      </p:sp>
      <p:sp>
        <p:nvSpPr>
          <p:cNvPr id="35" name="Text 33"/>
          <p:cNvSpPr txBox="1"/>
          <p:nvPr/>
        </p:nvSpPr>
        <p:spPr>
          <a:xfrm>
            <a:off x="6406744" y="5504688"/>
            <a:ext cx="5035144" cy="493776"/>
          </a:xfrm>
          <a:prstGeom prst="rect">
            <a:avLst/>
          </a:prstGeom>
          <a:noFill/>
          <a:ln/>
        </p:spPr>
        <p:txBody>
          <a:bodyPr wrap="square" lIns="0" tIns="0" rIns="0" bIns="0" rtlCol="0" anchor="t"/>
          <a:lstStyle/>
          <a:p>
            <a:pPr indent="0" marL="0">
              <a:lnSpc>
                <a:spcPct val="108000"/>
              </a:lnSpc>
              <a:buNone/>
            </a:pPr>
            <a:r>
              <a:rPr lang="en-US" sz="850" i="1" dirty="0">
                <a:solidFill>
                  <a:srgbClr val="45646C"/>
                </a:solidFill>
                <a:latin typeface="Calibri" pitchFamily="34" charset="0"/>
                <a:ea typeface="Calibri" pitchFamily="34" charset="-122"/>
                <a:cs typeface="Calibri" pitchFamily="34" charset="-120"/>
              </a:rPr>
              <a:t>Verify against agency releases before anything client-facing.</a:t>
            </a:r>
            <a:endParaRPr lang="en-US" sz="850" dirty="0"/>
          </a:p>
        </p:txBody>
      </p:sp>
      <p:sp>
        <p:nvSpPr>
          <p:cNvPr id="36" name="Text 34"/>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37" name="Text 35"/>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47</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D99A2B"/>
                </a:solidFill>
                <a:latin typeface="Calibri" pitchFamily="34" charset="0"/>
                <a:ea typeface="Calibri" pitchFamily="34" charset="-122"/>
                <a:cs typeface="Calibri" pitchFamily="34" charset="-120"/>
              </a:rPr>
              <a:t>WHAT TO ACTUALLY DO WITH IT</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Eight ways this becomes net new money</a:t>
            </a:r>
            <a:endParaRPr lang="en-US" sz="3000" dirty="0"/>
          </a:p>
        </p:txBody>
      </p:sp>
      <p:sp>
        <p:nvSpPr>
          <p:cNvPr id="4" name="Shape 2"/>
          <p:cNvSpPr/>
          <p:nvPr/>
        </p:nvSpPr>
        <p:spPr>
          <a:xfrm>
            <a:off x="566928" y="1170432"/>
            <a:ext cx="11057839" cy="484632"/>
          </a:xfrm>
          <a:prstGeom prst="rect">
            <a:avLst/>
          </a:prstGeom>
          <a:solidFill>
            <a:srgbClr val="0B3B45"/>
          </a:solidFill>
          <a:ln/>
        </p:spPr>
      </p:sp>
      <p:sp>
        <p:nvSpPr>
          <p:cNvPr id="5" name="Shape 3"/>
          <p:cNvSpPr/>
          <p:nvPr/>
        </p:nvSpPr>
        <p:spPr>
          <a:xfrm>
            <a:off x="676656" y="1280160"/>
            <a:ext cx="731520" cy="265176"/>
          </a:xfrm>
          <a:prstGeom prst="roundRect">
            <a:avLst>
              <a:gd name="adj" fmla="val 17241"/>
            </a:avLst>
          </a:prstGeom>
          <a:solidFill>
            <a:srgbClr val="D99A2B"/>
          </a:solidFill>
          <a:ln/>
        </p:spPr>
      </p:sp>
      <p:sp>
        <p:nvSpPr>
          <p:cNvPr id="6" name="Text 4"/>
          <p:cNvSpPr txBox="1"/>
          <p:nvPr/>
        </p:nvSpPr>
        <p:spPr>
          <a:xfrm>
            <a:off x="676656" y="1280160"/>
            <a:ext cx="731520" cy="265176"/>
          </a:xfrm>
          <a:prstGeom prst="rect">
            <a:avLst/>
          </a:prstGeom>
          <a:noFill/>
          <a:ln/>
        </p:spPr>
        <p:txBody>
          <a:bodyPr wrap="square" lIns="0" tIns="0" rIns="0" bIns="0" rtlCol="0" anchor="ctr"/>
          <a:lstStyle/>
          <a:p>
            <a:pPr algn="ctr" indent="0" marL="0">
              <a:buNone/>
            </a:pPr>
            <a:r>
              <a:rPr lang="en-US" sz="1050" b="1" dirty="0">
                <a:solidFill>
                  <a:srgbClr val="2A1D05"/>
                </a:solidFill>
                <a:latin typeface="Calibri" pitchFamily="34" charset="0"/>
                <a:ea typeface="Calibri" pitchFamily="34" charset="-122"/>
                <a:cs typeface="Calibri" pitchFamily="34" charset="-120"/>
              </a:rPr>
              <a:t>1</a:t>
            </a:r>
            <a:endParaRPr lang="en-US" sz="1050" dirty="0"/>
          </a:p>
        </p:txBody>
      </p:sp>
      <p:sp>
        <p:nvSpPr>
          <p:cNvPr id="7" name="Text 5"/>
          <p:cNvSpPr txBox="1"/>
          <p:nvPr/>
        </p:nvSpPr>
        <p:spPr>
          <a:xfrm>
            <a:off x="1517904" y="1188720"/>
            <a:ext cx="2651760" cy="4480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Panama structure triage</a:t>
            </a:r>
            <a:endParaRPr lang="en-US" sz="1050" dirty="0"/>
          </a:p>
        </p:txBody>
      </p:sp>
      <p:sp>
        <p:nvSpPr>
          <p:cNvPr id="8" name="Text 6"/>
          <p:cNvSpPr txBox="1"/>
          <p:nvPr/>
        </p:nvSpPr>
        <p:spPr>
          <a:xfrm>
            <a:off x="4242816" y="1188720"/>
            <a:ext cx="7269480" cy="448056"/>
          </a:xfrm>
          <a:prstGeom prst="rect">
            <a:avLst/>
          </a:prstGeom>
          <a:noFill/>
          <a:ln/>
        </p:spPr>
        <p:txBody>
          <a:bodyPr wrap="square" lIns="0" tIns="0" rIns="0" bIns="0" rtlCol="0" anchor="ctr"/>
          <a:lstStyle/>
          <a:p>
            <a:pPr indent="0" marL="0">
              <a:buNone/>
            </a:pPr>
            <a:r>
              <a:rPr lang="en-US" sz="900" dirty="0">
                <a:solidFill>
                  <a:srgbClr val="B8CBD0"/>
                </a:solidFill>
                <a:latin typeface="Calibri" pitchFamily="34" charset="0"/>
                <a:ea typeface="Calibri" pitchFamily="34" charset="-122"/>
                <a:cs typeface="Calibri" pitchFamily="34" charset="-120"/>
              </a:rPr>
              <a:t>A defensible, dated, technical reason to open every existing Panamanian file and to be the adviser who called it first.</a:t>
            </a:r>
            <a:endParaRPr lang="en-US" sz="900" dirty="0"/>
          </a:p>
        </p:txBody>
      </p:sp>
      <p:sp>
        <p:nvSpPr>
          <p:cNvPr id="9" name="Shape 7"/>
          <p:cNvSpPr/>
          <p:nvPr/>
        </p:nvSpPr>
        <p:spPr>
          <a:xfrm>
            <a:off x="566928" y="1700784"/>
            <a:ext cx="11057839" cy="484632"/>
          </a:xfrm>
          <a:prstGeom prst="rect">
            <a:avLst/>
          </a:prstGeom>
          <a:solidFill>
            <a:srgbClr val="0F444D"/>
          </a:solidFill>
          <a:ln/>
        </p:spPr>
      </p:sp>
      <p:sp>
        <p:nvSpPr>
          <p:cNvPr id="10" name="Shape 8"/>
          <p:cNvSpPr/>
          <p:nvPr/>
        </p:nvSpPr>
        <p:spPr>
          <a:xfrm>
            <a:off x="676656" y="1810512"/>
            <a:ext cx="731520" cy="265176"/>
          </a:xfrm>
          <a:prstGeom prst="roundRect">
            <a:avLst>
              <a:gd name="adj" fmla="val 17241"/>
            </a:avLst>
          </a:prstGeom>
          <a:solidFill>
            <a:srgbClr val="D99A2B"/>
          </a:solidFill>
          <a:ln/>
        </p:spPr>
      </p:sp>
      <p:sp>
        <p:nvSpPr>
          <p:cNvPr id="11" name="Text 9"/>
          <p:cNvSpPr txBox="1"/>
          <p:nvPr/>
        </p:nvSpPr>
        <p:spPr>
          <a:xfrm>
            <a:off x="676656" y="1810512"/>
            <a:ext cx="731520" cy="265176"/>
          </a:xfrm>
          <a:prstGeom prst="rect">
            <a:avLst/>
          </a:prstGeom>
          <a:noFill/>
          <a:ln/>
        </p:spPr>
        <p:txBody>
          <a:bodyPr wrap="square" lIns="0" tIns="0" rIns="0" bIns="0" rtlCol="0" anchor="ctr"/>
          <a:lstStyle/>
          <a:p>
            <a:pPr algn="ctr" indent="0" marL="0">
              <a:buNone/>
            </a:pPr>
            <a:r>
              <a:rPr lang="en-US" sz="1050" b="1" dirty="0">
                <a:solidFill>
                  <a:srgbClr val="2A1D05"/>
                </a:solidFill>
                <a:latin typeface="Calibri" pitchFamily="34" charset="0"/>
                <a:ea typeface="Calibri" pitchFamily="34" charset="-122"/>
                <a:cs typeface="Calibri" pitchFamily="34" charset="-120"/>
              </a:rPr>
              <a:t>1</a:t>
            </a:r>
            <a:endParaRPr lang="en-US" sz="1050" dirty="0"/>
          </a:p>
        </p:txBody>
      </p:sp>
      <p:sp>
        <p:nvSpPr>
          <p:cNvPr id="12" name="Text 10"/>
          <p:cNvSpPr txBox="1"/>
          <p:nvPr/>
        </p:nvSpPr>
        <p:spPr>
          <a:xfrm>
            <a:off x="1517904" y="1719072"/>
            <a:ext cx="2651760" cy="4480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Colombian wealth-tax uncertainty</a:t>
            </a:r>
            <a:endParaRPr lang="en-US" sz="1050" dirty="0"/>
          </a:p>
        </p:txBody>
      </p:sp>
      <p:sp>
        <p:nvSpPr>
          <p:cNvPr id="13" name="Text 11"/>
          <p:cNvSpPr txBox="1"/>
          <p:nvPr/>
        </p:nvSpPr>
        <p:spPr>
          <a:xfrm>
            <a:off x="4242816" y="1719072"/>
            <a:ext cx="7269480" cy="448056"/>
          </a:xfrm>
          <a:prstGeom prst="rect">
            <a:avLst/>
          </a:prstGeom>
          <a:noFill/>
          <a:ln/>
        </p:spPr>
        <p:txBody>
          <a:bodyPr wrap="square" lIns="0" tIns="0" rIns="0" bIns="0" rtlCol="0" anchor="ctr"/>
          <a:lstStyle/>
          <a:p>
            <a:pPr indent="0" marL="0">
              <a:buNone/>
            </a:pPr>
            <a:r>
              <a:rPr lang="en-US" sz="900" dirty="0">
                <a:solidFill>
                  <a:srgbClr val="B8CBD0"/>
                </a:solidFill>
                <a:latin typeface="Calibri" pitchFamily="34" charset="0"/>
                <a:ea typeface="Calibri" pitchFamily="34" charset="-122"/>
                <a:cs typeface="Calibri" pitchFamily="34" charset="-120"/>
              </a:rPr>
              <a:t>The client cannot plan and knows it. The conversation is the product; the answer is not yet available to anyone.</a:t>
            </a:r>
            <a:endParaRPr lang="en-US" sz="900" dirty="0"/>
          </a:p>
        </p:txBody>
      </p:sp>
      <p:sp>
        <p:nvSpPr>
          <p:cNvPr id="14" name="Shape 12"/>
          <p:cNvSpPr/>
          <p:nvPr/>
        </p:nvSpPr>
        <p:spPr>
          <a:xfrm>
            <a:off x="566928" y="2231136"/>
            <a:ext cx="11057839" cy="484632"/>
          </a:xfrm>
          <a:prstGeom prst="rect">
            <a:avLst/>
          </a:prstGeom>
          <a:solidFill>
            <a:srgbClr val="0B3B45"/>
          </a:solidFill>
          <a:ln/>
        </p:spPr>
      </p:sp>
      <p:sp>
        <p:nvSpPr>
          <p:cNvPr id="15" name="Shape 13"/>
          <p:cNvSpPr/>
          <p:nvPr/>
        </p:nvSpPr>
        <p:spPr>
          <a:xfrm>
            <a:off x="676656" y="2340864"/>
            <a:ext cx="731520" cy="265176"/>
          </a:xfrm>
          <a:prstGeom prst="roundRect">
            <a:avLst>
              <a:gd name="adj" fmla="val 17241"/>
            </a:avLst>
          </a:prstGeom>
          <a:solidFill>
            <a:srgbClr val="4E93A3"/>
          </a:solidFill>
          <a:ln/>
        </p:spPr>
      </p:sp>
      <p:sp>
        <p:nvSpPr>
          <p:cNvPr id="16" name="Text 14"/>
          <p:cNvSpPr txBox="1"/>
          <p:nvPr/>
        </p:nvSpPr>
        <p:spPr>
          <a:xfrm>
            <a:off x="676656" y="2340864"/>
            <a:ext cx="731520" cy="265176"/>
          </a:xfrm>
          <a:prstGeom prst="rect">
            <a:avLst/>
          </a:prstGeom>
          <a:noFill/>
          <a:ln/>
        </p:spPr>
        <p:txBody>
          <a:bodyPr wrap="square" lIns="0" tIns="0" rIns="0" bIns="0" rtlCol="0" anchor="ctr"/>
          <a:lstStyle/>
          <a:p>
            <a:pPr algn="ctr" indent="0" marL="0">
              <a:buNone/>
            </a:pPr>
            <a:r>
              <a:rPr lang="en-US" sz="1050" b="1" dirty="0">
                <a:solidFill>
                  <a:srgbClr val="07323A"/>
                </a:solidFill>
                <a:latin typeface="Calibri" pitchFamily="34" charset="0"/>
                <a:ea typeface="Calibri" pitchFamily="34" charset="-122"/>
                <a:cs typeface="Calibri" pitchFamily="34" charset="-120"/>
              </a:rPr>
              <a:t>2</a:t>
            </a:r>
            <a:endParaRPr lang="en-US" sz="1050" dirty="0"/>
          </a:p>
        </p:txBody>
      </p:sp>
      <p:sp>
        <p:nvSpPr>
          <p:cNvPr id="17" name="Text 15"/>
          <p:cNvSpPr txBox="1"/>
          <p:nvPr/>
        </p:nvSpPr>
        <p:spPr>
          <a:xfrm>
            <a:off x="1517904" y="2249424"/>
            <a:ext cx="2651760" cy="4480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Colombian offshore compliance</a:t>
            </a:r>
            <a:endParaRPr lang="en-US" sz="1050" dirty="0"/>
          </a:p>
        </p:txBody>
      </p:sp>
      <p:sp>
        <p:nvSpPr>
          <p:cNvPr id="18" name="Text 16"/>
          <p:cNvSpPr txBox="1"/>
          <p:nvPr/>
        </p:nvSpPr>
        <p:spPr>
          <a:xfrm>
            <a:off x="4242816" y="2249424"/>
            <a:ext cx="7269480" cy="448056"/>
          </a:xfrm>
          <a:prstGeom prst="rect">
            <a:avLst/>
          </a:prstGeom>
          <a:noFill/>
          <a:ln/>
        </p:spPr>
        <p:txBody>
          <a:bodyPr wrap="square" lIns="0" tIns="0" rIns="0" bIns="0" rtlCol="0" anchor="ctr"/>
          <a:lstStyle/>
          <a:p>
            <a:pPr indent="0" marL="0">
              <a:buNone/>
            </a:pPr>
            <a:r>
              <a:rPr lang="en-US" sz="900" dirty="0">
                <a:solidFill>
                  <a:srgbClr val="B8CBD0"/>
                </a:solidFill>
                <a:latin typeface="Calibri" pitchFamily="34" charset="0"/>
                <a:ea typeface="Calibri" pitchFamily="34" charset="-122"/>
                <a:cs typeface="Calibri" pitchFamily="34" charset="-120"/>
              </a:rPr>
              <a:t>A dated compliance deadline is the least resistible reason to call. It also surfaces every undeclared structure in the book.</a:t>
            </a:r>
            <a:endParaRPr lang="en-US" sz="900" dirty="0"/>
          </a:p>
        </p:txBody>
      </p:sp>
      <p:sp>
        <p:nvSpPr>
          <p:cNvPr id="19" name="Shape 17"/>
          <p:cNvSpPr/>
          <p:nvPr/>
        </p:nvSpPr>
        <p:spPr>
          <a:xfrm>
            <a:off x="566928" y="2761488"/>
            <a:ext cx="11057839" cy="484632"/>
          </a:xfrm>
          <a:prstGeom prst="rect">
            <a:avLst/>
          </a:prstGeom>
          <a:solidFill>
            <a:srgbClr val="0F444D"/>
          </a:solidFill>
          <a:ln/>
        </p:spPr>
      </p:sp>
      <p:sp>
        <p:nvSpPr>
          <p:cNvPr id="20" name="Shape 18"/>
          <p:cNvSpPr/>
          <p:nvPr/>
        </p:nvSpPr>
        <p:spPr>
          <a:xfrm>
            <a:off x="676656" y="2871216"/>
            <a:ext cx="731520" cy="265176"/>
          </a:xfrm>
          <a:prstGeom prst="roundRect">
            <a:avLst>
              <a:gd name="adj" fmla="val 17241"/>
            </a:avLst>
          </a:prstGeom>
          <a:solidFill>
            <a:srgbClr val="4E93A3"/>
          </a:solidFill>
          <a:ln/>
        </p:spPr>
      </p:sp>
      <p:sp>
        <p:nvSpPr>
          <p:cNvPr id="21" name="Text 19"/>
          <p:cNvSpPr txBox="1"/>
          <p:nvPr/>
        </p:nvSpPr>
        <p:spPr>
          <a:xfrm>
            <a:off x="676656" y="2871216"/>
            <a:ext cx="731520" cy="265176"/>
          </a:xfrm>
          <a:prstGeom prst="rect">
            <a:avLst/>
          </a:prstGeom>
          <a:noFill/>
          <a:ln/>
        </p:spPr>
        <p:txBody>
          <a:bodyPr wrap="square" lIns="0" tIns="0" rIns="0" bIns="0" rtlCol="0" anchor="ctr"/>
          <a:lstStyle/>
          <a:p>
            <a:pPr algn="ctr" indent="0" marL="0">
              <a:buNone/>
            </a:pPr>
            <a:r>
              <a:rPr lang="en-US" sz="1050" b="1" dirty="0">
                <a:solidFill>
                  <a:srgbClr val="07323A"/>
                </a:solidFill>
                <a:latin typeface="Calibri" pitchFamily="34" charset="0"/>
                <a:ea typeface="Calibri" pitchFamily="34" charset="-122"/>
                <a:cs typeface="Calibri" pitchFamily="34" charset="-120"/>
              </a:rPr>
              <a:t>2</a:t>
            </a:r>
            <a:endParaRPr lang="en-US" sz="1050" dirty="0"/>
          </a:p>
        </p:txBody>
      </p:sp>
      <p:sp>
        <p:nvSpPr>
          <p:cNvPr id="22" name="Text 20"/>
          <p:cNvSpPr txBox="1"/>
          <p:nvPr/>
        </p:nvSpPr>
        <p:spPr>
          <a:xfrm>
            <a:off x="1517904" y="2779776"/>
            <a:ext cx="2651760" cy="4480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Panama residency window</a:t>
            </a:r>
            <a:endParaRPr lang="en-US" sz="1050" dirty="0"/>
          </a:p>
        </p:txBody>
      </p:sp>
      <p:sp>
        <p:nvSpPr>
          <p:cNvPr id="23" name="Text 21"/>
          <p:cNvSpPr txBox="1"/>
          <p:nvPr/>
        </p:nvSpPr>
        <p:spPr>
          <a:xfrm>
            <a:off x="4242816" y="2779776"/>
            <a:ext cx="7269480" cy="448056"/>
          </a:xfrm>
          <a:prstGeom prst="rect">
            <a:avLst/>
          </a:prstGeom>
          <a:noFill/>
          <a:ln/>
        </p:spPr>
        <p:txBody>
          <a:bodyPr wrap="square" lIns="0" tIns="0" rIns="0" bIns="0" rtlCol="0" anchor="ctr"/>
          <a:lstStyle/>
          <a:p>
            <a:pPr indent="0" marL="0">
              <a:buNone/>
            </a:pPr>
            <a:r>
              <a:rPr lang="en-US" sz="900" dirty="0">
                <a:solidFill>
                  <a:srgbClr val="B8CBD0"/>
                </a:solidFill>
                <a:latin typeface="Calibri" pitchFamily="34" charset="0"/>
                <a:ea typeface="Calibri" pitchFamily="34" charset="-122"/>
                <a:cs typeface="Calibri" pitchFamily="34" charset="-120"/>
              </a:rPr>
              <a:t>Six weeks. Works for CentAm, Colombian and Venezuelan prospects alike.</a:t>
            </a:r>
            <a:endParaRPr lang="en-US" sz="900" dirty="0"/>
          </a:p>
        </p:txBody>
      </p:sp>
      <p:sp>
        <p:nvSpPr>
          <p:cNvPr id="24" name="Shape 22"/>
          <p:cNvSpPr/>
          <p:nvPr/>
        </p:nvSpPr>
        <p:spPr>
          <a:xfrm>
            <a:off x="566928" y="3291840"/>
            <a:ext cx="11057839" cy="484632"/>
          </a:xfrm>
          <a:prstGeom prst="rect">
            <a:avLst/>
          </a:prstGeom>
          <a:solidFill>
            <a:srgbClr val="0B3B45"/>
          </a:solidFill>
          <a:ln/>
        </p:spPr>
      </p:sp>
      <p:sp>
        <p:nvSpPr>
          <p:cNvPr id="25" name="Shape 23"/>
          <p:cNvSpPr/>
          <p:nvPr/>
        </p:nvSpPr>
        <p:spPr>
          <a:xfrm>
            <a:off x="676656" y="3401568"/>
            <a:ext cx="731520" cy="265176"/>
          </a:xfrm>
          <a:prstGeom prst="roundRect">
            <a:avLst>
              <a:gd name="adj" fmla="val 17241"/>
            </a:avLst>
          </a:prstGeom>
          <a:solidFill>
            <a:srgbClr val="4E93A3"/>
          </a:solidFill>
          <a:ln/>
        </p:spPr>
      </p:sp>
      <p:sp>
        <p:nvSpPr>
          <p:cNvPr id="26" name="Text 24"/>
          <p:cNvSpPr txBox="1"/>
          <p:nvPr/>
        </p:nvSpPr>
        <p:spPr>
          <a:xfrm>
            <a:off x="676656" y="3401568"/>
            <a:ext cx="731520" cy="265176"/>
          </a:xfrm>
          <a:prstGeom prst="rect">
            <a:avLst/>
          </a:prstGeom>
          <a:noFill/>
          <a:ln/>
        </p:spPr>
        <p:txBody>
          <a:bodyPr wrap="square" lIns="0" tIns="0" rIns="0" bIns="0" rtlCol="0" anchor="ctr"/>
          <a:lstStyle/>
          <a:p>
            <a:pPr algn="ctr" indent="0" marL="0">
              <a:buNone/>
            </a:pPr>
            <a:r>
              <a:rPr lang="en-US" sz="1050" b="1" dirty="0">
                <a:solidFill>
                  <a:srgbClr val="07323A"/>
                </a:solidFill>
                <a:latin typeface="Calibri" pitchFamily="34" charset="0"/>
                <a:ea typeface="Calibri" pitchFamily="34" charset="-122"/>
                <a:cs typeface="Calibri" pitchFamily="34" charset="-120"/>
              </a:rPr>
              <a:t>2</a:t>
            </a:r>
            <a:endParaRPr lang="en-US" sz="1050" dirty="0"/>
          </a:p>
        </p:txBody>
      </p:sp>
      <p:sp>
        <p:nvSpPr>
          <p:cNvPr id="27" name="Text 25"/>
          <p:cNvSpPr txBox="1"/>
          <p:nvPr/>
        </p:nvSpPr>
        <p:spPr>
          <a:xfrm>
            <a:off x="1517904" y="3310128"/>
            <a:ext cx="2651760" cy="4480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Liquidity events</a:t>
            </a:r>
            <a:endParaRPr lang="en-US" sz="1050" dirty="0"/>
          </a:p>
        </p:txBody>
      </p:sp>
      <p:sp>
        <p:nvSpPr>
          <p:cNvPr id="28" name="Text 26"/>
          <p:cNvSpPr txBox="1"/>
          <p:nvPr/>
        </p:nvSpPr>
        <p:spPr>
          <a:xfrm>
            <a:off x="4242816" y="3310128"/>
            <a:ext cx="7269480" cy="448056"/>
          </a:xfrm>
          <a:prstGeom prst="rect">
            <a:avLst/>
          </a:prstGeom>
          <a:noFill/>
          <a:ln/>
        </p:spPr>
        <p:txBody>
          <a:bodyPr wrap="square" lIns="0" tIns="0" rIns="0" bIns="0" rtlCol="0" anchor="ctr"/>
          <a:lstStyle/>
          <a:p>
            <a:pPr indent="0" marL="0">
              <a:buNone/>
            </a:pPr>
            <a:r>
              <a:rPr lang="en-US" sz="900" dirty="0">
                <a:solidFill>
                  <a:srgbClr val="B8CBD0"/>
                </a:solidFill>
                <a:latin typeface="Calibri" pitchFamily="34" charset="0"/>
                <a:ea typeface="Calibri" pitchFamily="34" charset="-122"/>
                <a:cs typeface="Calibri" pitchFamily="34" charset="-120"/>
              </a:rPr>
              <a:t>Prospecting is easier when you know who just got liquid and when.</a:t>
            </a:r>
            <a:endParaRPr lang="en-US" sz="900" dirty="0"/>
          </a:p>
        </p:txBody>
      </p:sp>
      <p:sp>
        <p:nvSpPr>
          <p:cNvPr id="29" name="Shape 27"/>
          <p:cNvSpPr/>
          <p:nvPr/>
        </p:nvSpPr>
        <p:spPr>
          <a:xfrm>
            <a:off x="566928" y="3822192"/>
            <a:ext cx="11057839" cy="484632"/>
          </a:xfrm>
          <a:prstGeom prst="rect">
            <a:avLst/>
          </a:prstGeom>
          <a:solidFill>
            <a:srgbClr val="0F444D"/>
          </a:solidFill>
          <a:ln/>
        </p:spPr>
      </p:sp>
      <p:sp>
        <p:nvSpPr>
          <p:cNvPr id="30" name="Shape 28"/>
          <p:cNvSpPr/>
          <p:nvPr/>
        </p:nvSpPr>
        <p:spPr>
          <a:xfrm>
            <a:off x="676656" y="3931920"/>
            <a:ext cx="731520" cy="265176"/>
          </a:xfrm>
          <a:prstGeom prst="roundRect">
            <a:avLst>
              <a:gd name="adj" fmla="val 17241"/>
            </a:avLst>
          </a:prstGeom>
          <a:solidFill>
            <a:srgbClr val="4E93A3"/>
          </a:solidFill>
          <a:ln/>
        </p:spPr>
      </p:sp>
      <p:sp>
        <p:nvSpPr>
          <p:cNvPr id="31" name="Text 29"/>
          <p:cNvSpPr txBox="1"/>
          <p:nvPr/>
        </p:nvSpPr>
        <p:spPr>
          <a:xfrm>
            <a:off x="676656" y="3931920"/>
            <a:ext cx="731520" cy="265176"/>
          </a:xfrm>
          <a:prstGeom prst="rect">
            <a:avLst/>
          </a:prstGeom>
          <a:noFill/>
          <a:ln/>
        </p:spPr>
        <p:txBody>
          <a:bodyPr wrap="square" lIns="0" tIns="0" rIns="0" bIns="0" rtlCol="0" anchor="ctr"/>
          <a:lstStyle/>
          <a:p>
            <a:pPr algn="ctr" indent="0" marL="0">
              <a:buNone/>
            </a:pPr>
            <a:r>
              <a:rPr lang="en-US" sz="1050" b="1" dirty="0">
                <a:solidFill>
                  <a:srgbClr val="07323A"/>
                </a:solidFill>
                <a:latin typeface="Calibri" pitchFamily="34" charset="0"/>
                <a:ea typeface="Calibri" pitchFamily="34" charset="-122"/>
                <a:cs typeface="Calibri" pitchFamily="34" charset="-120"/>
              </a:rPr>
              <a:t>2</a:t>
            </a:r>
            <a:endParaRPr lang="en-US" sz="1050" dirty="0"/>
          </a:p>
        </p:txBody>
      </p:sp>
      <p:sp>
        <p:nvSpPr>
          <p:cNvPr id="32" name="Text 30"/>
          <p:cNvSpPr txBox="1"/>
          <p:nvPr/>
        </p:nvSpPr>
        <p:spPr>
          <a:xfrm>
            <a:off x="1517904" y="3840480"/>
            <a:ext cx="2651760" cy="4480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Succession openings</a:t>
            </a:r>
            <a:endParaRPr lang="en-US" sz="1050" dirty="0"/>
          </a:p>
        </p:txBody>
      </p:sp>
      <p:sp>
        <p:nvSpPr>
          <p:cNvPr id="33" name="Text 31"/>
          <p:cNvSpPr txBox="1"/>
          <p:nvPr/>
        </p:nvSpPr>
        <p:spPr>
          <a:xfrm>
            <a:off x="4242816" y="3840480"/>
            <a:ext cx="7269480" cy="448056"/>
          </a:xfrm>
          <a:prstGeom prst="rect">
            <a:avLst/>
          </a:prstGeom>
          <a:noFill/>
          <a:ln/>
        </p:spPr>
        <p:txBody>
          <a:bodyPr wrap="square" lIns="0" tIns="0" rIns="0" bIns="0" rtlCol="0" anchor="ctr"/>
          <a:lstStyle/>
          <a:p>
            <a:pPr indent="0" marL="0">
              <a:buNone/>
            </a:pPr>
            <a:r>
              <a:rPr lang="en-US" sz="900" dirty="0">
                <a:solidFill>
                  <a:srgbClr val="B8CBD0"/>
                </a:solidFill>
                <a:latin typeface="Calibri" pitchFamily="34" charset="0"/>
                <a:ea typeface="Calibri" pitchFamily="34" charset="-122"/>
                <a:cs typeface="Calibri" pitchFamily="34" charset="-120"/>
              </a:rPr>
              <a:t>Succession is when a family reconsiders its banking relationships.</a:t>
            </a:r>
            <a:endParaRPr lang="en-US" sz="900" dirty="0"/>
          </a:p>
        </p:txBody>
      </p:sp>
      <p:sp>
        <p:nvSpPr>
          <p:cNvPr id="34" name="Shape 32"/>
          <p:cNvSpPr/>
          <p:nvPr/>
        </p:nvSpPr>
        <p:spPr>
          <a:xfrm>
            <a:off x="566928" y="4352544"/>
            <a:ext cx="11057839" cy="484632"/>
          </a:xfrm>
          <a:prstGeom prst="rect">
            <a:avLst/>
          </a:prstGeom>
          <a:solidFill>
            <a:srgbClr val="0B3B45"/>
          </a:solidFill>
          <a:ln/>
        </p:spPr>
      </p:sp>
      <p:sp>
        <p:nvSpPr>
          <p:cNvPr id="35" name="Shape 33"/>
          <p:cNvSpPr/>
          <p:nvPr/>
        </p:nvSpPr>
        <p:spPr>
          <a:xfrm>
            <a:off x="676656" y="4462272"/>
            <a:ext cx="731520" cy="265176"/>
          </a:xfrm>
          <a:prstGeom prst="roundRect">
            <a:avLst>
              <a:gd name="adj" fmla="val 17241"/>
            </a:avLst>
          </a:prstGeom>
          <a:solidFill>
            <a:srgbClr val="5A8A94"/>
          </a:solidFill>
          <a:ln/>
        </p:spPr>
      </p:sp>
      <p:sp>
        <p:nvSpPr>
          <p:cNvPr id="36" name="Text 34"/>
          <p:cNvSpPr txBox="1"/>
          <p:nvPr/>
        </p:nvSpPr>
        <p:spPr>
          <a:xfrm>
            <a:off x="676656" y="4462272"/>
            <a:ext cx="731520" cy="265176"/>
          </a:xfrm>
          <a:prstGeom prst="rect">
            <a:avLst/>
          </a:prstGeom>
          <a:noFill/>
          <a:ln/>
        </p:spPr>
        <p:txBody>
          <a:bodyPr wrap="square" lIns="0" tIns="0" rIns="0" bIns="0" rtlCol="0" anchor="ctr"/>
          <a:lstStyle/>
          <a:p>
            <a:pPr algn="ctr" indent="0" marL="0">
              <a:buNone/>
            </a:pPr>
            <a:r>
              <a:rPr lang="en-US" sz="1050" b="1" dirty="0">
                <a:solidFill>
                  <a:srgbClr val="07323A"/>
                </a:solidFill>
                <a:latin typeface="Calibri" pitchFamily="34" charset="0"/>
                <a:ea typeface="Calibri" pitchFamily="34" charset="-122"/>
                <a:cs typeface="Calibri" pitchFamily="34" charset="-120"/>
              </a:rPr>
              <a:t>3</a:t>
            </a:r>
            <a:endParaRPr lang="en-US" sz="1050" dirty="0"/>
          </a:p>
        </p:txBody>
      </p:sp>
      <p:sp>
        <p:nvSpPr>
          <p:cNvPr id="37" name="Text 35"/>
          <p:cNvSpPr txBox="1"/>
          <p:nvPr/>
        </p:nvSpPr>
        <p:spPr>
          <a:xfrm>
            <a:off x="1517904" y="4370832"/>
            <a:ext cx="2651760" cy="4480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The CONFOTUR product</a:t>
            </a:r>
            <a:endParaRPr lang="en-US" sz="1050" dirty="0"/>
          </a:p>
        </p:txBody>
      </p:sp>
      <p:sp>
        <p:nvSpPr>
          <p:cNvPr id="38" name="Text 36"/>
          <p:cNvSpPr txBox="1"/>
          <p:nvPr/>
        </p:nvSpPr>
        <p:spPr>
          <a:xfrm>
            <a:off x="4242816" y="4370832"/>
            <a:ext cx="7269480" cy="448056"/>
          </a:xfrm>
          <a:prstGeom prst="rect">
            <a:avLst/>
          </a:prstGeom>
          <a:noFill/>
          <a:ln/>
        </p:spPr>
        <p:txBody>
          <a:bodyPr wrap="square" lIns="0" tIns="0" rIns="0" bIns="0" rtlCol="0" anchor="ctr"/>
          <a:lstStyle/>
          <a:p>
            <a:pPr indent="0" marL="0">
              <a:buNone/>
            </a:pPr>
            <a:r>
              <a:rPr lang="en-US" sz="900" dirty="0">
                <a:solidFill>
                  <a:srgbClr val="B8CBD0"/>
                </a:solidFill>
                <a:latin typeface="Calibri" pitchFamily="34" charset="0"/>
                <a:ea typeface="Calibri" pitchFamily="34" charset="-122"/>
                <a:cs typeface="Calibri" pitchFamily="34" charset="-120"/>
              </a:rPr>
              <a:t>A concrete, legislated, tax-advantaged product to discuss with Caribbean real-asset buyers.</a:t>
            </a:r>
            <a:endParaRPr lang="en-US" sz="900" dirty="0"/>
          </a:p>
        </p:txBody>
      </p:sp>
      <p:sp>
        <p:nvSpPr>
          <p:cNvPr id="39" name="Shape 37"/>
          <p:cNvSpPr/>
          <p:nvPr/>
        </p:nvSpPr>
        <p:spPr>
          <a:xfrm>
            <a:off x="566928" y="4882896"/>
            <a:ext cx="11057839" cy="484632"/>
          </a:xfrm>
          <a:prstGeom prst="rect">
            <a:avLst/>
          </a:prstGeom>
          <a:solidFill>
            <a:srgbClr val="0F444D"/>
          </a:solidFill>
          <a:ln/>
        </p:spPr>
      </p:sp>
      <p:sp>
        <p:nvSpPr>
          <p:cNvPr id="40" name="Shape 38"/>
          <p:cNvSpPr/>
          <p:nvPr/>
        </p:nvSpPr>
        <p:spPr>
          <a:xfrm>
            <a:off x="676656" y="4992624"/>
            <a:ext cx="731520" cy="265176"/>
          </a:xfrm>
          <a:prstGeom prst="roundRect">
            <a:avLst>
              <a:gd name="adj" fmla="val 17241"/>
            </a:avLst>
          </a:prstGeom>
          <a:solidFill>
            <a:srgbClr val="5A8A94"/>
          </a:solidFill>
          <a:ln/>
        </p:spPr>
      </p:sp>
      <p:sp>
        <p:nvSpPr>
          <p:cNvPr id="41" name="Text 39"/>
          <p:cNvSpPr txBox="1"/>
          <p:nvPr/>
        </p:nvSpPr>
        <p:spPr>
          <a:xfrm>
            <a:off x="676656" y="4992624"/>
            <a:ext cx="731520" cy="265176"/>
          </a:xfrm>
          <a:prstGeom prst="rect">
            <a:avLst/>
          </a:prstGeom>
          <a:noFill/>
          <a:ln/>
        </p:spPr>
        <p:txBody>
          <a:bodyPr wrap="square" lIns="0" tIns="0" rIns="0" bIns="0" rtlCol="0" anchor="ctr"/>
          <a:lstStyle/>
          <a:p>
            <a:pPr algn="ctr" indent="0" marL="0">
              <a:buNone/>
            </a:pPr>
            <a:r>
              <a:rPr lang="en-US" sz="1050" b="1" dirty="0">
                <a:solidFill>
                  <a:srgbClr val="07323A"/>
                </a:solidFill>
                <a:latin typeface="Calibri" pitchFamily="34" charset="0"/>
                <a:ea typeface="Calibri" pitchFamily="34" charset="-122"/>
                <a:cs typeface="Calibri" pitchFamily="34" charset="-120"/>
              </a:rPr>
              <a:t>3</a:t>
            </a:r>
            <a:endParaRPr lang="en-US" sz="1050" dirty="0"/>
          </a:p>
        </p:txBody>
      </p:sp>
      <p:sp>
        <p:nvSpPr>
          <p:cNvPr id="42" name="Text 40"/>
          <p:cNvSpPr txBox="1"/>
          <p:nvPr/>
        </p:nvSpPr>
        <p:spPr>
          <a:xfrm>
            <a:off x="1517904" y="4901184"/>
            <a:ext cx="2651760" cy="448056"/>
          </a:xfrm>
          <a:prstGeom prst="rect">
            <a:avLst/>
          </a:prstGeom>
          <a:noFill/>
          <a:ln/>
        </p:spPr>
        <p:txBody>
          <a:bodyPr wrap="square" lIns="0" tIns="0" rIns="0" bIns="0" rtlCol="0" anchor="ctr"/>
          <a:lstStyle/>
          <a:p>
            <a:pPr indent="0" marL="0">
              <a:buNone/>
            </a:pPr>
            <a:r>
              <a:rPr lang="en-US" sz="1050" b="1" dirty="0">
                <a:solidFill>
                  <a:srgbClr val="FFFFFF"/>
                </a:solidFill>
                <a:latin typeface="Calibri" pitchFamily="34" charset="0"/>
                <a:ea typeface="Calibri" pitchFamily="34" charset="-122"/>
                <a:cs typeface="Calibri" pitchFamily="34" charset="-120"/>
              </a:rPr>
              <a:t>Rating catch-up</a:t>
            </a:r>
            <a:endParaRPr lang="en-US" sz="1050" dirty="0"/>
          </a:p>
        </p:txBody>
      </p:sp>
      <p:sp>
        <p:nvSpPr>
          <p:cNvPr id="43" name="Text 41"/>
          <p:cNvSpPr txBox="1"/>
          <p:nvPr/>
        </p:nvSpPr>
        <p:spPr>
          <a:xfrm>
            <a:off x="4242816" y="4901184"/>
            <a:ext cx="7269480" cy="448056"/>
          </a:xfrm>
          <a:prstGeom prst="rect">
            <a:avLst/>
          </a:prstGeom>
          <a:noFill/>
          <a:ln/>
        </p:spPr>
        <p:txBody>
          <a:bodyPr wrap="square" lIns="0" tIns="0" rIns="0" bIns="0" rtlCol="0" anchor="ctr"/>
          <a:lstStyle/>
          <a:p>
            <a:pPr indent="0" marL="0">
              <a:buNone/>
            </a:pPr>
            <a:r>
              <a:rPr lang="en-US" sz="900" dirty="0">
                <a:solidFill>
                  <a:srgbClr val="B8CBD0"/>
                </a:solidFill>
                <a:latin typeface="Calibri" pitchFamily="34" charset="0"/>
                <a:ea typeface="Calibri" pitchFamily="34" charset="-122"/>
                <a:cs typeface="Calibri" pitchFamily="34" charset="-120"/>
              </a:rPr>
              <a:t>A credible, differentiated CIO view that is not simply 'buy Colombia'.</a:t>
            </a:r>
            <a:endParaRPr lang="en-US" sz="900" dirty="0"/>
          </a:p>
        </p:txBody>
      </p:sp>
      <p:sp>
        <p:nvSpPr>
          <p:cNvPr id="44" name="Shape 42"/>
          <p:cNvSpPr/>
          <p:nvPr/>
        </p:nvSpPr>
        <p:spPr>
          <a:xfrm>
            <a:off x="566928" y="5559552"/>
            <a:ext cx="11057839" cy="694944"/>
          </a:xfrm>
          <a:prstGeom prst="roundRect">
            <a:avLst>
              <a:gd name="adj" fmla="val 7895"/>
            </a:avLst>
          </a:prstGeom>
          <a:solidFill>
            <a:srgbClr val="D99A2B"/>
          </a:solidFill>
          <a:ln w="6350">
            <a:solidFill>
              <a:srgbClr val="D99A2B"/>
            </a:solidFill>
            <a:prstDash val="solid"/>
          </a:ln>
        </p:spPr>
      </p:sp>
      <p:sp>
        <p:nvSpPr>
          <p:cNvPr id="45" name="Text 43"/>
          <p:cNvSpPr txBox="1"/>
          <p:nvPr/>
        </p:nvSpPr>
        <p:spPr>
          <a:xfrm>
            <a:off x="804672" y="5724144"/>
            <a:ext cx="10582351" cy="347472"/>
          </a:xfrm>
          <a:prstGeom prst="rect">
            <a:avLst/>
          </a:prstGeom>
          <a:noFill/>
          <a:ln/>
        </p:spPr>
        <p:txBody>
          <a:bodyPr wrap="square" lIns="0" tIns="0" rIns="0" bIns="0" rtlCol="0" anchor="t"/>
          <a:lstStyle/>
          <a:p>
            <a:pPr indent="0" marL="0">
              <a:lnSpc>
                <a:spcPct val="115000"/>
              </a:lnSpc>
              <a:buNone/>
            </a:pPr>
            <a:r>
              <a:rPr lang="en-US" sz="1050" dirty="0">
                <a:solidFill>
                  <a:srgbClr val="2A1D05"/>
                </a:solidFill>
                <a:latin typeface="Calibri" pitchFamily="34" charset="0"/>
                <a:ea typeface="Calibri" pitchFamily="34" charset="-122"/>
                <a:cs typeface="Calibri" pitchFamily="34" charset="-120"/>
              </a:rPr>
              <a:t>Tier 1 is a statutory deadline that costs the client money if ignored. Tier 2 is a dated event you can call about. Tier 3 is a view. In that order — a deadline gets returned calls that a view does not.</a:t>
            </a:r>
            <a:endParaRPr lang="en-US" sz="1050" dirty="0"/>
          </a:p>
        </p:txBody>
      </p:sp>
      <p:sp>
        <p:nvSpPr>
          <p:cNvPr id="46" name="Text 44"/>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E8B92"/>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47" name="Text 45"/>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E8B92"/>
                </a:solidFill>
                <a:latin typeface="Calibri" pitchFamily="34" charset="0"/>
                <a:ea typeface="Calibri" pitchFamily="34" charset="-122"/>
                <a:cs typeface="Calibri" pitchFamily="34" charset="-120"/>
              </a:rPr>
              <a:t>48</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PROSPECTING CALENDAR</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The next seven months, with dates</a:t>
            </a:r>
            <a:endParaRPr lang="en-US" sz="30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737360"/>
                <a:gridCol w="1097280"/>
                <a:gridCol w="3108960"/>
                <a:gridCol w="868680"/>
                <a:gridCol w="4242816"/>
              </a:tblGrid>
              <a:tr h="412328">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Date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Event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Priority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Why it is a conversation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1255379">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FY2027 (first declarations 2028)</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Law 526/2026 economic substance takes effect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A8322D"/>
                          </a:solidFill>
                          <a:latin typeface="Calibri" pitchFamily="34" charset="0"/>
                          <a:ea typeface="Calibri" pitchFamily="34" charset="-122"/>
                          <a:cs typeface="Calibri" pitchFamily="34" charset="-120"/>
                        </a:rPr>
                        <a:t>HIGHEST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Every Panamanian holding or foundation receiving foreign dividends, interest or rent must be triaged before FY2027. Default outcome for a passive shell is 15% where there was zero. Executive Decree 32 (3 Sep 2026) sets the minimum: one qualified employee, premises, proportionate opex, two in-person board meetings a year in Panama. COVERS TRUSTS AND FOUNDATIONS.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23091">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Unresolved</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Constitutional Court review of Decreto 1474 de 2026 (40,000 UVT threshold, rates to 5%)</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algn="ctr" indent="0" marL="0">
                        <a:buNone/>
                      </a:pPr>
                      <a:r>
                        <a:rPr lang="en-US" sz="850" b="1" dirty="0">
                          <a:solidFill>
                            <a:srgbClr val="A8322D"/>
                          </a:solidFill>
                          <a:latin typeface="Calibri" pitchFamily="34" charset="0"/>
                          <a:ea typeface="Calibri" pitchFamily="34" charset="-122"/>
                          <a:cs typeface="Calibri" pitchFamily="34" charset="-120"/>
                        </a:rPr>
                        <a:t>HIGHEST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Colombian wealth-tax planning CANNOT be closed out until the Court rules. That uncertainty is itself the client conversation.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833853">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Unresolved</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Moody's Baa3 - the last investment-grade notch</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A8322D"/>
                          </a:solidFill>
                          <a:latin typeface="Calibri" pitchFamily="34" charset="0"/>
                          <a:ea typeface="Calibri" pitchFamily="34" charset="-122"/>
                          <a:cs typeface="Calibri" pitchFamily="34" charset="-120"/>
                        </a:rPr>
                        <a:t>HIGHEST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A downgrade makes Colombia unambiguously sub-IG at all three, with forced-selling implications for IG-mandated portfolios. No agency has acted since either the election or the earthquake.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23091">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15 Oct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Qualified Investor Visa real-estate threshold rises USD 300,000 -&gt; USD 500,000</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algn="ctr" indent="0" marL="0">
                        <a:buNone/>
                      </a:pPr>
                      <a:r>
                        <a:rPr lang="en-US" sz="850" b="1" dirty="0">
                          <a:solidFill>
                            <a:srgbClr val="D99A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A six-week window. The single most actionable date in the pack for prospecting.</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23091">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15 Sep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Congressional committees must fix the 2027 budget amount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D99A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Full approval due 20 Oct 2026. Watch for a rating response.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Compiled from the statutory, budgetary and central-bank calendars cited throughout this pack.</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49</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PROSPECTING CALENDAR</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The next seven months, with dates (continued)</a:t>
            </a:r>
            <a:endParaRPr lang="en-US" sz="30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737360"/>
                <a:gridCol w="1097280"/>
                <a:gridCol w="3108960"/>
                <a:gridCol w="868680"/>
                <a:gridCol w="4242816"/>
              </a:tblGrid>
              <a:tr h="414070">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Date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Event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Priority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Why it is a conversation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625724">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Sep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'Ley de rescate económico' promised to Congress</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D99A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The government's own fiscal bill. He does not control Congress - 1 Senate seat, 4 Chamber seats.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14070">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30 Sep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BanRep rate decision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algn="ctr" indent="0" marL="0">
                        <a:buNone/>
                      </a:pPr>
                      <a:r>
                        <a:rPr lang="en-US" sz="850" b="1" dirty="0">
                          <a:solidFill>
                            <a:srgbClr val="D99A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Held 12.00% on 31 Jul on a 4-3 vote with three directors wanting +50bp.</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25724">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26 Oct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Individuals' deadline for the declaración de activos en el exterior</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D99A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Window opened 12 Aug. Threshold is only ~USD 33,000 of foreign assets. Penalties are punitive.</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414070">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20 Oct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2027 budget full approval deadline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algn="ctr" indent="0" marL="0">
                        <a:buNone/>
                      </a:pPr>
                      <a:r>
                        <a:rPr lang="en-US" sz="850" b="1" dirty="0">
                          <a:solidFill>
                            <a:srgbClr val="D99A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COP 634.9tn; debt service is ~25% of the budget.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25724">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Before Dec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Presidential commission to report on Cobre Panamá</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D99A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The largest single re-rating event available in Panama. Mulino has ruled out a congressional concession.</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625724">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1 Apr 2027</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Pension reform enters into force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algn="ctr" indent="0" marL="0">
                        <a:buNone/>
                      </a:pPr>
                      <a:r>
                        <a:rPr lang="en-US" sz="850" b="1" dirty="0">
                          <a:solidFill>
                            <a:srgbClr val="D99A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~67% of new contributor flows move to the public system. AFPs hold ~41% of COLCAP.</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625724">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After FY2026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Wealth-tax 1.5% top band scheduled to lapse absent new legislation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D99A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Interacts with the new government's abolition pledge and the pending Constitutional Court review of Decreto 1474/2026.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Compiled from the statutory, budgetary and central-bank calendars cited throughout this pack.</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50</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PROSPECTING CALENDAR</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The next seven months, with dates (continued)</a:t>
            </a:r>
            <a:endParaRPr lang="en-US" sz="3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566928" y="1389888"/>
          <a:ext cx="11057839" cy="914400"/>
        </p:xfrm>
        <a:graphic>
          <a:graphicData uri="http://schemas.openxmlformats.org/drawingml/2006/table">
            <a:tbl>
              <a:tblPr/>
              <a:tblGrid>
                <a:gridCol w="1737360"/>
                <a:gridCol w="1097280"/>
                <a:gridCol w="3108960"/>
                <a:gridCol w="868680"/>
                <a:gridCol w="4242816"/>
              </a:tblGrid>
              <a:tr h="502761">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Date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Market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Event</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Priority</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c>
                  <a:txBody>
                    <a:bodyPr/>
                    <a:lstStyle/>
                    <a:p>
                      <a:pPr algn="l" indent="0" marL="0">
                        <a:buNone/>
                      </a:pPr>
                      <a:r>
                        <a:rPr lang="en-US" sz="850" b="1" dirty="0">
                          <a:solidFill>
                            <a:srgbClr val="FFFFFF"/>
                          </a:solidFill>
                          <a:latin typeface="Calibri" pitchFamily="34" charset="0"/>
                          <a:ea typeface="Calibri" pitchFamily="34" charset="-122"/>
                          <a:cs typeface="Calibri" pitchFamily="34" charset="-120"/>
                        </a:rPr>
                        <a:t>Why it is a conversation</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0B3B45"/>
                    </a:solidFill>
                  </a:tcPr>
                </a:tc>
              </a:tr>
              <a:tr h="759749">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Pending</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3E5C7A"/>
                          </a:solidFill>
                          <a:latin typeface="Calibri" pitchFamily="34" charset="0"/>
                          <a:ea typeface="Calibri" pitchFamily="34" charset="-122"/>
                          <a:cs typeface="Calibri" pitchFamily="34" charset="-120"/>
                        </a:rPr>
                        <a:t>Guyana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ICJ ruling on Essequibo</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D99A2B"/>
                          </a:solidFill>
                          <a:latin typeface="Calibri" pitchFamily="34" charset="0"/>
                          <a:ea typeface="Calibri" pitchFamily="34" charset="-122"/>
                          <a:cs typeface="Calibri" pitchFamily="34" charset="-120"/>
                        </a:rPr>
                        <a:t>HIGH</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Merits heard 4-11 May 2026; no ruling and no timeline. Venezuela has stated it will ignore the ruling.</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02761">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Sep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8A5F12"/>
                          </a:solidFill>
                          <a:latin typeface="Calibri" pitchFamily="34" charset="0"/>
                          <a:ea typeface="Calibri" pitchFamily="34" charset="-122"/>
                          <a:cs typeface="Calibri" pitchFamily="34" charset="-120"/>
                        </a:rPr>
                        <a:t>Colombia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Bogotá Metro Line 2 bids due (relaunched tender)</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algn="ctr" indent="0" marL="0">
                        <a:buNone/>
                      </a:pPr>
                      <a:r>
                        <a:rPr lang="en-US" sz="850" b="1" dirty="0">
                          <a:solidFill>
                            <a:srgbClr val="6B7B80"/>
                          </a:solidFill>
                          <a:latin typeface="Calibri" pitchFamily="34" charset="0"/>
                          <a:ea typeface="Calibri" pitchFamily="34" charset="-122"/>
                          <a:cs typeface="Calibri" pitchFamily="34" charset="-120"/>
                        </a:rPr>
                        <a:t>MED</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The January tender received zero bids. Award expected Q1-2027.</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02761">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6 Oct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Panama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Río Indio reservoir programme-manager submissions due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6B7B80"/>
                          </a:solidFill>
                          <a:latin typeface="Calibri" pitchFamily="34" charset="0"/>
                          <a:ea typeface="Calibri" pitchFamily="34" charset="-122"/>
                          <a:cs typeface="Calibri" pitchFamily="34" charset="-120"/>
                        </a:rPr>
                        <a:t>MED</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USD 1.6bn ACP project.</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r h="502761">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Q4 2026</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b="1" dirty="0">
                          <a:solidFill>
                            <a:srgbClr val="3E5C7A"/>
                          </a:solidFill>
                          <a:latin typeface="Calibri" pitchFamily="34" charset="0"/>
                          <a:ea typeface="Calibri" pitchFamily="34" charset="-122"/>
                          <a:cs typeface="Calibri" pitchFamily="34" charset="-120"/>
                        </a:rPr>
                        <a:t>Guyana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Production expected to pass 1m bpd</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algn="ctr" indent="0" marL="0">
                        <a:buNone/>
                      </a:pPr>
                      <a:r>
                        <a:rPr lang="en-US" sz="850" b="1" dirty="0">
                          <a:solidFill>
                            <a:srgbClr val="6B7B80"/>
                          </a:solidFill>
                          <a:latin typeface="Calibri" pitchFamily="34" charset="0"/>
                          <a:ea typeface="Calibri" pitchFamily="34" charset="-122"/>
                          <a:cs typeface="Calibri" pitchFamily="34" charset="-120"/>
                        </a:rPr>
                        <a:t>MED</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Errea Wittu FPSO arrived 21 Aug 2026.</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EDF1F2"/>
                    </a:solidFill>
                  </a:tcPr>
                </a:tc>
              </a:tr>
              <a:tr h="502761">
                <a:tc>
                  <a:txBody>
                    <a:bodyPr/>
                    <a:lstStyle/>
                    <a:p>
                      <a:pPr indent="0" marL="0">
                        <a:buNone/>
                      </a:pPr>
                      <a:r>
                        <a:rPr lang="en-US" sz="850" b="1" dirty="0">
                          <a:solidFill>
                            <a:srgbClr val="0B3B45"/>
                          </a:solidFill>
                          <a:latin typeface="Calibri" pitchFamily="34" charset="0"/>
                          <a:ea typeface="Calibri" pitchFamily="34" charset="-122"/>
                          <a:cs typeface="Calibri" pitchFamily="34" charset="-120"/>
                        </a:rPr>
                        <a:t>2027</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b="1" dirty="0">
                          <a:solidFill>
                            <a:srgbClr val="2C6470"/>
                          </a:solidFill>
                          <a:latin typeface="Calibri" pitchFamily="34" charset="0"/>
                          <a:ea typeface="Calibri" pitchFamily="34" charset="-122"/>
                          <a:cs typeface="Calibri" pitchFamily="34" charset="-120"/>
                        </a:rPr>
                        <a:t>Guatemala</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50" dirty="0">
                          <a:solidFill>
                            <a:srgbClr val="0B3B45"/>
                          </a:solidFill>
                          <a:latin typeface="Calibri" pitchFamily="34" charset="0"/>
                          <a:ea typeface="Calibri" pitchFamily="34" charset="-122"/>
                          <a:cs typeface="Calibri" pitchFamily="34" charset="-120"/>
                        </a:rPr>
                        <a:t>General election (June)</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algn="ctr" indent="0" marL="0">
                        <a:buNone/>
                      </a:pPr>
                      <a:r>
                        <a:rPr lang="en-US" sz="850" b="1" dirty="0">
                          <a:solidFill>
                            <a:srgbClr val="6B7B80"/>
                          </a:solidFill>
                          <a:latin typeface="Calibri" pitchFamily="34" charset="0"/>
                          <a:ea typeface="Calibri" pitchFamily="34" charset="-122"/>
                          <a:cs typeface="Calibri" pitchFamily="34" charset="-120"/>
                        </a:rPr>
                        <a:t>MED</a:t>
                      </a:r>
                      <a:endParaRPr lang="en-US" sz="85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c>
                  <a:txBody>
                    <a:bodyPr/>
                    <a:lstStyle/>
                    <a:p>
                      <a:pPr indent="0" marL="0">
                        <a:buNone/>
                      </a:pPr>
                      <a:r>
                        <a:rPr lang="en-US" sz="800" dirty="0">
                          <a:solidFill>
                            <a:srgbClr val="45646C"/>
                          </a:solidFill>
                          <a:latin typeface="Calibri" pitchFamily="34" charset="0"/>
                          <a:ea typeface="Calibri" pitchFamily="34" charset="-122"/>
                          <a:cs typeface="Calibri" pitchFamily="34" charset="-120"/>
                        </a:rPr>
                        <a:t>Campaign begins during 2026; expect policy paralysis.</a:t>
                      </a:r>
                      <a:endParaRPr lang="en-US" sz="800" dirty="0">
                        <a:latin typeface="Calibri" charset="0"/>
                        <a:ea typeface="Calibri" charset="0"/>
                        <a:cs typeface="Calibri" charset="0"/>
                      </a:endParaRPr>
                    </a:p>
                  </a:txBody>
                  <a:tcPr marL="54864" marR="54864" marT="54864" marB="54864" anchor="ctr">
                    <a:lnL w="6350" cap="flat" cmpd="sng" algn="ctr">
                      <a:solidFill>
                        <a:srgbClr val="D6DEE0"/>
                      </a:solidFill>
                      <a:prstDash val="solid"/>
                      <a:round/>
                      <a:headEnd type="none" w="med" len="med"/>
                      <a:tailEnd type="none" w="med" len="med"/>
                    </a:lnL>
                    <a:lnR w="6350" cap="flat" cmpd="sng" algn="ctr">
                      <a:solidFill>
                        <a:srgbClr val="D6DEE0"/>
                      </a:solidFill>
                      <a:prstDash val="solid"/>
                      <a:round/>
                      <a:headEnd type="none" w="med" len="med"/>
                      <a:tailEnd type="none" w="med" len="med"/>
                    </a:lnR>
                    <a:lnT w="6350" cap="flat" cmpd="sng" algn="ctr">
                      <a:solidFill>
                        <a:srgbClr val="D6DEE0"/>
                      </a:solidFill>
                      <a:prstDash val="solid"/>
                      <a:round/>
                      <a:headEnd type="none" w="med" len="med"/>
                      <a:tailEnd type="none" w="med" len="med"/>
                    </a:lnT>
                    <a:lnB w="6350" cap="flat" cmpd="sng" algn="ctr">
                      <a:solidFill>
                        <a:srgbClr val="D6DEE0"/>
                      </a:solidFill>
                      <a:prstDash val="solid"/>
                      <a:round/>
                      <a:headEnd type="none" w="med" len="med"/>
                      <a:tailEnd type="none" w="med" len="med"/>
                    </a:lnB>
                    <a:solidFill>
                      <a:srgbClr val="FFFFFF"/>
                    </a:solidFill>
                  </a:tcPr>
                </a:tc>
              </a:tr>
            </a:tbl>
          </a:graphicData>
        </a:graphic>
      </p:graphicFrame>
      <p:sp>
        <p:nvSpPr>
          <p:cNvPr id="5" name="Text 2"/>
          <p:cNvSpPr txBox="1"/>
          <p:nvPr/>
        </p:nvSpPr>
        <p:spPr>
          <a:xfrm>
            <a:off x="566928" y="6291072"/>
            <a:ext cx="11057839" cy="237744"/>
          </a:xfrm>
          <a:prstGeom prst="rect">
            <a:avLst/>
          </a:prstGeom>
          <a:noFill/>
          <a:ln/>
        </p:spPr>
        <p:txBody>
          <a:bodyPr wrap="square" lIns="0" tIns="0" rIns="0" bIns="0" rtlCol="0" anchor="ctr"/>
          <a:lstStyle/>
          <a:p>
            <a:pPr indent="0" marL="0">
              <a:buNone/>
            </a:pPr>
            <a:r>
              <a:rPr lang="en-US" sz="800" i="1" dirty="0">
                <a:solidFill>
                  <a:srgbClr val="6B7B80"/>
                </a:solidFill>
                <a:latin typeface="Calibri" pitchFamily="34" charset="0"/>
                <a:ea typeface="Calibri" pitchFamily="34" charset="-122"/>
                <a:cs typeface="Calibri" pitchFamily="34" charset="-120"/>
              </a:rPr>
              <a:t>Source: Compiled from the statutory, budgetary and central-bank calendars cited throughout this pack.</a:t>
            </a:r>
            <a:endParaRPr lang="en-US" sz="800" dirty="0"/>
          </a:p>
        </p:txBody>
      </p:sp>
      <p:sp>
        <p:nvSpPr>
          <p:cNvPr id="6" name="Text 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7" name="Text 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51</a:t>
            </a:r>
            <a:endParaRPr lang="en-US" sz="800" dirty="0"/>
          </a:p>
        </p:txBody>
      </p:sp>
      <p:sp>
        <p:nvSpPr>
          <p:cNvPr id="8" name="Shape 5"/>
          <p:cNvSpPr/>
          <p:nvPr/>
        </p:nvSpPr>
        <p:spPr>
          <a:xfrm>
            <a:off x="566928" y="4901184"/>
            <a:ext cx="11057839" cy="859536"/>
          </a:xfrm>
          <a:prstGeom prst="roundRect">
            <a:avLst>
              <a:gd name="adj" fmla="val 6383"/>
            </a:avLst>
          </a:prstGeom>
          <a:solidFill>
            <a:srgbClr val="EDF1F2"/>
          </a:solidFill>
          <a:ln w="6350">
            <a:solidFill>
              <a:srgbClr val="EDF1F2"/>
            </a:solidFill>
            <a:prstDash val="solid"/>
          </a:ln>
        </p:spPr>
      </p:sp>
      <p:sp>
        <p:nvSpPr>
          <p:cNvPr id="9" name="Text 6"/>
          <p:cNvSpPr txBox="1"/>
          <p:nvPr/>
        </p:nvSpPr>
        <p:spPr>
          <a:xfrm>
            <a:off x="804672" y="5065776"/>
            <a:ext cx="10582351" cy="512064"/>
          </a:xfrm>
          <a:prstGeom prst="rect">
            <a:avLst/>
          </a:prstGeom>
          <a:noFill/>
          <a:ln/>
        </p:spPr>
        <p:txBody>
          <a:bodyPr wrap="square" lIns="0" tIns="0" rIns="0" bIns="0" rtlCol="0" anchor="t"/>
          <a:lstStyle/>
          <a:p>
            <a:pPr indent="0" marL="0">
              <a:lnSpc>
                <a:spcPct val="115000"/>
              </a:lnSpc>
              <a:buNone/>
            </a:pPr>
            <a:r>
              <a:rPr lang="en-US" sz="1050" dirty="0">
                <a:solidFill>
                  <a:srgbClr val="0B3B45"/>
                </a:solidFill>
                <a:latin typeface="Calibri" pitchFamily="34" charset="0"/>
                <a:ea typeface="Calibri" pitchFamily="34" charset="-122"/>
                <a:cs typeface="Calibri" pitchFamily="34" charset="-120"/>
              </a:rPr>
              <a:t>Two dates deserve a diary entry today: 15 October, when Panama's investor-visa threshold rises, and 26 October, when Colombian residents' foreign-asset declaration closes. Both are hard deadlines with a cost attached, and neither requires a market view to justify the call.</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4E93A3"/>
                </a:solidFill>
                <a:latin typeface="Calibri" pitchFamily="34" charset="0"/>
                <a:ea typeface="Calibri" pitchFamily="34" charset="-122"/>
                <a:cs typeface="Calibri" pitchFamily="34" charset="-120"/>
              </a:rPr>
              <a:t>NAMED GAPS, SO NOBODY FILLS THEM BY INFERENCE</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0B3B45"/>
                </a:solidFill>
                <a:latin typeface="Cambria" pitchFamily="34" charset="0"/>
                <a:ea typeface="Cambria" pitchFamily="34" charset="-122"/>
                <a:cs typeface="Cambria" pitchFamily="34" charset="-120"/>
              </a:rPr>
              <a:t>What this pack does not know</a:t>
            </a:r>
            <a:endParaRPr lang="en-US" sz="3000" dirty="0"/>
          </a:p>
        </p:txBody>
      </p:sp>
      <p:sp>
        <p:nvSpPr>
          <p:cNvPr id="4" name="Shape 2"/>
          <p:cNvSpPr/>
          <p:nvPr/>
        </p:nvSpPr>
        <p:spPr>
          <a:xfrm>
            <a:off x="566928" y="1353312"/>
            <a:ext cx="5400904" cy="603504"/>
          </a:xfrm>
          <a:prstGeom prst="rect">
            <a:avLst/>
          </a:prstGeom>
          <a:solidFill>
            <a:srgbClr val="FFFFFF"/>
          </a:solidFill>
          <a:ln/>
        </p:spPr>
      </p:sp>
      <p:sp>
        <p:nvSpPr>
          <p:cNvPr id="5" name="Text 3"/>
          <p:cNvSpPr txBox="1"/>
          <p:nvPr/>
        </p:nvSpPr>
        <p:spPr>
          <a:xfrm>
            <a:off x="694944" y="1389888"/>
            <a:ext cx="5144872" cy="182880"/>
          </a:xfrm>
          <a:prstGeom prst="rect">
            <a:avLst/>
          </a:prstGeom>
          <a:noFill/>
          <a:ln/>
        </p:spPr>
        <p:txBody>
          <a:bodyPr wrap="square" lIns="0" tIns="0" rIns="0" bIns="0" rtlCol="0" anchor="ctr"/>
          <a:lstStyle/>
          <a:p>
            <a:pPr indent="0" marL="0">
              <a:buNone/>
            </a:pPr>
            <a:r>
              <a:rPr lang="en-US" sz="950" b="1" dirty="0">
                <a:solidFill>
                  <a:srgbClr val="0B3B45"/>
                </a:solidFill>
                <a:latin typeface="Calibri" pitchFamily="34" charset="0"/>
                <a:ea typeface="Calibri" pitchFamily="34" charset="-122"/>
                <a:cs typeface="Calibri" pitchFamily="34" charset="-120"/>
              </a:rPr>
              <a:t>Fitch's current rating on Costa Rica and Guatemala</a:t>
            </a:r>
            <a:endParaRPr lang="en-US" sz="950" dirty="0"/>
          </a:p>
        </p:txBody>
      </p:sp>
      <p:sp>
        <p:nvSpPr>
          <p:cNvPr id="6" name="Text 4"/>
          <p:cNvSpPr txBox="1"/>
          <p:nvPr/>
        </p:nvSpPr>
        <p:spPr>
          <a:xfrm>
            <a:off x="694944" y="1572768"/>
            <a:ext cx="4267048" cy="365760"/>
          </a:xfrm>
          <a:prstGeom prst="rect">
            <a:avLst/>
          </a:prstGeom>
          <a:noFill/>
          <a:ln/>
        </p:spPr>
        <p:txBody>
          <a:bodyPr wrap="square" lIns="0" tIns="0" rIns="0" bIns="0" rtlCol="0" anchor="t"/>
          <a:lstStyle/>
          <a:p>
            <a:pPr indent="0" marL="0">
              <a:lnSpc>
                <a:spcPct val="102000"/>
              </a:lnSpc>
              <a:buNone/>
            </a:pPr>
            <a:r>
              <a:rPr lang="en-US" sz="750" dirty="0">
                <a:solidFill>
                  <a:srgbClr val="45646C"/>
                </a:solidFill>
                <a:latin typeface="Calibri" pitchFamily="34" charset="0"/>
                <a:ea typeface="Calibri" pitchFamily="34" charset="-122"/>
                <a:cs typeface="Calibri" pitchFamily="34" charset="-120"/>
              </a:rPr>
              <a:t>Our primary source has Fitch at BB- (Mar 2023) and BB (Feb 2023). A second source has BB (Dec 2025) and BB+ (Oct 2025). We could not reach fitchratings.com to settle it. The 'Fitch is stale, a catch-up upgrade is coming' thesis depends entirely on which is right.</a:t>
            </a:r>
            <a:endParaRPr lang="en-US" sz="750" dirty="0"/>
          </a:p>
        </p:txBody>
      </p:sp>
      <p:sp>
        <p:nvSpPr>
          <p:cNvPr id="7" name="Text 5"/>
          <p:cNvSpPr txBox="1"/>
          <p:nvPr/>
        </p:nvSpPr>
        <p:spPr>
          <a:xfrm>
            <a:off x="4980280" y="1572768"/>
            <a:ext cx="859536" cy="365760"/>
          </a:xfrm>
          <a:prstGeom prst="rect">
            <a:avLst/>
          </a:prstGeom>
          <a:noFill/>
          <a:ln/>
        </p:spPr>
        <p:txBody>
          <a:bodyPr wrap="square" lIns="0" tIns="0" rIns="0" bIns="0" rtlCol="0" anchor="t"/>
          <a:lstStyle/>
          <a:p>
            <a:pPr algn="r" indent="0" marL="0">
              <a:buNone/>
            </a:pPr>
            <a:r>
              <a:rPr lang="en-US" sz="750" i="1" dirty="0">
                <a:solidFill>
                  <a:srgbClr val="156A7A"/>
                </a:solidFill>
                <a:latin typeface="Calibri" pitchFamily="34" charset="0"/>
                <a:ea typeface="Calibri" pitchFamily="34" charset="-122"/>
                <a:cs typeface="Calibri" pitchFamily="34" charset="-120"/>
              </a:rPr>
              <a:t>Fitch Ratings direct - highest priority</a:t>
            </a:r>
            <a:endParaRPr lang="en-US" sz="750" dirty="0"/>
          </a:p>
        </p:txBody>
      </p:sp>
      <p:sp>
        <p:nvSpPr>
          <p:cNvPr id="8" name="Shape 6"/>
          <p:cNvSpPr/>
          <p:nvPr/>
        </p:nvSpPr>
        <p:spPr>
          <a:xfrm>
            <a:off x="6223864" y="1353312"/>
            <a:ext cx="5400904" cy="603504"/>
          </a:xfrm>
          <a:prstGeom prst="rect">
            <a:avLst/>
          </a:prstGeom>
          <a:solidFill>
            <a:srgbClr val="FFFFFF"/>
          </a:solidFill>
          <a:ln/>
        </p:spPr>
      </p:sp>
      <p:sp>
        <p:nvSpPr>
          <p:cNvPr id="9" name="Text 7"/>
          <p:cNvSpPr txBox="1"/>
          <p:nvPr/>
        </p:nvSpPr>
        <p:spPr>
          <a:xfrm>
            <a:off x="6351880" y="1389888"/>
            <a:ext cx="5144872" cy="182880"/>
          </a:xfrm>
          <a:prstGeom prst="rect">
            <a:avLst/>
          </a:prstGeom>
          <a:noFill/>
          <a:ln/>
        </p:spPr>
        <p:txBody>
          <a:bodyPr wrap="square" lIns="0" tIns="0" rIns="0" bIns="0" rtlCol="0" anchor="ctr"/>
          <a:lstStyle/>
          <a:p>
            <a:pPr indent="0" marL="0">
              <a:buNone/>
            </a:pPr>
            <a:r>
              <a:rPr lang="en-US" sz="950" b="1" dirty="0">
                <a:solidFill>
                  <a:srgbClr val="0B3B45"/>
                </a:solidFill>
                <a:latin typeface="Calibri" pitchFamily="34" charset="0"/>
                <a:ea typeface="Calibri" pitchFamily="34" charset="-122"/>
                <a:cs typeface="Calibri" pitchFamily="34" charset="-120"/>
              </a:rPr>
              <a:t>Colombia July 2026 CPI</a:t>
            </a:r>
            <a:endParaRPr lang="en-US" sz="950" dirty="0"/>
          </a:p>
        </p:txBody>
      </p:sp>
      <p:sp>
        <p:nvSpPr>
          <p:cNvPr id="10" name="Text 8"/>
          <p:cNvSpPr txBox="1"/>
          <p:nvPr/>
        </p:nvSpPr>
        <p:spPr>
          <a:xfrm>
            <a:off x="6351880" y="1572768"/>
            <a:ext cx="4267048" cy="365760"/>
          </a:xfrm>
          <a:prstGeom prst="rect">
            <a:avLst/>
          </a:prstGeom>
          <a:noFill/>
          <a:ln/>
        </p:spPr>
        <p:txBody>
          <a:bodyPr wrap="square" lIns="0" tIns="0" rIns="0" bIns="0" rtlCol="0" anchor="t"/>
          <a:lstStyle/>
          <a:p>
            <a:pPr indent="0" marL="0">
              <a:lnSpc>
                <a:spcPct val="102000"/>
              </a:lnSpc>
              <a:buNone/>
            </a:pPr>
            <a:r>
              <a:rPr lang="en-US" sz="750" dirty="0">
                <a:solidFill>
                  <a:srgbClr val="45646C"/>
                </a:solidFill>
                <a:latin typeface="Calibri" pitchFamily="34" charset="0"/>
                <a:ea typeface="Calibri" pitchFamily="34" charset="-122"/>
                <a:cs typeface="Calibri" pitchFamily="34" charset="-120"/>
              </a:rPr>
              <a:t>We carry 6.03% y/y from secondary reporting. BanRep's own July release describes inflation as still rising from 6.1% in June, which does not sit comfortably with a July fall. DANE's site was unreachable.</a:t>
            </a:r>
            <a:endParaRPr lang="en-US" sz="750" dirty="0"/>
          </a:p>
        </p:txBody>
      </p:sp>
      <p:sp>
        <p:nvSpPr>
          <p:cNvPr id="11" name="Text 9"/>
          <p:cNvSpPr txBox="1"/>
          <p:nvPr/>
        </p:nvSpPr>
        <p:spPr>
          <a:xfrm>
            <a:off x="10637215" y="1572768"/>
            <a:ext cx="859536" cy="365760"/>
          </a:xfrm>
          <a:prstGeom prst="rect">
            <a:avLst/>
          </a:prstGeom>
          <a:noFill/>
          <a:ln/>
        </p:spPr>
        <p:txBody>
          <a:bodyPr wrap="square" lIns="0" tIns="0" rIns="0" bIns="0" rtlCol="0" anchor="t"/>
          <a:lstStyle/>
          <a:p>
            <a:pPr algn="r" indent="0" marL="0">
              <a:buNone/>
            </a:pPr>
            <a:r>
              <a:rPr lang="en-US" sz="750" i="1" dirty="0">
                <a:solidFill>
                  <a:srgbClr val="156A7A"/>
                </a:solidFill>
                <a:latin typeface="Calibri" pitchFamily="34" charset="0"/>
                <a:ea typeface="Calibri" pitchFamily="34" charset="-122"/>
                <a:cs typeface="Calibri" pitchFamily="34" charset="-120"/>
              </a:rPr>
              <a:t>DANE monthly release</a:t>
            </a:r>
            <a:endParaRPr lang="en-US" sz="750" dirty="0"/>
          </a:p>
        </p:txBody>
      </p:sp>
      <p:sp>
        <p:nvSpPr>
          <p:cNvPr id="12" name="Shape 10"/>
          <p:cNvSpPr/>
          <p:nvPr/>
        </p:nvSpPr>
        <p:spPr>
          <a:xfrm>
            <a:off x="566928" y="2011680"/>
            <a:ext cx="5400904" cy="603504"/>
          </a:xfrm>
          <a:prstGeom prst="rect">
            <a:avLst/>
          </a:prstGeom>
          <a:solidFill>
            <a:srgbClr val="EDF1F2"/>
          </a:solidFill>
          <a:ln/>
        </p:spPr>
      </p:sp>
      <p:sp>
        <p:nvSpPr>
          <p:cNvPr id="13" name="Text 11"/>
          <p:cNvSpPr txBox="1"/>
          <p:nvPr/>
        </p:nvSpPr>
        <p:spPr>
          <a:xfrm>
            <a:off x="694944" y="2048256"/>
            <a:ext cx="5144872" cy="182880"/>
          </a:xfrm>
          <a:prstGeom prst="rect">
            <a:avLst/>
          </a:prstGeom>
          <a:noFill/>
          <a:ln/>
        </p:spPr>
        <p:txBody>
          <a:bodyPr wrap="square" lIns="0" tIns="0" rIns="0" bIns="0" rtlCol="0" anchor="ctr"/>
          <a:lstStyle/>
          <a:p>
            <a:pPr indent="0" marL="0">
              <a:buNone/>
            </a:pPr>
            <a:r>
              <a:rPr lang="en-US" sz="950" b="1" dirty="0">
                <a:solidFill>
                  <a:srgbClr val="0B3B45"/>
                </a:solidFill>
                <a:latin typeface="Calibri" pitchFamily="34" charset="0"/>
                <a:ea typeface="Calibri" pitchFamily="34" charset="-122"/>
                <a:cs typeface="Calibri" pitchFamily="34" charset="-120"/>
              </a:rPr>
              <a:t>2026 UVT value</a:t>
            </a:r>
            <a:endParaRPr lang="en-US" sz="950" dirty="0"/>
          </a:p>
        </p:txBody>
      </p:sp>
      <p:sp>
        <p:nvSpPr>
          <p:cNvPr id="14" name="Text 12"/>
          <p:cNvSpPr txBox="1"/>
          <p:nvPr/>
        </p:nvSpPr>
        <p:spPr>
          <a:xfrm>
            <a:off x="694944" y="2231136"/>
            <a:ext cx="4267048" cy="365760"/>
          </a:xfrm>
          <a:prstGeom prst="rect">
            <a:avLst/>
          </a:prstGeom>
          <a:noFill/>
          <a:ln/>
        </p:spPr>
        <p:txBody>
          <a:bodyPr wrap="square" lIns="0" tIns="0" rIns="0" bIns="0" rtlCol="0" anchor="t"/>
          <a:lstStyle/>
          <a:p>
            <a:pPr indent="0" marL="0">
              <a:lnSpc>
                <a:spcPct val="102000"/>
              </a:lnSpc>
              <a:buNone/>
            </a:pPr>
            <a:r>
              <a:rPr lang="en-US" sz="750" dirty="0">
                <a:solidFill>
                  <a:srgbClr val="45646C"/>
                </a:solidFill>
                <a:latin typeface="Calibri" pitchFamily="34" charset="0"/>
                <a:ea typeface="Calibri" pitchFamily="34" charset="-122"/>
                <a:cs typeface="Calibri" pitchFamily="34" charset="-120"/>
              </a:rPr>
              <a:t>We use COP 52,347, which is consistent with a ~5.1% indexation of the 2025 UVT, but the DIAN resolution could not be reached.</a:t>
            </a:r>
            <a:endParaRPr lang="en-US" sz="750" dirty="0"/>
          </a:p>
        </p:txBody>
      </p:sp>
      <p:sp>
        <p:nvSpPr>
          <p:cNvPr id="15" name="Text 13"/>
          <p:cNvSpPr txBox="1"/>
          <p:nvPr/>
        </p:nvSpPr>
        <p:spPr>
          <a:xfrm>
            <a:off x="4980280" y="2231136"/>
            <a:ext cx="859536" cy="365760"/>
          </a:xfrm>
          <a:prstGeom prst="rect">
            <a:avLst/>
          </a:prstGeom>
          <a:noFill/>
          <a:ln/>
        </p:spPr>
        <p:txBody>
          <a:bodyPr wrap="square" lIns="0" tIns="0" rIns="0" bIns="0" rtlCol="0" anchor="t"/>
          <a:lstStyle/>
          <a:p>
            <a:pPr algn="r" indent="0" marL="0">
              <a:buNone/>
            </a:pPr>
            <a:r>
              <a:rPr lang="en-US" sz="750" i="1" dirty="0">
                <a:solidFill>
                  <a:srgbClr val="156A7A"/>
                </a:solidFill>
                <a:latin typeface="Calibri" pitchFamily="34" charset="0"/>
                <a:ea typeface="Calibri" pitchFamily="34" charset="-122"/>
                <a:cs typeface="Calibri" pitchFamily="34" charset="-120"/>
              </a:rPr>
              <a:t>DIAN resolution</a:t>
            </a:r>
            <a:endParaRPr lang="en-US" sz="750" dirty="0"/>
          </a:p>
        </p:txBody>
      </p:sp>
      <p:sp>
        <p:nvSpPr>
          <p:cNvPr id="16" name="Shape 14"/>
          <p:cNvSpPr/>
          <p:nvPr/>
        </p:nvSpPr>
        <p:spPr>
          <a:xfrm>
            <a:off x="6223864" y="2011680"/>
            <a:ext cx="5400904" cy="603504"/>
          </a:xfrm>
          <a:prstGeom prst="rect">
            <a:avLst/>
          </a:prstGeom>
          <a:solidFill>
            <a:srgbClr val="EDF1F2"/>
          </a:solidFill>
          <a:ln/>
        </p:spPr>
      </p:sp>
      <p:sp>
        <p:nvSpPr>
          <p:cNvPr id="17" name="Text 15"/>
          <p:cNvSpPr txBox="1"/>
          <p:nvPr/>
        </p:nvSpPr>
        <p:spPr>
          <a:xfrm>
            <a:off x="6351880" y="2048256"/>
            <a:ext cx="5144872" cy="182880"/>
          </a:xfrm>
          <a:prstGeom prst="rect">
            <a:avLst/>
          </a:prstGeom>
          <a:noFill/>
          <a:ln/>
        </p:spPr>
        <p:txBody>
          <a:bodyPr wrap="square" lIns="0" tIns="0" rIns="0" bIns="0" rtlCol="0" anchor="ctr"/>
          <a:lstStyle/>
          <a:p>
            <a:pPr indent="0" marL="0">
              <a:buNone/>
            </a:pPr>
            <a:r>
              <a:rPr lang="en-US" sz="950" b="1" dirty="0">
                <a:solidFill>
                  <a:srgbClr val="0B3B45"/>
                </a:solidFill>
                <a:latin typeface="Calibri" pitchFamily="34" charset="0"/>
                <a:ea typeface="Calibri" pitchFamily="34" charset="-122"/>
                <a:cs typeface="Calibri" pitchFamily="34" charset="-120"/>
              </a:rPr>
              <a:t>Panama 2025 nominal GDP</a:t>
            </a:r>
            <a:endParaRPr lang="en-US" sz="950" dirty="0"/>
          </a:p>
        </p:txBody>
      </p:sp>
      <p:sp>
        <p:nvSpPr>
          <p:cNvPr id="18" name="Text 16"/>
          <p:cNvSpPr txBox="1"/>
          <p:nvPr/>
        </p:nvSpPr>
        <p:spPr>
          <a:xfrm>
            <a:off x="6351880" y="2231136"/>
            <a:ext cx="4267048" cy="365760"/>
          </a:xfrm>
          <a:prstGeom prst="rect">
            <a:avLst/>
          </a:prstGeom>
          <a:noFill/>
          <a:ln/>
        </p:spPr>
        <p:txBody>
          <a:bodyPr wrap="square" lIns="0" tIns="0" rIns="0" bIns="0" rtlCol="0" anchor="t"/>
          <a:lstStyle/>
          <a:p>
            <a:pPr indent="0" marL="0">
              <a:lnSpc>
                <a:spcPct val="102000"/>
              </a:lnSpc>
              <a:buNone/>
            </a:pPr>
            <a:r>
              <a:rPr lang="en-US" sz="750" dirty="0">
                <a:solidFill>
                  <a:srgbClr val="45646C"/>
                </a:solidFill>
                <a:latin typeface="Calibri" pitchFamily="34" charset="0"/>
                <a:ea typeface="Calibri" pitchFamily="34" charset="-122"/>
                <a:cs typeface="Calibri" pitchFamily="34" charset="-120"/>
              </a:rPr>
              <a:t>Panama is absent from the IMF WEO DataMapper. 2024 actual USD 86.5bn is the last firm figure.</a:t>
            </a:r>
            <a:endParaRPr lang="en-US" sz="750" dirty="0"/>
          </a:p>
        </p:txBody>
      </p:sp>
      <p:sp>
        <p:nvSpPr>
          <p:cNvPr id="19" name="Text 17"/>
          <p:cNvSpPr txBox="1"/>
          <p:nvPr/>
        </p:nvSpPr>
        <p:spPr>
          <a:xfrm>
            <a:off x="10637215" y="2231136"/>
            <a:ext cx="859536" cy="365760"/>
          </a:xfrm>
          <a:prstGeom prst="rect">
            <a:avLst/>
          </a:prstGeom>
          <a:noFill/>
          <a:ln/>
        </p:spPr>
        <p:txBody>
          <a:bodyPr wrap="square" lIns="0" tIns="0" rIns="0" bIns="0" rtlCol="0" anchor="t"/>
          <a:lstStyle/>
          <a:p>
            <a:pPr algn="r" indent="0" marL="0">
              <a:buNone/>
            </a:pPr>
            <a:r>
              <a:rPr lang="en-US" sz="750" i="1" dirty="0">
                <a:solidFill>
                  <a:srgbClr val="156A7A"/>
                </a:solidFill>
                <a:latin typeface="Calibri" pitchFamily="34" charset="0"/>
                <a:ea typeface="Calibri" pitchFamily="34" charset="-122"/>
                <a:cs typeface="Calibri" pitchFamily="34" charset="-120"/>
              </a:rPr>
              <a:t>INEC / MEF</a:t>
            </a:r>
            <a:endParaRPr lang="en-US" sz="750" dirty="0"/>
          </a:p>
        </p:txBody>
      </p:sp>
      <p:sp>
        <p:nvSpPr>
          <p:cNvPr id="20" name="Shape 18"/>
          <p:cNvSpPr/>
          <p:nvPr/>
        </p:nvSpPr>
        <p:spPr>
          <a:xfrm>
            <a:off x="566928" y="2670048"/>
            <a:ext cx="5400904" cy="603504"/>
          </a:xfrm>
          <a:prstGeom prst="rect">
            <a:avLst/>
          </a:prstGeom>
          <a:solidFill>
            <a:srgbClr val="FFFFFF"/>
          </a:solidFill>
          <a:ln/>
        </p:spPr>
      </p:sp>
      <p:sp>
        <p:nvSpPr>
          <p:cNvPr id="21" name="Text 19"/>
          <p:cNvSpPr txBox="1"/>
          <p:nvPr/>
        </p:nvSpPr>
        <p:spPr>
          <a:xfrm>
            <a:off x="694944" y="2706624"/>
            <a:ext cx="5144872" cy="182880"/>
          </a:xfrm>
          <a:prstGeom prst="rect">
            <a:avLst/>
          </a:prstGeom>
          <a:noFill/>
          <a:ln/>
        </p:spPr>
        <p:txBody>
          <a:bodyPr wrap="square" lIns="0" tIns="0" rIns="0" bIns="0" rtlCol="0" anchor="ctr"/>
          <a:lstStyle/>
          <a:p>
            <a:pPr indent="0" marL="0">
              <a:buNone/>
            </a:pPr>
            <a:r>
              <a:rPr lang="en-US" sz="950" b="1" dirty="0">
                <a:solidFill>
                  <a:srgbClr val="0B3B45"/>
                </a:solidFill>
                <a:latin typeface="Calibri" pitchFamily="34" charset="0"/>
                <a:ea typeface="Calibri" pitchFamily="34" charset="-122"/>
                <a:cs typeface="Calibri" pitchFamily="34" charset="-120"/>
              </a:rPr>
              <a:t>Sector share-of-GDP tables</a:t>
            </a:r>
            <a:endParaRPr lang="en-US" sz="950" dirty="0"/>
          </a:p>
        </p:txBody>
      </p:sp>
      <p:sp>
        <p:nvSpPr>
          <p:cNvPr id="22" name="Text 20"/>
          <p:cNvSpPr txBox="1"/>
          <p:nvPr/>
        </p:nvSpPr>
        <p:spPr>
          <a:xfrm>
            <a:off x="694944" y="2889504"/>
            <a:ext cx="4267048" cy="365760"/>
          </a:xfrm>
          <a:prstGeom prst="rect">
            <a:avLst/>
          </a:prstGeom>
          <a:noFill/>
          <a:ln/>
        </p:spPr>
        <p:txBody>
          <a:bodyPr wrap="square" lIns="0" tIns="0" rIns="0" bIns="0" rtlCol="0" anchor="t"/>
          <a:lstStyle/>
          <a:p>
            <a:pPr indent="0" marL="0">
              <a:lnSpc>
                <a:spcPct val="102000"/>
              </a:lnSpc>
              <a:buNone/>
            </a:pPr>
            <a:r>
              <a:rPr lang="en-US" sz="750" dirty="0">
                <a:solidFill>
                  <a:srgbClr val="45646C"/>
                </a:solidFill>
                <a:latin typeface="Calibri" pitchFamily="34" charset="0"/>
                <a:ea typeface="Calibri" pitchFamily="34" charset="-122"/>
                <a:cs typeface="Calibri" pitchFamily="34" charset="-120"/>
              </a:rPr>
              <a:t>DANE (403), BCRD, BCR El Salvador and the Guyana Bureau of Statistics did not serve accessible tables.</a:t>
            </a:r>
            <a:endParaRPr lang="en-US" sz="750" dirty="0"/>
          </a:p>
        </p:txBody>
      </p:sp>
      <p:sp>
        <p:nvSpPr>
          <p:cNvPr id="23" name="Text 21"/>
          <p:cNvSpPr txBox="1"/>
          <p:nvPr/>
        </p:nvSpPr>
        <p:spPr>
          <a:xfrm>
            <a:off x="4980280" y="2889504"/>
            <a:ext cx="859536" cy="365760"/>
          </a:xfrm>
          <a:prstGeom prst="rect">
            <a:avLst/>
          </a:prstGeom>
          <a:noFill/>
          <a:ln/>
        </p:spPr>
        <p:txBody>
          <a:bodyPr wrap="square" lIns="0" tIns="0" rIns="0" bIns="0" rtlCol="0" anchor="t"/>
          <a:lstStyle/>
          <a:p>
            <a:pPr algn="r" indent="0" marL="0">
              <a:buNone/>
            </a:pPr>
            <a:r>
              <a:rPr lang="en-US" sz="750" i="1" dirty="0">
                <a:solidFill>
                  <a:srgbClr val="156A7A"/>
                </a:solidFill>
                <a:latin typeface="Calibri" pitchFamily="34" charset="0"/>
                <a:ea typeface="Calibri" pitchFamily="34" charset="-122"/>
                <a:cs typeface="Calibri" pitchFamily="34" charset="-120"/>
              </a:rPr>
              <a:t>National statistics offices</a:t>
            </a:r>
            <a:endParaRPr lang="en-US" sz="750" dirty="0"/>
          </a:p>
        </p:txBody>
      </p:sp>
      <p:sp>
        <p:nvSpPr>
          <p:cNvPr id="24" name="Shape 22"/>
          <p:cNvSpPr/>
          <p:nvPr/>
        </p:nvSpPr>
        <p:spPr>
          <a:xfrm>
            <a:off x="6223864" y="2670048"/>
            <a:ext cx="5400904" cy="603504"/>
          </a:xfrm>
          <a:prstGeom prst="rect">
            <a:avLst/>
          </a:prstGeom>
          <a:solidFill>
            <a:srgbClr val="FFFFFF"/>
          </a:solidFill>
          <a:ln/>
        </p:spPr>
      </p:sp>
      <p:sp>
        <p:nvSpPr>
          <p:cNvPr id="25" name="Text 23"/>
          <p:cNvSpPr txBox="1"/>
          <p:nvPr/>
        </p:nvSpPr>
        <p:spPr>
          <a:xfrm>
            <a:off x="6351880" y="2706624"/>
            <a:ext cx="5144872" cy="182880"/>
          </a:xfrm>
          <a:prstGeom prst="rect">
            <a:avLst/>
          </a:prstGeom>
          <a:noFill/>
          <a:ln/>
        </p:spPr>
        <p:txBody>
          <a:bodyPr wrap="square" lIns="0" tIns="0" rIns="0" bIns="0" rtlCol="0" anchor="ctr"/>
          <a:lstStyle/>
          <a:p>
            <a:pPr indent="0" marL="0">
              <a:buNone/>
            </a:pPr>
            <a:r>
              <a:rPr lang="en-US" sz="950" b="1" dirty="0">
                <a:solidFill>
                  <a:srgbClr val="0B3B45"/>
                </a:solidFill>
                <a:latin typeface="Calibri" pitchFamily="34" charset="0"/>
                <a:ea typeface="Calibri" pitchFamily="34" charset="-122"/>
                <a:cs typeface="Calibri" pitchFamily="34" charset="-120"/>
              </a:rPr>
              <a:t>Colombian HNWI/UHNWI headcount</a:t>
            </a:r>
            <a:endParaRPr lang="en-US" sz="950" dirty="0"/>
          </a:p>
        </p:txBody>
      </p:sp>
      <p:sp>
        <p:nvSpPr>
          <p:cNvPr id="26" name="Text 24"/>
          <p:cNvSpPr txBox="1"/>
          <p:nvPr/>
        </p:nvSpPr>
        <p:spPr>
          <a:xfrm>
            <a:off x="6351880" y="2889504"/>
            <a:ext cx="4267048" cy="365760"/>
          </a:xfrm>
          <a:prstGeom prst="rect">
            <a:avLst/>
          </a:prstGeom>
          <a:noFill/>
          <a:ln/>
        </p:spPr>
        <p:txBody>
          <a:bodyPr wrap="square" lIns="0" tIns="0" rIns="0" bIns="0" rtlCol="0" anchor="t"/>
          <a:lstStyle/>
          <a:p>
            <a:pPr indent="0" marL="0">
              <a:lnSpc>
                <a:spcPct val="102000"/>
              </a:lnSpc>
              <a:buNone/>
            </a:pPr>
            <a:r>
              <a:rPr lang="en-US" sz="750" dirty="0">
                <a:solidFill>
                  <a:srgbClr val="45646C"/>
                </a:solidFill>
                <a:latin typeface="Calibri" pitchFamily="34" charset="0"/>
                <a:ea typeface="Calibri" pitchFamily="34" charset="-122"/>
                <a:cs typeface="Calibri" pitchFamily="34" charset="-120"/>
              </a:rPr>
              <a:t>Capgemini, Knight Frank and Altrata country tables are paywalled. DO NOT publish an inferred figure - a Colombian client will test it.</a:t>
            </a:r>
            <a:endParaRPr lang="en-US" sz="750" dirty="0"/>
          </a:p>
        </p:txBody>
      </p:sp>
      <p:sp>
        <p:nvSpPr>
          <p:cNvPr id="27" name="Text 25"/>
          <p:cNvSpPr txBox="1"/>
          <p:nvPr/>
        </p:nvSpPr>
        <p:spPr>
          <a:xfrm>
            <a:off x="10637215" y="2889504"/>
            <a:ext cx="859536" cy="365760"/>
          </a:xfrm>
          <a:prstGeom prst="rect">
            <a:avLst/>
          </a:prstGeom>
          <a:noFill/>
          <a:ln/>
        </p:spPr>
        <p:txBody>
          <a:bodyPr wrap="square" lIns="0" tIns="0" rIns="0" bIns="0" rtlCol="0" anchor="t"/>
          <a:lstStyle/>
          <a:p>
            <a:pPr algn="r" indent="0" marL="0">
              <a:buNone/>
            </a:pPr>
            <a:r>
              <a:rPr lang="en-US" sz="750" i="1" dirty="0">
                <a:solidFill>
                  <a:srgbClr val="156A7A"/>
                </a:solidFill>
                <a:latin typeface="Calibri" pitchFamily="34" charset="0"/>
                <a:ea typeface="Calibri" pitchFamily="34" charset="-122"/>
                <a:cs typeface="Calibri" pitchFamily="34" charset="-120"/>
              </a:rPr>
              <a:t>License Knight Frank 2026 / Capgemini 2026</a:t>
            </a:r>
            <a:endParaRPr lang="en-US" sz="750" dirty="0"/>
          </a:p>
        </p:txBody>
      </p:sp>
      <p:sp>
        <p:nvSpPr>
          <p:cNvPr id="28" name="Shape 26"/>
          <p:cNvSpPr/>
          <p:nvPr/>
        </p:nvSpPr>
        <p:spPr>
          <a:xfrm>
            <a:off x="566928" y="3328416"/>
            <a:ext cx="5400904" cy="603504"/>
          </a:xfrm>
          <a:prstGeom prst="rect">
            <a:avLst/>
          </a:prstGeom>
          <a:solidFill>
            <a:srgbClr val="EDF1F2"/>
          </a:solidFill>
          <a:ln/>
        </p:spPr>
      </p:sp>
      <p:sp>
        <p:nvSpPr>
          <p:cNvPr id="29" name="Text 27"/>
          <p:cNvSpPr txBox="1"/>
          <p:nvPr/>
        </p:nvSpPr>
        <p:spPr>
          <a:xfrm>
            <a:off x="694944" y="3364992"/>
            <a:ext cx="5144872" cy="182880"/>
          </a:xfrm>
          <a:prstGeom prst="rect">
            <a:avLst/>
          </a:prstGeom>
          <a:noFill/>
          <a:ln/>
        </p:spPr>
        <p:txBody>
          <a:bodyPr wrap="square" lIns="0" tIns="0" rIns="0" bIns="0" rtlCol="0" anchor="ctr"/>
          <a:lstStyle/>
          <a:p>
            <a:pPr indent="0" marL="0">
              <a:buNone/>
            </a:pPr>
            <a:r>
              <a:rPr lang="en-US" sz="950" b="1" dirty="0">
                <a:solidFill>
                  <a:srgbClr val="0B3B45"/>
                </a:solidFill>
                <a:latin typeface="Calibri" pitchFamily="34" charset="0"/>
                <a:ea typeface="Calibri" pitchFamily="34" charset="-122"/>
                <a:cs typeface="Calibri" pitchFamily="34" charset="-120"/>
              </a:rPr>
              <a:t>Colombian HNWI emigration to Miami/Madrid/Panama</a:t>
            </a:r>
            <a:endParaRPr lang="en-US" sz="950" dirty="0"/>
          </a:p>
        </p:txBody>
      </p:sp>
      <p:sp>
        <p:nvSpPr>
          <p:cNvPr id="30" name="Text 28"/>
          <p:cNvSpPr txBox="1"/>
          <p:nvPr/>
        </p:nvSpPr>
        <p:spPr>
          <a:xfrm>
            <a:off x="694944" y="3547872"/>
            <a:ext cx="4267048" cy="365760"/>
          </a:xfrm>
          <a:prstGeom prst="rect">
            <a:avLst/>
          </a:prstGeom>
          <a:noFill/>
          <a:ln/>
        </p:spPr>
        <p:txBody>
          <a:bodyPr wrap="square" lIns="0" tIns="0" rIns="0" bIns="0" rtlCol="0" anchor="t"/>
          <a:lstStyle/>
          <a:p>
            <a:pPr indent="0" marL="0">
              <a:lnSpc>
                <a:spcPct val="102000"/>
              </a:lnSpc>
              <a:buNone/>
            </a:pPr>
            <a:r>
              <a:rPr lang="en-US" sz="750" dirty="0">
                <a:solidFill>
                  <a:srgbClr val="45646C"/>
                </a:solidFill>
                <a:latin typeface="Calibri" pitchFamily="34" charset="0"/>
                <a:ea typeface="Calibri" pitchFamily="34" charset="-122"/>
                <a:cs typeface="Calibri" pitchFamily="34" charset="-120"/>
              </a:rPr>
              <a:t>Henley Private Wealth Migration Report 2026 sub-sections are unfetchable.</a:t>
            </a:r>
            <a:endParaRPr lang="en-US" sz="750" dirty="0"/>
          </a:p>
        </p:txBody>
      </p:sp>
      <p:sp>
        <p:nvSpPr>
          <p:cNvPr id="31" name="Text 29"/>
          <p:cNvSpPr txBox="1"/>
          <p:nvPr/>
        </p:nvSpPr>
        <p:spPr>
          <a:xfrm>
            <a:off x="4980280" y="3547872"/>
            <a:ext cx="859536" cy="365760"/>
          </a:xfrm>
          <a:prstGeom prst="rect">
            <a:avLst/>
          </a:prstGeom>
          <a:noFill/>
          <a:ln/>
        </p:spPr>
        <p:txBody>
          <a:bodyPr wrap="square" lIns="0" tIns="0" rIns="0" bIns="0" rtlCol="0" anchor="t"/>
          <a:lstStyle/>
          <a:p>
            <a:pPr algn="r" indent="0" marL="0">
              <a:buNone/>
            </a:pPr>
            <a:r>
              <a:rPr lang="en-US" sz="750" i="1" dirty="0">
                <a:solidFill>
                  <a:srgbClr val="156A7A"/>
                </a:solidFill>
                <a:latin typeface="Calibri" pitchFamily="34" charset="0"/>
                <a:ea typeface="Calibri" pitchFamily="34" charset="-122"/>
                <a:cs typeface="Calibri" pitchFamily="34" charset="-120"/>
              </a:rPr>
              <a:t>Henley</a:t>
            </a:r>
            <a:endParaRPr lang="en-US" sz="750" dirty="0"/>
          </a:p>
        </p:txBody>
      </p:sp>
      <p:sp>
        <p:nvSpPr>
          <p:cNvPr id="32" name="Shape 30"/>
          <p:cNvSpPr/>
          <p:nvPr/>
        </p:nvSpPr>
        <p:spPr>
          <a:xfrm>
            <a:off x="6223864" y="3328416"/>
            <a:ext cx="5400904" cy="603504"/>
          </a:xfrm>
          <a:prstGeom prst="rect">
            <a:avLst/>
          </a:prstGeom>
          <a:solidFill>
            <a:srgbClr val="EDF1F2"/>
          </a:solidFill>
          <a:ln/>
        </p:spPr>
      </p:sp>
      <p:sp>
        <p:nvSpPr>
          <p:cNvPr id="33" name="Text 31"/>
          <p:cNvSpPr txBox="1"/>
          <p:nvPr/>
        </p:nvSpPr>
        <p:spPr>
          <a:xfrm>
            <a:off x="6351880" y="3364992"/>
            <a:ext cx="5144872" cy="182880"/>
          </a:xfrm>
          <a:prstGeom prst="rect">
            <a:avLst/>
          </a:prstGeom>
          <a:noFill/>
          <a:ln/>
        </p:spPr>
        <p:txBody>
          <a:bodyPr wrap="square" lIns="0" tIns="0" rIns="0" bIns="0" rtlCol="0" anchor="ctr"/>
          <a:lstStyle/>
          <a:p>
            <a:pPr indent="0" marL="0">
              <a:buNone/>
            </a:pPr>
            <a:r>
              <a:rPr lang="en-US" sz="950" b="1" dirty="0">
                <a:solidFill>
                  <a:srgbClr val="0B3B45"/>
                </a:solidFill>
                <a:latin typeface="Calibri" pitchFamily="34" charset="0"/>
                <a:ea typeface="Calibri" pitchFamily="34" charset="-122"/>
                <a:cs typeface="Calibri" pitchFamily="34" charset="-120"/>
              </a:rPr>
              <a:t>Colombian family-office formation data</a:t>
            </a:r>
            <a:endParaRPr lang="en-US" sz="950" dirty="0"/>
          </a:p>
        </p:txBody>
      </p:sp>
      <p:sp>
        <p:nvSpPr>
          <p:cNvPr id="34" name="Text 32"/>
          <p:cNvSpPr txBox="1"/>
          <p:nvPr/>
        </p:nvSpPr>
        <p:spPr>
          <a:xfrm>
            <a:off x="6351880" y="3547872"/>
            <a:ext cx="4267048" cy="365760"/>
          </a:xfrm>
          <a:prstGeom prst="rect">
            <a:avLst/>
          </a:prstGeom>
          <a:noFill/>
          <a:ln/>
        </p:spPr>
        <p:txBody>
          <a:bodyPr wrap="square" lIns="0" tIns="0" rIns="0" bIns="0" rtlCol="0" anchor="t"/>
          <a:lstStyle/>
          <a:p>
            <a:pPr indent="0" marL="0">
              <a:lnSpc>
                <a:spcPct val="102000"/>
              </a:lnSpc>
              <a:buNone/>
            </a:pPr>
            <a:r>
              <a:rPr lang="en-US" sz="750" dirty="0">
                <a:solidFill>
                  <a:srgbClr val="45646C"/>
                </a:solidFill>
                <a:latin typeface="Calibri" pitchFamily="34" charset="0"/>
                <a:ea typeface="Calibri" pitchFamily="34" charset="-122"/>
                <a:cs typeface="Calibri" pitchFamily="34" charset="-120"/>
              </a:rPr>
              <a:t>No accessible source found.</a:t>
            </a:r>
            <a:endParaRPr lang="en-US" sz="750" dirty="0"/>
          </a:p>
        </p:txBody>
      </p:sp>
      <p:sp>
        <p:nvSpPr>
          <p:cNvPr id="35" name="Text 33"/>
          <p:cNvSpPr txBox="1"/>
          <p:nvPr/>
        </p:nvSpPr>
        <p:spPr>
          <a:xfrm>
            <a:off x="10637215" y="3547872"/>
            <a:ext cx="859536" cy="365760"/>
          </a:xfrm>
          <a:prstGeom prst="rect">
            <a:avLst/>
          </a:prstGeom>
          <a:noFill/>
          <a:ln/>
        </p:spPr>
        <p:txBody>
          <a:bodyPr wrap="square" lIns="0" tIns="0" rIns="0" bIns="0" rtlCol="0" anchor="t"/>
          <a:lstStyle/>
          <a:p>
            <a:pPr algn="r" indent="0" marL="0">
              <a:buNone/>
            </a:pPr>
            <a:r>
              <a:rPr lang="en-US" sz="750" i="1" dirty="0">
                <a:solidFill>
                  <a:srgbClr val="156A7A"/>
                </a:solidFill>
                <a:latin typeface="Calibri" pitchFamily="34" charset="0"/>
                <a:ea typeface="Calibri" pitchFamily="34" charset="-122"/>
                <a:cs typeface="Calibri" pitchFamily="34" charset="-120"/>
              </a:rPr>
              <a:t>-</a:t>
            </a:r>
            <a:endParaRPr lang="en-US" sz="750" dirty="0"/>
          </a:p>
        </p:txBody>
      </p:sp>
      <p:sp>
        <p:nvSpPr>
          <p:cNvPr id="36" name="Shape 34"/>
          <p:cNvSpPr/>
          <p:nvPr/>
        </p:nvSpPr>
        <p:spPr>
          <a:xfrm>
            <a:off x="566928" y="3986784"/>
            <a:ext cx="5400904" cy="603504"/>
          </a:xfrm>
          <a:prstGeom prst="rect">
            <a:avLst/>
          </a:prstGeom>
          <a:solidFill>
            <a:srgbClr val="FFFFFF"/>
          </a:solidFill>
          <a:ln/>
        </p:spPr>
      </p:sp>
      <p:sp>
        <p:nvSpPr>
          <p:cNvPr id="37" name="Text 35"/>
          <p:cNvSpPr txBox="1"/>
          <p:nvPr/>
        </p:nvSpPr>
        <p:spPr>
          <a:xfrm>
            <a:off x="694944" y="4023360"/>
            <a:ext cx="5144872" cy="182880"/>
          </a:xfrm>
          <a:prstGeom prst="rect">
            <a:avLst/>
          </a:prstGeom>
          <a:noFill/>
          <a:ln/>
        </p:spPr>
        <p:txBody>
          <a:bodyPr wrap="square" lIns="0" tIns="0" rIns="0" bIns="0" rtlCol="0" anchor="ctr"/>
          <a:lstStyle/>
          <a:p>
            <a:pPr indent="0" marL="0">
              <a:buNone/>
            </a:pPr>
            <a:r>
              <a:rPr lang="en-US" sz="950" b="1" dirty="0">
                <a:solidFill>
                  <a:srgbClr val="0B3B45"/>
                </a:solidFill>
                <a:latin typeface="Calibri" pitchFamily="34" charset="0"/>
                <a:ea typeface="Calibri" pitchFamily="34" charset="-122"/>
                <a:cs typeface="Calibri" pitchFamily="34" charset="-120"/>
              </a:rPr>
              <a:t>Colombia EMBI level, Sep-2026</a:t>
            </a:r>
            <a:endParaRPr lang="en-US" sz="950" dirty="0"/>
          </a:p>
        </p:txBody>
      </p:sp>
      <p:sp>
        <p:nvSpPr>
          <p:cNvPr id="38" name="Text 36"/>
          <p:cNvSpPr txBox="1"/>
          <p:nvPr/>
        </p:nvSpPr>
        <p:spPr>
          <a:xfrm>
            <a:off x="694944" y="4206240"/>
            <a:ext cx="4267048" cy="365760"/>
          </a:xfrm>
          <a:prstGeom prst="rect">
            <a:avLst/>
          </a:prstGeom>
          <a:noFill/>
          <a:ln/>
        </p:spPr>
        <p:txBody>
          <a:bodyPr wrap="square" lIns="0" tIns="0" rIns="0" bIns="0" rtlCol="0" anchor="t"/>
          <a:lstStyle/>
          <a:p>
            <a:pPr indent="0" marL="0">
              <a:lnSpc>
                <a:spcPct val="102000"/>
              </a:lnSpc>
              <a:buNone/>
            </a:pPr>
            <a:r>
              <a:rPr lang="en-US" sz="750" dirty="0">
                <a:solidFill>
                  <a:srgbClr val="45646C"/>
                </a:solidFill>
                <a:latin typeface="Calibri" pitchFamily="34" charset="0"/>
                <a:ea typeface="Calibri" pitchFamily="34" charset="-122"/>
                <a:cs typeface="Calibri" pitchFamily="34" charset="-120"/>
              </a:rPr>
              <a:t>Only the 5-yr CDS (142bp, 1 Sep) is current. The last EMBI print found is 219bp, 29 Apr 2026.</a:t>
            </a:r>
            <a:endParaRPr lang="en-US" sz="750" dirty="0"/>
          </a:p>
        </p:txBody>
      </p:sp>
      <p:sp>
        <p:nvSpPr>
          <p:cNvPr id="39" name="Text 37"/>
          <p:cNvSpPr txBox="1"/>
          <p:nvPr/>
        </p:nvSpPr>
        <p:spPr>
          <a:xfrm>
            <a:off x="4980280" y="4206240"/>
            <a:ext cx="859536" cy="365760"/>
          </a:xfrm>
          <a:prstGeom prst="rect">
            <a:avLst/>
          </a:prstGeom>
          <a:noFill/>
          <a:ln/>
        </p:spPr>
        <p:txBody>
          <a:bodyPr wrap="square" lIns="0" tIns="0" rIns="0" bIns="0" rtlCol="0" anchor="t"/>
          <a:lstStyle/>
          <a:p>
            <a:pPr algn="r" indent="0" marL="0">
              <a:buNone/>
            </a:pPr>
            <a:r>
              <a:rPr lang="en-US" sz="750" i="1" dirty="0">
                <a:solidFill>
                  <a:srgbClr val="156A7A"/>
                </a:solidFill>
                <a:latin typeface="Calibri" pitchFamily="34" charset="0"/>
                <a:ea typeface="Calibri" pitchFamily="34" charset="-122"/>
                <a:cs typeface="Calibri" pitchFamily="34" charset="-120"/>
              </a:rPr>
              <a:t>Bloomberg</a:t>
            </a:r>
            <a:endParaRPr lang="en-US" sz="750" dirty="0"/>
          </a:p>
        </p:txBody>
      </p:sp>
      <p:sp>
        <p:nvSpPr>
          <p:cNvPr id="40" name="Shape 38"/>
          <p:cNvSpPr/>
          <p:nvPr/>
        </p:nvSpPr>
        <p:spPr>
          <a:xfrm>
            <a:off x="6223864" y="3986784"/>
            <a:ext cx="5400904" cy="603504"/>
          </a:xfrm>
          <a:prstGeom prst="rect">
            <a:avLst/>
          </a:prstGeom>
          <a:solidFill>
            <a:srgbClr val="FFFFFF"/>
          </a:solidFill>
          <a:ln/>
        </p:spPr>
      </p:sp>
      <p:sp>
        <p:nvSpPr>
          <p:cNvPr id="41" name="Text 39"/>
          <p:cNvSpPr txBox="1"/>
          <p:nvPr/>
        </p:nvSpPr>
        <p:spPr>
          <a:xfrm>
            <a:off x="6351880" y="4023360"/>
            <a:ext cx="5144872" cy="182880"/>
          </a:xfrm>
          <a:prstGeom prst="rect">
            <a:avLst/>
          </a:prstGeom>
          <a:noFill/>
          <a:ln/>
        </p:spPr>
        <p:txBody>
          <a:bodyPr wrap="square" lIns="0" tIns="0" rIns="0" bIns="0" rtlCol="0" anchor="ctr"/>
          <a:lstStyle/>
          <a:p>
            <a:pPr indent="0" marL="0">
              <a:buNone/>
            </a:pPr>
            <a:r>
              <a:rPr lang="en-US" sz="950" b="1" dirty="0">
                <a:solidFill>
                  <a:srgbClr val="0B3B45"/>
                </a:solidFill>
                <a:latin typeface="Calibri" pitchFamily="34" charset="0"/>
                <a:ea typeface="Calibri" pitchFamily="34" charset="-122"/>
                <a:cs typeface="Calibri" pitchFamily="34" charset="-120"/>
              </a:rPr>
              <a:t>Colombia TES curve, current</a:t>
            </a:r>
            <a:endParaRPr lang="en-US" sz="950" dirty="0"/>
          </a:p>
        </p:txBody>
      </p:sp>
      <p:sp>
        <p:nvSpPr>
          <p:cNvPr id="42" name="Text 40"/>
          <p:cNvSpPr txBox="1"/>
          <p:nvPr/>
        </p:nvSpPr>
        <p:spPr>
          <a:xfrm>
            <a:off x="6351880" y="4206240"/>
            <a:ext cx="4267048" cy="365760"/>
          </a:xfrm>
          <a:prstGeom prst="rect">
            <a:avLst/>
          </a:prstGeom>
          <a:noFill/>
          <a:ln/>
        </p:spPr>
        <p:txBody>
          <a:bodyPr wrap="square" lIns="0" tIns="0" rIns="0" bIns="0" rtlCol="0" anchor="t"/>
          <a:lstStyle/>
          <a:p>
            <a:pPr indent="0" marL="0">
              <a:lnSpc>
                <a:spcPct val="102000"/>
              </a:lnSpc>
              <a:buNone/>
            </a:pPr>
            <a:r>
              <a:rPr lang="en-US" sz="750" dirty="0">
                <a:solidFill>
                  <a:srgbClr val="45646C"/>
                </a:solidFill>
                <a:latin typeface="Calibri" pitchFamily="34" charset="0"/>
                <a:ea typeface="Calibri" pitchFamily="34" charset="-122"/>
                <a:cs typeface="Calibri" pitchFamily="34" charset="-120"/>
              </a:rPr>
              <a:t>Levels quoted are 1-3 June 2026 - they predate the earthquake and the 2027 budget.</a:t>
            </a:r>
            <a:endParaRPr lang="en-US" sz="750" dirty="0"/>
          </a:p>
        </p:txBody>
      </p:sp>
      <p:sp>
        <p:nvSpPr>
          <p:cNvPr id="43" name="Text 41"/>
          <p:cNvSpPr txBox="1"/>
          <p:nvPr/>
        </p:nvSpPr>
        <p:spPr>
          <a:xfrm>
            <a:off x="10637215" y="4206240"/>
            <a:ext cx="859536" cy="365760"/>
          </a:xfrm>
          <a:prstGeom prst="rect">
            <a:avLst/>
          </a:prstGeom>
          <a:noFill/>
          <a:ln/>
        </p:spPr>
        <p:txBody>
          <a:bodyPr wrap="square" lIns="0" tIns="0" rIns="0" bIns="0" rtlCol="0" anchor="t"/>
          <a:lstStyle/>
          <a:p>
            <a:pPr algn="r" indent="0" marL="0">
              <a:buNone/>
            </a:pPr>
            <a:r>
              <a:rPr lang="en-US" sz="750" i="1" dirty="0">
                <a:solidFill>
                  <a:srgbClr val="156A7A"/>
                </a:solidFill>
                <a:latin typeface="Calibri" pitchFamily="34" charset="0"/>
                <a:ea typeface="Calibri" pitchFamily="34" charset="-122"/>
                <a:cs typeface="Calibri" pitchFamily="34" charset="-120"/>
              </a:rPr>
              <a:t>Bloomberg</a:t>
            </a:r>
            <a:endParaRPr lang="en-US" sz="750" dirty="0"/>
          </a:p>
        </p:txBody>
      </p:sp>
      <p:sp>
        <p:nvSpPr>
          <p:cNvPr id="44" name="Shape 42"/>
          <p:cNvSpPr/>
          <p:nvPr/>
        </p:nvSpPr>
        <p:spPr>
          <a:xfrm>
            <a:off x="566928" y="4645152"/>
            <a:ext cx="5400904" cy="603504"/>
          </a:xfrm>
          <a:prstGeom prst="rect">
            <a:avLst/>
          </a:prstGeom>
          <a:solidFill>
            <a:srgbClr val="EDF1F2"/>
          </a:solidFill>
          <a:ln/>
        </p:spPr>
      </p:sp>
      <p:sp>
        <p:nvSpPr>
          <p:cNvPr id="45" name="Text 43"/>
          <p:cNvSpPr txBox="1"/>
          <p:nvPr/>
        </p:nvSpPr>
        <p:spPr>
          <a:xfrm>
            <a:off x="694944" y="4681728"/>
            <a:ext cx="5144872" cy="182880"/>
          </a:xfrm>
          <a:prstGeom prst="rect">
            <a:avLst/>
          </a:prstGeom>
          <a:noFill/>
          <a:ln/>
        </p:spPr>
        <p:txBody>
          <a:bodyPr wrap="square" lIns="0" tIns="0" rIns="0" bIns="0" rtlCol="0" anchor="ctr"/>
          <a:lstStyle/>
          <a:p>
            <a:pPr indent="0" marL="0">
              <a:buNone/>
            </a:pPr>
            <a:r>
              <a:rPr lang="en-US" sz="950" b="1" dirty="0">
                <a:solidFill>
                  <a:srgbClr val="0B3B45"/>
                </a:solidFill>
                <a:latin typeface="Calibri" pitchFamily="34" charset="0"/>
                <a:ea typeface="Calibri" pitchFamily="34" charset="-122"/>
                <a:cs typeface="Calibri" pitchFamily="34" charset="-120"/>
              </a:rPr>
              <a:t>Colombia 'cuentas por pagar' stock</a:t>
            </a:r>
            <a:endParaRPr lang="en-US" sz="950" dirty="0"/>
          </a:p>
        </p:txBody>
      </p:sp>
      <p:sp>
        <p:nvSpPr>
          <p:cNvPr id="46" name="Text 44"/>
          <p:cNvSpPr txBox="1"/>
          <p:nvPr/>
        </p:nvSpPr>
        <p:spPr>
          <a:xfrm>
            <a:off x="694944" y="4864608"/>
            <a:ext cx="4267048" cy="365760"/>
          </a:xfrm>
          <a:prstGeom prst="rect">
            <a:avLst/>
          </a:prstGeom>
          <a:noFill/>
          <a:ln/>
        </p:spPr>
        <p:txBody>
          <a:bodyPr wrap="square" lIns="0" tIns="0" rIns="0" bIns="0" rtlCol="0" anchor="t"/>
          <a:lstStyle/>
          <a:p>
            <a:pPr indent="0" marL="0">
              <a:lnSpc>
                <a:spcPct val="102000"/>
              </a:lnSpc>
              <a:buNone/>
            </a:pPr>
            <a:r>
              <a:rPr lang="en-US" sz="750" dirty="0">
                <a:solidFill>
                  <a:srgbClr val="45646C"/>
                </a:solidFill>
                <a:latin typeface="Calibri" pitchFamily="34" charset="0"/>
                <a:ea typeface="Calibri" pitchFamily="34" charset="-122"/>
                <a:cs typeface="Calibri" pitchFamily="34" charset="-120"/>
              </a:rPr>
              <a:t>The COP ~30tn 'budget of truth' framing is well sourced, but no clean series for the stock of deuda flotante was found.</a:t>
            </a:r>
            <a:endParaRPr lang="en-US" sz="750" dirty="0"/>
          </a:p>
        </p:txBody>
      </p:sp>
      <p:sp>
        <p:nvSpPr>
          <p:cNvPr id="47" name="Text 45"/>
          <p:cNvSpPr txBox="1"/>
          <p:nvPr/>
        </p:nvSpPr>
        <p:spPr>
          <a:xfrm>
            <a:off x="4980280" y="4864608"/>
            <a:ext cx="859536" cy="365760"/>
          </a:xfrm>
          <a:prstGeom prst="rect">
            <a:avLst/>
          </a:prstGeom>
          <a:noFill/>
          <a:ln/>
        </p:spPr>
        <p:txBody>
          <a:bodyPr wrap="square" lIns="0" tIns="0" rIns="0" bIns="0" rtlCol="0" anchor="t"/>
          <a:lstStyle/>
          <a:p>
            <a:pPr algn="r" indent="0" marL="0">
              <a:buNone/>
            </a:pPr>
            <a:r>
              <a:rPr lang="en-US" sz="750" i="1" dirty="0">
                <a:solidFill>
                  <a:srgbClr val="156A7A"/>
                </a:solidFill>
                <a:latin typeface="Calibri" pitchFamily="34" charset="0"/>
                <a:ea typeface="Calibri" pitchFamily="34" charset="-122"/>
                <a:cs typeface="Calibri" pitchFamily="34" charset="-120"/>
              </a:rPr>
              <a:t>MinHacienda / Bloomberg</a:t>
            </a:r>
            <a:endParaRPr lang="en-US" sz="750" dirty="0"/>
          </a:p>
        </p:txBody>
      </p:sp>
      <p:sp>
        <p:nvSpPr>
          <p:cNvPr id="48" name="Shape 46"/>
          <p:cNvSpPr/>
          <p:nvPr/>
        </p:nvSpPr>
        <p:spPr>
          <a:xfrm>
            <a:off x="6223864" y="4645152"/>
            <a:ext cx="5400904" cy="603504"/>
          </a:xfrm>
          <a:prstGeom prst="rect">
            <a:avLst/>
          </a:prstGeom>
          <a:solidFill>
            <a:srgbClr val="EDF1F2"/>
          </a:solidFill>
          <a:ln/>
        </p:spPr>
      </p:sp>
      <p:sp>
        <p:nvSpPr>
          <p:cNvPr id="49" name="Text 47"/>
          <p:cNvSpPr txBox="1"/>
          <p:nvPr/>
        </p:nvSpPr>
        <p:spPr>
          <a:xfrm>
            <a:off x="6351880" y="4681728"/>
            <a:ext cx="5144872" cy="182880"/>
          </a:xfrm>
          <a:prstGeom prst="rect">
            <a:avLst/>
          </a:prstGeom>
          <a:noFill/>
          <a:ln/>
        </p:spPr>
        <p:txBody>
          <a:bodyPr wrap="square" lIns="0" tIns="0" rIns="0" bIns="0" rtlCol="0" anchor="ctr"/>
          <a:lstStyle/>
          <a:p>
            <a:pPr indent="0" marL="0">
              <a:buNone/>
            </a:pPr>
            <a:r>
              <a:rPr lang="en-US" sz="950" b="1" dirty="0">
                <a:solidFill>
                  <a:srgbClr val="0B3B45"/>
                </a:solidFill>
                <a:latin typeface="Calibri" pitchFamily="34" charset="0"/>
                <a:ea typeface="Calibri" pitchFamily="34" charset="-122"/>
                <a:cs typeface="Calibri" pitchFamily="34" charset="-120"/>
              </a:rPr>
              <a:t>Ecopetrol government stake</a:t>
            </a:r>
            <a:endParaRPr lang="en-US" sz="950" dirty="0"/>
          </a:p>
        </p:txBody>
      </p:sp>
      <p:sp>
        <p:nvSpPr>
          <p:cNvPr id="50" name="Text 48"/>
          <p:cNvSpPr txBox="1"/>
          <p:nvPr/>
        </p:nvSpPr>
        <p:spPr>
          <a:xfrm>
            <a:off x="6351880" y="4864608"/>
            <a:ext cx="4267048" cy="365760"/>
          </a:xfrm>
          <a:prstGeom prst="rect">
            <a:avLst/>
          </a:prstGeom>
          <a:noFill/>
          <a:ln/>
        </p:spPr>
        <p:txBody>
          <a:bodyPr wrap="square" lIns="0" tIns="0" rIns="0" bIns="0" rtlCol="0" anchor="t"/>
          <a:lstStyle/>
          <a:p>
            <a:pPr indent="0" marL="0">
              <a:lnSpc>
                <a:spcPct val="102000"/>
              </a:lnSpc>
              <a:buNone/>
            </a:pPr>
            <a:r>
              <a:rPr lang="en-US" sz="750" dirty="0">
                <a:solidFill>
                  <a:srgbClr val="45646C"/>
                </a:solidFill>
                <a:latin typeface="Calibri" pitchFamily="34" charset="0"/>
                <a:ea typeface="Calibri" pitchFamily="34" charset="-122"/>
                <a:cs typeface="Calibri" pitchFamily="34" charset="-120"/>
              </a:rPr>
              <a:t>Customarily cited at 88.49% but not verified from a fetchable primary source.</a:t>
            </a:r>
            <a:endParaRPr lang="en-US" sz="750" dirty="0"/>
          </a:p>
        </p:txBody>
      </p:sp>
      <p:sp>
        <p:nvSpPr>
          <p:cNvPr id="51" name="Text 49"/>
          <p:cNvSpPr txBox="1"/>
          <p:nvPr/>
        </p:nvSpPr>
        <p:spPr>
          <a:xfrm>
            <a:off x="10637215" y="4864608"/>
            <a:ext cx="859536" cy="365760"/>
          </a:xfrm>
          <a:prstGeom prst="rect">
            <a:avLst/>
          </a:prstGeom>
          <a:noFill/>
          <a:ln/>
        </p:spPr>
        <p:txBody>
          <a:bodyPr wrap="square" lIns="0" tIns="0" rIns="0" bIns="0" rtlCol="0" anchor="t"/>
          <a:lstStyle/>
          <a:p>
            <a:pPr algn="r" indent="0" marL="0">
              <a:buNone/>
            </a:pPr>
            <a:r>
              <a:rPr lang="en-US" sz="750" i="1" dirty="0">
                <a:solidFill>
                  <a:srgbClr val="156A7A"/>
                </a:solidFill>
                <a:latin typeface="Calibri" pitchFamily="34" charset="0"/>
                <a:ea typeface="Calibri" pitchFamily="34" charset="-122"/>
                <a:cs typeface="Calibri" pitchFamily="34" charset="-120"/>
              </a:rPr>
              <a:t>Company filings</a:t>
            </a:r>
            <a:endParaRPr lang="en-US" sz="750" dirty="0"/>
          </a:p>
        </p:txBody>
      </p:sp>
      <p:sp>
        <p:nvSpPr>
          <p:cNvPr id="52" name="Shape 50"/>
          <p:cNvSpPr/>
          <p:nvPr/>
        </p:nvSpPr>
        <p:spPr>
          <a:xfrm>
            <a:off x="566928" y="5394960"/>
            <a:ext cx="11057839" cy="859536"/>
          </a:xfrm>
          <a:prstGeom prst="roundRect">
            <a:avLst>
              <a:gd name="adj" fmla="val 6383"/>
            </a:avLst>
          </a:prstGeom>
          <a:solidFill>
            <a:srgbClr val="F6E4E3"/>
          </a:solidFill>
          <a:ln w="6350">
            <a:solidFill>
              <a:srgbClr val="F6E4E3"/>
            </a:solidFill>
            <a:prstDash val="solid"/>
          </a:ln>
        </p:spPr>
      </p:sp>
      <p:sp>
        <p:nvSpPr>
          <p:cNvPr id="53" name="Text 51"/>
          <p:cNvSpPr txBox="1"/>
          <p:nvPr/>
        </p:nvSpPr>
        <p:spPr>
          <a:xfrm>
            <a:off x="804672" y="5541264"/>
            <a:ext cx="10582351" cy="201168"/>
          </a:xfrm>
          <a:prstGeom prst="rect">
            <a:avLst/>
          </a:prstGeom>
          <a:noFill/>
          <a:ln/>
        </p:spPr>
        <p:txBody>
          <a:bodyPr wrap="square" lIns="0" tIns="0" rIns="0" bIns="0" rtlCol="0" anchor="ctr"/>
          <a:lstStyle/>
          <a:p>
            <a:pPr indent="0" marL="0">
              <a:buNone/>
            </a:pPr>
            <a:r>
              <a:rPr lang="en-US" sz="900" b="1" spc="140" kern="0" dirty="0">
                <a:solidFill>
                  <a:srgbClr val="A8322D"/>
                </a:solidFill>
                <a:latin typeface="Calibri" pitchFamily="34" charset="0"/>
                <a:ea typeface="Calibri" pitchFamily="34" charset="-122"/>
                <a:cs typeface="Calibri" pitchFamily="34" charset="-120"/>
              </a:rPr>
              <a:t>TWO ARE WORTH A PHONE CALL THIS WEEK</a:t>
            </a:r>
            <a:endParaRPr lang="en-US" sz="900" dirty="0"/>
          </a:p>
        </p:txBody>
      </p:sp>
      <p:sp>
        <p:nvSpPr>
          <p:cNvPr id="54" name="Text 52"/>
          <p:cNvSpPr txBox="1"/>
          <p:nvPr/>
        </p:nvSpPr>
        <p:spPr>
          <a:xfrm>
            <a:off x="804672" y="5760720"/>
            <a:ext cx="10582351" cy="329184"/>
          </a:xfrm>
          <a:prstGeom prst="rect">
            <a:avLst/>
          </a:prstGeom>
          <a:noFill/>
          <a:ln/>
        </p:spPr>
        <p:txBody>
          <a:bodyPr wrap="square" lIns="0" tIns="0" rIns="0" bIns="0" rtlCol="0" anchor="t"/>
          <a:lstStyle/>
          <a:p>
            <a:pPr indent="0" marL="0">
              <a:lnSpc>
                <a:spcPct val="115000"/>
              </a:lnSpc>
              <a:buNone/>
            </a:pPr>
            <a:r>
              <a:rPr lang="en-US" sz="1050" dirty="0">
                <a:solidFill>
                  <a:srgbClr val="4A2220"/>
                </a:solidFill>
                <a:latin typeface="Calibri" pitchFamily="34" charset="0"/>
                <a:ea typeface="Calibri" pitchFamily="34" charset="-122"/>
                <a:cs typeface="Calibri" pitchFamily="34" charset="-120"/>
              </a:rPr>
              <a:t>The Constitutional Court's position on Decreto 1474 de 2026 determines whether Colombian wealth-tax planning can be closed out at all — a Bogotá tax practice will know. And a Colombian HNWI headcount must be licensed, not inferred: a Colombian client will test it, and a wrong number is worse than no number.</a:t>
            </a:r>
            <a:endParaRPr lang="en-US" sz="1050" dirty="0"/>
          </a:p>
        </p:txBody>
      </p:sp>
      <p:sp>
        <p:nvSpPr>
          <p:cNvPr id="55" name="Text 53"/>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B7B80"/>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56" name="Text 54"/>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B7B80"/>
                </a:solidFill>
                <a:latin typeface="Calibri" pitchFamily="34" charset="0"/>
                <a:ea typeface="Calibri" pitchFamily="34" charset="-122"/>
                <a:cs typeface="Calibri" pitchFamily="34" charset="-120"/>
              </a:rPr>
              <a:t>52</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bg>
      <p:bgPr>
        <a:solidFill>
          <a:srgbClr val="0B3B45"/>
        </a:solidFill>
      </p:bgPr>
    </p:bg>
    <p:spTree>
      <p:nvGrpSpPr>
        <p:cNvPr id="1" name=""/>
        <p:cNvGrpSpPr/>
        <p:nvPr/>
      </p:nvGrpSpPr>
      <p:grpSpPr>
        <a:xfrm>
          <a:off x="0" y="0"/>
          <a:ext cx="0" cy="0"/>
          <a:chOff x="0" y="0"/>
          <a:chExt cx="0" cy="0"/>
        </a:xfrm>
      </p:grpSpPr>
      <p:sp>
        <p:nvSpPr>
          <p:cNvPr id="2" name="Text 0"/>
          <p:cNvSpPr txBox="1"/>
          <p:nvPr/>
        </p:nvSpPr>
        <p:spPr>
          <a:xfrm>
            <a:off x="566928" y="402336"/>
            <a:ext cx="11057839" cy="219456"/>
          </a:xfrm>
          <a:prstGeom prst="rect">
            <a:avLst/>
          </a:prstGeom>
          <a:noFill/>
          <a:ln/>
        </p:spPr>
        <p:txBody>
          <a:bodyPr wrap="square" lIns="0" tIns="0" rIns="0" bIns="0" rtlCol="0" anchor="ctr"/>
          <a:lstStyle/>
          <a:p>
            <a:pPr indent="0" marL="0">
              <a:buNone/>
            </a:pPr>
            <a:r>
              <a:rPr lang="en-US" sz="1000" b="1" spc="160" kern="0" dirty="0">
                <a:solidFill>
                  <a:srgbClr val="D99A2B"/>
                </a:solidFill>
                <a:latin typeface="Calibri" pitchFamily="34" charset="0"/>
                <a:ea typeface="Calibri" pitchFamily="34" charset="-122"/>
                <a:cs typeface="Calibri" pitchFamily="34" charset="-120"/>
              </a:rPr>
              <a:t>NEXT STEPS</a:t>
            </a:r>
            <a:endParaRPr lang="en-US" sz="1000" dirty="0"/>
          </a:p>
        </p:txBody>
      </p:sp>
      <p:sp>
        <p:nvSpPr>
          <p:cNvPr id="3" name="Text 1"/>
          <p:cNvSpPr txBox="1"/>
          <p:nvPr/>
        </p:nvSpPr>
        <p:spPr>
          <a:xfrm>
            <a:off x="566928" y="658368"/>
            <a:ext cx="11057839" cy="566928"/>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Where I can help next</a:t>
            </a:r>
            <a:endParaRPr lang="en-US" sz="3000" dirty="0"/>
          </a:p>
        </p:txBody>
      </p:sp>
      <p:sp>
        <p:nvSpPr>
          <p:cNvPr id="4" name="Shape 2"/>
          <p:cNvSpPr/>
          <p:nvPr/>
        </p:nvSpPr>
        <p:spPr>
          <a:xfrm>
            <a:off x="566928" y="1545336"/>
            <a:ext cx="402336" cy="402336"/>
          </a:xfrm>
          <a:prstGeom prst="ellipse">
            <a:avLst/>
          </a:prstGeom>
          <a:solidFill>
            <a:srgbClr val="D99A2B"/>
          </a:solidFill>
          <a:ln/>
        </p:spPr>
      </p:sp>
      <p:sp>
        <p:nvSpPr>
          <p:cNvPr id="5" name="Text 3"/>
          <p:cNvSpPr txBox="1"/>
          <p:nvPr/>
        </p:nvSpPr>
        <p:spPr>
          <a:xfrm>
            <a:off x="566928" y="154533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6" name="Text 4"/>
          <p:cNvSpPr txBox="1"/>
          <p:nvPr/>
        </p:nvSpPr>
        <p:spPr>
          <a:xfrm>
            <a:off x="1170432" y="1517904"/>
            <a:ext cx="10241280" cy="2743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 one-page country brief per prospect meeting</a:t>
            </a:r>
            <a:endParaRPr lang="en-US" sz="1500" dirty="0"/>
          </a:p>
        </p:txBody>
      </p:sp>
      <p:sp>
        <p:nvSpPr>
          <p:cNvPr id="7" name="Text 5"/>
          <p:cNvSpPr txBox="1"/>
          <p:nvPr/>
        </p:nvSpPr>
        <p:spPr>
          <a:xfrm>
            <a:off x="1170432" y="1810512"/>
            <a:ext cx="10241280" cy="548640"/>
          </a:xfrm>
          <a:prstGeom prst="rect">
            <a:avLst/>
          </a:prstGeom>
          <a:noFill/>
          <a:ln/>
        </p:spPr>
        <p:txBody>
          <a:bodyPr wrap="square" lIns="0" tIns="0" rIns="0" bIns="0" rtlCol="0" anchor="t"/>
          <a:lstStyle/>
          <a:p>
            <a:pPr indent="0" marL="0">
              <a:lnSpc>
                <a:spcPct val="114000"/>
              </a:lnSpc>
              <a:buNone/>
            </a:pPr>
            <a:r>
              <a:rPr lang="en-US" sz="1100" dirty="0">
                <a:solidFill>
                  <a:srgbClr val="B8CBD0"/>
                </a:solidFill>
                <a:latin typeface="Calibri" pitchFamily="34" charset="0"/>
                <a:ea typeface="Calibri" pitchFamily="34" charset="-122"/>
                <a:cs typeface="Calibri" pitchFamily="34" charset="-120"/>
              </a:rPr>
              <a:t>Pull the relevant slide, add the client's own exposures, and it becomes a leave-behind in an hour.</a:t>
            </a:r>
            <a:endParaRPr lang="en-US" sz="1100" dirty="0"/>
          </a:p>
        </p:txBody>
      </p:sp>
      <p:sp>
        <p:nvSpPr>
          <p:cNvPr id="8" name="Shape 6"/>
          <p:cNvSpPr/>
          <p:nvPr/>
        </p:nvSpPr>
        <p:spPr>
          <a:xfrm>
            <a:off x="566928" y="2569464"/>
            <a:ext cx="402336" cy="402336"/>
          </a:xfrm>
          <a:prstGeom prst="ellipse">
            <a:avLst/>
          </a:prstGeom>
          <a:solidFill>
            <a:srgbClr val="D99A2B"/>
          </a:solidFill>
          <a:ln/>
        </p:spPr>
      </p:sp>
      <p:sp>
        <p:nvSpPr>
          <p:cNvPr id="9" name="Text 7"/>
          <p:cNvSpPr txBox="1"/>
          <p:nvPr/>
        </p:nvSpPr>
        <p:spPr>
          <a:xfrm>
            <a:off x="566928" y="256946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0" name="Text 8"/>
          <p:cNvSpPr txBox="1"/>
          <p:nvPr/>
        </p:nvSpPr>
        <p:spPr>
          <a:xfrm>
            <a:off x="1170432" y="2542032"/>
            <a:ext cx="10241280" cy="2743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The Colombia annex as a standing update</a:t>
            </a:r>
            <a:endParaRPr lang="en-US" sz="1500" dirty="0"/>
          </a:p>
        </p:txBody>
      </p:sp>
      <p:sp>
        <p:nvSpPr>
          <p:cNvPr id="11" name="Text 9"/>
          <p:cNvSpPr txBox="1"/>
          <p:nvPr/>
        </p:nvSpPr>
        <p:spPr>
          <a:xfrm>
            <a:off x="1170432" y="2834640"/>
            <a:ext cx="10241280" cy="548640"/>
          </a:xfrm>
          <a:prstGeom prst="rect">
            <a:avLst/>
          </a:prstGeom>
          <a:noFill/>
          <a:ln/>
        </p:spPr>
        <p:txBody>
          <a:bodyPr wrap="square" lIns="0" tIns="0" rIns="0" bIns="0" rtlCol="0" anchor="t"/>
          <a:lstStyle/>
          <a:p>
            <a:pPr indent="0" marL="0">
              <a:lnSpc>
                <a:spcPct val="114000"/>
              </a:lnSpc>
              <a:buNone/>
            </a:pPr>
            <a:r>
              <a:rPr lang="en-US" sz="1100" dirty="0">
                <a:solidFill>
                  <a:srgbClr val="B8CBD0"/>
                </a:solidFill>
                <a:latin typeface="Calibri" pitchFamily="34" charset="0"/>
                <a:ea typeface="Calibri" pitchFamily="34" charset="-122"/>
                <a:cs typeface="Calibri" pitchFamily="34" charset="-120"/>
              </a:rPr>
              <a:t>The Constitutional Court ruling, the Moody's decision, the fiscal bill and the 26 October filing deadline are all live. This should be refreshed monthly until they resolve.</a:t>
            </a:r>
            <a:endParaRPr lang="en-US" sz="1100" dirty="0"/>
          </a:p>
        </p:txBody>
      </p:sp>
      <p:sp>
        <p:nvSpPr>
          <p:cNvPr id="12" name="Shape 10"/>
          <p:cNvSpPr/>
          <p:nvPr/>
        </p:nvSpPr>
        <p:spPr>
          <a:xfrm>
            <a:off x="566928" y="3593592"/>
            <a:ext cx="402336" cy="402336"/>
          </a:xfrm>
          <a:prstGeom prst="ellipse">
            <a:avLst/>
          </a:prstGeom>
          <a:solidFill>
            <a:srgbClr val="D99A2B"/>
          </a:solidFill>
          <a:ln/>
        </p:spPr>
      </p:sp>
      <p:sp>
        <p:nvSpPr>
          <p:cNvPr id="13" name="Text 11"/>
          <p:cNvSpPr txBox="1"/>
          <p:nvPr/>
        </p:nvSpPr>
        <p:spPr>
          <a:xfrm>
            <a:off x="566928" y="359359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2"/>
          <p:cNvSpPr txBox="1"/>
          <p:nvPr/>
        </p:nvSpPr>
        <p:spPr>
          <a:xfrm>
            <a:off x="1170432" y="3566160"/>
            <a:ext cx="10241280" cy="2743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A Holt or Bloomberg pull for item (e)</a:t>
            </a:r>
            <a:endParaRPr lang="en-US" sz="1500" dirty="0"/>
          </a:p>
        </p:txBody>
      </p:sp>
      <p:sp>
        <p:nvSpPr>
          <p:cNvPr id="15" name="Text 13"/>
          <p:cNvSpPr txBox="1"/>
          <p:nvPr/>
        </p:nvSpPr>
        <p:spPr>
          <a:xfrm>
            <a:off x="1170432" y="3858768"/>
            <a:ext cx="10241280" cy="548640"/>
          </a:xfrm>
          <a:prstGeom prst="rect">
            <a:avLst/>
          </a:prstGeom>
          <a:noFill/>
          <a:ln/>
        </p:spPr>
        <p:txBody>
          <a:bodyPr wrap="square" lIns="0" tIns="0" rIns="0" bIns="0" rtlCol="0" anchor="t"/>
          <a:lstStyle/>
          <a:p>
            <a:pPr indent="0" marL="0">
              <a:lnSpc>
                <a:spcPct val="114000"/>
              </a:lnSpc>
              <a:buNone/>
            </a:pPr>
            <a:r>
              <a:rPr lang="en-US" sz="1100" dirty="0">
                <a:solidFill>
                  <a:srgbClr val="B8CBD0"/>
                </a:solidFill>
                <a:latin typeface="Calibri" pitchFamily="34" charset="0"/>
                <a:ea typeface="Calibri" pitchFamily="34" charset="-122"/>
                <a:cs typeface="Calibri" pitchFamily="34" charset="-120"/>
              </a:rPr>
              <a:t>This pack deliberately carries no valuation data. If you want multiples and revenue-exposure percentages on the named universe, that is a terminal job and I can specify the screen.</a:t>
            </a:r>
            <a:endParaRPr lang="en-US" sz="1100" dirty="0"/>
          </a:p>
        </p:txBody>
      </p:sp>
      <p:sp>
        <p:nvSpPr>
          <p:cNvPr id="16" name="Shape 14"/>
          <p:cNvSpPr/>
          <p:nvPr/>
        </p:nvSpPr>
        <p:spPr>
          <a:xfrm>
            <a:off x="566928" y="4617720"/>
            <a:ext cx="402336" cy="402336"/>
          </a:xfrm>
          <a:prstGeom prst="ellipse">
            <a:avLst/>
          </a:prstGeom>
          <a:solidFill>
            <a:srgbClr val="D99A2B"/>
          </a:solidFill>
          <a:ln/>
        </p:spPr>
      </p:sp>
      <p:sp>
        <p:nvSpPr>
          <p:cNvPr id="17" name="Text 15"/>
          <p:cNvSpPr txBox="1"/>
          <p:nvPr/>
        </p:nvSpPr>
        <p:spPr>
          <a:xfrm>
            <a:off x="566928" y="4617720"/>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8" name="Text 16"/>
          <p:cNvSpPr txBox="1"/>
          <p:nvPr/>
        </p:nvSpPr>
        <p:spPr>
          <a:xfrm>
            <a:off x="1170432" y="4590288"/>
            <a:ext cx="10241280" cy="274320"/>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The gaps closed</a:t>
            </a:r>
            <a:endParaRPr lang="en-US" sz="1500" dirty="0"/>
          </a:p>
        </p:txBody>
      </p:sp>
      <p:sp>
        <p:nvSpPr>
          <p:cNvPr id="19" name="Text 17"/>
          <p:cNvSpPr txBox="1"/>
          <p:nvPr/>
        </p:nvSpPr>
        <p:spPr>
          <a:xfrm>
            <a:off x="1170432" y="4882896"/>
            <a:ext cx="10241280" cy="548640"/>
          </a:xfrm>
          <a:prstGeom prst="rect">
            <a:avLst/>
          </a:prstGeom>
          <a:noFill/>
          <a:ln/>
        </p:spPr>
        <p:txBody>
          <a:bodyPr wrap="square" lIns="0" tIns="0" rIns="0" bIns="0" rtlCol="0" anchor="t"/>
          <a:lstStyle/>
          <a:p>
            <a:pPr indent="0" marL="0">
              <a:lnSpc>
                <a:spcPct val="114000"/>
              </a:lnSpc>
              <a:buNone/>
            </a:pPr>
            <a:r>
              <a:rPr lang="en-US" sz="1100" dirty="0">
                <a:solidFill>
                  <a:srgbClr val="B8CBD0"/>
                </a:solidFill>
                <a:latin typeface="Calibri" pitchFamily="34" charset="0"/>
                <a:ea typeface="Calibri" pitchFamily="34" charset="-122"/>
                <a:cs typeface="Calibri" pitchFamily="34" charset="-120"/>
              </a:rPr>
              <a:t>A licensed Knight Frank and Capgemini country table, a Bogotá tax opinion on Decreto 1474, and a current EMBI and TES pull would close most of what this pack admits it does not know.</a:t>
            </a:r>
            <a:endParaRPr lang="en-US" sz="1100" dirty="0"/>
          </a:p>
        </p:txBody>
      </p:sp>
      <p:sp>
        <p:nvSpPr>
          <p:cNvPr id="20" name="Shape 18"/>
          <p:cNvSpPr/>
          <p:nvPr/>
        </p:nvSpPr>
        <p:spPr>
          <a:xfrm>
            <a:off x="566928" y="5669280"/>
            <a:ext cx="11057839" cy="12802"/>
          </a:xfrm>
          <a:prstGeom prst="rect">
            <a:avLst/>
          </a:prstGeom>
          <a:solidFill>
            <a:srgbClr val="1C5C66"/>
          </a:solidFill>
          <a:ln/>
        </p:spPr>
      </p:sp>
      <p:sp>
        <p:nvSpPr>
          <p:cNvPr id="21" name="Text 19"/>
          <p:cNvSpPr txBox="1"/>
          <p:nvPr/>
        </p:nvSpPr>
        <p:spPr>
          <a:xfrm>
            <a:off x="566928" y="5797296"/>
            <a:ext cx="11057839" cy="548640"/>
          </a:xfrm>
          <a:prstGeom prst="rect">
            <a:avLst/>
          </a:prstGeom>
          <a:noFill/>
          <a:ln/>
        </p:spPr>
        <p:txBody>
          <a:bodyPr wrap="square" lIns="0" tIns="0" rIns="0" bIns="0" rtlCol="0" anchor="t"/>
          <a:lstStyle/>
          <a:p>
            <a:pPr indent="0" marL="0">
              <a:lnSpc>
                <a:spcPct val="112000"/>
              </a:lnSpc>
              <a:buNone/>
            </a:pPr>
            <a:r>
              <a:rPr lang="en-US" sz="850" i="1" dirty="0">
                <a:solidFill>
                  <a:srgbClr val="A9C3C9"/>
                </a:solidFill>
                <a:latin typeface="Calibri" pitchFamily="34" charset="0"/>
                <a:ea typeface="Calibri" pitchFamily="34" charset="-122"/>
                <a:cs typeface="Calibri" pitchFamily="34" charset="-120"/>
              </a:rPr>
              <a:t>INTERNAL DRAFT - NOT FOR DISTRIBUTION. Not investment research and not a recommendation. Company names appear as exposure examples and market context only. No buy, sell or hold view is expressed or implied, and no price targets are given. All figures carry the source and vintage shown; several are flagged as unverified or not found and must be confirmed before any client-facing use. Subject to compliance and supervisory review.</a:t>
            </a:r>
            <a:endParaRPr lang="en-US" sz="850" dirty="0"/>
          </a:p>
        </p:txBody>
      </p:sp>
      <p:sp>
        <p:nvSpPr>
          <p:cNvPr id="22" name="Text 20"/>
          <p:cNvSpPr txBox="1"/>
          <p:nvPr/>
        </p:nvSpPr>
        <p:spPr>
          <a:xfrm>
            <a:off x="566928" y="6492240"/>
            <a:ext cx="10509199" cy="201168"/>
          </a:xfrm>
          <a:prstGeom prst="rect">
            <a:avLst/>
          </a:prstGeom>
          <a:noFill/>
          <a:ln/>
        </p:spPr>
        <p:txBody>
          <a:bodyPr wrap="square" lIns="0" tIns="0" rIns="0" bIns="0" rtlCol="0" anchor="ctr"/>
          <a:lstStyle/>
          <a:p>
            <a:pPr indent="0" marL="0">
              <a:buNone/>
            </a:pPr>
            <a:r>
              <a:rPr lang="en-US" sz="750" dirty="0">
                <a:solidFill>
                  <a:srgbClr val="6E8B92"/>
                </a:solidFill>
                <a:latin typeface="Calibri" pitchFamily="34" charset="0"/>
                <a:ea typeface="Calibri" pitchFamily="34" charset="-122"/>
                <a:cs typeface="Calibri" pitchFamily="34" charset="-120"/>
              </a:rPr>
              <a:t>CAS North + CIO LatAm  |  INTERNAL DRAFT - NOT FOR DISTRIBUTION  |  Data as of 4 September 2026</a:t>
            </a:r>
            <a:endParaRPr lang="en-US" sz="750" dirty="0"/>
          </a:p>
        </p:txBody>
      </p:sp>
      <p:sp>
        <p:nvSpPr>
          <p:cNvPr id="23" name="Text 21"/>
          <p:cNvSpPr txBox="1"/>
          <p:nvPr/>
        </p:nvSpPr>
        <p:spPr>
          <a:xfrm>
            <a:off x="11167567" y="6492240"/>
            <a:ext cx="457200" cy="201168"/>
          </a:xfrm>
          <a:prstGeom prst="rect">
            <a:avLst/>
          </a:prstGeom>
          <a:noFill/>
          <a:ln/>
        </p:spPr>
        <p:txBody>
          <a:bodyPr wrap="square" lIns="0" tIns="0" rIns="0" bIns="0" rtlCol="0" anchor="ctr"/>
          <a:lstStyle/>
          <a:p>
            <a:pPr algn="r" indent="0" marL="0">
              <a:buNone/>
            </a:pPr>
            <a:r>
              <a:rPr lang="en-US" sz="800" b="1" dirty="0">
                <a:solidFill>
                  <a:srgbClr val="6E8B92"/>
                </a:solidFill>
                <a:latin typeface="Calibri" pitchFamily="34" charset="0"/>
                <a:ea typeface="Calibri" pitchFamily="34" charset="-122"/>
                <a:cs typeface="Calibri" pitchFamily="34" charset="-120"/>
              </a:rPr>
              <a:t>53</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54</Slides>
  <Notes>54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54</vt:i4>
      </vt:variant>
    </vt:vector>
  </HeadingPairs>
  <TitlesOfParts>
    <vt:vector size="5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vector>
  </TitlesOfParts>
  <Company>UBS Chief Investment Office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Central America, the Caribbean and Colombia</dc:title>
  <dc:subject>PptxGenJS Presentation</dc:subject>
  <dc:creator>CIO Americas - EM Strategy</dc:creator>
  <cp:lastModifiedBy>CIO Americas - EM Strategy</cp:lastModifiedBy>
  <cp:revision>1</cp:revision>
  <dcterms:created xsi:type="dcterms:W3CDTF">2026-09-04T17:18:00Z</dcterms:created>
  <dcterms:modified xsi:type="dcterms:W3CDTF">2026-09-04T17:18:00Z</dcterms:modified>
</cp:coreProperties>
</file>
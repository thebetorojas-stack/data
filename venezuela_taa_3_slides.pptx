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Exports (crude + fuel, Reuters tanker data)</c:v>
                </c:pt>
              </c:strCache>
            </c:strRef>
          </c:tx>
          <c:spPr>
            <a:solidFill>
              <a:srgbClr val="C3CC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800</c:v>
                </c:pt>
                <c:pt idx="1">
                  <c:v>737</c:v>
                </c:pt>
                <c:pt idx="2">
                  <c:v>1090</c:v>
                </c:pt>
                <c:pt idx="3">
                  <c:v>1230</c:v>
                </c:pt>
                <c:pt idx="4">
                  <c:v>1240</c:v>
                </c:pt>
                <c:pt idx="5">
                  <c:v>1200</c:v>
                </c:pt>
                <c:pt idx="6">
                  <c:v>1160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A6472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Crude production (OPEC secondary sources)</c:v>
                </c:pt>
              </c:strCache>
            </c:strRef>
          </c:tx>
          <c:spPr>
            <a:solidFill>
              <a:srgbClr val="8C0A28"/>
            </a:solidFill>
            <a:ln w="38100" cap="flat">
              <a:solidFill>
                <a:srgbClr val="8C0A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8C0A28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0A28"/>
              </a:solidFill>
              <a:ln w="9525" cap="flat">
                <a:solidFill>
                  <a:srgbClr val="8C0A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924</c:v>
                </c:pt>
                <c:pt idx="1">
                  <c:v>903</c:v>
                </c:pt>
                <c:pt idx="2">
                  <c:v>985</c:v>
                </c:pt>
                <c:pt idx="3">
                  <c:v>1036</c:v>
                </c:pt>
                <c:pt idx="4">
                  <c:v>1072</c:v>
                </c:pt>
                <c:pt idx="5">
                  <c:v>1104</c:v>
                </c:pt>
                <c:pt idx="6">
                  <c:v>1117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8C0A28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2025 average production (941)</c:v>
                </c:pt>
              </c:strCache>
            </c:strRef>
          </c:tx>
          <c:spPr>
            <a:solidFill>
              <a:srgbClr val="9BA5B0"/>
            </a:solidFill>
            <a:ln w="25400" cap="flat">
              <a:solidFill>
                <a:srgbClr val="9BA5B0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BA5B0"/>
              </a:solidFill>
              <a:ln w="9525" cap="flat">
                <a:solidFill>
                  <a:srgbClr val="9BA5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941</c:v>
                </c:pt>
                <c:pt idx="1">
                  <c:v>941</c:v>
                </c:pt>
                <c:pt idx="2">
                  <c:v>941</c:v>
                </c:pt>
                <c:pt idx="3">
                  <c:v>941</c:v>
                </c:pt>
                <c:pt idx="4">
                  <c:v>941</c:v>
                </c:pt>
                <c:pt idx="5">
                  <c:v>941</c:v>
                </c:pt>
                <c:pt idx="6">
                  <c:v>941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600"/>
        </c:scaling>
        <c:delete val="0"/>
        <c:axPos val="l"/>
        <c:majorGridlines>
          <c:spPr>
            <a:ln w="12700" cap="flat">
              <a:solidFill>
                <a:srgbClr val="DCE1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7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Rigs</c:v>
                </c:pt>
              </c:strCache>
            </c:strRef>
          </c:tx>
          <c:spPr>
            <a:solidFill>
              <a:srgbClr val="8C0A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0A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A5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43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A5B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Active, Jul-2026</c:v>
                  </c:pt>
                  <c:pt idx="1">
                    <c:v>SLB idle rigs, reactivation plan</c:v>
                  </c:pt>
                  <c:pt idx="2">
                    <c:v>Needed by 2028 (oil ministry)</c:v>
                  </c:pt>
                  <c:pt idx="3">
                    <c:v>Peak, May-1997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15</c:v>
                </c:pt>
                <c:pt idx="2">
                  <c:v>93</c:v>
                </c:pt>
                <c:pt idx="3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bn bbl</c:v>
                </c:pt>
              </c:strCache>
            </c:strRef>
          </c:tx>
          <c:spPr>
            <a:solidFill>
              <a:srgbClr val="9BA5B0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A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A5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0A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1E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Implied by Caracas’s $209bn tax claim</c:v>
                  </c:pt>
                  <c:pt idx="1">
                    <c:v>Liftable in 25 yrs at the 1.5 mb/d target</c:v>
                  </c:pt>
                  <c:pt idx="2">
                    <c:v>Covered by the 17-field deal</c:v>
                  </c:pt>
                  <c:pt idx="3">
                    <c:v>Venezuela proven reserves (OPEC / EIA)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13.7</c:v>
                </c:pt>
                <c:pt idx="2">
                  <c:v>65</c:v>
                </c:pt>
                <c:pt idx="3">
                  <c:v>303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series: OPEC MOMR secondary sources, kb/d: Jan 924, Feb 903, Mar 985, Apr 1,036 (rev.), May 1,072, Jun 1,104, Jul 1,117; 4Q25 average 936 (MOMR Jan-2026, Table 5-7); 2025 average ~941. Exports (Reuters, crude+fuel): Dec-25 498, Jan 800, Feb 737, Mar 1,090, Apr ~1,230, May 1,240 (peak), Jun 1,200, Jul 1,160. Inventory built during December blockade: &gt;40mn bbl (Reuters, 2 Feb 2026). Rig count: Baker Hughes 2 rigs at end-March and end-July 2026, working for Chevron; 93 rigs needed through 2028 per oil ministry presentation (Reuters, 27 Apr 2026); SLB plans to reactivate up to 15 idle rigs, up to 4 by end-2026 subject to contracts (Reuters, 19 Aug 2026); peak 119 rigs May-1997 (Baker Hughes).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65bn figure is Trump/Rodríguez; Newsweek’s US official said 63bn and Reuters 63.7bn recoverable at a ~20% technically feasible recovery factor; Axios pre-announcement reporting cited ~90bn across "more than a dozen" producing fields. None of these are reconciled. Venezuela’s 303bn national figure itself rests on the Magna Reserva certification of Orinoco extra-heavy oil at ~20% recovery; commercially recoverable volumes at current prices and technology are widely regarded as far lower. Terms: Rodríguez says 25 years; the White House fact sheet of 31 Aug says 100-year rights; the 2026 hydrocarbons law caps mixed companies at 25+15 years and sets no express limit for art. 40 private-operator contracts. Counterparty: a private domestic operator (already the country’s second-largest producer, ~200 kb/d per WSJ); keep the compliance attribution used in the 29 Aug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contradictions: (1) Trump Truth Social, Fri 28 Aug evening. (2) Rodríguez statement same night; televised address Sat 29 Aug: 25-year term, 17 fields, 1.5 mb/d, sovereignty retained. (3) WSJ, Sat 30 Aug: 35% passive Pentagon stake via penny warrants in the private operator. (4) Pentagon spokesman Sean Parnell, Sun 30 Aug: OSC does not take equity stakes. (5) White House fact sheet, Mon 31 Aug night (AP): OSC 35% ownership stake, State Department-orchestrated right to buy 20% of output at cost, 100-year rights over 17 fields, board majority U.S. citizens with U.S. government veto, U.S. law and courts. The White House named the private operator on 31 Aug; the deck keeps the compliance attribution agreed for the 29 Aug note. Legacy liabilities: OilPrice tallies ~$170bn of unresolved claims and defaulted bonds; Barclays puts bondholder claims at $98.3bn incl. PDI on $56.5bn face; OMFIF puts Exxon+Conoco awards at ~$14bn. F. Rodríguez: $209bn/25y = $8.4bn/yr vs $18.4bn state oil take in 2025 at ~941 kb/d.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  ·  TACTICAL ASSET ALLOCATION  ·  1 SEPTEMBER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months after Maduro: output is up ~180 kb/d, the export surge was inventory, and drilling has not restarted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output vs. oil exports, thousand b/d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755648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26680" y="148132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drilling rigs, Baker Hughes count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726680" y="1737360"/>
          <a:ext cx="389534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726680" y="361188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≥18mn bbl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41422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ABOVE CRUDE OUTPUT, MAR–JUL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4379976"/>
            <a:ext cx="3895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drained the ~40mn bbl stockpile built during the December blockade; exports ran 40–190 kb/d above output. July exports fell as stocks ran down: storage, not wells.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726680" y="498348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+181 kb/d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55138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OUTPUT, JUL-26 vs 4Q-25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5751576"/>
            <a:ext cx="3895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of January’s blockade shut-ins plus diluent, not new capacity. Two rigs are turning, both on Chevron acreage; the ministry says it needs 93.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64008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9B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OPEC Monthly Oil Market Report (secondary sources; PDVSA’s own figures run ~80–100 kb/d higher), Reuters tanker-tracking and PDVSA documents (exports, crude + fuel), Baker Hughes International Rig Count, Ministry of Hydrocarbons rig requirement (Henao presentation, Apr-2026), Reuters (SLB, 19 Aug 2026). Exports include refined products; the drawdown estimate is before netting domestic consumption, so it is a floor.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28 AUGUST ANNOUNCEMENT  ·  65 BILLION BARRELS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65bn barrels is one-fifth of Venezuela’s reserve book — and the deal’s own arithmetic lifts only a sixth of that in 25 years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reserve book to liftable barrels, billion barrels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755648"/>
          <a:ext cx="6126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$4.4trn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239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IN-GROUND HEADLINE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4772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65bn bbl × $67 Merey (Jul-26 avg). A stock, not a cash flow.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670048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$0.9trn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670048" y="5239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25-YEAR GROSS AT TARGET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670048" y="54772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13.7bn bbl × $67 ≈ $37bn/yr, before diluent, royalty (≤30%), tax (≤15%) and $100bn capex.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773168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yrs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773168" y="5239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LIFT 65BN AT 1.5 MB/D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54772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Caracas says 25 years and Washington 100: most barrels stay in the ground either way.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59168" y="1481328"/>
            <a:ext cx="4562856" cy="4754880"/>
          </a:xfrm>
          <a:prstGeom prst="roundRect">
            <a:avLst>
              <a:gd name="adj" fmla="val 1002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166420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0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barrels get stuck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20482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476488" y="20482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active (Baker Hughes, Jul-26) vs. 93 the oil ministry says it needs by 2028. SLB’s 15 idle rigs return only as contracts are signed.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27340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Upgraders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27340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1990s-vintage Orinoco units, ~700 kb/d nameplate, running below that. Extra-heavy crude is unsaleable at scale without them.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34198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Diluent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476488" y="34198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 bbl of naphtha per 3–4 bbl of extra-heavy oil; 81 kb/d imported in July. Every incremental Orinoco barrel needs an import barrel.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41056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Terminals &amp; power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476488" y="41056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Tankers waiting up to 30 days to load at Jose; recurring grid failures at ports (Lipow Oil Associates).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47914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476488" y="47914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the 17 blocks produce nothing today. Rodríguez’s own target (&gt;1.5 mb/d) is a late-2020s to 2030s outcome.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54772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76488" y="547725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$100bn is a stated objective. No sponsor, lender, ECA or fund had been identified as of 31 August.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4008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9B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OPEC ASB / US EIA (303bn bbl proven, ~17% of world); Truth Social post and Rodríguez communiqué, 28 Aug 2026 (65bn bbl, 17 fields, &gt;$100bn investment, &gt;$209bn taxes); Reuters (63.7bn recoverable at ~20% recovery factor; eight greenfield Orinoco blocks); OPEC MOMR Aug-2026 (Merey $67.36/b, Jul-26 avg); F. Rodríguez ($209bn = $19/bbl); CFR (upgraders); Reuters (naphtha imports, rigs); CNBC/Lipow (terminals). Arithmetic: 1.5 mb/d × 365 × 25 = 13.7bn; $209bn ÷ $19 = 11.0bn; 65 ÷ 13.7 = 119 years.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B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·  WHAT CHANGES FOR THE ALLOCATION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announcements change nothing that oil capital prices: enforceable contracts, settled claims, rigs on the ground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0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DEAL, FOUR VERSIONS IN FOUR DAYS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28 Aug — Trump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&gt;65bn bbl, “majority U.S. control”, at no cost to the taxpayer.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957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28 Aug — Rodríguez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fields, 25-year term, Venezuela keeps ownership, &gt;1.5 mb/d target.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30 Aug — Pentagon spokesman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63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Strategic Capital “does not take equity stakes”, contradicting WSJ’s 35% report.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31 Aug — White House fact sheet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 35% stake, 20% at-cost offtake, 100-year rights, governed by U.S. law.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text published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334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None, by either government.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0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LAW STILL SAYS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810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 art. 12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Deposits belong to the Republic: “inalienable and imprescriptible”.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315968" y="23957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Arts. 150 / 187.9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with foreign states or non-domiciled companies need National Assembly approval.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303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3163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keeps all of PDVSA’s shares.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315968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 2026, arts. 40 &amp; 68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15968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retains ownership of deposits worked by private operators; no transfer of title, no security interests.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 2026, art. 35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315968" y="4334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companies capped at 25 + 15 years. No express term for art. 40 contracts — the legal fight is here.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65008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0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MONEY IS ACTUALLY DOING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1810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065008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“Un-investable” (D. Woods). Not signing.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65008" y="23957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ConocoPhillips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$10–12bn arbitration award must be settled before new money (R. Lance).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Chevron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065008" y="3163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kb/d, +50% by 2028 — funded only from in-country cash flow, no fresh capital.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065008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065008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SLB: 15 idle rigs, up to 4 back by end-2026, if contracts are signed.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065008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Creditors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065008" y="4334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9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$98bn of bond claims incl. past-due interest (Barclays) queued ahead of any new equity.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864608"/>
            <a:ext cx="11055096" cy="0"/>
          </a:xfrm>
          <a:prstGeom prst="line">
            <a:avLst/>
          </a:prstGeom>
          <a:noFill/>
          <a:ln w="12700">
            <a:solidFill>
              <a:srgbClr val="2C44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5010912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allocation: no change to the Venezuela view. The 28 August announcement adds neither barrels nor a framework — the legal vehicle is undefined, the terms are contradicted inside the U.S. government, and the ownership constraints of arts. 12, 150 and 303 are untouched. What re-rates the credit: a published contract and its National Assembly treatment; a debt-restructuring framework that says where new money ranks; OFAC licences with tenor; and a rig count in double digits.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0" y="4956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40" name="Text 38"/>
          <p:cNvSpPr txBox="1"/>
          <p:nvPr/>
        </p:nvSpPr>
        <p:spPr>
          <a:xfrm>
            <a:off x="9235440" y="57058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b="1" spc="60" kern="0" dirty="0">
                <a:solidFill>
                  <a:srgbClr val="9B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RIGS — THE ONLY NUMBER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b="1" spc="60" kern="0" dirty="0">
                <a:solidFill>
                  <a:srgbClr val="9B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MOVES THE OUTPUT LINE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4008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i="1" dirty="0">
                <a:solidFill>
                  <a:srgbClr val="7C8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Truth Social and Rodríguez communiqué (28 Aug); AP/PBS (US official); WSJ (30 Aug) and Pentagon spokesman S. Parnell; White House fact sheet via AP (31 Aug); Constitución 1999 and Ley de Reforma de la LOH, Gaceta Oficial 6.978 Ext. (29 Jan 2026); AP (Woods), Houston Chronicle (Lance), Chevron 2Q26 call (31 Jul), Reuters (SLB, 19 Aug), Barclays via CNBC (bond claims).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2026-09-01T15:22:34Z</dcterms:created>
  <dcterms:modified xsi:type="dcterms:W3CDTF">2026-09-01T15:22:34Z</dcterms:modified>
</cp:coreProperties>
</file>
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3405104" cy="7543800"/>
  <p:notesSz cx="7543800" cy="134051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Frutiger 45 Light"/>
              </a:defRPr>
            </a:pPr>
            <a:r>
              <a:rPr sz="1200" b="0" i="0" u="none" strike="noStrike">
                <a:solidFill>
                  <a:srgbClr val="2B2B2B"/>
                </a:solidFill>
                <a:latin typeface="Frutiger 45 Light"/>
              </a:rPr>
              <a:t>Tasa de fondos federales, límite superior (%)</a:t>
            </a:r>
          </a:p>
        </c:rich>
      </c:tx>
      <c:layout/>
      <c:overlay val="0"/>
    </c:title>
    <c:autoTitleDeleted val="0"/>
    <c:plotArea>
      <c:layout/>
      <c:barChart>
        <c:barDir val="col"/>
        <c:grouping val="clustered"/>
        <c:varyColors val="0"/>
        <c:ser>
          <c:idx val="0"/>
          <c:order val="0"/>
          <c:tx>
            <c:strRef>
              <c:f>Sheet1!$B$1</c:f>
              <c:strCache>
                <c:ptCount val="1"/>
                <c:pt idx="0">
                  <c:v>Tasa de fondos federales (%)</c:v>
                </c:pt>
              </c:strCache>
            </c:strRef>
          </c:tx>
          <c:spPr>
            <a:solidFill>
              <a:srgbClr val="B0B0B0"/>
            </a:solidFill>
            <a:effectLst/>
          </c:spPr>
          <c:invertIfNegative val="0"/>
          <c:dLbls>
            <c:numFmt formatCode="0.0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dPt>
            <c:idx val="0"/>
            <c:invertIfNegative val="0"/>
            <c:bubble3D val="0"/>
            <c:spPr>
              <a:solidFill>
                <a:srgbClr val="B0B0B0"/>
              </a:solidFill>
              <a:effectLst/>
            </c:spPr>
          </c:dPt>
          <c:dPt>
            <c:idx val="1"/>
            <c:invertIfNegative val="0"/>
            <c:bubble3D val="0"/>
            <c:spPr>
              <a:solidFill>
                <a:srgbClr val="474747"/>
              </a:solidFill>
              <a:effectLst/>
            </c:spPr>
          </c:dPt>
          <c:dPt>
            <c:idx val="2"/>
            <c:invertIfNegative val="0"/>
            <c:bubble3D val="0"/>
            <c:spPr>
              <a:solidFill>
                <a:srgbClr val="E60000"/>
              </a:solidFill>
              <a:effectLst/>
            </c:spPr>
          </c:dPt>
          <c:dPt>
            <c:idx val="3"/>
            <c:invertIfNegative val="0"/>
            <c:bubble3D val="0"/>
            <c:spPr>
              <a:solidFill>
                <a:srgbClr val="CCCCCC"/>
              </a:solidFill>
              <a:effectLst/>
            </c:spPr>
          </c:dPt>
          <c:cat>
            <c:multiLvlStrRef>
              <c:f>Sheet1!$A$2:$A$5</c:f>
              <c:multiLvlStrCache>
                <c:ptCount val="4"/>
                <c:lvl>
                  <c:pt idx="0">
                    <c:v>Contado
15-jul-26</c:v>
                  </c:pt>
                  <c:pt idx="1">
                    <c:v>Alcista
jun-27</c:v>
                  </c:pt>
                  <c:pt idx="2">
                    <c:v>Base
jun-27</c:v>
                  </c:pt>
                  <c:pt idx="3">
                    <c:v>Bajista
jun-27</c:v>
                  </c:pt>
                </c:lvl>
              </c:multiLvlStrCache>
            </c:multiLvlStrRef>
          </c:cat>
          <c:val>
            <c:numRef>
              <c:f>Sheet1!$B$2:$B$5</c:f>
              <c:numCache>
                <c:formatCode>General</c:formatCode>
                <c:ptCount val="4"/>
                <c:pt idx="0">
                  <c:v>3.75</c:v>
                </c:pt>
                <c:pt idx="1">
                  <c:v>4</c:v>
                </c:pt>
                <c:pt idx="2">
                  <c:v>3.25</c:v>
                </c:pt>
                <c:pt idx="3">
                  <c:v>2</c:v>
                </c:pt>
              </c:numCache>
            </c:numRef>
          </c:val>
        </c:ser>
        <c:dLbls>
          <c:numFmt formatCode="0.0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2"/>
        <c:crosses val="autoZero"/>
        <c:auto val="1"/>
        <c:lblAlgn val="ctr"/>
        <c:noMultiLvlLbl val="1"/>
      </c:catAx>
      <c:valAx>
        <c:axId val="2094734552"/>
        <c:scaling>
          <c:orientation val="minMax"/>
          <c:max val="4.5"/>
          <c:min val="0"/>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Frutiger 45 Light"/>
              </a:defRPr>
            </a:pPr>
            <a:r>
              <a:rPr sz="1200" b="0" i="0" u="none" strike="noStrike">
                <a:solidFill>
                  <a:srgbClr val="2B2B2B"/>
                </a:solidFill>
                <a:latin typeface="Frutiger 45 Light"/>
              </a:rPr>
              <a:t>Probabilidad asignada por UBS CIO (%)</a:t>
            </a:r>
          </a:p>
        </c:rich>
      </c:tx>
      <c:layout/>
      <c:overlay val="0"/>
    </c:title>
    <c:autoTitleDeleted val="0"/>
    <c:plotArea>
      <c:layout/>
      <c:barChart>
        <c:barDir val="bar"/>
        <c:grouping val="clustered"/>
        <c:varyColors val="0"/>
        <c:ser>
          <c:idx val="0"/>
          <c:order val="0"/>
          <c:tx>
            <c:strRef>
              <c:f>Sheet1!$B$1</c:f>
              <c:strCache>
                <c:ptCount val="1"/>
                <c:pt idx="0">
                  <c:v>Probabilidad (%)</c:v>
                </c:pt>
              </c:strCache>
            </c:strRef>
          </c:tx>
          <c:spPr>
            <a:solidFill>
              <a:srgbClr val="474747"/>
            </a:solidFill>
            <a:effectLst/>
          </c:spPr>
          <c:invertIfNegative val="0"/>
          <c:dLbls>
            <c:numFmt formatCode="#,##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dPt>
            <c:idx val="0"/>
            <c:invertIfNegative val="0"/>
            <c:bubble3D val="0"/>
            <c:spPr>
              <a:solidFill>
                <a:srgbClr val="474747"/>
              </a:solidFill>
              <a:effectLst/>
            </c:spPr>
          </c:dPt>
          <c:dPt>
            <c:idx val="1"/>
            <c:invertIfNegative val="0"/>
            <c:bubble3D val="0"/>
            <c:spPr>
              <a:solidFill>
                <a:srgbClr val="E60000"/>
              </a:solidFill>
              <a:effectLst/>
            </c:spPr>
          </c:dPt>
          <c:dPt>
            <c:idx val="2"/>
            <c:invertIfNegative val="0"/>
            <c:bubble3D val="0"/>
            <c:spPr>
              <a:solidFill>
                <a:srgbClr val="CCCCCC"/>
              </a:solidFill>
              <a:effectLst/>
            </c:spPr>
          </c:dPt>
          <c:cat>
            <c:multiLvlStrRef>
              <c:f>Sheet1!$A$2:$A$4</c:f>
              <c:multiLvlStrCache>
                <c:ptCount val="3"/>
                <c:lvl>
                  <c:pt idx="0">
                    <c:v>Alcista: auge de la inversión</c:v>
                  </c:pt>
                  <c:pt idx="1">
                    <c:v>Base: recuperación con baches</c:v>
                  </c:pt>
                  <c:pt idx="2">
                    <c:v>Bajista: disrupciones mayores</c:v>
                  </c:pt>
                </c:lvl>
              </c:multiLvlStrCache>
            </c:multiLvlStrRef>
          </c:cat>
          <c:val>
            <c:numRef>
              <c:f>Sheet1!$B$2:$B$4</c:f>
              <c:numCache>
                <c:formatCode>General</c:formatCode>
                <c:ptCount val="3"/>
                <c:pt idx="0">
                  <c:v>20</c:v>
                </c:pt>
                <c:pt idx="1">
                  <c:v>60</c:v>
                </c:pt>
                <c:pt idx="2">
                  <c:v>20</c:v>
                </c:pt>
              </c:numCache>
            </c:numRef>
          </c:val>
        </c:ser>
        <c:dLbls>
          <c:numFmt formatCode="#,##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2"/>
        <c:crosses val="autoZero"/>
        <c:auto val="1"/>
        <c:lblAlgn val="ctr"/>
        <c:noMultiLvlLbl val="1"/>
      </c:catAx>
      <c:valAx>
        <c:axId val="2094734552"/>
        <c:scaling>
          <c:orientation val="minMax"/>
          <c:max val="70"/>
        </c:scaling>
        <c:delete val="0"/>
        <c:axPos val="b"/>
        <c:majorGridlines>
          <c:spPr>
            <a:ln w="12700" cap="flat">
              <a:solidFill>
                <a:srgbClr val="EDED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Frutiger 45 Light"/>
              </a:defRPr>
            </a:pPr>
            <a:r>
              <a:rPr sz="1200" b="0" i="0" u="none" strike="noStrike">
                <a:solidFill>
                  <a:srgbClr val="2B2B2B"/>
                </a:solidFill>
                <a:latin typeface="Frutiger 45 Light"/>
              </a:rPr>
              <a:t>S&amp;P 500: objetivos a junio de 2027 (puntos)</a:t>
            </a:r>
          </a:p>
        </c:rich>
      </c:tx>
      <c:layout/>
      <c:overlay val="0"/>
    </c:title>
    <c:autoTitleDeleted val="0"/>
    <c:plotArea>
      <c:layout/>
      <c:barChart>
        <c:barDir val="col"/>
        <c:grouping val="clustered"/>
        <c:varyColors val="0"/>
        <c:ser>
          <c:idx val="0"/>
          <c:order val="0"/>
          <c:tx>
            <c:strRef>
              <c:f>Sheet1!$B$1</c:f>
              <c:strCache>
                <c:ptCount val="1"/>
                <c:pt idx="0">
                  <c:v>S&amp;P 500</c:v>
                </c:pt>
              </c:strCache>
            </c:strRef>
          </c:tx>
          <c:spPr>
            <a:solidFill>
              <a:srgbClr val="B0B0B0"/>
            </a:solidFill>
            <a:effectLst/>
          </c:spPr>
          <c:invertIfNegative val="0"/>
          <c:dLbls>
            <c:numFmt formatCode="#,##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dPt>
            <c:idx val="0"/>
            <c:invertIfNegative val="0"/>
            <c:bubble3D val="0"/>
            <c:spPr>
              <a:solidFill>
                <a:srgbClr val="B0B0B0"/>
              </a:solidFill>
              <a:effectLst/>
            </c:spPr>
          </c:dPt>
          <c:dPt>
            <c:idx val="1"/>
            <c:invertIfNegative val="0"/>
            <c:bubble3D val="0"/>
            <c:spPr>
              <a:solidFill>
                <a:srgbClr val="474747"/>
              </a:solidFill>
              <a:effectLst/>
            </c:spPr>
          </c:dPt>
          <c:dPt>
            <c:idx val="2"/>
            <c:invertIfNegative val="0"/>
            <c:bubble3D val="0"/>
            <c:spPr>
              <a:solidFill>
                <a:srgbClr val="E60000"/>
              </a:solidFill>
              <a:effectLst/>
            </c:spPr>
          </c:dPt>
          <c:dPt>
            <c:idx val="3"/>
            <c:invertIfNegative val="0"/>
            <c:bubble3D val="0"/>
            <c:spPr>
              <a:solidFill>
                <a:srgbClr val="CCCCCC"/>
              </a:solidFill>
              <a:effectLst/>
            </c:spPr>
          </c:dPt>
          <c:cat>
            <c:multiLvlStrRef>
              <c:f>Sheet1!$A$2:$A$5</c:f>
              <c:multiLvlStrCache>
                <c:ptCount val="4"/>
                <c:lvl>
                  <c:pt idx="0">
                    <c:v>Contado
15-jul-26</c:v>
                  </c:pt>
                  <c:pt idx="1">
                    <c:v>Alcista
+19%</c:v>
                  </c:pt>
                  <c:pt idx="2">
                    <c:v>Base
+8%</c:v>
                  </c:pt>
                  <c:pt idx="3">
                    <c:v>Bajista
-27%</c:v>
                  </c:pt>
                </c:lvl>
              </c:multiLvlStrCache>
            </c:multiLvlStrRef>
          </c:cat>
          <c:val>
            <c:numRef>
              <c:f>Sheet1!$B$2:$B$5</c:f>
              <c:numCache>
                <c:formatCode>General</c:formatCode>
                <c:ptCount val="4"/>
                <c:pt idx="0">
                  <c:v>7572</c:v>
                </c:pt>
                <c:pt idx="1">
                  <c:v>9000</c:v>
                </c:pt>
                <c:pt idx="2">
                  <c:v>8200</c:v>
                </c:pt>
                <c:pt idx="3">
                  <c:v>5500</c:v>
                </c:pt>
              </c:numCache>
            </c:numRef>
          </c:val>
        </c:ser>
        <c:dLbls>
          <c:numFmt formatCode="#,##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2"/>
        <c:crosses val="autoZero"/>
        <c:auto val="1"/>
        <c:lblAlgn val="ctr"/>
        <c:noMultiLvlLbl val="1"/>
      </c:catAx>
      <c:valAx>
        <c:axId val="2094734552"/>
        <c:scaling>
          <c:orientation val="minMax"/>
          <c:max val="10000"/>
        </c:scaling>
        <c:delete val="0"/>
        <c:axPos val="l"/>
        <c:majorGridlines>
          <c:spPr>
            <a:ln w="1270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B2B2B"/>
                </a:solidFill>
                <a:latin typeface="Frutiger 45 Light"/>
              </a:defRPr>
            </a:pPr>
            <a:r>
              <a:rPr sz="1200" b="0" i="0" u="none" strike="noStrike">
                <a:solidFill>
                  <a:srgbClr val="2B2B2B"/>
                </a:solidFill>
                <a:latin typeface="Frutiger 45 Light"/>
              </a:rPr>
              <a:t>Potencial al escenario base, junio 2027 (%)</a:t>
            </a:r>
          </a:p>
        </c:rich>
      </c:tx>
      <c:layout/>
      <c:overlay val="0"/>
    </c:title>
    <c:autoTitleDeleted val="0"/>
    <c:plotArea>
      <c:layout/>
      <c:barChart>
        <c:barDir val="bar"/>
        <c:grouping val="clustered"/>
        <c:varyColors val="0"/>
        <c:ser>
          <c:idx val="0"/>
          <c:order val="0"/>
          <c:tx>
            <c:strRef>
              <c:f>Sheet1!$B$1</c:f>
              <c:strCache>
                <c:ptCount val="1"/>
                <c:pt idx="0">
                  <c:v>Retorno esperado (%)</c:v>
                </c:pt>
              </c:strCache>
            </c:strRef>
          </c:tx>
          <c:spPr>
            <a:solidFill>
              <a:srgbClr val="E60000"/>
            </a:solidFill>
            <a:effectLst/>
          </c:spPr>
          <c:invertIfNegative val="0"/>
          <c:dLbls>
            <c:numFmt formatCode="#,##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cat>
            <c:multiLvlStrRef>
              <c:f>Sheet1!$A$2:$A$6</c:f>
              <c:multiLvlStrCache>
                <c:ptCount val="5"/>
                <c:lvl>
                  <c:pt idx="0">
                    <c:v>MSCI EM</c:v>
                  </c:pt>
                  <c:pt idx="1">
                    <c:v>EuroStoxx 50</c:v>
                  </c:pt>
                  <c:pt idx="2">
                    <c:v>MSCI AC World</c:v>
                  </c:pt>
                  <c:pt idx="3">
                    <c:v>S&amp;P 500</c:v>
                  </c:pt>
                  <c:pt idx="4">
                    <c:v>SMI</c:v>
                  </c:pt>
                </c:lvl>
              </c:multiLvlStrCache>
            </c:multiLvlStrRef>
          </c:cat>
          <c:val>
            <c:numRef>
              <c:f>Sheet1!$B$2:$B$6</c:f>
              <c:numCache>
                <c:formatCode>General</c:formatCode>
                <c:ptCount val="5"/>
                <c:pt idx="0">
                  <c:v>14</c:v>
                </c:pt>
                <c:pt idx="1">
                  <c:v>10</c:v>
                </c:pt>
                <c:pt idx="2">
                  <c:v>9</c:v>
                </c:pt>
                <c:pt idx="3">
                  <c:v>8</c:v>
                </c:pt>
                <c:pt idx="4">
                  <c:v>5</c:v>
                </c:pt>
              </c:numCache>
            </c:numRef>
          </c:val>
        </c:ser>
        <c:dLbls>
          <c:numFmt formatCode="#,##0" sourceLinked="0"/>
          <c:txPr>
            <a:bodyPr/>
            <a:lstStyle/>
            <a:p>
              <a:pPr>
                <a:defRPr b="0" i="0" strike="noStrike" sz="1100" u="none">
                  <a:solidFill>
                    <a:srgbClr val="2B2B2B"/>
                  </a:solidFill>
                  <a:latin typeface="Frutiger 45 Ligh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757575"/>
                </a:solidFill>
                <a:latin typeface="Frutiger 45 Light"/>
              </a:defRPr>
            </a:pPr>
            <a:endParaRPr lang="en-US"/>
          </a:p>
        </c:txPr>
        <c:crossAx val="2094734552"/>
        <c:crosses val="autoZero"/>
        <c:auto val="1"/>
        <c:lblAlgn val="ctr"/>
        <c:noMultiLvlLbl val="1"/>
      </c:catAx>
      <c:valAx>
        <c:axId val="2094734552"/>
        <c:scaling>
          <c:orientation val="minMax"/>
          <c:max val="16"/>
        </c:scaling>
        <c:delete val="0"/>
        <c:axPos val="b"/>
        <c:majorGridlines>
          <c:spPr>
            <a:ln w="12700" cap="flat">
              <a:solidFill>
                <a:srgbClr val="EDEDED"/>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757575"/>
                </a:solidFill>
                <a:latin typeface="Frutiger 45 Ligh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3405104" cy="2148840"/>
          </a:xfrm>
          <a:prstGeom prst="rect">
            <a:avLst/>
          </a:prstGeom>
          <a:solidFill>
            <a:srgbClr val="E60000"/>
          </a:solidFill>
          <a:ln/>
        </p:spPr>
      </p:sp>
      <p:sp>
        <p:nvSpPr>
          <p:cNvPr id="3" name="Text 1"/>
          <p:cNvSpPr/>
          <p:nvPr/>
        </p:nvSpPr>
        <p:spPr>
          <a:xfrm>
            <a:off x="566928" y="566928"/>
            <a:ext cx="10058400" cy="822960"/>
          </a:xfrm>
          <a:prstGeom prst="rect">
            <a:avLst/>
          </a:prstGeom>
          <a:noFill/>
          <a:ln/>
        </p:spPr>
        <p:txBody>
          <a:bodyPr wrap="square" lIns="0" tIns="0" rIns="0" bIns="0" rtlCol="0" anchor="ctr"/>
          <a:lstStyle/>
          <a:p>
            <a:pPr indent="0" marL="0">
              <a:buNone/>
            </a:pPr>
            <a:r>
              <a:rPr lang="en-US" sz="4400" dirty="0">
                <a:solidFill>
                  <a:srgbClr val="FFFFFF"/>
                </a:solidFill>
                <a:latin typeface="Frutiger 45 Light" pitchFamily="34" charset="0"/>
                <a:ea typeface="Frutiger 45 Light" pitchFamily="34" charset="-122"/>
                <a:cs typeface="Frutiger 45 Light" pitchFamily="34" charset="-120"/>
              </a:rPr>
              <a:t>UBS House View</a:t>
            </a:r>
            <a:endParaRPr lang="en-US" sz="4400" dirty="0"/>
          </a:p>
        </p:txBody>
      </p:sp>
      <p:sp>
        <p:nvSpPr>
          <p:cNvPr id="4" name="Text 2"/>
          <p:cNvSpPr/>
          <p:nvPr/>
        </p:nvSpPr>
        <p:spPr>
          <a:xfrm>
            <a:off x="566928" y="1389888"/>
            <a:ext cx="10058400" cy="457200"/>
          </a:xfrm>
          <a:prstGeom prst="rect">
            <a:avLst/>
          </a:prstGeom>
          <a:noFill/>
          <a:ln/>
        </p:spPr>
        <p:txBody>
          <a:bodyPr wrap="square" lIns="0" tIns="0" rIns="0" bIns="0" rtlCol="0" anchor="ctr"/>
          <a:lstStyle/>
          <a:p>
            <a:pPr indent="0" marL="0">
              <a:buNone/>
            </a:pPr>
            <a:r>
              <a:rPr lang="en-US" sz="1900" dirty="0">
                <a:solidFill>
                  <a:srgbClr val="FFFFFF"/>
                </a:solidFill>
                <a:latin typeface="Frutiger 45 Light" pitchFamily="34" charset="0"/>
                <a:ea typeface="Frutiger 45 Light" pitchFamily="34" charset="-122"/>
                <a:cs typeface="Frutiger 45 Light" pitchFamily="34" charset="-120"/>
              </a:rPr>
              <a:t>Visión global del Chief Investment Office</a:t>
            </a:r>
            <a:endParaRPr lang="en-US" sz="1900" dirty="0"/>
          </a:p>
        </p:txBody>
      </p:sp>
      <p:sp>
        <p:nvSpPr>
          <p:cNvPr id="5" name="Text 3"/>
          <p:cNvSpPr/>
          <p:nvPr/>
        </p:nvSpPr>
        <p:spPr>
          <a:xfrm>
            <a:off x="566928" y="2606040"/>
            <a:ext cx="10058400" cy="384048"/>
          </a:xfrm>
          <a:prstGeom prst="rect">
            <a:avLst/>
          </a:prstGeom>
          <a:noFill/>
          <a:ln/>
        </p:spPr>
        <p:txBody>
          <a:bodyPr wrap="square" lIns="0" tIns="0" rIns="0" bIns="0" rtlCol="0" anchor="ctr"/>
          <a:lstStyle/>
          <a:p>
            <a:pPr indent="0" marL="0">
              <a:buNone/>
            </a:pPr>
            <a:r>
              <a:rPr lang="en-US" sz="1600" dirty="0">
                <a:solidFill>
                  <a:srgbClr val="2B2B2B"/>
                </a:solidFill>
                <a:latin typeface="Frutiger 45 Light" pitchFamily="34" charset="0"/>
                <a:ea typeface="Frutiger 45 Light" pitchFamily="34" charset="-122"/>
                <a:cs typeface="Frutiger 45 Light" pitchFamily="34" charset="-120"/>
              </a:rPr>
              <a:t>Actualización interina  ·  Agosto 2026</a:t>
            </a:r>
            <a:endParaRPr lang="en-US" sz="1600" dirty="0"/>
          </a:p>
        </p:txBody>
      </p:sp>
      <p:sp>
        <p:nvSpPr>
          <p:cNvPr id="6" name="Text 4"/>
          <p:cNvSpPr/>
          <p:nvPr/>
        </p:nvSpPr>
        <p:spPr>
          <a:xfrm>
            <a:off x="566928" y="3127248"/>
            <a:ext cx="8412480" cy="914400"/>
          </a:xfrm>
          <a:prstGeom prst="rect">
            <a:avLst/>
          </a:prstGeom>
          <a:noFill/>
          <a:ln/>
        </p:spPr>
        <p:txBody>
          <a:bodyPr wrap="square" lIns="0" tIns="0" rIns="0" bIns="0" rtlCol="0" anchor="ctr"/>
          <a:lstStyle/>
          <a:p>
            <a:pPr indent="0" marL="0">
              <a:lnSpc>
                <a:spcPts val="1700"/>
              </a:lnSpc>
              <a:buNone/>
            </a:pPr>
            <a:r>
              <a:rPr lang="en-US" sz="1300" dirty="0">
                <a:solidFill>
                  <a:srgbClr val="757575"/>
                </a:solidFill>
                <a:latin typeface="Frutiger 45 Light" pitchFamily="34" charset="0"/>
                <a:ea typeface="Frutiger 45 Light" pitchFamily="34" charset="-122"/>
                <a:cs typeface="Frutiger 45 Light" pitchFamily="34" charset="-120"/>
              </a:rPr>
              <a:t>Resumen en español para uso interno</a:t>
            </a:r>
            <a:endParaRPr lang="en-US" sz="1300" dirty="0"/>
          </a:p>
          <a:p>
            <a:pPr indent="0" marL="0">
              <a:lnSpc>
                <a:spcPts val="1700"/>
              </a:lnSpc>
              <a:buNone/>
            </a:pPr>
            <a:r>
              <a:rPr lang="en-US" sz="1150" dirty="0">
                <a:solidFill>
                  <a:srgbClr val="757575"/>
                </a:solidFill>
                <a:latin typeface="Frutiger 45 Light" pitchFamily="34" charset="0"/>
                <a:ea typeface="Frutiger 45 Light" pitchFamily="34" charset="-122"/>
                <a:cs typeface="Frutiger 45 Light" pitchFamily="34" charset="-120"/>
              </a:rPr>
              <a:t>Elaborado a partir de: UBS House View — Monthly Extended August 2026, Interim update, publicado el 30 de julio de 2026, Chief Investment Office GWM.</a:t>
            </a:r>
            <a:endParaRPr lang="en-US" sz="1300" dirty="0"/>
          </a:p>
        </p:txBody>
      </p:sp>
      <p:sp>
        <p:nvSpPr>
          <p:cNvPr id="7" name="Shape 5"/>
          <p:cNvSpPr/>
          <p:nvPr/>
        </p:nvSpPr>
        <p:spPr>
          <a:xfrm>
            <a:off x="566928" y="4315968"/>
            <a:ext cx="8412480" cy="1481328"/>
          </a:xfrm>
          <a:prstGeom prst="rect">
            <a:avLst/>
          </a:prstGeom>
          <a:solidFill>
            <a:srgbClr val="FFF2F2"/>
          </a:solidFill>
          <a:ln w="12700">
            <a:solidFill>
              <a:srgbClr val="F5C6C6"/>
            </a:solidFill>
            <a:prstDash val="solid"/>
          </a:ln>
        </p:spPr>
      </p:sp>
      <p:sp>
        <p:nvSpPr>
          <p:cNvPr id="8" name="Text 6"/>
          <p:cNvSpPr/>
          <p:nvPr/>
        </p:nvSpPr>
        <p:spPr>
          <a:xfrm>
            <a:off x="822960" y="4480560"/>
            <a:ext cx="7955280" cy="274320"/>
          </a:xfrm>
          <a:prstGeom prst="rect">
            <a:avLst/>
          </a:prstGeom>
          <a:noFill/>
          <a:ln/>
        </p:spPr>
        <p:txBody>
          <a:bodyPr wrap="square" lIns="0" tIns="0" rIns="0" bIns="0" rtlCol="0" anchor="ctr"/>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Aviso de cumplimiento</a:t>
            </a:r>
            <a:endParaRPr lang="en-US" sz="1200" dirty="0"/>
          </a:p>
        </p:txBody>
      </p:sp>
      <p:sp>
        <p:nvSpPr>
          <p:cNvPr id="9" name="Text 7"/>
          <p:cNvSpPr/>
          <p:nvPr/>
        </p:nvSpPr>
        <p:spPr>
          <a:xfrm>
            <a:off x="822960" y="4773168"/>
            <a:ext cx="7955280" cy="914400"/>
          </a:xfrm>
          <a:prstGeom prst="rect">
            <a:avLst/>
          </a:prstGeom>
          <a:noFill/>
          <a:ln/>
        </p:spPr>
        <p:txBody>
          <a:bodyPr wrap="square" lIns="0" tIns="0" rIns="0" bIns="0" rtlCol="0" anchor="ctr"/>
          <a:lstStyle/>
          <a:p>
            <a:pPr indent="0" marL="0">
              <a:lnSpc>
                <a:spcPts val="1400"/>
              </a:lnSpc>
              <a:buNone/>
            </a:pPr>
            <a:r>
              <a:rPr lang="en-US" sz="1050" dirty="0">
                <a:solidFill>
                  <a:srgbClr val="474747"/>
                </a:solidFill>
                <a:latin typeface="Frutiger 45 Light" pitchFamily="34" charset="0"/>
                <a:ea typeface="Frutiger 45 Light" pitchFamily="34" charset="-122"/>
                <a:cs typeface="Frutiger 45 Light" pitchFamily="34" charset="-120"/>
              </a:rPr>
              <a:t>El documento original establece que el informe debe utilizarse en su totalidad y que los asesores financieros no pueden presentar ni utilizar secciones o diapositivas individuales en comunicaciones con clientes ni en material de marketing. Esta presentación es un resumen interno y no sustituye al informe original.</a:t>
            </a:r>
            <a:endParaRPr lang="en-US" sz="1050" dirty="0"/>
          </a:p>
        </p:txBody>
      </p:sp>
      <p:sp>
        <p:nvSpPr>
          <p:cNvPr id="10" name="Text 8"/>
          <p:cNvSpPr/>
          <p:nvPr/>
        </p:nvSpPr>
        <p:spPr>
          <a:xfrm>
            <a:off x="9692640" y="2606040"/>
            <a:ext cx="3291840" cy="292608"/>
          </a:xfrm>
          <a:prstGeom prst="rect">
            <a:avLst/>
          </a:prstGeom>
          <a:noFill/>
          <a:ln/>
        </p:spPr>
        <p:txBody>
          <a:bodyPr wrap="square" lIns="0" tIns="0" rIns="0" bIns="0" rtlCol="0" anchor="ctr"/>
          <a:lstStyle/>
          <a:p>
            <a:pPr indent="0" marL="0">
              <a:buNone/>
            </a:pPr>
            <a:r>
              <a:rPr lang="en-US" sz="1200" dirty="0">
                <a:solidFill>
                  <a:srgbClr val="E60000"/>
                </a:solidFill>
                <a:latin typeface="Frutiger 45 Light" pitchFamily="34" charset="0"/>
                <a:ea typeface="Frutiger 45 Light" pitchFamily="34" charset="-122"/>
                <a:cs typeface="Frutiger 45 Light" pitchFamily="34" charset="-120"/>
              </a:rPr>
              <a:t>Contenido</a:t>
            </a:r>
            <a:endParaRPr lang="en-US" sz="1200" dirty="0"/>
          </a:p>
        </p:txBody>
      </p:sp>
      <p:sp>
        <p:nvSpPr>
          <p:cNvPr id="11" name="Text 9"/>
          <p:cNvSpPr/>
          <p:nvPr/>
        </p:nvSpPr>
        <p:spPr>
          <a:xfrm>
            <a:off x="9692640" y="2962656"/>
            <a:ext cx="3291840" cy="2377440"/>
          </a:xfrm>
          <a:prstGeom prst="rect">
            <a:avLst/>
          </a:prstGeom>
          <a:noFill/>
          <a:ln/>
        </p:spPr>
        <p:txBody>
          <a:bodyPr wrap="square" lIns="0" tIns="0" rIns="0" bIns="0" rtlCol="0" anchor="ctr"/>
          <a:lstStyle/>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EE.UU.: actividad y motores de crecimiento</a:t>
            </a:r>
            <a:endParaRPr lang="en-US" sz="1150" dirty="0"/>
          </a:p>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Reserva Federal y tasas</a:t>
            </a:r>
            <a:endParaRPr lang="en-US" sz="1150" dirty="0"/>
          </a:p>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Beneficios corporativos</a:t>
            </a:r>
            <a:endParaRPr lang="en-US" sz="1150" dirty="0"/>
          </a:p>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Escenarios y objetivos de mercado</a:t>
            </a:r>
            <a:endParaRPr lang="en-US" sz="1150" dirty="0"/>
          </a:p>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Renta variable global</a:t>
            </a:r>
            <a:endParaRPr lang="en-US" sz="1150" dirty="0"/>
          </a:p>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Renta fija</a:t>
            </a:r>
            <a:endParaRPr lang="en-US" sz="1150" dirty="0"/>
          </a:p>
          <a:p>
            <a:pPr marL="342900" indent="-342900">
              <a:spcAft>
                <a:spcPts val="700"/>
              </a:spcAft>
              <a:buSzPct val="100000"/>
              <a:buChar char="•"/>
            </a:pPr>
            <a:r>
              <a:rPr lang="en-US" sz="1150" dirty="0">
                <a:solidFill>
                  <a:srgbClr val="474747"/>
                </a:solidFill>
                <a:latin typeface="Frutiger 45 Light" pitchFamily="34" charset="0"/>
                <a:ea typeface="Frutiger 45 Light" pitchFamily="34" charset="-122"/>
                <a:cs typeface="Frutiger 45 Light" pitchFamily="34" charset="-120"/>
              </a:rPr>
              <a:t>Mercados emergentes y Perú</a:t>
            </a:r>
            <a:endParaRPr lang="en-US" sz="1150" dirty="0"/>
          </a:p>
        </p:txBody>
      </p:sp>
      <p:sp>
        <p:nvSpPr>
          <p:cNvPr id="12" name="Text 10"/>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Chief Investment Office GWM, 30 de julio de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1 · ESTADOS UNIDOS</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La economía estadounidense sigue avanzando</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El escenario base de UBS CIO — “recuperación con baches”, 60% de probabilidad — contempla un crecimiento en torno al 2% en 2026 y 2027.</a:t>
            </a:r>
            <a:endParaRPr lang="en-US" sz="1400" dirty="0"/>
          </a:p>
        </p:txBody>
      </p:sp>
      <p:sp>
        <p:nvSpPr>
          <p:cNvPr id="7" name="Shape 5"/>
          <p:cNvSpPr/>
          <p:nvPr/>
        </p:nvSpPr>
        <p:spPr>
          <a:xfrm>
            <a:off x="566928" y="2395728"/>
            <a:ext cx="3797808" cy="1481328"/>
          </a:xfrm>
          <a:prstGeom prst="rect">
            <a:avLst/>
          </a:prstGeom>
          <a:solidFill>
            <a:srgbClr val="F7F7F7"/>
          </a:solidFill>
          <a:ln w="12700">
            <a:solidFill>
              <a:srgbClr val="F7F7F7"/>
            </a:solidFill>
            <a:prstDash val="solid"/>
          </a:ln>
        </p:spPr>
      </p:sp>
      <p:sp>
        <p:nvSpPr>
          <p:cNvPr id="8" name="Text 6"/>
          <p:cNvSpPr/>
          <p:nvPr/>
        </p:nvSpPr>
        <p:spPr>
          <a:xfrm>
            <a:off x="841248" y="2578608"/>
            <a:ext cx="3249168" cy="658368"/>
          </a:xfrm>
          <a:prstGeom prst="rect">
            <a:avLst/>
          </a:prstGeom>
          <a:noFill/>
          <a:ln/>
        </p:spPr>
        <p:txBody>
          <a:bodyPr wrap="square" lIns="0" tIns="0" rIns="0" bIns="0" rtlCol="0" anchor="t"/>
          <a:lstStyle/>
          <a:p>
            <a:pPr indent="0" marL="0">
              <a:buNone/>
            </a:pPr>
            <a:r>
              <a:rPr lang="en-US" sz="3400" dirty="0">
                <a:solidFill>
                  <a:srgbClr val="E60000"/>
                </a:solidFill>
                <a:latin typeface="Frutiger 45 Light" pitchFamily="34" charset="0"/>
                <a:ea typeface="Frutiger 45 Light" pitchFamily="34" charset="-122"/>
                <a:cs typeface="Frutiger 45 Light" pitchFamily="34" charset="-120"/>
              </a:rPr>
              <a:t>~2%</a:t>
            </a:r>
            <a:endParaRPr lang="en-US" sz="3400" dirty="0"/>
          </a:p>
        </p:txBody>
      </p:sp>
      <p:sp>
        <p:nvSpPr>
          <p:cNvPr id="9" name="Text 7"/>
          <p:cNvSpPr/>
          <p:nvPr/>
        </p:nvSpPr>
        <p:spPr>
          <a:xfrm>
            <a:off x="841248" y="3255264"/>
            <a:ext cx="3249168" cy="621792"/>
          </a:xfrm>
          <a:prstGeom prst="rect">
            <a:avLst/>
          </a:prstGeom>
          <a:noFill/>
          <a:ln/>
        </p:spPr>
        <p:txBody>
          <a:bodyPr wrap="square" lIns="0" tIns="0" rIns="0" bIns="0" rtlCol="0" anchor="t"/>
          <a:lstStyle/>
          <a:p>
            <a:pPr indent="0" marL="0">
              <a:buNone/>
            </a:pPr>
            <a:r>
              <a:rPr lang="en-US" sz="1150" dirty="0">
                <a:solidFill>
                  <a:srgbClr val="757575"/>
                </a:solidFill>
                <a:latin typeface="Frutiger 45 Light" pitchFamily="34" charset="0"/>
                <a:ea typeface="Frutiger 45 Light" pitchFamily="34" charset="-122"/>
                <a:cs typeface="Frutiger 45 Light" pitchFamily="34" charset="-120"/>
              </a:rPr>
              <a:t>Crecimiento del PIB de EE.UU.</a:t>
            </a:r>
            <a:endParaRPr lang="en-US" sz="1150" dirty="0"/>
          </a:p>
          <a:p>
            <a:pPr indent="0" marL="0">
              <a:buNone/>
            </a:pPr>
            <a:r>
              <a:rPr lang="en-US" sz="1150" dirty="0">
                <a:solidFill>
                  <a:srgbClr val="757575"/>
                </a:solidFill>
                <a:latin typeface="Frutiger 45 Light" pitchFamily="34" charset="0"/>
                <a:ea typeface="Frutiger 45 Light" pitchFamily="34" charset="-122"/>
                <a:cs typeface="Frutiger 45 Light" pitchFamily="34" charset="-120"/>
              </a:rPr>
              <a:t>en 2026, según el escenario base</a:t>
            </a:r>
            <a:endParaRPr lang="en-US" sz="1150" dirty="0"/>
          </a:p>
        </p:txBody>
      </p:sp>
      <p:sp>
        <p:nvSpPr>
          <p:cNvPr id="10" name="Shape 8"/>
          <p:cNvSpPr/>
          <p:nvPr/>
        </p:nvSpPr>
        <p:spPr>
          <a:xfrm>
            <a:off x="4657344" y="2395728"/>
            <a:ext cx="3797808" cy="1481328"/>
          </a:xfrm>
          <a:prstGeom prst="rect">
            <a:avLst/>
          </a:prstGeom>
          <a:solidFill>
            <a:srgbClr val="F7F7F7"/>
          </a:solidFill>
          <a:ln w="12700">
            <a:solidFill>
              <a:srgbClr val="F7F7F7"/>
            </a:solidFill>
            <a:prstDash val="solid"/>
          </a:ln>
        </p:spPr>
      </p:sp>
      <p:sp>
        <p:nvSpPr>
          <p:cNvPr id="11" name="Text 9"/>
          <p:cNvSpPr/>
          <p:nvPr/>
        </p:nvSpPr>
        <p:spPr>
          <a:xfrm>
            <a:off x="4931664" y="2578608"/>
            <a:ext cx="3249168" cy="658368"/>
          </a:xfrm>
          <a:prstGeom prst="rect">
            <a:avLst/>
          </a:prstGeom>
          <a:noFill/>
          <a:ln/>
        </p:spPr>
        <p:txBody>
          <a:bodyPr wrap="square" lIns="0" tIns="0" rIns="0" bIns="0" rtlCol="0" anchor="t"/>
          <a:lstStyle/>
          <a:p>
            <a:pPr indent="0" marL="0">
              <a:buNone/>
            </a:pPr>
            <a:r>
              <a:rPr lang="en-US" sz="3400" dirty="0">
                <a:solidFill>
                  <a:srgbClr val="2B2B2B"/>
                </a:solidFill>
                <a:latin typeface="Frutiger 45 Light" pitchFamily="34" charset="0"/>
                <a:ea typeface="Frutiger 45 Light" pitchFamily="34" charset="-122"/>
                <a:cs typeface="Frutiger 45 Light" pitchFamily="34" charset="-120"/>
              </a:rPr>
              <a:t>60%</a:t>
            </a:r>
            <a:endParaRPr lang="en-US" sz="3400" dirty="0"/>
          </a:p>
        </p:txBody>
      </p:sp>
      <p:sp>
        <p:nvSpPr>
          <p:cNvPr id="12" name="Text 10"/>
          <p:cNvSpPr/>
          <p:nvPr/>
        </p:nvSpPr>
        <p:spPr>
          <a:xfrm>
            <a:off x="4931664" y="3255264"/>
            <a:ext cx="3249168" cy="621792"/>
          </a:xfrm>
          <a:prstGeom prst="rect">
            <a:avLst/>
          </a:prstGeom>
          <a:noFill/>
          <a:ln/>
        </p:spPr>
        <p:txBody>
          <a:bodyPr wrap="square" lIns="0" tIns="0" rIns="0" bIns="0" rtlCol="0" anchor="t"/>
          <a:lstStyle/>
          <a:p>
            <a:pPr indent="0" marL="0">
              <a:buNone/>
            </a:pPr>
            <a:r>
              <a:rPr lang="en-US" sz="1150" dirty="0">
                <a:solidFill>
                  <a:srgbClr val="757575"/>
                </a:solidFill>
                <a:latin typeface="Frutiger 45 Light" pitchFamily="34" charset="0"/>
                <a:ea typeface="Frutiger 45 Light" pitchFamily="34" charset="-122"/>
                <a:cs typeface="Frutiger 45 Light" pitchFamily="34" charset="-120"/>
              </a:rPr>
              <a:t>Probabilidad asignada</a:t>
            </a:r>
            <a:endParaRPr lang="en-US" sz="1150" dirty="0"/>
          </a:p>
          <a:p>
            <a:pPr indent="0" marL="0">
              <a:buNone/>
            </a:pPr>
            <a:r>
              <a:rPr lang="en-US" sz="1150" dirty="0">
                <a:solidFill>
                  <a:srgbClr val="757575"/>
                </a:solidFill>
                <a:latin typeface="Frutiger 45 Light" pitchFamily="34" charset="0"/>
                <a:ea typeface="Frutiger 45 Light" pitchFamily="34" charset="-122"/>
                <a:cs typeface="Frutiger 45 Light" pitchFamily="34" charset="-120"/>
              </a:rPr>
              <a:t>al escenario base</a:t>
            </a:r>
            <a:endParaRPr lang="en-US" sz="1150" dirty="0"/>
          </a:p>
        </p:txBody>
      </p:sp>
      <p:sp>
        <p:nvSpPr>
          <p:cNvPr id="13" name="Shape 11"/>
          <p:cNvSpPr/>
          <p:nvPr/>
        </p:nvSpPr>
        <p:spPr>
          <a:xfrm>
            <a:off x="8747760" y="2395728"/>
            <a:ext cx="3797808" cy="1481328"/>
          </a:xfrm>
          <a:prstGeom prst="rect">
            <a:avLst/>
          </a:prstGeom>
          <a:solidFill>
            <a:srgbClr val="F7F7F7"/>
          </a:solidFill>
          <a:ln w="12700">
            <a:solidFill>
              <a:srgbClr val="F7F7F7"/>
            </a:solidFill>
            <a:prstDash val="solid"/>
          </a:ln>
        </p:spPr>
      </p:sp>
      <p:sp>
        <p:nvSpPr>
          <p:cNvPr id="14" name="Text 12"/>
          <p:cNvSpPr/>
          <p:nvPr/>
        </p:nvSpPr>
        <p:spPr>
          <a:xfrm>
            <a:off x="9022080" y="2578608"/>
            <a:ext cx="3249168" cy="658368"/>
          </a:xfrm>
          <a:prstGeom prst="rect">
            <a:avLst/>
          </a:prstGeom>
          <a:noFill/>
          <a:ln/>
        </p:spPr>
        <p:txBody>
          <a:bodyPr wrap="square" lIns="0" tIns="0" rIns="0" bIns="0" rtlCol="0" anchor="t"/>
          <a:lstStyle/>
          <a:p>
            <a:pPr indent="0" marL="0">
              <a:buNone/>
            </a:pPr>
            <a:r>
              <a:rPr lang="en-US" sz="3400" dirty="0">
                <a:solidFill>
                  <a:srgbClr val="2B2B2B"/>
                </a:solidFill>
                <a:latin typeface="Frutiger 45 Light" pitchFamily="34" charset="0"/>
                <a:ea typeface="Frutiger 45 Light" pitchFamily="34" charset="-122"/>
                <a:cs typeface="Frutiger 45 Light" pitchFamily="34" charset="-120"/>
              </a:rPr>
              <a:t>7.572</a:t>
            </a:r>
            <a:endParaRPr lang="en-US" sz="3400" dirty="0"/>
          </a:p>
        </p:txBody>
      </p:sp>
      <p:sp>
        <p:nvSpPr>
          <p:cNvPr id="15" name="Text 13"/>
          <p:cNvSpPr/>
          <p:nvPr/>
        </p:nvSpPr>
        <p:spPr>
          <a:xfrm>
            <a:off x="9022080" y="3255264"/>
            <a:ext cx="3249168" cy="621792"/>
          </a:xfrm>
          <a:prstGeom prst="rect">
            <a:avLst/>
          </a:prstGeom>
          <a:noFill/>
          <a:ln/>
        </p:spPr>
        <p:txBody>
          <a:bodyPr wrap="square" lIns="0" tIns="0" rIns="0" bIns="0" rtlCol="0" anchor="t"/>
          <a:lstStyle/>
          <a:p>
            <a:pPr indent="0" marL="0">
              <a:buNone/>
            </a:pPr>
            <a:r>
              <a:rPr lang="en-US" sz="1150" dirty="0">
                <a:solidFill>
                  <a:srgbClr val="757575"/>
                </a:solidFill>
                <a:latin typeface="Frutiger 45 Light" pitchFamily="34" charset="0"/>
                <a:ea typeface="Frutiger 45 Light" pitchFamily="34" charset="-122"/>
                <a:cs typeface="Frutiger 45 Light" pitchFamily="34" charset="-120"/>
              </a:rPr>
              <a:t>Nivel del S&amp;P 500</a:t>
            </a:r>
            <a:endParaRPr lang="en-US" sz="1150" dirty="0"/>
          </a:p>
          <a:p>
            <a:pPr indent="0" marL="0">
              <a:buNone/>
            </a:pPr>
            <a:r>
              <a:rPr lang="en-US" sz="1150" dirty="0">
                <a:solidFill>
                  <a:srgbClr val="757575"/>
                </a:solidFill>
                <a:latin typeface="Frutiger 45 Light" pitchFamily="34" charset="0"/>
                <a:ea typeface="Frutiger 45 Light" pitchFamily="34" charset="-122"/>
                <a:cs typeface="Frutiger 45 Light" pitchFamily="34" charset="-120"/>
              </a:rPr>
              <a:t>al 15 de julio de 2026</a:t>
            </a:r>
            <a:endParaRPr lang="en-US" sz="1150" dirty="0"/>
          </a:p>
        </p:txBody>
      </p:sp>
      <p:sp>
        <p:nvSpPr>
          <p:cNvPr id="16" name="Text 14"/>
          <p:cNvSpPr/>
          <p:nvPr/>
        </p:nvSpPr>
        <p:spPr>
          <a:xfrm>
            <a:off x="566928" y="4096512"/>
            <a:ext cx="12271248" cy="292608"/>
          </a:xfrm>
          <a:prstGeom prst="rect">
            <a:avLst/>
          </a:prstGeom>
          <a:noFill/>
          <a:ln/>
        </p:spPr>
        <p:txBody>
          <a:bodyPr wrap="square" lIns="0" tIns="0" rIns="0" bIns="0" rtlCol="0" anchor="ctr"/>
          <a:lstStyle/>
          <a:p>
            <a:pPr indent="0" marL="0">
              <a:buNone/>
            </a:pPr>
            <a:r>
              <a:rPr lang="en-US" sz="1300" dirty="0">
                <a:solidFill>
                  <a:srgbClr val="E60000"/>
                </a:solidFill>
                <a:latin typeface="Frutiger 45 Light" pitchFamily="34" charset="0"/>
                <a:ea typeface="Frutiger 45 Light" pitchFamily="34" charset="-122"/>
                <a:cs typeface="Frutiger 45 Light" pitchFamily="34" charset="-120"/>
              </a:rPr>
              <a:t>Lo que sostiene la lectura</a:t>
            </a:r>
            <a:endParaRPr lang="en-US" sz="1300" dirty="0"/>
          </a:p>
        </p:txBody>
      </p:sp>
      <p:sp>
        <p:nvSpPr>
          <p:cNvPr id="17" name="Text 15"/>
          <p:cNvSpPr/>
          <p:nvPr/>
        </p:nvSpPr>
        <p:spPr>
          <a:xfrm>
            <a:off x="566928" y="4443984"/>
            <a:ext cx="11996928" cy="210312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Las bolsas cotizan cerca de máximos históricos: los mercados han mirado más allá del conflicto de Medio Oriente y vuelven a centrarse en fundamentos sólidos.</a:t>
            </a:r>
            <a:endParaRPr lang="en-US" sz="1300" dirty="0"/>
          </a:p>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El entorno macro general se mantiene constructivo y las tendencias estructurales siguen siendo favorables.</a:t>
            </a:r>
            <a:endParaRPr lang="en-US" sz="1300" dirty="0"/>
          </a:p>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El endurecimiento fiscal limita cualquier reaceleración: el escenario base contempla un crecimiento en torno al 2% también en 2027.</a:t>
            </a:r>
            <a:endParaRPr lang="en-US" sz="1300" dirty="0"/>
          </a:p>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Las regiones importadoras de energía —Europa y Asia— sufren este año un impacto algo mayor por los precios energéticos.</a:t>
            </a:r>
            <a:endParaRPr lang="en-US" sz="1300" dirty="0"/>
          </a:p>
        </p:txBody>
      </p:sp>
      <p:sp>
        <p:nvSpPr>
          <p:cNvPr id="18" name="Text 16"/>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escenarios clave para junio de 2027. Precios de contado al cierre del 15 de julio de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2 · MOTORES</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El crecimiento se apoya en cuatro pilares</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UBS CIO identifica un conjunto de soportes que explican por qué el ciclo se mantiene pese a los choques geopolíticos.</a:t>
            </a:r>
            <a:endParaRPr lang="en-US" sz="1400" dirty="0"/>
          </a:p>
        </p:txBody>
      </p:sp>
      <p:sp>
        <p:nvSpPr>
          <p:cNvPr id="7" name="Shape 5"/>
          <p:cNvSpPr/>
          <p:nvPr/>
        </p:nvSpPr>
        <p:spPr>
          <a:xfrm>
            <a:off x="566928" y="2395728"/>
            <a:ext cx="6025896" cy="1572768"/>
          </a:xfrm>
          <a:prstGeom prst="rect">
            <a:avLst/>
          </a:prstGeom>
          <a:solidFill>
            <a:srgbClr val="F7F7F7"/>
          </a:solidFill>
          <a:ln w="12700">
            <a:solidFill>
              <a:srgbClr val="F7F7F7"/>
            </a:solidFill>
            <a:prstDash val="solid"/>
          </a:ln>
        </p:spPr>
      </p:sp>
      <p:sp>
        <p:nvSpPr>
          <p:cNvPr id="8" name="Shape 6"/>
          <p:cNvSpPr/>
          <p:nvPr/>
        </p:nvSpPr>
        <p:spPr>
          <a:xfrm>
            <a:off x="841248" y="2670048"/>
            <a:ext cx="384048" cy="41148"/>
          </a:xfrm>
          <a:prstGeom prst="rect">
            <a:avLst/>
          </a:prstGeom>
          <a:solidFill>
            <a:srgbClr val="E60000"/>
          </a:solidFill>
          <a:ln/>
        </p:spPr>
      </p:sp>
      <p:sp>
        <p:nvSpPr>
          <p:cNvPr id="9" name="Text 7"/>
          <p:cNvSpPr/>
          <p:nvPr/>
        </p:nvSpPr>
        <p:spPr>
          <a:xfrm>
            <a:off x="841248" y="2798064"/>
            <a:ext cx="5422392" cy="329184"/>
          </a:xfrm>
          <a:prstGeom prst="rect">
            <a:avLst/>
          </a:prstGeom>
          <a:noFill/>
          <a:ln/>
        </p:spPr>
        <p:txBody>
          <a:bodyPr wrap="square" lIns="0" tIns="0" rIns="0" bIns="0" rtlCol="0" anchor="ctr"/>
          <a:lstStyle/>
          <a:p>
            <a:pPr indent="0" marL="0">
              <a:buNone/>
            </a:pPr>
            <a:r>
              <a:rPr lang="en-US" sz="1550" dirty="0">
                <a:solidFill>
                  <a:srgbClr val="2B2B2B"/>
                </a:solidFill>
                <a:latin typeface="Frutiger 45 Light" pitchFamily="34" charset="0"/>
                <a:ea typeface="Frutiger 45 Light" pitchFamily="34" charset="-122"/>
                <a:cs typeface="Frutiger 45 Light" pitchFamily="34" charset="-120"/>
              </a:rPr>
              <a:t>Consumo resiliente</a:t>
            </a:r>
            <a:endParaRPr lang="en-US" sz="1550" dirty="0"/>
          </a:p>
        </p:txBody>
      </p:sp>
      <p:sp>
        <p:nvSpPr>
          <p:cNvPr id="10" name="Text 8"/>
          <p:cNvSpPr/>
          <p:nvPr/>
        </p:nvSpPr>
        <p:spPr>
          <a:xfrm>
            <a:off x="841248" y="3163824"/>
            <a:ext cx="5422392" cy="713232"/>
          </a:xfrm>
          <a:prstGeom prst="rect">
            <a:avLst/>
          </a:prstGeom>
          <a:noFill/>
          <a:ln/>
        </p:spPr>
        <p:txBody>
          <a:bodyPr wrap="square" lIns="0" tIns="0" rIns="0" bIns="0" rtlCol="0" anchor="ctr"/>
          <a:lstStyle/>
          <a:p>
            <a:pPr indent="0" marL="0">
              <a:lnSpc>
                <a:spcPts val="1500"/>
              </a:lnSpc>
              <a:buNone/>
            </a:pPr>
            <a:r>
              <a:rPr lang="en-US" sz="1150" dirty="0">
                <a:solidFill>
                  <a:srgbClr val="757575"/>
                </a:solidFill>
                <a:latin typeface="Frutiger 45 Light" pitchFamily="34" charset="0"/>
                <a:ea typeface="Frutiger 45 Light" pitchFamily="34" charset="-122"/>
                <a:cs typeface="Frutiger 45 Light" pitchFamily="34" charset="-120"/>
              </a:rPr>
              <a:t>El gasto de los hogares se mantiene firme y sigue siendo el ancla de la demanda interna estadounidense.</a:t>
            </a:r>
            <a:endParaRPr lang="en-US" sz="1150" dirty="0"/>
          </a:p>
        </p:txBody>
      </p:sp>
      <p:sp>
        <p:nvSpPr>
          <p:cNvPr id="11" name="Shape 9"/>
          <p:cNvSpPr/>
          <p:nvPr/>
        </p:nvSpPr>
        <p:spPr>
          <a:xfrm>
            <a:off x="6812280" y="2395728"/>
            <a:ext cx="6025896" cy="1572768"/>
          </a:xfrm>
          <a:prstGeom prst="rect">
            <a:avLst/>
          </a:prstGeom>
          <a:solidFill>
            <a:srgbClr val="F7F7F7"/>
          </a:solidFill>
          <a:ln w="12700">
            <a:solidFill>
              <a:srgbClr val="F7F7F7"/>
            </a:solidFill>
            <a:prstDash val="solid"/>
          </a:ln>
        </p:spPr>
      </p:sp>
      <p:sp>
        <p:nvSpPr>
          <p:cNvPr id="12" name="Shape 10"/>
          <p:cNvSpPr/>
          <p:nvPr/>
        </p:nvSpPr>
        <p:spPr>
          <a:xfrm>
            <a:off x="7086600" y="2670048"/>
            <a:ext cx="384048" cy="41148"/>
          </a:xfrm>
          <a:prstGeom prst="rect">
            <a:avLst/>
          </a:prstGeom>
          <a:solidFill>
            <a:srgbClr val="E60000"/>
          </a:solidFill>
          <a:ln/>
        </p:spPr>
      </p:sp>
      <p:sp>
        <p:nvSpPr>
          <p:cNvPr id="13" name="Text 11"/>
          <p:cNvSpPr/>
          <p:nvPr/>
        </p:nvSpPr>
        <p:spPr>
          <a:xfrm>
            <a:off x="7086600" y="2798064"/>
            <a:ext cx="5422392" cy="329184"/>
          </a:xfrm>
          <a:prstGeom prst="rect">
            <a:avLst/>
          </a:prstGeom>
          <a:noFill/>
          <a:ln/>
        </p:spPr>
        <p:txBody>
          <a:bodyPr wrap="square" lIns="0" tIns="0" rIns="0" bIns="0" rtlCol="0" anchor="ctr"/>
          <a:lstStyle/>
          <a:p>
            <a:pPr indent="0" marL="0">
              <a:buNone/>
            </a:pPr>
            <a:r>
              <a:rPr lang="en-US" sz="1550" dirty="0">
                <a:solidFill>
                  <a:srgbClr val="2B2B2B"/>
                </a:solidFill>
                <a:latin typeface="Frutiger 45 Light" pitchFamily="34" charset="0"/>
                <a:ea typeface="Frutiger 45 Light" pitchFamily="34" charset="-122"/>
                <a:cs typeface="Frutiger 45 Light" pitchFamily="34" charset="-120"/>
              </a:rPr>
              <a:t>Acceso robusto al capital</a:t>
            </a:r>
            <a:endParaRPr lang="en-US" sz="1550" dirty="0"/>
          </a:p>
        </p:txBody>
      </p:sp>
      <p:sp>
        <p:nvSpPr>
          <p:cNvPr id="14" name="Text 12"/>
          <p:cNvSpPr/>
          <p:nvPr/>
        </p:nvSpPr>
        <p:spPr>
          <a:xfrm>
            <a:off x="7086600" y="3163824"/>
            <a:ext cx="5422392" cy="713232"/>
          </a:xfrm>
          <a:prstGeom prst="rect">
            <a:avLst/>
          </a:prstGeom>
          <a:noFill/>
          <a:ln/>
        </p:spPr>
        <p:txBody>
          <a:bodyPr wrap="square" lIns="0" tIns="0" rIns="0" bIns="0" rtlCol="0" anchor="ctr"/>
          <a:lstStyle/>
          <a:p>
            <a:pPr indent="0" marL="0">
              <a:lnSpc>
                <a:spcPts val="1500"/>
              </a:lnSpc>
              <a:buNone/>
            </a:pPr>
            <a:r>
              <a:rPr lang="en-US" sz="1150" dirty="0">
                <a:solidFill>
                  <a:srgbClr val="757575"/>
                </a:solidFill>
                <a:latin typeface="Frutiger 45 Light" pitchFamily="34" charset="0"/>
                <a:ea typeface="Frutiger 45 Light" pitchFamily="34" charset="-122"/>
                <a:cs typeface="Frutiger 45 Light" pitchFamily="34" charset="-120"/>
              </a:rPr>
              <a:t>Las condiciones de financiación siguen siendo amplias. La fuerte emisión de los hiperescaladores estadounidenses se ha absorbido sin tensiones.</a:t>
            </a:r>
            <a:endParaRPr lang="en-US" sz="1150" dirty="0"/>
          </a:p>
        </p:txBody>
      </p:sp>
      <p:sp>
        <p:nvSpPr>
          <p:cNvPr id="15" name="Shape 13"/>
          <p:cNvSpPr/>
          <p:nvPr/>
        </p:nvSpPr>
        <p:spPr>
          <a:xfrm>
            <a:off x="566928" y="4151376"/>
            <a:ext cx="6025896" cy="1572768"/>
          </a:xfrm>
          <a:prstGeom prst="rect">
            <a:avLst/>
          </a:prstGeom>
          <a:solidFill>
            <a:srgbClr val="F7F7F7"/>
          </a:solidFill>
          <a:ln w="12700">
            <a:solidFill>
              <a:srgbClr val="F7F7F7"/>
            </a:solidFill>
            <a:prstDash val="solid"/>
          </a:ln>
        </p:spPr>
      </p:sp>
      <p:sp>
        <p:nvSpPr>
          <p:cNvPr id="16" name="Shape 14"/>
          <p:cNvSpPr/>
          <p:nvPr/>
        </p:nvSpPr>
        <p:spPr>
          <a:xfrm>
            <a:off x="841248" y="4425696"/>
            <a:ext cx="384048" cy="41148"/>
          </a:xfrm>
          <a:prstGeom prst="rect">
            <a:avLst/>
          </a:prstGeom>
          <a:solidFill>
            <a:srgbClr val="E60000"/>
          </a:solidFill>
          <a:ln/>
        </p:spPr>
      </p:sp>
      <p:sp>
        <p:nvSpPr>
          <p:cNvPr id="17" name="Text 15"/>
          <p:cNvSpPr/>
          <p:nvPr/>
        </p:nvSpPr>
        <p:spPr>
          <a:xfrm>
            <a:off x="841248" y="4553712"/>
            <a:ext cx="5422392" cy="329184"/>
          </a:xfrm>
          <a:prstGeom prst="rect">
            <a:avLst/>
          </a:prstGeom>
          <a:noFill/>
          <a:ln/>
        </p:spPr>
        <p:txBody>
          <a:bodyPr wrap="square" lIns="0" tIns="0" rIns="0" bIns="0" rtlCol="0" anchor="ctr"/>
          <a:lstStyle/>
          <a:p>
            <a:pPr indent="0" marL="0">
              <a:buNone/>
            </a:pPr>
            <a:r>
              <a:rPr lang="en-US" sz="1550" dirty="0">
                <a:solidFill>
                  <a:srgbClr val="2B2B2B"/>
                </a:solidFill>
                <a:latin typeface="Frutiger 45 Light" pitchFamily="34" charset="0"/>
                <a:ea typeface="Frutiger 45 Light" pitchFamily="34" charset="-122"/>
                <a:cs typeface="Frutiger 45 Light" pitchFamily="34" charset="-120"/>
              </a:rPr>
              <a:t>Política fiscal de apoyo</a:t>
            </a:r>
            <a:endParaRPr lang="en-US" sz="1550" dirty="0"/>
          </a:p>
        </p:txBody>
      </p:sp>
      <p:sp>
        <p:nvSpPr>
          <p:cNvPr id="18" name="Text 16"/>
          <p:cNvSpPr/>
          <p:nvPr/>
        </p:nvSpPr>
        <p:spPr>
          <a:xfrm>
            <a:off x="841248" y="4919472"/>
            <a:ext cx="5422392" cy="713232"/>
          </a:xfrm>
          <a:prstGeom prst="rect">
            <a:avLst/>
          </a:prstGeom>
          <a:noFill/>
          <a:ln/>
        </p:spPr>
        <p:txBody>
          <a:bodyPr wrap="square" lIns="0" tIns="0" rIns="0" bIns="0" rtlCol="0" anchor="ctr"/>
          <a:lstStyle/>
          <a:p>
            <a:pPr indent="0" marL="0">
              <a:lnSpc>
                <a:spcPts val="1500"/>
              </a:lnSpc>
              <a:buNone/>
            </a:pPr>
            <a:r>
              <a:rPr lang="en-US" sz="1150" dirty="0">
                <a:solidFill>
                  <a:srgbClr val="757575"/>
                </a:solidFill>
                <a:latin typeface="Frutiger 45 Light" pitchFamily="34" charset="0"/>
                <a:ea typeface="Frutiger 45 Light" pitchFamily="34" charset="-122"/>
                <a:cs typeface="Frutiger 45 Light" pitchFamily="34" charset="-120"/>
              </a:rPr>
              <a:t>Las políticas favorables a la actividad empresarial en EE.UU., Europa y China compensan parte del efecto residual de los aranceles.</a:t>
            </a:r>
            <a:endParaRPr lang="en-US" sz="1150" dirty="0"/>
          </a:p>
        </p:txBody>
      </p:sp>
      <p:sp>
        <p:nvSpPr>
          <p:cNvPr id="19" name="Shape 17"/>
          <p:cNvSpPr/>
          <p:nvPr/>
        </p:nvSpPr>
        <p:spPr>
          <a:xfrm>
            <a:off x="6812280" y="4151376"/>
            <a:ext cx="6025896" cy="1572768"/>
          </a:xfrm>
          <a:prstGeom prst="rect">
            <a:avLst/>
          </a:prstGeom>
          <a:solidFill>
            <a:srgbClr val="F7F7F7"/>
          </a:solidFill>
          <a:ln w="12700">
            <a:solidFill>
              <a:srgbClr val="F7F7F7"/>
            </a:solidFill>
            <a:prstDash val="solid"/>
          </a:ln>
        </p:spPr>
      </p:sp>
      <p:sp>
        <p:nvSpPr>
          <p:cNvPr id="20" name="Shape 18"/>
          <p:cNvSpPr/>
          <p:nvPr/>
        </p:nvSpPr>
        <p:spPr>
          <a:xfrm>
            <a:off x="7086600" y="4425696"/>
            <a:ext cx="384048" cy="41148"/>
          </a:xfrm>
          <a:prstGeom prst="rect">
            <a:avLst/>
          </a:prstGeom>
          <a:solidFill>
            <a:srgbClr val="E60000"/>
          </a:solidFill>
          <a:ln/>
        </p:spPr>
      </p:sp>
      <p:sp>
        <p:nvSpPr>
          <p:cNvPr id="21" name="Text 19"/>
          <p:cNvSpPr/>
          <p:nvPr/>
        </p:nvSpPr>
        <p:spPr>
          <a:xfrm>
            <a:off x="7086600" y="4553712"/>
            <a:ext cx="5422392" cy="329184"/>
          </a:xfrm>
          <a:prstGeom prst="rect">
            <a:avLst/>
          </a:prstGeom>
          <a:noFill/>
          <a:ln/>
        </p:spPr>
        <p:txBody>
          <a:bodyPr wrap="square" lIns="0" tIns="0" rIns="0" bIns="0" rtlCol="0" anchor="ctr"/>
          <a:lstStyle/>
          <a:p>
            <a:pPr indent="0" marL="0">
              <a:buNone/>
            </a:pPr>
            <a:r>
              <a:rPr lang="en-US" sz="1550" dirty="0">
                <a:solidFill>
                  <a:srgbClr val="2B2B2B"/>
                </a:solidFill>
                <a:latin typeface="Frutiger 45 Light" pitchFamily="34" charset="0"/>
                <a:ea typeface="Frutiger 45 Light" pitchFamily="34" charset="-122"/>
                <a:cs typeface="Frutiger 45 Light" pitchFamily="34" charset="-120"/>
              </a:rPr>
              <a:t>Recuperación manufacturera</a:t>
            </a:r>
            <a:endParaRPr lang="en-US" sz="1550" dirty="0"/>
          </a:p>
        </p:txBody>
      </p:sp>
      <p:sp>
        <p:nvSpPr>
          <p:cNvPr id="22" name="Text 20"/>
          <p:cNvSpPr/>
          <p:nvPr/>
        </p:nvSpPr>
        <p:spPr>
          <a:xfrm>
            <a:off x="7086600" y="4919472"/>
            <a:ext cx="5422392" cy="713232"/>
          </a:xfrm>
          <a:prstGeom prst="rect">
            <a:avLst/>
          </a:prstGeom>
          <a:noFill/>
          <a:ln/>
        </p:spPr>
        <p:txBody>
          <a:bodyPr wrap="square" lIns="0" tIns="0" rIns="0" bIns="0" rtlCol="0" anchor="ctr"/>
          <a:lstStyle/>
          <a:p>
            <a:pPr indent="0" marL="0">
              <a:lnSpc>
                <a:spcPts val="1500"/>
              </a:lnSpc>
              <a:buNone/>
            </a:pPr>
            <a:r>
              <a:rPr lang="en-US" sz="1150" dirty="0">
                <a:solidFill>
                  <a:srgbClr val="757575"/>
                </a:solidFill>
                <a:latin typeface="Frutiger 45 Light" pitchFamily="34" charset="0"/>
                <a:ea typeface="Frutiger 45 Light" pitchFamily="34" charset="-122"/>
                <a:cs typeface="Frutiger 45 Light" pitchFamily="34" charset="-120"/>
              </a:rPr>
              <a:t>La industria se recupera y las tendencias estructurales —con la IA a la cabeza— siguen siendo favorables.</a:t>
            </a:r>
            <a:endParaRPr lang="en-US" sz="1150" dirty="0"/>
          </a:p>
        </p:txBody>
      </p:sp>
      <p:sp>
        <p:nvSpPr>
          <p:cNvPr id="23" name="Text 21"/>
          <p:cNvSpPr/>
          <p:nvPr/>
        </p:nvSpPr>
        <p:spPr>
          <a:xfrm>
            <a:off x="566928" y="6053328"/>
            <a:ext cx="12271248" cy="329184"/>
          </a:xfrm>
          <a:prstGeom prst="rect">
            <a:avLst/>
          </a:prstGeom>
          <a:noFill/>
          <a:ln/>
        </p:spPr>
        <p:txBody>
          <a:bodyPr wrap="square" lIns="0" tIns="0" rIns="0" bIns="0" rtlCol="0" anchor="ctr"/>
          <a:lstStyle/>
          <a:p>
            <a:pPr indent="0" marL="0">
              <a:buNone/>
            </a:pPr>
            <a:r>
              <a:rPr lang="en-US" sz="1250" dirty="0">
                <a:solidFill>
                  <a:srgbClr val="E60000"/>
                </a:solidFill>
                <a:latin typeface="Frutiger 45 Light" pitchFamily="34" charset="0"/>
                <a:ea typeface="Frutiger 45 Light" pitchFamily="34" charset="-122"/>
                <a:cs typeface="Frutiger 45 Light" pitchFamily="34" charset="-120"/>
              </a:rPr>
              <a:t>Con una salvedad: dentro del sector de la inteligencia artificial, UBS CIO recomienda un enfoque más selectivo.</a:t>
            </a:r>
            <a:endParaRPr lang="en-US" sz="1250" dirty="0"/>
          </a:p>
        </p:txBody>
      </p:sp>
      <p:sp>
        <p:nvSpPr>
          <p:cNvPr id="24" name="Text 22"/>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perspectivas por clase de activo, agosto de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3 · POLÍTICA MONETARIA</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La Fed: el mercado descuenta más subidas de las que esperamos</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Tras el choque energético los mercados incorporaron nuevas alzas de tasas. UBS CIO duda que los bancos centrales lleguen a entregarlas.</a:t>
            </a:r>
            <a:endParaRPr lang="en-US" sz="1400" dirty="0"/>
          </a:p>
        </p:txBody>
      </p:sp>
      <p:sp>
        <p:nvSpPr>
          <p:cNvPr id="7" name="Text 5"/>
          <p:cNvSpPr/>
          <p:nvPr/>
        </p:nvSpPr>
        <p:spPr>
          <a:xfrm>
            <a:off x="566928" y="2377440"/>
            <a:ext cx="5943600" cy="3108960"/>
          </a:xfrm>
          <a:prstGeom prst="rect">
            <a:avLst/>
          </a:prstGeom>
          <a:noFill/>
          <a:ln/>
        </p:spPr>
        <p:txBody>
          <a:bodyPr wrap="square" lIns="0" tIns="0" rIns="0" bIns="0" rtlCol="0" anchor="ctr"/>
          <a:lstStyle/>
          <a:p>
            <a:pPr indent="0" marL="0">
              <a:lnSpc>
                <a:spcPts val="1700"/>
              </a:lnSpc>
              <a:buNone/>
            </a:pPr>
            <a:r>
              <a:rPr lang="en-US" sz="1300" dirty="0">
                <a:solidFill>
                  <a:srgbClr val="E60000"/>
                </a:solidFill>
                <a:latin typeface="Frutiger 45 Light" pitchFamily="34" charset="0"/>
                <a:ea typeface="Frutiger 45 Light" pitchFamily="34" charset="-122"/>
                <a:cs typeface="Frutiger 45 Light" pitchFamily="34" charset="-120"/>
              </a:rPr>
              <a:t>El argumento</a:t>
            </a:r>
            <a:endParaRPr lang="en-US" sz="1300" dirty="0"/>
          </a:p>
          <a:p>
            <a:pPr indent="0" marL="0">
              <a:lnSpc>
                <a:spcPts val="1700"/>
              </a:lnSpc>
              <a:buNone/>
            </a:pPr>
            <a:r>
              <a:rPr lang="en-US" sz="1250" dirty="0">
                <a:solidFill>
                  <a:srgbClr val="474747"/>
                </a:solidFill>
                <a:latin typeface="Frutiger 45 Light" pitchFamily="34" charset="0"/>
                <a:ea typeface="Frutiger 45 Light" pitchFamily="34" charset="-122"/>
                <a:cs typeface="Frutiger 45 Light" pitchFamily="34" charset="-120"/>
              </a:rPr>
              <a:t>Los precios de la energía y las expectativas de inflación han retrocedido desde el pico del conflicto. Las tasas reales han subido, empujando los rendimientos nominales al alza, sobre todo en el tramo corto y medio de las curvas.</a:t>
            </a:r>
            <a:endParaRPr lang="en-US" sz="1300" dirty="0"/>
          </a:p>
          <a:p>
            <a:pPr indent="0" marL="0">
              <a:lnSpc>
                <a:spcPts val="1700"/>
              </a:lnSpc>
              <a:buNone/>
            </a:pPr>
            <a:endParaRPr lang="en-US" sz="1300" dirty="0"/>
          </a:p>
          <a:p>
            <a:pPr indent="0" marL="0">
              <a:lnSpc>
                <a:spcPts val="1700"/>
              </a:lnSpc>
              <a:buNone/>
            </a:pPr>
            <a:r>
              <a:rPr lang="en-US" sz="1250" dirty="0">
                <a:solidFill>
                  <a:srgbClr val="474747"/>
                </a:solidFill>
                <a:latin typeface="Frutiger 45 Light" pitchFamily="34" charset="0"/>
                <a:ea typeface="Frutiger 45 Light" pitchFamily="34" charset="-122"/>
                <a:cs typeface="Frutiger 45 Light" pitchFamily="34" charset="-120"/>
              </a:rPr>
              <a:t>Si los bancos centrales no entregan todas las subidas descontadas, se abre espacio para ganancias de capital en renta fija.</a:t>
            </a:r>
            <a:endParaRPr lang="en-US" sz="1300" dirty="0"/>
          </a:p>
          <a:p>
            <a:pPr indent="0" marL="0">
              <a:lnSpc>
                <a:spcPts val="1700"/>
              </a:lnSpc>
              <a:buNone/>
            </a:pPr>
            <a:endParaRPr lang="en-US" sz="1300" dirty="0"/>
          </a:p>
          <a:p>
            <a:pPr indent="0" marL="0">
              <a:lnSpc>
                <a:spcPts val="1700"/>
              </a:lnSpc>
              <a:buNone/>
            </a:pPr>
            <a:r>
              <a:rPr lang="en-US" sz="1250" dirty="0">
                <a:solidFill>
                  <a:srgbClr val="474747"/>
                </a:solidFill>
                <a:latin typeface="Frutiger 45 Light" pitchFamily="34" charset="0"/>
                <a:ea typeface="Frutiger 45 Light" pitchFamily="34" charset="-122"/>
                <a:cs typeface="Frutiger 45 Light" pitchFamily="34" charset="-120"/>
              </a:rPr>
              <a:t>Escenario base: la Fed reanuda los recortes en 2027, mientras el BCE sube una vez más en 2026. Es improbable que el Brent supere los USD 100/bbl en el corto plazo, lo que permitiría a la mayoría de bancos centrales del G10 abstenerse de subir tasas.</a:t>
            </a:r>
            <a:endParaRPr lang="en-US" sz="1300" dirty="0"/>
          </a:p>
        </p:txBody>
      </p:sp>
      <p:graphicFrame>
        <p:nvGraphicFramePr>
          <p:cNvPr id="8" name="Chart 0" descr=""/>
          <p:cNvGraphicFramePr/>
          <p:nvPr/>
        </p:nvGraphicFramePr>
        <p:xfrm>
          <a:off x="6812280" y="2286000"/>
          <a:ext cx="6035040" cy="320040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escenarios y objetivos por clase de activo a junio de 2027.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4 · BENEFICIOS</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Los beneficios corporativos son robustos</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Es la razón de fondo del rally: la combinación de vientos de cola macro y estructurales se traduce en crecimiento de utilidades.</a:t>
            </a:r>
            <a:endParaRPr lang="en-US" sz="1400" dirty="0"/>
          </a:p>
        </p:txBody>
      </p:sp>
      <p:sp>
        <p:nvSpPr>
          <p:cNvPr id="7" name="Shape 5"/>
          <p:cNvSpPr/>
          <p:nvPr/>
        </p:nvSpPr>
        <p:spPr>
          <a:xfrm>
            <a:off x="566928" y="2359152"/>
            <a:ext cx="3977640" cy="1874520"/>
          </a:xfrm>
          <a:prstGeom prst="rect">
            <a:avLst/>
          </a:prstGeom>
          <a:solidFill>
            <a:srgbClr val="E60000"/>
          </a:solidFill>
          <a:ln w="12700">
            <a:solidFill>
              <a:srgbClr val="E60000"/>
            </a:solidFill>
            <a:prstDash val="solid"/>
          </a:ln>
        </p:spPr>
      </p:sp>
      <p:sp>
        <p:nvSpPr>
          <p:cNvPr id="8" name="Text 6"/>
          <p:cNvSpPr/>
          <p:nvPr/>
        </p:nvSpPr>
        <p:spPr>
          <a:xfrm>
            <a:off x="877824" y="2542032"/>
            <a:ext cx="3383280" cy="777240"/>
          </a:xfrm>
          <a:prstGeom prst="rect">
            <a:avLst/>
          </a:prstGeom>
          <a:noFill/>
          <a:ln/>
        </p:spPr>
        <p:txBody>
          <a:bodyPr wrap="square" lIns="0" tIns="0" rIns="0" bIns="0" rtlCol="0" anchor="t"/>
          <a:lstStyle/>
          <a:p>
            <a:pPr indent="0" marL="0">
              <a:buNone/>
            </a:pPr>
            <a:r>
              <a:rPr lang="en-US" sz="4600" dirty="0">
                <a:solidFill>
                  <a:srgbClr val="FFFFFF"/>
                </a:solidFill>
                <a:latin typeface="Frutiger 45 Light" pitchFamily="34" charset="0"/>
                <a:ea typeface="Frutiger 45 Light" pitchFamily="34" charset="-122"/>
                <a:cs typeface="Frutiger 45 Light" pitchFamily="34" charset="-120"/>
              </a:rPr>
              <a:t>+20%</a:t>
            </a:r>
            <a:endParaRPr lang="en-US" sz="4600" dirty="0"/>
          </a:p>
        </p:txBody>
      </p:sp>
      <p:sp>
        <p:nvSpPr>
          <p:cNvPr id="9" name="Text 7"/>
          <p:cNvSpPr/>
          <p:nvPr/>
        </p:nvSpPr>
        <p:spPr>
          <a:xfrm>
            <a:off x="877824" y="3310128"/>
            <a:ext cx="3383280" cy="749808"/>
          </a:xfrm>
          <a:prstGeom prst="rect">
            <a:avLst/>
          </a:prstGeom>
          <a:noFill/>
          <a:ln/>
        </p:spPr>
        <p:txBody>
          <a:bodyPr wrap="square" lIns="0" tIns="0" rIns="0" bIns="0" rtlCol="0" anchor="ctr"/>
          <a:lstStyle/>
          <a:p>
            <a:pPr indent="0" marL="0">
              <a:lnSpc>
                <a:spcPts val="1500"/>
              </a:lnSpc>
              <a:buNone/>
            </a:pPr>
            <a:r>
              <a:rPr lang="en-US" sz="1200" dirty="0">
                <a:solidFill>
                  <a:srgbClr val="FFD9D9"/>
                </a:solidFill>
                <a:latin typeface="Frutiger 45 Light" pitchFamily="34" charset="0"/>
                <a:ea typeface="Frutiger 45 Light" pitchFamily="34" charset="-122"/>
                <a:cs typeface="Frutiger 45 Light" pitchFamily="34" charset="-120"/>
              </a:rPr>
              <a:t>Crecimiento esperado del BPA para el índice MSCI AC World este año</a:t>
            </a:r>
            <a:endParaRPr lang="en-US" sz="1200" dirty="0"/>
          </a:p>
        </p:txBody>
      </p:sp>
      <p:sp>
        <p:nvSpPr>
          <p:cNvPr id="10" name="Text 8"/>
          <p:cNvSpPr/>
          <p:nvPr/>
        </p:nvSpPr>
        <p:spPr>
          <a:xfrm>
            <a:off x="4910328" y="2395728"/>
            <a:ext cx="7927848" cy="1920240"/>
          </a:xfrm>
          <a:prstGeom prst="rect">
            <a:avLst/>
          </a:prstGeom>
          <a:noFill/>
          <a:ln/>
        </p:spPr>
        <p:txBody>
          <a:bodyPr wrap="square" lIns="0" tIns="0" rIns="0" bIns="0" rtlCol="0" anchor="ctr"/>
          <a:lstStyle/>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La tecnología seguirá liderando, pero el crecimiento de beneficios y el rendimiento deberían ampliarse al resto del mercado durante 2026.</a:t>
            </a:r>
            <a:endParaRPr lang="en-US" sz="1300" dirty="0"/>
          </a:p>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Las bolsas cotizan cerca de máximos históricos porque el mercado ha vuelto a fijarse en los fundamentos subyacentes, no en el ruido geopolítico.</a:t>
            </a:r>
            <a:endParaRPr lang="en-US" sz="1300" dirty="0"/>
          </a:p>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Los fundamentos corporativos sólidos también sostienen el crédito: los diferenciales se mantienen estables y la demanda de rendimiento sigue firme.</a:t>
            </a:r>
            <a:endParaRPr lang="en-US" sz="1300" dirty="0"/>
          </a:p>
          <a:p>
            <a:pPr marL="342900" indent="-342900">
              <a:lnSpc>
                <a:spcPts val="1700"/>
              </a:lnSpc>
              <a:spcAft>
                <a:spcPts val="900"/>
              </a:spcAft>
              <a:buSzPct val="100000"/>
              <a:buChar char="•"/>
            </a:pPr>
            <a:r>
              <a:rPr lang="en-US" sz="1300" dirty="0">
                <a:solidFill>
                  <a:srgbClr val="474747"/>
                </a:solidFill>
                <a:latin typeface="Frutiger 45 Light" pitchFamily="34" charset="0"/>
                <a:ea typeface="Frutiger 45 Light" pitchFamily="34" charset="-122"/>
                <a:cs typeface="Frutiger 45 Light" pitchFamily="34" charset="-120"/>
              </a:rPr>
              <a:t>La tensión vinculada a la IA se concentra en el crédito privado y los préstamos sindicados, con contagio limitado al crédito público.</a:t>
            </a:r>
            <a:endParaRPr lang="en-US" sz="1300" dirty="0"/>
          </a:p>
        </p:txBody>
      </p:sp>
      <p:sp>
        <p:nvSpPr>
          <p:cNvPr id="11" name="Text 9"/>
          <p:cNvSpPr/>
          <p:nvPr/>
        </p:nvSpPr>
        <p:spPr>
          <a:xfrm>
            <a:off x="566928" y="4572000"/>
            <a:ext cx="12271248" cy="292608"/>
          </a:xfrm>
          <a:prstGeom prst="rect">
            <a:avLst/>
          </a:prstGeom>
          <a:noFill/>
          <a:ln/>
        </p:spPr>
        <p:txBody>
          <a:bodyPr wrap="square" lIns="0" tIns="0" rIns="0" bIns="0" rtlCol="0" anchor="ctr"/>
          <a:lstStyle/>
          <a:p>
            <a:pPr indent="0" marL="0">
              <a:buNone/>
            </a:pPr>
            <a:r>
              <a:rPr lang="en-US" sz="1300" dirty="0">
                <a:solidFill>
                  <a:srgbClr val="E60000"/>
                </a:solidFill>
                <a:latin typeface="Frutiger 45 Light" pitchFamily="34" charset="0"/>
                <a:ea typeface="Frutiger 45 Light" pitchFamily="34" charset="-122"/>
                <a:cs typeface="Frutiger 45 Light" pitchFamily="34" charset="-120"/>
              </a:rPr>
              <a:t>Qué vigilar</a:t>
            </a:r>
            <a:endParaRPr lang="en-US" sz="1300" dirty="0"/>
          </a:p>
        </p:txBody>
      </p:sp>
      <p:sp>
        <p:nvSpPr>
          <p:cNvPr id="12" name="Shape 10"/>
          <p:cNvSpPr/>
          <p:nvPr/>
        </p:nvSpPr>
        <p:spPr>
          <a:xfrm>
            <a:off x="566928" y="4919472"/>
            <a:ext cx="3816096" cy="1298448"/>
          </a:xfrm>
          <a:prstGeom prst="rect">
            <a:avLst/>
          </a:prstGeom>
          <a:solidFill>
            <a:srgbClr val="F7F7F7"/>
          </a:solidFill>
          <a:ln w="12700">
            <a:solidFill>
              <a:srgbClr val="F7F7F7"/>
            </a:solidFill>
            <a:prstDash val="solid"/>
          </a:ln>
        </p:spPr>
      </p:sp>
      <p:sp>
        <p:nvSpPr>
          <p:cNvPr id="13" name="Text 11"/>
          <p:cNvSpPr/>
          <p:nvPr/>
        </p:nvSpPr>
        <p:spPr>
          <a:xfrm>
            <a:off x="804672" y="5084064"/>
            <a:ext cx="3340608" cy="292608"/>
          </a:xfrm>
          <a:prstGeom prst="rect">
            <a:avLst/>
          </a:prstGeom>
          <a:noFill/>
          <a:ln/>
        </p:spPr>
        <p:txBody>
          <a:bodyPr wrap="square" lIns="0" tIns="0" rIns="0" bIns="0" rtlCol="0" anchor="ctr"/>
          <a:lstStyle/>
          <a:p>
            <a:pPr indent="0" marL="0">
              <a:buNone/>
            </a:pPr>
            <a:r>
              <a:rPr lang="en-US" sz="1300" dirty="0">
                <a:solidFill>
                  <a:srgbClr val="2B2B2B"/>
                </a:solidFill>
                <a:latin typeface="Frutiger 45 Light" pitchFamily="34" charset="0"/>
                <a:ea typeface="Frutiger 45 Light" pitchFamily="34" charset="-122"/>
                <a:cs typeface="Frutiger 45 Light" pitchFamily="34" charset="-120"/>
              </a:rPr>
              <a:t>Estrecho de Ormuz</a:t>
            </a:r>
            <a:endParaRPr lang="en-US" sz="1300" dirty="0"/>
          </a:p>
        </p:txBody>
      </p:sp>
      <p:sp>
        <p:nvSpPr>
          <p:cNvPr id="14" name="Text 12"/>
          <p:cNvSpPr/>
          <p:nvPr/>
        </p:nvSpPr>
        <p:spPr>
          <a:xfrm>
            <a:off x="804672" y="5394960"/>
            <a:ext cx="3340608" cy="69494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El calendario de reapertura sigue siendo el principal factor de incertidumbre.</a:t>
            </a:r>
            <a:endParaRPr lang="en-US" sz="1100" dirty="0"/>
          </a:p>
        </p:txBody>
      </p:sp>
      <p:sp>
        <p:nvSpPr>
          <p:cNvPr id="15" name="Shape 13"/>
          <p:cNvSpPr/>
          <p:nvPr/>
        </p:nvSpPr>
        <p:spPr>
          <a:xfrm>
            <a:off x="4657344" y="4919472"/>
            <a:ext cx="3816096" cy="1298448"/>
          </a:xfrm>
          <a:prstGeom prst="rect">
            <a:avLst/>
          </a:prstGeom>
          <a:solidFill>
            <a:srgbClr val="F7F7F7"/>
          </a:solidFill>
          <a:ln w="12700">
            <a:solidFill>
              <a:srgbClr val="F7F7F7"/>
            </a:solidFill>
            <a:prstDash val="solid"/>
          </a:ln>
        </p:spPr>
      </p:sp>
      <p:sp>
        <p:nvSpPr>
          <p:cNvPr id="16" name="Text 14"/>
          <p:cNvSpPr/>
          <p:nvPr/>
        </p:nvSpPr>
        <p:spPr>
          <a:xfrm>
            <a:off x="4895088" y="5084064"/>
            <a:ext cx="3340608" cy="292608"/>
          </a:xfrm>
          <a:prstGeom prst="rect">
            <a:avLst/>
          </a:prstGeom>
          <a:noFill/>
          <a:ln/>
        </p:spPr>
        <p:txBody>
          <a:bodyPr wrap="square" lIns="0" tIns="0" rIns="0" bIns="0" rtlCol="0" anchor="ctr"/>
          <a:lstStyle/>
          <a:p>
            <a:pPr indent="0" marL="0">
              <a:buNone/>
            </a:pPr>
            <a:r>
              <a:rPr lang="en-US" sz="1300" dirty="0">
                <a:solidFill>
                  <a:srgbClr val="2B2B2B"/>
                </a:solidFill>
                <a:latin typeface="Frutiger 45 Light" pitchFamily="34" charset="0"/>
                <a:ea typeface="Frutiger 45 Light" pitchFamily="34" charset="-122"/>
                <a:cs typeface="Frutiger 45 Light" pitchFamily="34" charset="-120"/>
              </a:rPr>
              <a:t>Inflación y rendimientos</a:t>
            </a:r>
            <a:endParaRPr lang="en-US" sz="1300" dirty="0"/>
          </a:p>
        </p:txBody>
      </p:sp>
      <p:sp>
        <p:nvSpPr>
          <p:cNvPr id="17" name="Text 15"/>
          <p:cNvSpPr/>
          <p:nvPr/>
        </p:nvSpPr>
        <p:spPr>
          <a:xfrm>
            <a:off x="4895088" y="5394960"/>
            <a:ext cx="3340608" cy="69494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Un repunte sostenido pondría presión sobre los múltiplos.</a:t>
            </a:r>
            <a:endParaRPr lang="en-US" sz="1100" dirty="0"/>
          </a:p>
        </p:txBody>
      </p:sp>
      <p:sp>
        <p:nvSpPr>
          <p:cNvPr id="18" name="Shape 16"/>
          <p:cNvSpPr/>
          <p:nvPr/>
        </p:nvSpPr>
        <p:spPr>
          <a:xfrm>
            <a:off x="8747760" y="4919472"/>
            <a:ext cx="3816096" cy="1298448"/>
          </a:xfrm>
          <a:prstGeom prst="rect">
            <a:avLst/>
          </a:prstGeom>
          <a:solidFill>
            <a:srgbClr val="F7F7F7"/>
          </a:solidFill>
          <a:ln w="12700">
            <a:solidFill>
              <a:srgbClr val="F7F7F7"/>
            </a:solidFill>
            <a:prstDash val="solid"/>
          </a:ln>
        </p:spPr>
      </p:sp>
      <p:sp>
        <p:nvSpPr>
          <p:cNvPr id="19" name="Text 17"/>
          <p:cNvSpPr/>
          <p:nvPr/>
        </p:nvSpPr>
        <p:spPr>
          <a:xfrm>
            <a:off x="8985504" y="5084064"/>
            <a:ext cx="3340608" cy="292608"/>
          </a:xfrm>
          <a:prstGeom prst="rect">
            <a:avLst/>
          </a:prstGeom>
          <a:noFill/>
          <a:ln/>
        </p:spPr>
        <p:txBody>
          <a:bodyPr wrap="square" lIns="0" tIns="0" rIns="0" bIns="0" rtlCol="0" anchor="ctr"/>
          <a:lstStyle/>
          <a:p>
            <a:pPr indent="0" marL="0">
              <a:buNone/>
            </a:pPr>
            <a:r>
              <a:rPr lang="en-US" sz="1300" dirty="0">
                <a:solidFill>
                  <a:srgbClr val="2B2B2B"/>
                </a:solidFill>
                <a:latin typeface="Frutiger 45 Light" pitchFamily="34" charset="0"/>
                <a:ea typeface="Frutiger 45 Light" pitchFamily="34" charset="-122"/>
                <a:cs typeface="Frutiger 45 Light" pitchFamily="34" charset="-120"/>
              </a:rPr>
              <a:t>Competencia tecnológica</a:t>
            </a:r>
            <a:endParaRPr lang="en-US" sz="1300" dirty="0"/>
          </a:p>
        </p:txBody>
      </p:sp>
      <p:sp>
        <p:nvSpPr>
          <p:cNvPr id="20" name="Text 18"/>
          <p:cNvSpPr/>
          <p:nvPr/>
        </p:nvSpPr>
        <p:spPr>
          <a:xfrm>
            <a:off x="8985504" y="5394960"/>
            <a:ext cx="3340608" cy="69494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La intensificación de la competencia dentro del sector merece seguimiento.</a:t>
            </a:r>
            <a:endParaRPr lang="en-US" sz="1100" dirty="0"/>
          </a:p>
        </p:txBody>
      </p:sp>
      <p:sp>
        <p:nvSpPr>
          <p:cNvPr id="21" name="Text 19"/>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BPA = beneficio por acción.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5 · ESCENARIOS</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Cautelosamente optimistas</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No vemos razones de peso para esperar que la expansión se detenga. El escenario base concentra el 60% de la probabilidad.</a:t>
            </a:r>
            <a:endParaRPr lang="en-US" sz="1400" dirty="0"/>
          </a:p>
        </p:txBody>
      </p:sp>
      <p:graphicFrame>
        <p:nvGraphicFramePr>
          <p:cNvPr id="7" name="Chart 0" descr=""/>
          <p:cNvGraphicFramePr/>
          <p:nvPr/>
        </p:nvGraphicFramePr>
        <p:xfrm>
          <a:off x="566928" y="2377440"/>
          <a:ext cx="5806440" cy="3017520"/>
        </p:xfrm>
        <a:graphic xmlns:a="http://schemas.openxmlformats.org/drawingml/2006/main">
          <a:graphicData uri="http://schemas.openxmlformats.org/drawingml/2006/chart">
            <c:chart xmlns:c="http://schemas.openxmlformats.org/drawingml/2006/chart" r:id="rId1"/>
          </a:graphicData>
        </a:graphic>
      </p:graphicFrame>
      <p:sp>
        <p:nvSpPr>
          <p:cNvPr id="8" name="Shape 5"/>
          <p:cNvSpPr/>
          <p:nvPr/>
        </p:nvSpPr>
        <p:spPr>
          <a:xfrm>
            <a:off x="6720840" y="2377440"/>
            <a:ext cx="6117336" cy="914400"/>
          </a:xfrm>
          <a:prstGeom prst="rect">
            <a:avLst/>
          </a:prstGeom>
          <a:solidFill>
            <a:srgbClr val="F7F7F7"/>
          </a:solidFill>
          <a:ln w="12700">
            <a:solidFill>
              <a:srgbClr val="F7F7F7"/>
            </a:solidFill>
            <a:prstDash val="solid"/>
          </a:ln>
        </p:spPr>
      </p:sp>
      <p:sp>
        <p:nvSpPr>
          <p:cNvPr id="9" name="Shape 6"/>
          <p:cNvSpPr/>
          <p:nvPr/>
        </p:nvSpPr>
        <p:spPr>
          <a:xfrm>
            <a:off x="6720840" y="2377440"/>
            <a:ext cx="50292" cy="914400"/>
          </a:xfrm>
          <a:prstGeom prst="rect">
            <a:avLst/>
          </a:prstGeom>
          <a:solidFill>
            <a:srgbClr val="E60000"/>
          </a:solidFill>
          <a:ln/>
        </p:spPr>
      </p:sp>
      <p:sp>
        <p:nvSpPr>
          <p:cNvPr id="10" name="Text 7"/>
          <p:cNvSpPr/>
          <p:nvPr/>
        </p:nvSpPr>
        <p:spPr>
          <a:xfrm>
            <a:off x="6967728" y="2487168"/>
            <a:ext cx="5779008" cy="256032"/>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Base · 60%  ·  Recuperación con baches</a:t>
            </a:r>
            <a:endParaRPr lang="en-US" sz="1250" dirty="0"/>
          </a:p>
        </p:txBody>
      </p:sp>
      <p:sp>
        <p:nvSpPr>
          <p:cNvPr id="11" name="Text 8"/>
          <p:cNvSpPr/>
          <p:nvPr/>
        </p:nvSpPr>
        <p:spPr>
          <a:xfrm>
            <a:off x="6967728" y="2761488"/>
            <a:ext cx="5779008" cy="475488"/>
          </a:xfrm>
          <a:prstGeom prst="rect">
            <a:avLst/>
          </a:prstGeom>
          <a:noFill/>
          <a:ln/>
        </p:spPr>
        <p:txBody>
          <a:bodyPr wrap="square" lIns="0" tIns="0" rIns="0" bIns="0" rtlCol="0" anchor="ctr"/>
          <a:lstStyle/>
          <a:p>
            <a:pPr indent="0" marL="0">
              <a:lnSpc>
                <a:spcPts val="1300"/>
              </a:lnSpc>
              <a:buNone/>
            </a:pPr>
            <a:r>
              <a:rPr lang="en-US" sz="1050" dirty="0">
                <a:solidFill>
                  <a:srgbClr val="757575"/>
                </a:solidFill>
                <a:latin typeface="Frutiger 45 Light" pitchFamily="34" charset="0"/>
                <a:ea typeface="Frutiger 45 Light" pitchFamily="34" charset="-122"/>
                <a:cs typeface="Frutiger 45 Light" pitchFamily="34" charset="-120"/>
              </a:rPr>
              <a:t>La inversión en IA se mantiene sólida y la monetización gana tracción. Reapertura gradual de Ormuz con altibajos. Bonos ligeramente al alza, renta variable al alza.</a:t>
            </a:r>
            <a:endParaRPr lang="en-US" sz="1050" dirty="0"/>
          </a:p>
        </p:txBody>
      </p:sp>
      <p:sp>
        <p:nvSpPr>
          <p:cNvPr id="12" name="Shape 9"/>
          <p:cNvSpPr/>
          <p:nvPr/>
        </p:nvSpPr>
        <p:spPr>
          <a:xfrm>
            <a:off x="6720840" y="3410712"/>
            <a:ext cx="6117336" cy="914400"/>
          </a:xfrm>
          <a:prstGeom prst="rect">
            <a:avLst/>
          </a:prstGeom>
          <a:solidFill>
            <a:srgbClr val="F7F7F7"/>
          </a:solidFill>
          <a:ln w="12700">
            <a:solidFill>
              <a:srgbClr val="F7F7F7"/>
            </a:solidFill>
            <a:prstDash val="solid"/>
          </a:ln>
        </p:spPr>
      </p:sp>
      <p:sp>
        <p:nvSpPr>
          <p:cNvPr id="13" name="Shape 10"/>
          <p:cNvSpPr/>
          <p:nvPr/>
        </p:nvSpPr>
        <p:spPr>
          <a:xfrm>
            <a:off x="6720840" y="3410712"/>
            <a:ext cx="50292" cy="914400"/>
          </a:xfrm>
          <a:prstGeom prst="rect">
            <a:avLst/>
          </a:prstGeom>
          <a:solidFill>
            <a:srgbClr val="474747"/>
          </a:solidFill>
          <a:ln/>
        </p:spPr>
      </p:sp>
      <p:sp>
        <p:nvSpPr>
          <p:cNvPr id="14" name="Text 11"/>
          <p:cNvSpPr/>
          <p:nvPr/>
        </p:nvSpPr>
        <p:spPr>
          <a:xfrm>
            <a:off x="6967728" y="3520440"/>
            <a:ext cx="5779008" cy="256032"/>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Alcista · 20%  ·  Auge de la inversión</a:t>
            </a:r>
            <a:endParaRPr lang="en-US" sz="1250" dirty="0"/>
          </a:p>
        </p:txBody>
      </p:sp>
      <p:sp>
        <p:nvSpPr>
          <p:cNvPr id="15" name="Text 12"/>
          <p:cNvSpPr/>
          <p:nvPr/>
        </p:nvSpPr>
        <p:spPr>
          <a:xfrm>
            <a:off x="6967728" y="3794760"/>
            <a:ext cx="5779008" cy="475488"/>
          </a:xfrm>
          <a:prstGeom prst="rect">
            <a:avLst/>
          </a:prstGeom>
          <a:noFill/>
          <a:ln/>
        </p:spPr>
        <p:txBody>
          <a:bodyPr wrap="square" lIns="0" tIns="0" rIns="0" bIns="0" rtlCol="0" anchor="ctr"/>
          <a:lstStyle/>
          <a:p>
            <a:pPr indent="0" marL="0">
              <a:lnSpc>
                <a:spcPts val="1300"/>
              </a:lnSpc>
              <a:buNone/>
            </a:pPr>
            <a:r>
              <a:rPr lang="en-US" sz="1050" dirty="0">
                <a:solidFill>
                  <a:srgbClr val="757575"/>
                </a:solidFill>
                <a:latin typeface="Frutiger 45 Light" pitchFamily="34" charset="0"/>
                <a:ea typeface="Frutiger 45 Light" pitchFamily="34" charset="-122"/>
                <a:cs typeface="Frutiger 45 Light" pitchFamily="34" charset="-120"/>
              </a:rPr>
              <a:t>La inversión y la adopción de IA superan expectativas. Reapertura rápida de Ormuz y petróleo por debajo de USD 80/bbl. Renta variable mucho más alta.</a:t>
            </a:r>
            <a:endParaRPr lang="en-US" sz="1050" dirty="0"/>
          </a:p>
        </p:txBody>
      </p:sp>
      <p:sp>
        <p:nvSpPr>
          <p:cNvPr id="16" name="Shape 13"/>
          <p:cNvSpPr/>
          <p:nvPr/>
        </p:nvSpPr>
        <p:spPr>
          <a:xfrm>
            <a:off x="6720840" y="4443984"/>
            <a:ext cx="6117336" cy="914400"/>
          </a:xfrm>
          <a:prstGeom prst="rect">
            <a:avLst/>
          </a:prstGeom>
          <a:solidFill>
            <a:srgbClr val="F7F7F7"/>
          </a:solidFill>
          <a:ln w="12700">
            <a:solidFill>
              <a:srgbClr val="F7F7F7"/>
            </a:solidFill>
            <a:prstDash val="solid"/>
          </a:ln>
        </p:spPr>
      </p:sp>
      <p:sp>
        <p:nvSpPr>
          <p:cNvPr id="17" name="Shape 14"/>
          <p:cNvSpPr/>
          <p:nvPr/>
        </p:nvSpPr>
        <p:spPr>
          <a:xfrm>
            <a:off x="6720840" y="4443984"/>
            <a:ext cx="50292" cy="914400"/>
          </a:xfrm>
          <a:prstGeom prst="rect">
            <a:avLst/>
          </a:prstGeom>
          <a:solidFill>
            <a:srgbClr val="B0B0B0"/>
          </a:solidFill>
          <a:ln/>
        </p:spPr>
      </p:sp>
      <p:sp>
        <p:nvSpPr>
          <p:cNvPr id="18" name="Text 15"/>
          <p:cNvSpPr/>
          <p:nvPr/>
        </p:nvSpPr>
        <p:spPr>
          <a:xfrm>
            <a:off x="6967728" y="4553712"/>
            <a:ext cx="5779008" cy="256032"/>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Bajista · 20%  ·  Disrupciones mayores</a:t>
            </a:r>
            <a:endParaRPr lang="en-US" sz="1250" dirty="0"/>
          </a:p>
        </p:txBody>
      </p:sp>
      <p:sp>
        <p:nvSpPr>
          <p:cNvPr id="19" name="Text 16"/>
          <p:cNvSpPr/>
          <p:nvPr/>
        </p:nvSpPr>
        <p:spPr>
          <a:xfrm>
            <a:off x="6967728" y="4828032"/>
            <a:ext cx="5779008" cy="475488"/>
          </a:xfrm>
          <a:prstGeom prst="rect">
            <a:avLst/>
          </a:prstGeom>
          <a:noFill/>
          <a:ln/>
        </p:spPr>
        <p:txBody>
          <a:bodyPr wrap="square" lIns="0" tIns="0" rIns="0" bIns="0" rtlCol="0" anchor="ctr"/>
          <a:lstStyle/>
          <a:p>
            <a:pPr indent="0" marL="0">
              <a:lnSpc>
                <a:spcPts val="1300"/>
              </a:lnSpc>
              <a:buNone/>
            </a:pPr>
            <a:r>
              <a:rPr lang="en-US" sz="1050" dirty="0">
                <a:solidFill>
                  <a:srgbClr val="757575"/>
                </a:solidFill>
                <a:latin typeface="Frutiger 45 Light" pitchFamily="34" charset="0"/>
                <a:ea typeface="Frutiger 45 Light" pitchFamily="34" charset="-122"/>
                <a:cs typeface="Frutiger 45 Light" pitchFamily="34" charset="-120"/>
              </a:rPr>
              <a:t>Corrección en valores de IA por dudas sobre el retorno de la inversión. Disrupción severa del crudo y Brent hacia USD 150-200/bbl. Renta variable a la baja.</a:t>
            </a:r>
            <a:endParaRPr lang="en-US" sz="1050" dirty="0"/>
          </a:p>
        </p:txBody>
      </p:sp>
      <p:sp>
        <p:nvSpPr>
          <p:cNvPr id="20" name="Text 17"/>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escenarios clave para junio de 2027.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6 · ESTADOS UNIDOS · RENTA VARIABLE</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Objetivo del S&amp;P 500: 8.200 puntos a junio de 2027</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Un avance del 8% desde los 7.572 puntos del 15 de julio de 2026. Nota: el objetivo publicado corresponde a junio de 2027, no a cierre de año.</a:t>
            </a:r>
            <a:endParaRPr lang="en-US" sz="1400" dirty="0"/>
          </a:p>
        </p:txBody>
      </p:sp>
      <p:graphicFrame>
        <p:nvGraphicFramePr>
          <p:cNvPr id="7" name="Chart 0" descr=""/>
          <p:cNvGraphicFramePr/>
          <p:nvPr/>
        </p:nvGraphicFramePr>
        <p:xfrm>
          <a:off x="566928" y="2487168"/>
          <a:ext cx="5806440" cy="3063240"/>
        </p:xfrm>
        <a:graphic xmlns:a="http://schemas.openxmlformats.org/drawingml/2006/main">
          <a:graphicData uri="http://schemas.openxmlformats.org/drawingml/2006/chart">
            <c:chart xmlns:c="http://schemas.openxmlformats.org/drawingml/2006/chart" r:id="rId1"/>
          </a:graphicData>
        </a:graphic>
      </p:graphicFrame>
      <p:sp>
        <p:nvSpPr>
          <p:cNvPr id="8" name="Text 5"/>
          <p:cNvSpPr/>
          <p:nvPr/>
        </p:nvSpPr>
        <p:spPr>
          <a:xfrm>
            <a:off x="6720840" y="2487168"/>
            <a:ext cx="6117336" cy="292608"/>
          </a:xfrm>
          <a:prstGeom prst="rect">
            <a:avLst/>
          </a:prstGeom>
          <a:noFill/>
          <a:ln/>
        </p:spPr>
        <p:txBody>
          <a:bodyPr wrap="square" lIns="0" tIns="0" rIns="0" bIns="0" rtlCol="0" anchor="ctr"/>
          <a:lstStyle/>
          <a:p>
            <a:pPr indent="0" marL="0">
              <a:buNone/>
            </a:pPr>
            <a:r>
              <a:rPr lang="en-US" sz="1300" dirty="0">
                <a:solidFill>
                  <a:srgbClr val="E60000"/>
                </a:solidFill>
                <a:latin typeface="Frutiger 45 Light" pitchFamily="34" charset="0"/>
                <a:ea typeface="Frutiger 45 Light" pitchFamily="34" charset="-122"/>
                <a:cs typeface="Frutiger 45 Light" pitchFamily="34" charset="-120"/>
              </a:rPr>
              <a:t>Sectores estadounidenses que preferimos</a:t>
            </a:r>
            <a:endParaRPr lang="en-US" sz="1300" dirty="0"/>
          </a:p>
        </p:txBody>
      </p:sp>
      <p:sp>
        <p:nvSpPr>
          <p:cNvPr id="9" name="Shape 6"/>
          <p:cNvSpPr/>
          <p:nvPr/>
        </p:nvSpPr>
        <p:spPr>
          <a:xfrm>
            <a:off x="6720840" y="3017520"/>
            <a:ext cx="100584" cy="100584"/>
          </a:xfrm>
          <a:prstGeom prst="rect">
            <a:avLst/>
          </a:prstGeom>
          <a:solidFill>
            <a:srgbClr val="E60000"/>
          </a:solidFill>
          <a:ln/>
        </p:spPr>
      </p:sp>
      <p:sp>
        <p:nvSpPr>
          <p:cNvPr id="10" name="Text 7"/>
          <p:cNvSpPr/>
          <p:nvPr/>
        </p:nvSpPr>
        <p:spPr>
          <a:xfrm>
            <a:off x="6967728" y="2889504"/>
            <a:ext cx="2834640" cy="310896"/>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Industriales</a:t>
            </a:r>
            <a:endParaRPr lang="en-US" sz="1250" dirty="0"/>
          </a:p>
        </p:txBody>
      </p:sp>
      <p:sp>
        <p:nvSpPr>
          <p:cNvPr id="11" name="Text 8"/>
          <p:cNvSpPr/>
          <p:nvPr/>
        </p:nvSpPr>
        <p:spPr>
          <a:xfrm>
            <a:off x="9829800" y="2907792"/>
            <a:ext cx="3017520" cy="310896"/>
          </a:xfrm>
          <a:prstGeom prst="rect">
            <a:avLst/>
          </a:prstGeom>
          <a:noFill/>
          <a:ln/>
        </p:spPr>
        <p:txBody>
          <a:bodyPr wrap="square" lIns="0" tIns="0" rIns="0" bIns="0" rtlCol="0" anchor="ctr"/>
          <a:lstStyle/>
          <a:p>
            <a:pPr indent="0" marL="0">
              <a:buNone/>
            </a:pPr>
            <a:r>
              <a:rPr lang="en-US" sz="1050" dirty="0">
                <a:solidFill>
                  <a:srgbClr val="757575"/>
                </a:solidFill>
                <a:latin typeface="Frutiger 45 Light" pitchFamily="34" charset="0"/>
                <a:ea typeface="Frutiger 45 Light" pitchFamily="34" charset="-122"/>
                <a:cs typeface="Frutiger 45 Light" pitchFamily="34" charset="-120"/>
              </a:rPr>
              <a:t>Preferido también en Europa</a:t>
            </a:r>
            <a:endParaRPr lang="en-US" sz="1050" dirty="0"/>
          </a:p>
        </p:txBody>
      </p:sp>
      <p:sp>
        <p:nvSpPr>
          <p:cNvPr id="12" name="Shape 9"/>
          <p:cNvSpPr/>
          <p:nvPr/>
        </p:nvSpPr>
        <p:spPr>
          <a:xfrm>
            <a:off x="6720840" y="3584448"/>
            <a:ext cx="100584" cy="100584"/>
          </a:xfrm>
          <a:prstGeom prst="rect">
            <a:avLst/>
          </a:prstGeom>
          <a:solidFill>
            <a:srgbClr val="E60000"/>
          </a:solidFill>
          <a:ln/>
        </p:spPr>
      </p:sp>
      <p:sp>
        <p:nvSpPr>
          <p:cNvPr id="13" name="Text 10"/>
          <p:cNvSpPr/>
          <p:nvPr/>
        </p:nvSpPr>
        <p:spPr>
          <a:xfrm>
            <a:off x="6967728" y="3456432"/>
            <a:ext cx="2834640" cy="310896"/>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Salud</a:t>
            </a:r>
            <a:endParaRPr lang="en-US" sz="1250" dirty="0"/>
          </a:p>
        </p:txBody>
      </p:sp>
      <p:sp>
        <p:nvSpPr>
          <p:cNvPr id="14" name="Text 11"/>
          <p:cNvSpPr/>
          <p:nvPr/>
        </p:nvSpPr>
        <p:spPr>
          <a:xfrm>
            <a:off x="9829800" y="3474720"/>
            <a:ext cx="3017520" cy="310896"/>
          </a:xfrm>
          <a:prstGeom prst="rect">
            <a:avLst/>
          </a:prstGeom>
          <a:noFill/>
          <a:ln/>
        </p:spPr>
        <p:txBody>
          <a:bodyPr wrap="square" lIns="0" tIns="0" rIns="0" bIns="0" rtlCol="0" anchor="ctr"/>
          <a:lstStyle/>
          <a:p>
            <a:pPr indent="0" marL="0">
              <a:buNone/>
            </a:pPr>
            <a:r>
              <a:rPr lang="en-US" sz="1050" dirty="0">
                <a:solidFill>
                  <a:srgbClr val="757575"/>
                </a:solidFill>
                <a:latin typeface="Frutiger 45 Light" pitchFamily="34" charset="0"/>
                <a:ea typeface="Frutiger 45 Light" pitchFamily="34" charset="-122"/>
                <a:cs typeface="Frutiger 45 Light" pitchFamily="34" charset="-120"/>
              </a:rPr>
              <a:t>Preferido también en Europa</a:t>
            </a:r>
            <a:endParaRPr lang="en-US" sz="1050" dirty="0"/>
          </a:p>
        </p:txBody>
      </p:sp>
      <p:sp>
        <p:nvSpPr>
          <p:cNvPr id="15" name="Shape 12"/>
          <p:cNvSpPr/>
          <p:nvPr/>
        </p:nvSpPr>
        <p:spPr>
          <a:xfrm>
            <a:off x="6720840" y="4151376"/>
            <a:ext cx="100584" cy="100584"/>
          </a:xfrm>
          <a:prstGeom prst="rect">
            <a:avLst/>
          </a:prstGeom>
          <a:solidFill>
            <a:srgbClr val="E60000"/>
          </a:solidFill>
          <a:ln/>
        </p:spPr>
      </p:sp>
      <p:sp>
        <p:nvSpPr>
          <p:cNvPr id="16" name="Text 13"/>
          <p:cNvSpPr/>
          <p:nvPr/>
        </p:nvSpPr>
        <p:spPr>
          <a:xfrm>
            <a:off x="6967728" y="4023360"/>
            <a:ext cx="2834640" cy="310896"/>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Consumo discrecional</a:t>
            </a:r>
            <a:endParaRPr lang="en-US" sz="1250" dirty="0"/>
          </a:p>
        </p:txBody>
      </p:sp>
      <p:sp>
        <p:nvSpPr>
          <p:cNvPr id="17" name="Text 14"/>
          <p:cNvSpPr/>
          <p:nvPr/>
        </p:nvSpPr>
        <p:spPr>
          <a:xfrm>
            <a:off x="9829800" y="4041648"/>
            <a:ext cx="3017520" cy="310896"/>
          </a:xfrm>
          <a:prstGeom prst="rect">
            <a:avLst/>
          </a:prstGeom>
          <a:noFill/>
          <a:ln/>
        </p:spPr>
        <p:txBody>
          <a:bodyPr wrap="square" lIns="0" tIns="0" rIns="0" bIns="0" rtlCol="0" anchor="ctr"/>
          <a:lstStyle/>
          <a:p>
            <a:pPr indent="0" marL="0">
              <a:buNone/>
            </a:pPr>
            <a:r>
              <a:rPr lang="en-US" sz="1050" dirty="0">
                <a:solidFill>
                  <a:srgbClr val="757575"/>
                </a:solidFill>
                <a:latin typeface="Frutiger 45 Light" pitchFamily="34" charset="0"/>
                <a:ea typeface="Frutiger 45 Light" pitchFamily="34" charset="-122"/>
                <a:cs typeface="Frutiger 45 Light" pitchFamily="34" charset="-120"/>
              </a:rPr>
              <a:t>Preferido también en Europa</a:t>
            </a:r>
            <a:endParaRPr lang="en-US" sz="1050" dirty="0"/>
          </a:p>
        </p:txBody>
      </p:sp>
      <p:sp>
        <p:nvSpPr>
          <p:cNvPr id="18" name="Shape 15"/>
          <p:cNvSpPr/>
          <p:nvPr/>
        </p:nvSpPr>
        <p:spPr>
          <a:xfrm>
            <a:off x="6720840" y="4718304"/>
            <a:ext cx="100584" cy="100584"/>
          </a:xfrm>
          <a:prstGeom prst="rect">
            <a:avLst/>
          </a:prstGeom>
          <a:solidFill>
            <a:srgbClr val="E60000"/>
          </a:solidFill>
          <a:ln/>
        </p:spPr>
      </p:sp>
      <p:sp>
        <p:nvSpPr>
          <p:cNvPr id="19" name="Text 16"/>
          <p:cNvSpPr/>
          <p:nvPr/>
        </p:nvSpPr>
        <p:spPr>
          <a:xfrm>
            <a:off x="6967728" y="4590288"/>
            <a:ext cx="2834640" cy="310896"/>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Financieras</a:t>
            </a:r>
            <a:endParaRPr lang="en-US" sz="1250" dirty="0"/>
          </a:p>
        </p:txBody>
      </p:sp>
      <p:sp>
        <p:nvSpPr>
          <p:cNvPr id="20" name="Text 17"/>
          <p:cNvSpPr/>
          <p:nvPr/>
        </p:nvSpPr>
        <p:spPr>
          <a:xfrm>
            <a:off x="9829800" y="4608576"/>
            <a:ext cx="3017520" cy="310896"/>
          </a:xfrm>
          <a:prstGeom prst="rect">
            <a:avLst/>
          </a:prstGeom>
          <a:noFill/>
          <a:ln/>
        </p:spPr>
        <p:txBody>
          <a:bodyPr wrap="square" lIns="0" tIns="0" rIns="0" bIns="0" rtlCol="0" anchor="ctr"/>
          <a:lstStyle/>
          <a:p>
            <a:pPr indent="0" marL="0">
              <a:buNone/>
            </a:pPr>
            <a:r>
              <a:rPr lang="en-US" sz="1050" dirty="0">
                <a:solidFill>
                  <a:srgbClr val="757575"/>
                </a:solidFill>
                <a:latin typeface="Frutiger 45 Light" pitchFamily="34" charset="0"/>
                <a:ea typeface="Frutiger 45 Light" pitchFamily="34" charset="-122"/>
                <a:cs typeface="Frutiger 45 Light" pitchFamily="34" charset="-120"/>
              </a:rPr>
              <a:t>En Europa, preferencia por bancos</a:t>
            </a:r>
            <a:endParaRPr lang="en-US" sz="1050" dirty="0"/>
          </a:p>
        </p:txBody>
      </p:sp>
      <p:sp>
        <p:nvSpPr>
          <p:cNvPr id="21" name="Shape 18"/>
          <p:cNvSpPr/>
          <p:nvPr/>
        </p:nvSpPr>
        <p:spPr>
          <a:xfrm>
            <a:off x="6720840" y="5285232"/>
            <a:ext cx="100584" cy="100584"/>
          </a:xfrm>
          <a:prstGeom prst="rect">
            <a:avLst/>
          </a:prstGeom>
          <a:solidFill>
            <a:srgbClr val="E60000"/>
          </a:solidFill>
          <a:ln/>
        </p:spPr>
      </p:sp>
      <p:sp>
        <p:nvSpPr>
          <p:cNvPr id="22" name="Text 19"/>
          <p:cNvSpPr/>
          <p:nvPr/>
        </p:nvSpPr>
        <p:spPr>
          <a:xfrm>
            <a:off x="6967728" y="5157216"/>
            <a:ext cx="2834640" cy="310896"/>
          </a:xfrm>
          <a:prstGeom prst="rect">
            <a:avLst/>
          </a:prstGeom>
          <a:noFill/>
          <a:ln/>
        </p:spPr>
        <p:txBody>
          <a:bodyPr wrap="square" lIns="0" tIns="0" rIns="0" bIns="0" rtlCol="0" anchor="ctr"/>
          <a:lstStyle/>
          <a:p>
            <a:pPr indent="0" marL="0">
              <a:buNone/>
            </a:pPr>
            <a:r>
              <a:rPr lang="en-US" sz="1250" dirty="0">
                <a:solidFill>
                  <a:srgbClr val="2B2B2B"/>
                </a:solidFill>
                <a:latin typeface="Frutiger 45 Light" pitchFamily="34" charset="0"/>
                <a:ea typeface="Frutiger 45 Light" pitchFamily="34" charset="-122"/>
                <a:cs typeface="Frutiger 45 Light" pitchFamily="34" charset="-120"/>
              </a:rPr>
              <a:t>Servicios públicos</a:t>
            </a:r>
            <a:endParaRPr lang="en-US" sz="1250" dirty="0"/>
          </a:p>
        </p:txBody>
      </p:sp>
      <p:sp>
        <p:nvSpPr>
          <p:cNvPr id="23" name="Text 20"/>
          <p:cNvSpPr/>
          <p:nvPr/>
        </p:nvSpPr>
        <p:spPr>
          <a:xfrm>
            <a:off x="9829800" y="5175504"/>
            <a:ext cx="3017520" cy="310896"/>
          </a:xfrm>
          <a:prstGeom prst="rect">
            <a:avLst/>
          </a:prstGeom>
          <a:noFill/>
          <a:ln/>
        </p:spPr>
        <p:txBody>
          <a:bodyPr wrap="square" lIns="0" tIns="0" rIns="0" bIns="0" rtlCol="0" anchor="ctr"/>
          <a:lstStyle/>
          <a:p>
            <a:pPr indent="0" marL="0">
              <a:buNone/>
            </a:pPr>
            <a:r>
              <a:rPr lang="en-US" sz="1050" dirty="0">
                <a:solidFill>
                  <a:srgbClr val="757575"/>
                </a:solidFill>
                <a:latin typeface="Frutiger 45 Light" pitchFamily="34" charset="0"/>
                <a:ea typeface="Frutiger 45 Light" pitchFamily="34" charset="-122"/>
                <a:cs typeface="Frutiger 45 Light" pitchFamily="34" charset="-120"/>
              </a:rPr>
              <a:t>Calificado como atractivo en EE.UU.</a:t>
            </a:r>
            <a:endParaRPr lang="en-US" sz="1050" dirty="0"/>
          </a:p>
        </p:txBody>
      </p:sp>
      <p:sp>
        <p:nvSpPr>
          <p:cNvPr id="24" name="Shape 21"/>
          <p:cNvSpPr/>
          <p:nvPr/>
        </p:nvSpPr>
        <p:spPr>
          <a:xfrm>
            <a:off x="6720840" y="5779008"/>
            <a:ext cx="6117336" cy="713232"/>
          </a:xfrm>
          <a:prstGeom prst="rect">
            <a:avLst/>
          </a:prstGeom>
          <a:solidFill>
            <a:srgbClr val="F7F7F7"/>
          </a:solidFill>
          <a:ln w="12700">
            <a:solidFill>
              <a:srgbClr val="F7F7F7"/>
            </a:solidFill>
            <a:prstDash val="solid"/>
          </a:ln>
        </p:spPr>
      </p:sp>
      <p:sp>
        <p:nvSpPr>
          <p:cNvPr id="25" name="Text 22"/>
          <p:cNvSpPr/>
          <p:nvPr/>
        </p:nvSpPr>
        <p:spPr>
          <a:xfrm>
            <a:off x="6967728" y="5907024"/>
            <a:ext cx="5779008" cy="457200"/>
          </a:xfrm>
          <a:prstGeom prst="rect">
            <a:avLst/>
          </a:prstGeom>
          <a:noFill/>
          <a:ln/>
        </p:spPr>
        <p:txBody>
          <a:bodyPr wrap="square" lIns="0" tIns="0" rIns="0" bIns="0" rtlCol="0" anchor="ctr"/>
          <a:lstStyle/>
          <a:p>
            <a:pPr indent="0" marL="0">
              <a:lnSpc>
                <a:spcPts val="1400"/>
              </a:lnSpc>
              <a:buNone/>
            </a:pPr>
            <a:r>
              <a:rPr lang="en-US" sz="1150" dirty="0">
                <a:solidFill>
                  <a:srgbClr val="474747"/>
                </a:solidFill>
                <a:latin typeface="Frutiger 45 Light" pitchFamily="34" charset="0"/>
                <a:ea typeface="Frutiger 45 Light" pitchFamily="34" charset="-122"/>
                <a:cs typeface="Frutiger 45 Light" pitchFamily="34" charset="-120"/>
              </a:rPr>
              <a:t>Recomendamos exposición bien diversificada entre regiones y sectores, y diversificar la exposición a acciones individuales.</a:t>
            </a:r>
            <a:endParaRPr lang="en-US" sz="1150" dirty="0"/>
          </a:p>
        </p:txBody>
      </p:sp>
      <p:sp>
        <p:nvSpPr>
          <p:cNvPr id="26" name="Text 23"/>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Los valores entre paréntesis son variaciones porcentuales esperadas frente al contado; no incluyen dividendos ni recompras.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7 · RENTA VARIABLE GLOBAL</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En el plano internacional: una visión amplia y constructiva</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Mantenemos la visión Atractiva sobre la renta variable global. Europa e India suben a Atractivo; Suiza y Corea del Sur pasan a Neutral.</a:t>
            </a:r>
            <a:endParaRPr lang="en-US" sz="1400" dirty="0"/>
          </a:p>
        </p:txBody>
      </p:sp>
      <p:sp>
        <p:nvSpPr>
          <p:cNvPr id="7" name="Text 5"/>
          <p:cNvSpPr/>
          <p:nvPr/>
        </p:nvSpPr>
        <p:spPr>
          <a:xfrm>
            <a:off x="566928" y="2395728"/>
            <a:ext cx="3108960" cy="292608"/>
          </a:xfrm>
          <a:prstGeom prst="rect">
            <a:avLst/>
          </a:prstGeom>
          <a:noFill/>
          <a:ln/>
        </p:spPr>
        <p:txBody>
          <a:bodyPr wrap="square" lIns="0" tIns="0" rIns="0" bIns="0" rtlCol="0" anchor="ctr"/>
          <a:lstStyle/>
          <a:p>
            <a:pPr indent="0" marL="0">
              <a:buNone/>
            </a:pPr>
            <a:r>
              <a:rPr lang="en-US" sz="1300" dirty="0">
                <a:solidFill>
                  <a:srgbClr val="E60000"/>
                </a:solidFill>
                <a:latin typeface="Frutiger 45 Light" pitchFamily="34" charset="0"/>
                <a:ea typeface="Frutiger 45 Light" pitchFamily="34" charset="-122"/>
                <a:cs typeface="Frutiger 45 Light" pitchFamily="34" charset="-120"/>
              </a:rPr>
              <a:t>Atractivo</a:t>
            </a:r>
            <a:endParaRPr lang="en-US" sz="1300" dirty="0"/>
          </a:p>
        </p:txBody>
      </p:sp>
      <p:sp>
        <p:nvSpPr>
          <p:cNvPr id="8" name="Shape 6"/>
          <p:cNvSpPr/>
          <p:nvPr/>
        </p:nvSpPr>
        <p:spPr>
          <a:xfrm>
            <a:off x="566928" y="2724912"/>
            <a:ext cx="3108960" cy="27432"/>
          </a:xfrm>
          <a:prstGeom prst="rect">
            <a:avLst/>
          </a:prstGeom>
          <a:solidFill>
            <a:srgbClr val="E60000"/>
          </a:solidFill>
          <a:ln/>
        </p:spPr>
      </p:sp>
      <p:sp>
        <p:nvSpPr>
          <p:cNvPr id="9" name="Text 7"/>
          <p:cNvSpPr/>
          <p:nvPr/>
        </p:nvSpPr>
        <p:spPr>
          <a:xfrm>
            <a:off x="566928" y="2852928"/>
            <a:ext cx="3108960" cy="3108960"/>
          </a:xfrm>
          <a:prstGeom prst="rect">
            <a:avLst/>
          </a:prstGeom>
          <a:noFill/>
          <a:ln/>
        </p:spPr>
        <p:txBody>
          <a:bodyPr wrap="square" lIns="0" tIns="0" rIns="0" bIns="0" rtlCol="0" anchor="t"/>
          <a:lstStyle/>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Estados Unidos</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Europa  ▲</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Eurozona</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Alemania</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Reino Unido</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Japón</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Asia ex-Japón</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China continental</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India  ▲</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Mercados emergentes</a:t>
            </a:r>
            <a:endParaRPr lang="en-US" sz="1200" dirty="0"/>
          </a:p>
        </p:txBody>
      </p:sp>
      <p:sp>
        <p:nvSpPr>
          <p:cNvPr id="10" name="Text 8"/>
          <p:cNvSpPr/>
          <p:nvPr/>
        </p:nvSpPr>
        <p:spPr>
          <a:xfrm>
            <a:off x="3995928" y="2395728"/>
            <a:ext cx="3108960" cy="292608"/>
          </a:xfrm>
          <a:prstGeom prst="rect">
            <a:avLst/>
          </a:prstGeom>
          <a:noFill/>
          <a:ln/>
        </p:spPr>
        <p:txBody>
          <a:bodyPr wrap="square" lIns="0" tIns="0" rIns="0" bIns="0" rtlCol="0" anchor="ctr"/>
          <a:lstStyle/>
          <a:p>
            <a:pPr indent="0" marL="0">
              <a:buNone/>
            </a:pPr>
            <a:r>
              <a:rPr lang="en-US" sz="1300" dirty="0">
                <a:solidFill>
                  <a:srgbClr val="B0B0B0"/>
                </a:solidFill>
                <a:latin typeface="Frutiger 45 Light" pitchFamily="34" charset="0"/>
                <a:ea typeface="Frutiger 45 Light" pitchFamily="34" charset="-122"/>
                <a:cs typeface="Frutiger 45 Light" pitchFamily="34" charset="-120"/>
              </a:rPr>
              <a:t>Neutral</a:t>
            </a:r>
            <a:endParaRPr lang="en-US" sz="1300" dirty="0"/>
          </a:p>
        </p:txBody>
      </p:sp>
      <p:sp>
        <p:nvSpPr>
          <p:cNvPr id="11" name="Shape 9"/>
          <p:cNvSpPr/>
          <p:nvPr/>
        </p:nvSpPr>
        <p:spPr>
          <a:xfrm>
            <a:off x="3995928" y="2724912"/>
            <a:ext cx="3108960" cy="27432"/>
          </a:xfrm>
          <a:prstGeom prst="rect">
            <a:avLst/>
          </a:prstGeom>
          <a:solidFill>
            <a:srgbClr val="B0B0B0"/>
          </a:solidFill>
          <a:ln/>
        </p:spPr>
      </p:sp>
      <p:sp>
        <p:nvSpPr>
          <p:cNvPr id="12" name="Text 10"/>
          <p:cNvSpPr/>
          <p:nvPr/>
        </p:nvSpPr>
        <p:spPr>
          <a:xfrm>
            <a:off x="3995928" y="2852928"/>
            <a:ext cx="3108960" cy="3108960"/>
          </a:xfrm>
          <a:prstGeom prst="rect">
            <a:avLst/>
          </a:prstGeom>
          <a:noFill/>
          <a:ln/>
        </p:spPr>
        <p:txBody>
          <a:bodyPr wrap="square" lIns="0" tIns="0" rIns="0" bIns="0" rtlCol="0" anchor="t"/>
          <a:lstStyle/>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Suiza  ▼</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Corea del Sur  ▼</a:t>
            </a:r>
            <a:endParaRPr lang="en-US" sz="1200" dirty="0"/>
          </a:p>
          <a:p>
            <a:pPr indent="0" marL="0">
              <a:spcAft>
                <a:spcPts val="600"/>
              </a:spcAft>
              <a:buNone/>
            </a:pPr>
            <a:r>
              <a:rPr lang="en-US" sz="1200" dirty="0">
                <a:solidFill>
                  <a:srgbClr val="474747"/>
                </a:solidFill>
                <a:latin typeface="Frutiger 45 Light" pitchFamily="34" charset="0"/>
                <a:ea typeface="Frutiger 45 Light" pitchFamily="34" charset="-122"/>
                <a:cs typeface="Frutiger 45 Light" pitchFamily="34" charset="-120"/>
              </a:rPr>
              <a:t>Taiwán</a:t>
            </a:r>
            <a:endParaRPr lang="en-US" sz="1200" dirty="0"/>
          </a:p>
        </p:txBody>
      </p:sp>
      <p:sp>
        <p:nvSpPr>
          <p:cNvPr id="13" name="Text 11"/>
          <p:cNvSpPr/>
          <p:nvPr/>
        </p:nvSpPr>
        <p:spPr>
          <a:xfrm>
            <a:off x="566928" y="6053328"/>
            <a:ext cx="6766560" cy="256032"/>
          </a:xfrm>
          <a:prstGeom prst="rect">
            <a:avLst/>
          </a:prstGeom>
          <a:noFill/>
          <a:ln/>
        </p:spPr>
        <p:txBody>
          <a:bodyPr wrap="square" lIns="0" tIns="0" rIns="0" bIns="0" rtlCol="0" anchor="ctr"/>
          <a:lstStyle/>
          <a:p>
            <a:pPr indent="0" marL="0">
              <a:buNone/>
            </a:pPr>
            <a:r>
              <a:rPr lang="en-US" sz="1000" dirty="0">
                <a:solidFill>
                  <a:srgbClr val="B0B0B0"/>
                </a:solidFill>
                <a:latin typeface="Frutiger 45 Light" pitchFamily="34" charset="0"/>
                <a:ea typeface="Frutiger 45 Light" pitchFamily="34" charset="-122"/>
                <a:cs typeface="Frutiger 45 Light" pitchFamily="34" charset="-120"/>
              </a:rPr>
              <a:t>▲ mejora de visión   ▼ rebaja de visión</a:t>
            </a:r>
            <a:endParaRPr lang="en-US" sz="1000" dirty="0"/>
          </a:p>
        </p:txBody>
      </p:sp>
      <p:graphicFrame>
        <p:nvGraphicFramePr>
          <p:cNvPr id="14" name="Chart 0" descr=""/>
          <p:cNvGraphicFramePr/>
          <p:nvPr/>
        </p:nvGraphicFramePr>
        <p:xfrm>
          <a:off x="7178040" y="2395728"/>
          <a:ext cx="5669280" cy="356616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7178040" y="6016752"/>
            <a:ext cx="5669280" cy="621792"/>
          </a:xfrm>
          <a:prstGeom prst="rect">
            <a:avLst/>
          </a:prstGeom>
          <a:noFill/>
          <a:ln/>
        </p:spPr>
        <p:txBody>
          <a:bodyPr wrap="square" lIns="0" tIns="0" rIns="0" bIns="0" rtlCol="0" anchor="ctr"/>
          <a:lstStyle/>
          <a:p>
            <a:pPr indent="0" marL="0">
              <a:lnSpc>
                <a:spcPts val="1300"/>
              </a:lnSpc>
              <a:buNone/>
            </a:pPr>
            <a:r>
              <a:rPr lang="en-US" sz="1050" dirty="0">
                <a:solidFill>
                  <a:srgbClr val="757575"/>
                </a:solidFill>
                <a:latin typeface="Frutiger 45 Light" pitchFamily="34" charset="0"/>
                <a:ea typeface="Frutiger 45 Light" pitchFamily="34" charset="-122"/>
                <a:cs typeface="Frutiger 45 Light" pitchFamily="34" charset="-120"/>
              </a:rPr>
              <a:t>Corea del Sur se rebaja a Neutral tras su fuerte desempeño. Para quien busque comprar la caída en semiconductores, preferimos equipos, fundición, cómputo y memoria, en ese orden.</a:t>
            </a:r>
            <a:endParaRPr lang="en-US" sz="1050" dirty="0"/>
          </a:p>
        </p:txBody>
      </p:sp>
      <p:sp>
        <p:nvSpPr>
          <p:cNvPr id="16" name="Text 13"/>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Objetivos a junio de 2027 frente a contado del 15 de julio de 2026.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8 · RENTA FIJA</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Renta fija: calidad y tramo corto, sin enamorarnos de la duración</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Subimos bonos globales y high yield a Atractivo. Nuestras dudas sobre las subidas descontadas nos llevan al tramo corto y medio, no al largo.</a:t>
            </a:r>
            <a:endParaRPr lang="en-US" sz="1400" dirty="0"/>
          </a:p>
        </p:txBody>
      </p:sp>
      <p:sp>
        <p:nvSpPr>
          <p:cNvPr id="7" name="Text 5"/>
          <p:cNvSpPr/>
          <p:nvPr/>
        </p:nvSpPr>
        <p:spPr>
          <a:xfrm>
            <a:off x="566928" y="2395728"/>
            <a:ext cx="5998464" cy="292608"/>
          </a:xfrm>
          <a:prstGeom prst="rect">
            <a:avLst/>
          </a:prstGeom>
          <a:noFill/>
          <a:ln/>
        </p:spPr>
        <p:txBody>
          <a:bodyPr wrap="square" lIns="0" tIns="0" rIns="0" bIns="0" rtlCol="0" anchor="ctr"/>
          <a:lstStyle/>
          <a:p>
            <a:pPr indent="0" marL="0">
              <a:buNone/>
            </a:pPr>
            <a:r>
              <a:rPr lang="en-US" sz="1300" dirty="0">
                <a:solidFill>
                  <a:srgbClr val="E60000"/>
                </a:solidFill>
                <a:latin typeface="Frutiger 45 Light" pitchFamily="34" charset="0"/>
                <a:ea typeface="Frutiger 45 Light" pitchFamily="34" charset="-122"/>
                <a:cs typeface="Frutiger 45 Light" pitchFamily="34" charset="-120"/>
              </a:rPr>
              <a:t>Dónde vemos valor</a:t>
            </a:r>
            <a:endParaRPr lang="en-US" sz="1300" dirty="0"/>
          </a:p>
        </p:txBody>
      </p:sp>
      <p:sp>
        <p:nvSpPr>
          <p:cNvPr id="8" name="Shape 6"/>
          <p:cNvSpPr/>
          <p:nvPr/>
        </p:nvSpPr>
        <p:spPr>
          <a:xfrm>
            <a:off x="566928" y="2724912"/>
            <a:ext cx="5998464" cy="27432"/>
          </a:xfrm>
          <a:prstGeom prst="rect">
            <a:avLst/>
          </a:prstGeom>
          <a:solidFill>
            <a:srgbClr val="E60000"/>
          </a:solidFill>
          <a:ln/>
        </p:spPr>
      </p:sp>
      <p:sp>
        <p:nvSpPr>
          <p:cNvPr id="9" name="Text 7"/>
          <p:cNvSpPr/>
          <p:nvPr/>
        </p:nvSpPr>
        <p:spPr>
          <a:xfrm>
            <a:off x="566928" y="2852928"/>
            <a:ext cx="5861304" cy="228600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Bonos de calidad de vencimiento corto y medio en USD y GBP</a:t>
            </a:r>
            <a:endParaRPr lang="en-US" sz="1200" dirty="0"/>
          </a:p>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Tramo corto y medio de las curvas, donde las tasas reales han subido más</a:t>
            </a:r>
            <a:endParaRPr lang="en-US" sz="1200" dirty="0"/>
          </a:p>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Grado de inversión como posición central de cartera</a:t>
            </a:r>
            <a:endParaRPr lang="en-US" sz="1200" dirty="0"/>
          </a:p>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High yield y crédito de mercados emergentes para potenciar ingreso y retorno total</a:t>
            </a:r>
            <a:endParaRPr lang="en-US" sz="1200" dirty="0"/>
          </a:p>
        </p:txBody>
      </p:sp>
      <p:sp>
        <p:nvSpPr>
          <p:cNvPr id="10" name="Text 8"/>
          <p:cNvSpPr/>
          <p:nvPr/>
        </p:nvSpPr>
        <p:spPr>
          <a:xfrm>
            <a:off x="6839712" y="2395728"/>
            <a:ext cx="5998464" cy="292608"/>
          </a:xfrm>
          <a:prstGeom prst="rect">
            <a:avLst/>
          </a:prstGeom>
          <a:noFill/>
          <a:ln/>
        </p:spPr>
        <p:txBody>
          <a:bodyPr wrap="square" lIns="0" tIns="0" rIns="0" bIns="0" rtlCol="0" anchor="ctr"/>
          <a:lstStyle/>
          <a:p>
            <a:pPr indent="0" marL="0">
              <a:buNone/>
            </a:pPr>
            <a:r>
              <a:rPr lang="en-US" sz="1300" dirty="0">
                <a:solidFill>
                  <a:srgbClr val="2B2B2B"/>
                </a:solidFill>
                <a:latin typeface="Frutiger 45 Light" pitchFamily="34" charset="0"/>
                <a:ea typeface="Frutiger 45 Light" pitchFamily="34" charset="-122"/>
                <a:cs typeface="Frutiger 45 Light" pitchFamily="34" charset="-120"/>
              </a:rPr>
              <a:t>Por qué</a:t>
            </a:r>
            <a:endParaRPr lang="en-US" sz="1300" dirty="0"/>
          </a:p>
        </p:txBody>
      </p:sp>
      <p:sp>
        <p:nvSpPr>
          <p:cNvPr id="11" name="Shape 9"/>
          <p:cNvSpPr/>
          <p:nvPr/>
        </p:nvSpPr>
        <p:spPr>
          <a:xfrm>
            <a:off x="6839712" y="2724912"/>
            <a:ext cx="5998464" cy="27432"/>
          </a:xfrm>
          <a:prstGeom prst="rect">
            <a:avLst/>
          </a:prstGeom>
          <a:solidFill>
            <a:srgbClr val="2B2B2B"/>
          </a:solidFill>
          <a:ln/>
        </p:spPr>
      </p:sp>
      <p:sp>
        <p:nvSpPr>
          <p:cNvPr id="12" name="Text 10"/>
          <p:cNvSpPr/>
          <p:nvPr/>
        </p:nvSpPr>
        <p:spPr>
          <a:xfrm>
            <a:off x="6839712" y="2852928"/>
            <a:ext cx="5861304" cy="2286000"/>
          </a:xfrm>
          <a:prstGeom prst="rect">
            <a:avLst/>
          </a:prstGeom>
          <a:noFill/>
          <a:ln/>
        </p:spPr>
        <p:txBody>
          <a:bodyPr wrap="square" lIns="0" tIns="0" rIns="0" bIns="0" rtlCol="0" anchor="t"/>
          <a:lstStyle/>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Valoraciones baratas y rendimientos elevados tras el ajuste</a:t>
            </a:r>
            <a:endParaRPr lang="en-US" sz="1200" dirty="0"/>
          </a:p>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Los mercados descuentan más endurecimiento del que esperamos: potencial de ganancias de capital</a:t>
            </a:r>
            <a:endParaRPr lang="en-US" sz="1200" dirty="0"/>
          </a:p>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Los diferenciales están ajustados y no serán el motor principal del retorno, pero pueden mantenerse así con un entorno macro estable</a:t>
            </a:r>
            <a:endParaRPr lang="en-US" sz="1200" dirty="0"/>
          </a:p>
          <a:p>
            <a:pPr marL="342900" indent="-342900">
              <a:lnSpc>
                <a:spcPts val="1600"/>
              </a:lnSpc>
              <a:spcAft>
                <a:spcPts val="1000"/>
              </a:spcAft>
              <a:buSzPct val="100000"/>
              <a:buChar char="•"/>
            </a:pPr>
            <a:r>
              <a:rPr lang="en-US" sz="1200" dirty="0">
                <a:solidFill>
                  <a:srgbClr val="474747"/>
                </a:solidFill>
                <a:latin typeface="Frutiger 45 Light" pitchFamily="34" charset="0"/>
                <a:ea typeface="Frutiger 45 Light" pitchFamily="34" charset="-122"/>
                <a:cs typeface="Frutiger 45 Light" pitchFamily="34" charset="-120"/>
              </a:rPr>
              <a:t>Rendimientos de partida altos que amortiguan la volatilidad</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5230368"/>
          <a:ext cx="12271248" cy="914400"/>
        </p:xfrm>
        <a:graphic>
          <a:graphicData uri="http://schemas.openxmlformats.org/drawingml/2006/table">
            <a:tbl>
              <a:tblPr/>
              <a:tblGrid>
                <a:gridCol w="5577840"/>
                <a:gridCol w="3346704"/>
                <a:gridCol w="3346704"/>
              </a:tblGrid>
              <a:tr h="274320">
                <a:tc>
                  <a:txBody>
                    <a:bodyPr/>
                    <a:lstStyle/>
                    <a:p>
                      <a:pPr algn="l" indent="0" marL="0">
                        <a:buNone/>
                      </a:pPr>
                      <a:r>
                        <a:rPr lang="en-US" sz="1150" b="1" dirty="0">
                          <a:solidFill>
                            <a:srgbClr val="474747"/>
                          </a:solidFill>
                          <a:latin typeface="Frutiger 45 Light" pitchFamily="34" charset="0"/>
                          <a:ea typeface="Frutiger 45 Light" pitchFamily="34" charset="-122"/>
                          <a:cs typeface="Frutiger 45 Light" pitchFamily="34" charset="-120"/>
                        </a:rPr>
                        <a:t>Objetivo</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474747"/>
                          </a:solidFill>
                          <a:latin typeface="Frutiger 45 Light" pitchFamily="34" charset="0"/>
                          <a:ea typeface="Frutiger 45 Light" pitchFamily="34" charset="-122"/>
                          <a:cs typeface="Frutiger 45 Light" pitchFamily="34" charset="-120"/>
                        </a:rPr>
                        <a:t>Contado</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474747"/>
                          </a:solidFill>
                          <a:latin typeface="Frutiger 45 Light" pitchFamily="34" charset="0"/>
                          <a:ea typeface="Frutiger 45 Light" pitchFamily="34" charset="-122"/>
                          <a:cs typeface="Frutiger 45 Light" pitchFamily="34" charset="-120"/>
                        </a:rPr>
                        <a:t>Base jun-27</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Rendimiento UST 10 años (%)</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4,55</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4,00</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Diferencial high yield EE.UU.</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271 pb</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300 pb</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Diferencial grado inversión EE.UU.</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69 pb</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70 pb</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Diferencial high yield euro</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251 pb</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474747"/>
                          </a:solidFill>
                          <a:latin typeface="Frutiger 45 Light" pitchFamily="34" charset="0"/>
                          <a:ea typeface="Frutiger 45 Light" pitchFamily="34" charset="-122"/>
                          <a:cs typeface="Frutiger 45 Light" pitchFamily="34" charset="-120"/>
                        </a:rPr>
                        <a:t>280 pb</a:t>
                      </a:r>
                      <a:endParaRPr lang="en-US" sz="1150" dirty="0">
                        <a:latin typeface="Frutiger 45 Light" charset="0"/>
                        <a:ea typeface="Frutiger 45 Light" charset="0"/>
                        <a:cs typeface="Frutiger 45 Light" charset="0"/>
                      </a:endParaRPr>
                    </a:p>
                  </a:txBody>
                  <a:tcPr marL="91440" marR="91440" marT="45720" marB="45720" anchor="ctr">
                    <a:lnL w="12700" cap="flat" cmpd="sng" algn="ctr">
                      <a:solidFill>
                        <a:srgbClr val="EDEDED"/>
                      </a:solidFill>
                      <a:prstDash val="solid"/>
                      <a:round/>
                      <a:headEnd type="none" w="med" len="med"/>
                      <a:tailEnd type="none" w="med" len="med"/>
                    </a:lnL>
                    <a:lnR w="12700" cap="flat" cmpd="sng" algn="ctr">
                      <a:solidFill>
                        <a:srgbClr val="EDEDED"/>
                      </a:solidFill>
                      <a:prstDash val="solid"/>
                      <a:round/>
                      <a:headEnd type="none" w="med" len="med"/>
                      <a:tailEnd type="none" w="med" len="med"/>
                    </a:lnR>
                    <a:lnT w="12700" cap="flat" cmpd="sng" algn="ctr">
                      <a:solidFill>
                        <a:srgbClr val="EDEDED"/>
                      </a:solidFill>
                      <a:prstDash val="solid"/>
                      <a:round/>
                      <a:headEnd type="none" w="med" len="med"/>
                      <a:tailEnd type="none" w="med" len="med"/>
                    </a:lnT>
                    <a:lnB w="12700" cap="flat" cmpd="sng" algn="ctr">
                      <a:solidFill>
                        <a:srgbClr val="EDEDED"/>
                      </a:solidFill>
                      <a:prstDash val="solid"/>
                      <a:round/>
                      <a:headEnd type="none" w="med" len="med"/>
                      <a:tailEnd type="none" w="med" len="med"/>
                    </a:lnB>
                    <a:solidFill>
                      <a:srgbClr val="FFFFFF"/>
                    </a:solidFill>
                  </a:tcPr>
                </a:tc>
              </a:tr>
            </a:tbl>
          </a:graphicData>
        </a:graphic>
      </p:graphicFrame>
      <p:sp>
        <p:nvSpPr>
          <p:cNvPr id="14" name="Text 11"/>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Contado al 15 de julio de 2026. pb = puntos básicos. En periodos de estrés los diferenciales de compra-venta tienden a ampliarse.</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9 · MERCADOS EMERGENTES</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Los emergentes ofrecen el mayor potencial de nuestra tabla</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El MSCI EM es el índice con mayor recorrido al escenario base: 1.920 puntos a junio de 2027, un 14% por encima del contado.</a:t>
            </a:r>
            <a:endParaRPr lang="en-US" sz="1400" dirty="0"/>
          </a:p>
        </p:txBody>
      </p:sp>
      <p:sp>
        <p:nvSpPr>
          <p:cNvPr id="7" name="Shape 5"/>
          <p:cNvSpPr/>
          <p:nvPr/>
        </p:nvSpPr>
        <p:spPr>
          <a:xfrm>
            <a:off x="566928" y="2377440"/>
            <a:ext cx="3931920" cy="1572768"/>
          </a:xfrm>
          <a:prstGeom prst="rect">
            <a:avLst/>
          </a:prstGeom>
          <a:solidFill>
            <a:srgbClr val="E60000"/>
          </a:solidFill>
          <a:ln w="12700">
            <a:solidFill>
              <a:srgbClr val="E60000"/>
            </a:solidFill>
            <a:prstDash val="solid"/>
          </a:ln>
        </p:spPr>
      </p:sp>
      <p:sp>
        <p:nvSpPr>
          <p:cNvPr id="8" name="Text 6"/>
          <p:cNvSpPr/>
          <p:nvPr/>
        </p:nvSpPr>
        <p:spPr>
          <a:xfrm>
            <a:off x="859536" y="2542032"/>
            <a:ext cx="3291840" cy="685800"/>
          </a:xfrm>
          <a:prstGeom prst="rect">
            <a:avLst/>
          </a:prstGeom>
          <a:noFill/>
          <a:ln/>
        </p:spPr>
        <p:txBody>
          <a:bodyPr wrap="square" lIns="0" tIns="0" rIns="0" bIns="0" rtlCol="0" anchor="t"/>
          <a:lstStyle/>
          <a:p>
            <a:pPr indent="0" marL="0">
              <a:buNone/>
            </a:pPr>
            <a:r>
              <a:rPr lang="en-US" sz="4200" dirty="0">
                <a:solidFill>
                  <a:srgbClr val="FFFFFF"/>
                </a:solidFill>
                <a:latin typeface="Frutiger 45 Light" pitchFamily="34" charset="0"/>
                <a:ea typeface="Frutiger 45 Light" pitchFamily="34" charset="-122"/>
                <a:cs typeface="Frutiger 45 Light" pitchFamily="34" charset="-120"/>
              </a:rPr>
              <a:t>+14%</a:t>
            </a:r>
            <a:endParaRPr lang="en-US" sz="4200" dirty="0"/>
          </a:p>
        </p:txBody>
      </p:sp>
      <p:sp>
        <p:nvSpPr>
          <p:cNvPr id="9" name="Text 7"/>
          <p:cNvSpPr/>
          <p:nvPr/>
        </p:nvSpPr>
        <p:spPr>
          <a:xfrm>
            <a:off x="859536" y="3218688"/>
            <a:ext cx="3291840" cy="621792"/>
          </a:xfrm>
          <a:prstGeom prst="rect">
            <a:avLst/>
          </a:prstGeom>
          <a:noFill/>
          <a:ln/>
        </p:spPr>
        <p:txBody>
          <a:bodyPr wrap="square" lIns="0" tIns="0" rIns="0" bIns="0" rtlCol="0" anchor="ctr"/>
          <a:lstStyle/>
          <a:p>
            <a:pPr indent="0" marL="0">
              <a:lnSpc>
                <a:spcPts val="1400"/>
              </a:lnSpc>
              <a:buNone/>
            </a:pPr>
            <a:r>
              <a:rPr lang="en-US" sz="1150" dirty="0">
                <a:solidFill>
                  <a:srgbClr val="FFD9D9"/>
                </a:solidFill>
                <a:latin typeface="Frutiger 45 Light" pitchFamily="34" charset="0"/>
                <a:ea typeface="Frutiger 45 Light" pitchFamily="34" charset="-122"/>
                <a:cs typeface="Frutiger 45 Light" pitchFamily="34" charset="-120"/>
              </a:rPr>
              <a:t>Potencial del MSCI EM al escenario base, el mayor entre los índices principales</a:t>
            </a:r>
            <a:endParaRPr lang="en-US" sz="1150" dirty="0"/>
          </a:p>
        </p:txBody>
      </p:sp>
      <p:sp>
        <p:nvSpPr>
          <p:cNvPr id="10" name="Text 8"/>
          <p:cNvSpPr/>
          <p:nvPr/>
        </p:nvSpPr>
        <p:spPr>
          <a:xfrm>
            <a:off x="4754880" y="2377440"/>
            <a:ext cx="1965960" cy="274320"/>
          </a:xfrm>
          <a:prstGeom prst="rect">
            <a:avLst/>
          </a:prstGeom>
          <a:noFill/>
          <a:ln/>
        </p:spPr>
        <p:txBody>
          <a:bodyPr wrap="square" lIns="0" tIns="0" rIns="0" bIns="0" rtlCol="0" anchor="ctr"/>
          <a:lstStyle/>
          <a:p>
            <a:pPr indent="0" marL="0">
              <a:buNone/>
            </a:pPr>
            <a:r>
              <a:rPr lang="en-US" sz="1250" dirty="0">
                <a:solidFill>
                  <a:srgbClr val="E60000"/>
                </a:solidFill>
                <a:latin typeface="Frutiger 45 Light" pitchFamily="34" charset="0"/>
                <a:ea typeface="Frutiger 45 Light" pitchFamily="34" charset="-122"/>
                <a:cs typeface="Frutiger 45 Light" pitchFamily="34" charset="-120"/>
              </a:rPr>
              <a:t>Renta variable</a:t>
            </a:r>
            <a:endParaRPr lang="en-US" sz="1250" dirty="0"/>
          </a:p>
        </p:txBody>
      </p:sp>
      <p:sp>
        <p:nvSpPr>
          <p:cNvPr id="11" name="Text 9"/>
          <p:cNvSpPr/>
          <p:nvPr/>
        </p:nvSpPr>
        <p:spPr>
          <a:xfrm>
            <a:off x="6766560" y="2377440"/>
            <a:ext cx="6071616" cy="1042416"/>
          </a:xfrm>
          <a:prstGeom prst="rect">
            <a:avLst/>
          </a:prstGeom>
          <a:noFill/>
          <a:ln/>
        </p:spPr>
        <p:txBody>
          <a:bodyPr wrap="square" lIns="0" tIns="0" rIns="0" bIns="0" rtlCol="0" anchor="ctr"/>
          <a:lstStyle/>
          <a:p>
            <a:pPr indent="0" marL="0">
              <a:lnSpc>
                <a:spcPts val="1500"/>
              </a:lnSpc>
              <a:buNone/>
            </a:pPr>
            <a:r>
              <a:rPr lang="en-US" sz="1150" dirty="0">
                <a:solidFill>
                  <a:srgbClr val="474747"/>
                </a:solidFill>
                <a:latin typeface="Frutiger 45 Light" pitchFamily="34" charset="0"/>
                <a:ea typeface="Frutiger 45 Light" pitchFamily="34" charset="-122"/>
                <a:cs typeface="Frutiger 45 Light" pitchFamily="34" charset="-120"/>
              </a:rPr>
              <a:t>Mercados emergentes y China continental se mantienen en Atractivo. India sube a Atractivo. Las oportunidades siguen ampliándose por la región asiática.</a:t>
            </a:r>
            <a:endParaRPr lang="en-US" sz="1150" dirty="0"/>
          </a:p>
        </p:txBody>
      </p:sp>
      <p:sp>
        <p:nvSpPr>
          <p:cNvPr id="12" name="Shape 10"/>
          <p:cNvSpPr/>
          <p:nvPr/>
        </p:nvSpPr>
        <p:spPr>
          <a:xfrm>
            <a:off x="4754880" y="3511296"/>
            <a:ext cx="8083296" cy="13716"/>
          </a:xfrm>
          <a:prstGeom prst="rect">
            <a:avLst/>
          </a:prstGeom>
          <a:solidFill>
            <a:srgbClr val="EDEDED"/>
          </a:solidFill>
          <a:ln/>
        </p:spPr>
      </p:sp>
      <p:sp>
        <p:nvSpPr>
          <p:cNvPr id="13" name="Text 11"/>
          <p:cNvSpPr/>
          <p:nvPr/>
        </p:nvSpPr>
        <p:spPr>
          <a:xfrm>
            <a:off x="4754880" y="3694176"/>
            <a:ext cx="1965960" cy="274320"/>
          </a:xfrm>
          <a:prstGeom prst="rect">
            <a:avLst/>
          </a:prstGeom>
          <a:noFill/>
          <a:ln/>
        </p:spPr>
        <p:txBody>
          <a:bodyPr wrap="square" lIns="0" tIns="0" rIns="0" bIns="0" rtlCol="0" anchor="ctr"/>
          <a:lstStyle/>
          <a:p>
            <a:pPr indent="0" marL="0">
              <a:buNone/>
            </a:pPr>
            <a:r>
              <a:rPr lang="en-US" sz="1250" dirty="0">
                <a:solidFill>
                  <a:srgbClr val="E60000"/>
                </a:solidFill>
                <a:latin typeface="Frutiger 45 Light" pitchFamily="34" charset="0"/>
                <a:ea typeface="Frutiger 45 Light" pitchFamily="34" charset="-122"/>
                <a:cs typeface="Frutiger 45 Light" pitchFamily="34" charset="-120"/>
              </a:rPr>
              <a:t>Renta fija</a:t>
            </a:r>
            <a:endParaRPr lang="en-US" sz="1250" dirty="0"/>
          </a:p>
        </p:txBody>
      </p:sp>
      <p:sp>
        <p:nvSpPr>
          <p:cNvPr id="14" name="Text 12"/>
          <p:cNvSpPr/>
          <p:nvPr/>
        </p:nvSpPr>
        <p:spPr>
          <a:xfrm>
            <a:off x="6766560" y="3694176"/>
            <a:ext cx="6071616" cy="1042416"/>
          </a:xfrm>
          <a:prstGeom prst="rect">
            <a:avLst/>
          </a:prstGeom>
          <a:noFill/>
          <a:ln/>
        </p:spPr>
        <p:txBody>
          <a:bodyPr wrap="square" lIns="0" tIns="0" rIns="0" bIns="0" rtlCol="0" anchor="ctr"/>
          <a:lstStyle/>
          <a:p>
            <a:pPr indent="0" marL="0">
              <a:lnSpc>
                <a:spcPts val="1500"/>
              </a:lnSpc>
              <a:buNone/>
            </a:pPr>
            <a:r>
              <a:rPr lang="en-US" sz="1150" dirty="0">
                <a:solidFill>
                  <a:srgbClr val="474747"/>
                </a:solidFill>
                <a:latin typeface="Frutiger 45 Light" pitchFamily="34" charset="0"/>
                <a:ea typeface="Frutiger 45 Light" pitchFamily="34" charset="-122"/>
                <a:cs typeface="Frutiger 45 Light" pitchFamily="34" charset="-120"/>
              </a:rPr>
              <a:t>Mantenemos la visión Atractiva sobre bonos de mercados emergentes. El crédito emergente puede potenciar el ingreso y el retorno total de la cartera.</a:t>
            </a:r>
            <a:endParaRPr lang="en-US" sz="1150" dirty="0"/>
          </a:p>
        </p:txBody>
      </p:sp>
      <p:sp>
        <p:nvSpPr>
          <p:cNvPr id="15" name="Shape 13"/>
          <p:cNvSpPr/>
          <p:nvPr/>
        </p:nvSpPr>
        <p:spPr>
          <a:xfrm>
            <a:off x="4754880" y="4828032"/>
            <a:ext cx="8083296" cy="13716"/>
          </a:xfrm>
          <a:prstGeom prst="rect">
            <a:avLst/>
          </a:prstGeom>
          <a:solidFill>
            <a:srgbClr val="EDEDED"/>
          </a:solidFill>
          <a:ln/>
        </p:spPr>
      </p:sp>
      <p:sp>
        <p:nvSpPr>
          <p:cNvPr id="16" name="Text 14"/>
          <p:cNvSpPr/>
          <p:nvPr/>
        </p:nvSpPr>
        <p:spPr>
          <a:xfrm>
            <a:off x="4754880" y="5010912"/>
            <a:ext cx="1965960" cy="274320"/>
          </a:xfrm>
          <a:prstGeom prst="rect">
            <a:avLst/>
          </a:prstGeom>
          <a:noFill/>
          <a:ln/>
        </p:spPr>
        <p:txBody>
          <a:bodyPr wrap="square" lIns="0" tIns="0" rIns="0" bIns="0" rtlCol="0" anchor="ctr"/>
          <a:lstStyle/>
          <a:p>
            <a:pPr indent="0" marL="0">
              <a:buNone/>
            </a:pPr>
            <a:r>
              <a:rPr lang="en-US" sz="1250" dirty="0">
                <a:solidFill>
                  <a:srgbClr val="E60000"/>
                </a:solidFill>
                <a:latin typeface="Frutiger 45 Light" pitchFamily="34" charset="0"/>
                <a:ea typeface="Frutiger 45 Light" pitchFamily="34" charset="-122"/>
                <a:cs typeface="Frutiger 45 Light" pitchFamily="34" charset="-120"/>
              </a:rPr>
              <a:t>Divisas</a:t>
            </a:r>
            <a:endParaRPr lang="en-US" sz="1250" dirty="0"/>
          </a:p>
        </p:txBody>
      </p:sp>
      <p:sp>
        <p:nvSpPr>
          <p:cNvPr id="17" name="Text 15"/>
          <p:cNvSpPr/>
          <p:nvPr/>
        </p:nvSpPr>
        <p:spPr>
          <a:xfrm>
            <a:off x="6766560" y="5010912"/>
            <a:ext cx="6071616" cy="1042416"/>
          </a:xfrm>
          <a:prstGeom prst="rect">
            <a:avLst/>
          </a:prstGeom>
          <a:noFill/>
          <a:ln/>
        </p:spPr>
        <p:txBody>
          <a:bodyPr wrap="square" lIns="0" tIns="0" rIns="0" bIns="0" rtlCol="0" anchor="ctr"/>
          <a:lstStyle/>
          <a:p>
            <a:pPr indent="0" marL="0">
              <a:lnSpc>
                <a:spcPts val="1500"/>
              </a:lnSpc>
              <a:buNone/>
            </a:pPr>
            <a:r>
              <a:rPr lang="en-US" sz="1150" dirty="0">
                <a:solidFill>
                  <a:srgbClr val="474747"/>
                </a:solidFill>
                <a:latin typeface="Frutiger 45 Light" pitchFamily="34" charset="0"/>
                <a:ea typeface="Frutiger 45 Light" pitchFamily="34" charset="-122"/>
                <a:cs typeface="Frutiger 45 Light" pitchFamily="34" charset="-120"/>
              </a:rPr>
              <a:t>El carry en divisas emergentes debería generar retornos totales positivos. Exposición diversificada a divisas de alto rendimiento, con cautela en la lira turca.</a:t>
            </a:r>
            <a:endParaRPr lang="en-US" sz="1150" dirty="0"/>
          </a:p>
        </p:txBody>
      </p:sp>
      <p:sp>
        <p:nvSpPr>
          <p:cNvPr id="18" name="Shape 16"/>
          <p:cNvSpPr/>
          <p:nvPr/>
        </p:nvSpPr>
        <p:spPr>
          <a:xfrm>
            <a:off x="566928" y="4261104"/>
            <a:ext cx="3931920" cy="2231136"/>
          </a:xfrm>
          <a:prstGeom prst="rect">
            <a:avLst/>
          </a:prstGeom>
          <a:solidFill>
            <a:srgbClr val="F7F7F7"/>
          </a:solidFill>
          <a:ln w="12700">
            <a:solidFill>
              <a:srgbClr val="F7F7F7"/>
            </a:solidFill>
            <a:prstDash val="solid"/>
          </a:ln>
        </p:spPr>
      </p:sp>
      <p:sp>
        <p:nvSpPr>
          <p:cNvPr id="19" name="Text 17"/>
          <p:cNvSpPr/>
          <p:nvPr/>
        </p:nvSpPr>
        <p:spPr>
          <a:xfrm>
            <a:off x="841248" y="4443984"/>
            <a:ext cx="3383280" cy="292608"/>
          </a:xfrm>
          <a:prstGeom prst="rect">
            <a:avLst/>
          </a:prstGeom>
          <a:noFill/>
          <a:ln/>
        </p:spPr>
        <p:txBody>
          <a:bodyPr wrap="square" lIns="0" tIns="0" rIns="0" bIns="0" rtlCol="0" anchor="ctr"/>
          <a:lstStyle/>
          <a:p>
            <a:pPr indent="0" marL="0">
              <a:buNone/>
            </a:pPr>
            <a:r>
              <a:rPr lang="en-US" sz="1300" dirty="0">
                <a:solidFill>
                  <a:srgbClr val="E60000"/>
                </a:solidFill>
                <a:latin typeface="Frutiger 45 Light" pitchFamily="34" charset="0"/>
                <a:ea typeface="Frutiger 45 Light" pitchFamily="34" charset="-122"/>
                <a:cs typeface="Frutiger 45 Light" pitchFamily="34" charset="-120"/>
              </a:rPr>
              <a:t>América Latina</a:t>
            </a:r>
            <a:endParaRPr lang="en-US" sz="1300" dirty="0"/>
          </a:p>
        </p:txBody>
      </p:sp>
      <p:sp>
        <p:nvSpPr>
          <p:cNvPr id="20" name="Text 18"/>
          <p:cNvSpPr/>
          <p:nvPr/>
        </p:nvSpPr>
        <p:spPr>
          <a:xfrm>
            <a:off x="841248" y="4773168"/>
            <a:ext cx="3383280" cy="1572768"/>
          </a:xfrm>
          <a:prstGeom prst="rect">
            <a:avLst/>
          </a:prstGeom>
          <a:noFill/>
          <a:ln/>
        </p:spPr>
        <p:txBody>
          <a:bodyPr wrap="square" lIns="0" tIns="0" rIns="0" bIns="0" rtlCol="0" anchor="ctr"/>
          <a:lstStyle/>
          <a:p>
            <a:pPr indent="0" marL="0">
              <a:lnSpc>
                <a:spcPts val="1400"/>
              </a:lnSpc>
              <a:buNone/>
            </a:pPr>
            <a:r>
              <a:rPr lang="en-US" sz="1100" dirty="0">
                <a:solidFill>
                  <a:srgbClr val="474747"/>
                </a:solidFill>
                <a:latin typeface="Frutiger 45 Light" pitchFamily="34" charset="0"/>
                <a:ea typeface="Frutiger 45 Light" pitchFamily="34" charset="-122"/>
                <a:cs typeface="Frutiger 45 Light" pitchFamily="34" charset="-120"/>
              </a:rPr>
              <a:t>El real brasileño y el peso mexicano figuran entre las divisas de alto rendimiento que UBS CIO considera atractivas dentro de una exposición diversificada, junto al rand sudafricano y la rupia india.</a:t>
            </a:r>
            <a:endParaRPr lang="en-US" sz="1100" dirty="0"/>
          </a:p>
          <a:p>
            <a:pPr indent="0" marL="0">
              <a:lnSpc>
                <a:spcPts val="1400"/>
              </a:lnSpc>
              <a:buNone/>
            </a:pPr>
            <a:endParaRPr lang="en-US" sz="1100" dirty="0"/>
          </a:p>
          <a:p>
            <a:pPr indent="0" marL="0">
              <a:lnSpc>
                <a:spcPts val="1400"/>
              </a:lnSpc>
              <a:buNone/>
            </a:pPr>
            <a:r>
              <a:rPr lang="en-US" sz="1100" dirty="0">
                <a:solidFill>
                  <a:srgbClr val="474747"/>
                </a:solidFill>
                <a:latin typeface="Frutiger 45 Light" pitchFamily="34" charset="0"/>
                <a:ea typeface="Frutiger 45 Light" pitchFamily="34" charset="-122"/>
                <a:cs typeface="Frutiger 45 Light" pitchFamily="34" charset="-120"/>
              </a:rPr>
              <a:t>Los riesgos clave son subidas agresivas de la Fed o un deterioro brusco del crecimiento global.</a:t>
            </a:r>
            <a:endParaRPr lang="en-US" sz="1100" dirty="0"/>
          </a:p>
        </p:txBody>
      </p:sp>
      <p:sp>
        <p:nvSpPr>
          <p:cNvPr id="21" name="Text 19"/>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El MSCI EM se expresa en dólares estadounidenses.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10 · PERÚ</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Perú: constructivos, apalancados en el cobre</a:t>
            </a:r>
            <a:endParaRPr lang="en-US" sz="2800" dirty="0"/>
          </a:p>
        </p:txBody>
      </p:sp>
      <p:sp>
        <p:nvSpPr>
          <p:cNvPr id="6" name="Text 4"/>
          <p:cNvSpPr/>
          <p:nvPr/>
        </p:nvSpPr>
        <p:spPr>
          <a:xfrm>
            <a:off x="566928" y="1682496"/>
            <a:ext cx="11905488" cy="566928"/>
          </a:xfrm>
          <a:prstGeom prst="rect">
            <a:avLst/>
          </a:prstGeom>
          <a:noFill/>
          <a:ln/>
        </p:spPr>
        <p:txBody>
          <a:bodyPr wrap="square" lIns="0" tIns="0" rIns="0" bIns="0" rtlCol="0" anchor="t"/>
          <a:lstStyle/>
          <a:p>
            <a:pPr indent="0" marL="0">
              <a:buNone/>
            </a:pPr>
            <a:r>
              <a:rPr lang="en-US" sz="1400" dirty="0">
                <a:solidFill>
                  <a:srgbClr val="757575"/>
                </a:solidFill>
                <a:latin typeface="Frutiger 45 Light" pitchFamily="34" charset="0"/>
                <a:ea typeface="Frutiger 45 Light" pitchFamily="34" charset="-122"/>
                <a:cs typeface="Frutiger 45 Light" pitchFamily="34" charset="-120"/>
              </a:rPr>
              <a:t>El documento fuente no contiene una visión específica sobre Perú. Lo que sigue conecta el mercado peruano con las posiciones que UBS CIO sí publica.</a:t>
            </a:r>
            <a:endParaRPr lang="en-US" sz="1400" dirty="0"/>
          </a:p>
        </p:txBody>
      </p:sp>
      <p:sp>
        <p:nvSpPr>
          <p:cNvPr id="7" name="Shape 5"/>
          <p:cNvSpPr/>
          <p:nvPr/>
        </p:nvSpPr>
        <p:spPr>
          <a:xfrm>
            <a:off x="566928" y="2395728"/>
            <a:ext cx="6025896" cy="1389888"/>
          </a:xfrm>
          <a:prstGeom prst="rect">
            <a:avLst/>
          </a:prstGeom>
          <a:solidFill>
            <a:srgbClr val="F7F7F7"/>
          </a:solidFill>
          <a:ln w="12700">
            <a:solidFill>
              <a:srgbClr val="F7F7F7"/>
            </a:solidFill>
            <a:prstDash val="solid"/>
          </a:ln>
        </p:spPr>
      </p:sp>
      <p:sp>
        <p:nvSpPr>
          <p:cNvPr id="8" name="Shape 6"/>
          <p:cNvSpPr/>
          <p:nvPr/>
        </p:nvSpPr>
        <p:spPr>
          <a:xfrm>
            <a:off x="841248" y="2651760"/>
            <a:ext cx="384048" cy="41148"/>
          </a:xfrm>
          <a:prstGeom prst="rect">
            <a:avLst/>
          </a:prstGeom>
          <a:solidFill>
            <a:srgbClr val="E60000"/>
          </a:solidFill>
          <a:ln/>
        </p:spPr>
      </p:sp>
      <p:sp>
        <p:nvSpPr>
          <p:cNvPr id="9" name="Text 7"/>
          <p:cNvSpPr/>
          <p:nvPr/>
        </p:nvSpPr>
        <p:spPr>
          <a:xfrm>
            <a:off x="841248" y="2761488"/>
            <a:ext cx="5422392" cy="310896"/>
          </a:xfrm>
          <a:prstGeom prst="rect">
            <a:avLst/>
          </a:prstGeom>
          <a:noFill/>
          <a:ln/>
        </p:spPr>
        <p:txBody>
          <a:bodyPr wrap="square" lIns="0" tIns="0" rIns="0" bIns="0" rtlCol="0" anchor="ctr"/>
          <a:lstStyle/>
          <a:p>
            <a:pPr indent="0" marL="0">
              <a:buNone/>
            </a:pPr>
            <a:r>
              <a:rPr lang="en-US" sz="1450" dirty="0">
                <a:solidFill>
                  <a:srgbClr val="2B2B2B"/>
                </a:solidFill>
                <a:latin typeface="Frutiger 45 Light" pitchFamily="34" charset="0"/>
                <a:ea typeface="Frutiger 45 Light" pitchFamily="34" charset="-122"/>
                <a:cs typeface="Frutiger 45 Light" pitchFamily="34" charset="-120"/>
              </a:rPr>
              <a:t>Cobre</a:t>
            </a:r>
            <a:endParaRPr lang="en-US" sz="1450" dirty="0"/>
          </a:p>
        </p:txBody>
      </p:sp>
      <p:sp>
        <p:nvSpPr>
          <p:cNvPr id="10" name="Text 8"/>
          <p:cNvSpPr/>
          <p:nvPr/>
        </p:nvSpPr>
        <p:spPr>
          <a:xfrm>
            <a:off x="841248" y="3090672"/>
            <a:ext cx="5422392" cy="60350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UBS CIO mantiene la visión Atractiva sobre materias primas con un foco especial en el cobre. Es la exposición más directa del mercado peruano a nuestras posiciones publicadas.</a:t>
            </a:r>
            <a:endParaRPr lang="en-US" sz="1100" dirty="0"/>
          </a:p>
        </p:txBody>
      </p:sp>
      <p:sp>
        <p:nvSpPr>
          <p:cNvPr id="11" name="Shape 9"/>
          <p:cNvSpPr/>
          <p:nvPr/>
        </p:nvSpPr>
        <p:spPr>
          <a:xfrm>
            <a:off x="6812280" y="2395728"/>
            <a:ext cx="6025896" cy="1389888"/>
          </a:xfrm>
          <a:prstGeom prst="rect">
            <a:avLst/>
          </a:prstGeom>
          <a:solidFill>
            <a:srgbClr val="F7F7F7"/>
          </a:solidFill>
          <a:ln w="12700">
            <a:solidFill>
              <a:srgbClr val="F7F7F7"/>
            </a:solidFill>
            <a:prstDash val="solid"/>
          </a:ln>
        </p:spPr>
      </p:sp>
      <p:sp>
        <p:nvSpPr>
          <p:cNvPr id="12" name="Shape 10"/>
          <p:cNvSpPr/>
          <p:nvPr/>
        </p:nvSpPr>
        <p:spPr>
          <a:xfrm>
            <a:off x="7086600" y="2651760"/>
            <a:ext cx="384048" cy="41148"/>
          </a:xfrm>
          <a:prstGeom prst="rect">
            <a:avLst/>
          </a:prstGeom>
          <a:solidFill>
            <a:srgbClr val="E60000"/>
          </a:solidFill>
          <a:ln/>
        </p:spPr>
      </p:sp>
      <p:sp>
        <p:nvSpPr>
          <p:cNvPr id="13" name="Text 11"/>
          <p:cNvSpPr/>
          <p:nvPr/>
        </p:nvSpPr>
        <p:spPr>
          <a:xfrm>
            <a:off x="7086600" y="2761488"/>
            <a:ext cx="5422392" cy="310896"/>
          </a:xfrm>
          <a:prstGeom prst="rect">
            <a:avLst/>
          </a:prstGeom>
          <a:noFill/>
          <a:ln/>
        </p:spPr>
        <p:txBody>
          <a:bodyPr wrap="square" lIns="0" tIns="0" rIns="0" bIns="0" rtlCol="0" anchor="ctr"/>
          <a:lstStyle/>
          <a:p>
            <a:pPr indent="0" marL="0">
              <a:buNone/>
            </a:pPr>
            <a:r>
              <a:rPr lang="en-US" sz="1450" dirty="0">
                <a:solidFill>
                  <a:srgbClr val="2B2B2B"/>
                </a:solidFill>
                <a:latin typeface="Frutiger 45 Light" pitchFamily="34" charset="0"/>
                <a:ea typeface="Frutiger 45 Light" pitchFamily="34" charset="-122"/>
                <a:cs typeface="Frutiger 45 Light" pitchFamily="34" charset="-120"/>
              </a:rPr>
              <a:t>Electrificación e IA</a:t>
            </a:r>
            <a:endParaRPr lang="en-US" sz="1450" dirty="0"/>
          </a:p>
        </p:txBody>
      </p:sp>
      <p:sp>
        <p:nvSpPr>
          <p:cNvPr id="14" name="Text 12"/>
          <p:cNvSpPr/>
          <p:nvPr/>
        </p:nvSpPr>
        <p:spPr>
          <a:xfrm>
            <a:off x="7086600" y="3090672"/>
            <a:ext cx="5422392" cy="60350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El auge de la IA y la tendencia de electrificación siguen siendo factores positivos para los metales industriales, según UBS CIO.</a:t>
            </a:r>
            <a:endParaRPr lang="en-US" sz="1100" dirty="0"/>
          </a:p>
        </p:txBody>
      </p:sp>
      <p:sp>
        <p:nvSpPr>
          <p:cNvPr id="15" name="Shape 13"/>
          <p:cNvSpPr/>
          <p:nvPr/>
        </p:nvSpPr>
        <p:spPr>
          <a:xfrm>
            <a:off x="566928" y="3968496"/>
            <a:ext cx="6025896" cy="1389888"/>
          </a:xfrm>
          <a:prstGeom prst="rect">
            <a:avLst/>
          </a:prstGeom>
          <a:solidFill>
            <a:srgbClr val="F7F7F7"/>
          </a:solidFill>
          <a:ln w="12700">
            <a:solidFill>
              <a:srgbClr val="F7F7F7"/>
            </a:solidFill>
            <a:prstDash val="solid"/>
          </a:ln>
        </p:spPr>
      </p:sp>
      <p:sp>
        <p:nvSpPr>
          <p:cNvPr id="16" name="Shape 14"/>
          <p:cNvSpPr/>
          <p:nvPr/>
        </p:nvSpPr>
        <p:spPr>
          <a:xfrm>
            <a:off x="841248" y="4224528"/>
            <a:ext cx="384048" cy="41148"/>
          </a:xfrm>
          <a:prstGeom prst="rect">
            <a:avLst/>
          </a:prstGeom>
          <a:solidFill>
            <a:srgbClr val="E60000"/>
          </a:solidFill>
          <a:ln/>
        </p:spPr>
      </p:sp>
      <p:sp>
        <p:nvSpPr>
          <p:cNvPr id="17" name="Text 15"/>
          <p:cNvSpPr/>
          <p:nvPr/>
        </p:nvSpPr>
        <p:spPr>
          <a:xfrm>
            <a:off x="841248" y="4334256"/>
            <a:ext cx="5422392" cy="310896"/>
          </a:xfrm>
          <a:prstGeom prst="rect">
            <a:avLst/>
          </a:prstGeom>
          <a:noFill/>
          <a:ln/>
        </p:spPr>
        <p:txBody>
          <a:bodyPr wrap="square" lIns="0" tIns="0" rIns="0" bIns="0" rtlCol="0" anchor="ctr"/>
          <a:lstStyle/>
          <a:p>
            <a:pPr indent="0" marL="0">
              <a:buNone/>
            </a:pPr>
            <a:r>
              <a:rPr lang="en-US" sz="1450" dirty="0">
                <a:solidFill>
                  <a:srgbClr val="2B2B2B"/>
                </a:solidFill>
                <a:latin typeface="Frutiger 45 Light" pitchFamily="34" charset="0"/>
                <a:ea typeface="Frutiger 45 Light" pitchFamily="34" charset="-122"/>
                <a:cs typeface="Frutiger 45 Light" pitchFamily="34" charset="-120"/>
              </a:rPr>
              <a:t>Renta variable emergente</a:t>
            </a:r>
            <a:endParaRPr lang="en-US" sz="1450" dirty="0"/>
          </a:p>
        </p:txBody>
      </p:sp>
      <p:sp>
        <p:nvSpPr>
          <p:cNvPr id="18" name="Text 16"/>
          <p:cNvSpPr/>
          <p:nvPr/>
        </p:nvSpPr>
        <p:spPr>
          <a:xfrm>
            <a:off x="841248" y="4663440"/>
            <a:ext cx="5422392" cy="60350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Perú forma parte del universo emergente, sobre el que mantenemos la visión Atractiva y el mayor potencial de retorno de nuestra tabla.</a:t>
            </a:r>
            <a:endParaRPr lang="en-US" sz="1100" dirty="0"/>
          </a:p>
        </p:txBody>
      </p:sp>
      <p:sp>
        <p:nvSpPr>
          <p:cNvPr id="19" name="Shape 17"/>
          <p:cNvSpPr/>
          <p:nvPr/>
        </p:nvSpPr>
        <p:spPr>
          <a:xfrm>
            <a:off x="6812280" y="3968496"/>
            <a:ext cx="6025896" cy="1389888"/>
          </a:xfrm>
          <a:prstGeom prst="rect">
            <a:avLst/>
          </a:prstGeom>
          <a:solidFill>
            <a:srgbClr val="F7F7F7"/>
          </a:solidFill>
          <a:ln w="12700">
            <a:solidFill>
              <a:srgbClr val="F7F7F7"/>
            </a:solidFill>
            <a:prstDash val="solid"/>
          </a:ln>
        </p:spPr>
      </p:sp>
      <p:sp>
        <p:nvSpPr>
          <p:cNvPr id="20" name="Shape 18"/>
          <p:cNvSpPr/>
          <p:nvPr/>
        </p:nvSpPr>
        <p:spPr>
          <a:xfrm>
            <a:off x="7086600" y="4224528"/>
            <a:ext cx="384048" cy="41148"/>
          </a:xfrm>
          <a:prstGeom prst="rect">
            <a:avLst/>
          </a:prstGeom>
          <a:solidFill>
            <a:srgbClr val="E60000"/>
          </a:solidFill>
          <a:ln/>
        </p:spPr>
      </p:sp>
      <p:sp>
        <p:nvSpPr>
          <p:cNvPr id="21" name="Text 19"/>
          <p:cNvSpPr/>
          <p:nvPr/>
        </p:nvSpPr>
        <p:spPr>
          <a:xfrm>
            <a:off x="7086600" y="4334256"/>
            <a:ext cx="5422392" cy="310896"/>
          </a:xfrm>
          <a:prstGeom prst="rect">
            <a:avLst/>
          </a:prstGeom>
          <a:noFill/>
          <a:ln/>
        </p:spPr>
        <p:txBody>
          <a:bodyPr wrap="square" lIns="0" tIns="0" rIns="0" bIns="0" rtlCol="0" anchor="ctr"/>
          <a:lstStyle/>
          <a:p>
            <a:pPr indent="0" marL="0">
              <a:buNone/>
            </a:pPr>
            <a:r>
              <a:rPr lang="en-US" sz="1450" dirty="0">
                <a:solidFill>
                  <a:srgbClr val="2B2B2B"/>
                </a:solidFill>
                <a:latin typeface="Frutiger 45 Light" pitchFamily="34" charset="0"/>
                <a:ea typeface="Frutiger 45 Light" pitchFamily="34" charset="-122"/>
                <a:cs typeface="Frutiger 45 Light" pitchFamily="34" charset="-120"/>
              </a:rPr>
              <a:t>Deuda emergente</a:t>
            </a:r>
            <a:endParaRPr lang="en-US" sz="1450" dirty="0"/>
          </a:p>
        </p:txBody>
      </p:sp>
      <p:sp>
        <p:nvSpPr>
          <p:cNvPr id="22" name="Text 20"/>
          <p:cNvSpPr/>
          <p:nvPr/>
        </p:nvSpPr>
        <p:spPr>
          <a:xfrm>
            <a:off x="7086600" y="4663440"/>
            <a:ext cx="5422392" cy="603504"/>
          </a:xfrm>
          <a:prstGeom prst="rect">
            <a:avLst/>
          </a:prstGeom>
          <a:noFill/>
          <a:ln/>
        </p:spPr>
        <p:txBody>
          <a:bodyPr wrap="square" lIns="0" tIns="0" rIns="0" bIns="0" rtlCol="0" anchor="ctr"/>
          <a:lstStyle/>
          <a:p>
            <a:pPr indent="0" marL="0">
              <a:lnSpc>
                <a:spcPts val="1400"/>
              </a:lnSpc>
              <a:buNone/>
            </a:pPr>
            <a:r>
              <a:rPr lang="en-US" sz="1100" dirty="0">
                <a:solidFill>
                  <a:srgbClr val="757575"/>
                </a:solidFill>
                <a:latin typeface="Frutiger 45 Light" pitchFamily="34" charset="0"/>
                <a:ea typeface="Frutiger 45 Light" pitchFamily="34" charset="-122"/>
                <a:cs typeface="Frutiger 45 Light" pitchFamily="34" charset="-120"/>
              </a:rPr>
              <a:t>Los bonos de mercados emergentes se mantienen en Atractivo, con rendimientos elevados y fundamentos sólidos.</a:t>
            </a:r>
            <a:endParaRPr lang="en-US" sz="1100" dirty="0"/>
          </a:p>
        </p:txBody>
      </p:sp>
      <p:sp>
        <p:nvSpPr>
          <p:cNvPr id="23" name="Shape 21"/>
          <p:cNvSpPr/>
          <p:nvPr/>
        </p:nvSpPr>
        <p:spPr>
          <a:xfrm>
            <a:off x="566928" y="5541264"/>
            <a:ext cx="12271248" cy="1060704"/>
          </a:xfrm>
          <a:prstGeom prst="rect">
            <a:avLst/>
          </a:prstGeom>
          <a:solidFill>
            <a:srgbClr val="FFF2F2"/>
          </a:solidFill>
          <a:ln w="12700">
            <a:solidFill>
              <a:srgbClr val="F5C6C6"/>
            </a:solidFill>
            <a:prstDash val="solid"/>
          </a:ln>
        </p:spPr>
      </p:sp>
      <p:sp>
        <p:nvSpPr>
          <p:cNvPr id="24" name="Text 22"/>
          <p:cNvSpPr/>
          <p:nvPr/>
        </p:nvSpPr>
        <p:spPr>
          <a:xfrm>
            <a:off x="822960" y="5687568"/>
            <a:ext cx="11759184" cy="256032"/>
          </a:xfrm>
          <a:prstGeom prst="rect">
            <a:avLst/>
          </a:prstGeom>
          <a:noFill/>
          <a:ln/>
        </p:spPr>
        <p:txBody>
          <a:bodyPr wrap="square" lIns="0" tIns="0" rIns="0" bIns="0" rtlCol="0" anchor="ctr"/>
          <a:lstStyle/>
          <a:p>
            <a:pPr indent="0" marL="0">
              <a:buNone/>
            </a:pPr>
            <a:r>
              <a:rPr lang="en-US" sz="1150" b="1" dirty="0">
                <a:solidFill>
                  <a:srgbClr val="E60000"/>
                </a:solidFill>
                <a:latin typeface="Frutiger 45 Light" pitchFamily="34" charset="0"/>
                <a:ea typeface="Frutiger 45 Light" pitchFamily="34" charset="-122"/>
                <a:cs typeface="Frutiger 45 Light" pitchFamily="34" charset="-120"/>
              </a:rPr>
              <a:t>Antes de usar esta diapositiva</a:t>
            </a:r>
            <a:endParaRPr lang="en-US" sz="1150" dirty="0"/>
          </a:p>
        </p:txBody>
      </p:sp>
      <p:sp>
        <p:nvSpPr>
          <p:cNvPr id="25" name="Text 23"/>
          <p:cNvSpPr/>
          <p:nvPr/>
        </p:nvSpPr>
        <p:spPr>
          <a:xfrm>
            <a:off x="822960" y="5943600"/>
            <a:ext cx="11759184" cy="585216"/>
          </a:xfrm>
          <a:prstGeom prst="rect">
            <a:avLst/>
          </a:prstGeom>
          <a:noFill/>
          <a:ln/>
        </p:spPr>
        <p:txBody>
          <a:bodyPr wrap="square" lIns="0" tIns="0" rIns="0" bIns="0" rtlCol="0" anchor="ctr"/>
          <a:lstStyle/>
          <a:p>
            <a:pPr indent="0" marL="0">
              <a:lnSpc>
                <a:spcPts val="1300"/>
              </a:lnSpc>
              <a:buNone/>
            </a:pPr>
            <a:r>
              <a:rPr lang="en-US" sz="1050" dirty="0">
                <a:solidFill>
                  <a:srgbClr val="474747"/>
                </a:solidFill>
                <a:latin typeface="Frutiger 45 Light" pitchFamily="34" charset="0"/>
                <a:ea typeface="Frutiger 45 Light" pitchFamily="34" charset="-122"/>
                <a:cs typeface="Frutiger 45 Light" pitchFamily="34" charset="-120"/>
              </a:rPr>
              <a:t>La actualización interina de agosto de 2026 no publica una visión de casa sobre Perú. Confirmar la postura vigente con CIO Emerging Markets Americas (Alejo Czerwonko) antes de difundir cualquier afirmación específica sobre el mercado peruano.</a:t>
            </a:r>
            <a:endParaRPr lang="en-US" sz="1050" dirty="0"/>
          </a:p>
        </p:txBody>
      </p:sp>
      <p:sp>
        <p:nvSpPr>
          <p:cNvPr id="26" name="Text 24"/>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CIO GWM, perspectivas de materias primas y mercados emergentes, agosto de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7059168"/>
            <a:ext cx="7863840" cy="256032"/>
          </a:xfrm>
          <a:prstGeom prst="rect">
            <a:avLst/>
          </a:prstGeom>
          <a:noFill/>
          <a:ln/>
        </p:spPr>
        <p:txBody>
          <a:bodyPr wrap="square" lIns="0" tIns="0" rIns="0" bIns="0" rtlCol="0" anchor="ctr"/>
          <a:lstStyle/>
          <a:p>
            <a:pPr indent="0" marL="0">
              <a:buNone/>
            </a:pPr>
            <a:r>
              <a:rPr lang="en-US" sz="900" dirty="0">
                <a:solidFill>
                  <a:srgbClr val="B0B0B0"/>
                </a:solidFill>
                <a:latin typeface="Frutiger 45 Light" pitchFamily="34" charset="0"/>
                <a:ea typeface="Frutiger 45 Light" pitchFamily="34" charset="-122"/>
                <a:cs typeface="Frutiger 45 Light" pitchFamily="34" charset="-120"/>
              </a:rPr>
              <a:t>UBS House View  |  Actualización interina  |  Agosto 2026</a:t>
            </a:r>
            <a:endParaRPr lang="en-US" sz="900" dirty="0"/>
          </a:p>
        </p:txBody>
      </p:sp>
      <p:sp>
        <p:nvSpPr>
          <p:cNvPr id="3" name="Text 1"/>
          <p:cNvSpPr/>
          <p:nvPr/>
        </p:nvSpPr>
        <p:spPr>
          <a:xfrm>
            <a:off x="9912096" y="7059168"/>
            <a:ext cx="2926080" cy="256032"/>
          </a:xfrm>
          <a:prstGeom prst="rect">
            <a:avLst/>
          </a:prstGeom>
          <a:noFill/>
          <a:ln/>
        </p:spPr>
        <p:txBody>
          <a:bodyPr wrap="square" lIns="0" tIns="0" rIns="0" bIns="0" rtlCol="0" anchor="ctr"/>
          <a:lstStyle/>
          <a:p>
            <a:pPr algn="r" indent="0" marL="0">
              <a:buNone/>
            </a:pPr>
            <a:r>
              <a:rPr lang="en-US" sz="900" dirty="0">
                <a:solidFill>
                  <a:srgbClr val="B0B0B0"/>
                </a:solidFill>
                <a:latin typeface="Frutiger 45 Light" pitchFamily="34" charset="0"/>
                <a:ea typeface="Frutiger 45 Light" pitchFamily="34" charset="-122"/>
                <a:cs typeface="Frutiger 45 Light" pitchFamily="34" charset="-120"/>
              </a:rPr>
              <a:t>Uso interno únicamente</a:t>
            </a:r>
            <a:endParaRPr lang="en-US" sz="900" dirty="0"/>
          </a:p>
        </p:txBody>
      </p:sp>
      <p:sp>
        <p:nvSpPr>
          <p:cNvPr id="4" name="Text 2"/>
          <p:cNvSpPr/>
          <p:nvPr/>
        </p:nvSpPr>
        <p:spPr>
          <a:xfrm>
            <a:off x="566928" y="384048"/>
            <a:ext cx="12271248" cy="237744"/>
          </a:xfrm>
          <a:prstGeom prst="rect">
            <a:avLst/>
          </a:prstGeom>
          <a:noFill/>
          <a:ln/>
        </p:spPr>
        <p:txBody>
          <a:bodyPr wrap="square" lIns="0" tIns="0" rIns="0" bIns="0" rtlCol="0" anchor="ctr"/>
          <a:lstStyle/>
          <a:p>
            <a:pPr indent="0" marL="0">
              <a:buNone/>
            </a:pPr>
            <a:r>
              <a:rPr lang="en-US" sz="1050" spc="160" kern="0" dirty="0">
                <a:solidFill>
                  <a:srgbClr val="E60000"/>
                </a:solidFill>
                <a:latin typeface="Frutiger 45 Light" pitchFamily="34" charset="0"/>
                <a:ea typeface="Frutiger 45 Light" pitchFamily="34" charset="-122"/>
                <a:cs typeface="Frutiger 45 Light" pitchFamily="34" charset="-120"/>
              </a:rPr>
              <a:t>RESUMEN</a:t>
            </a:r>
            <a:endParaRPr lang="en-US" sz="1050" dirty="0"/>
          </a:p>
        </p:txBody>
      </p:sp>
      <p:sp>
        <p:nvSpPr>
          <p:cNvPr id="5" name="Text 3"/>
          <p:cNvSpPr/>
          <p:nvPr/>
        </p:nvSpPr>
        <p:spPr>
          <a:xfrm>
            <a:off x="566928" y="713232"/>
            <a:ext cx="12271248" cy="932688"/>
          </a:xfrm>
          <a:prstGeom prst="rect">
            <a:avLst/>
          </a:prstGeom>
          <a:noFill/>
          <a:ln/>
        </p:spPr>
        <p:txBody>
          <a:bodyPr wrap="square" lIns="0" tIns="0" rIns="0" bIns="0" rtlCol="0" anchor="t"/>
          <a:lstStyle/>
          <a:p>
            <a:pPr indent="0" marL="0">
              <a:buNone/>
            </a:pPr>
            <a:r>
              <a:rPr lang="en-US" sz="2800" dirty="0">
                <a:solidFill>
                  <a:srgbClr val="2B2B2B"/>
                </a:solidFill>
                <a:latin typeface="Frutiger 45 Light" pitchFamily="34" charset="0"/>
                <a:ea typeface="Frutiger 45 Light" pitchFamily="34" charset="-122"/>
                <a:cs typeface="Frutiger 45 Light" pitchFamily="34" charset="-120"/>
              </a:rPr>
              <a:t>En síntesis</a:t>
            </a:r>
            <a:endParaRPr lang="en-US" sz="2800" dirty="0"/>
          </a:p>
        </p:txBody>
      </p:sp>
      <p:sp>
        <p:nvSpPr>
          <p:cNvPr id="6" name="Text 4"/>
          <p:cNvSpPr/>
          <p:nvPr/>
        </p:nvSpPr>
        <p:spPr>
          <a:xfrm>
            <a:off x="566928" y="1828800"/>
            <a:ext cx="2103120" cy="310896"/>
          </a:xfrm>
          <a:prstGeom prst="rect">
            <a:avLst/>
          </a:prstGeom>
          <a:noFill/>
          <a:ln/>
        </p:spPr>
        <p:txBody>
          <a:bodyPr wrap="square" lIns="0" tIns="0" rIns="0" bIns="0" rtlCol="0" anchor="ctr"/>
          <a:lstStyle/>
          <a:p>
            <a:pPr indent="0" marL="0">
              <a:buNone/>
            </a:pPr>
            <a:r>
              <a:rPr lang="en-US" sz="1400" dirty="0">
                <a:solidFill>
                  <a:srgbClr val="E60000"/>
                </a:solidFill>
                <a:latin typeface="Frutiger 45 Light" pitchFamily="34" charset="0"/>
                <a:ea typeface="Frutiger 45 Light" pitchFamily="34" charset="-122"/>
                <a:cs typeface="Frutiger 45 Light" pitchFamily="34" charset="-120"/>
              </a:rPr>
              <a:t>Macro</a:t>
            </a:r>
            <a:endParaRPr lang="en-US" sz="1400" dirty="0"/>
          </a:p>
        </p:txBody>
      </p:sp>
      <p:sp>
        <p:nvSpPr>
          <p:cNvPr id="7" name="Text 5"/>
          <p:cNvSpPr/>
          <p:nvPr/>
        </p:nvSpPr>
        <p:spPr>
          <a:xfrm>
            <a:off x="2852928" y="1828800"/>
            <a:ext cx="9985248" cy="603504"/>
          </a:xfrm>
          <a:prstGeom prst="rect">
            <a:avLst/>
          </a:prstGeom>
          <a:noFill/>
          <a:ln/>
        </p:spPr>
        <p:txBody>
          <a:bodyPr wrap="square" lIns="0" tIns="0" rIns="0" bIns="0" rtlCol="0" anchor="ctr"/>
          <a:lstStyle/>
          <a:p>
            <a:pPr indent="0" marL="0">
              <a:lnSpc>
                <a:spcPts val="1700"/>
              </a:lnSpc>
              <a:buNone/>
            </a:pPr>
            <a:r>
              <a:rPr lang="en-US" sz="1300" dirty="0">
                <a:solidFill>
                  <a:srgbClr val="474747"/>
                </a:solidFill>
                <a:latin typeface="Frutiger 45 Light" pitchFamily="34" charset="0"/>
                <a:ea typeface="Frutiger 45 Light" pitchFamily="34" charset="-122"/>
                <a:cs typeface="Frutiger 45 Light" pitchFamily="34" charset="-120"/>
              </a:rPr>
              <a:t>Expansión intacta. PIB de EE.UU. en torno al 2% en 2026 y 2027 en el escenario base, con 60% de probabilidad.</a:t>
            </a:r>
            <a:endParaRPr lang="en-US" sz="1300" dirty="0"/>
          </a:p>
        </p:txBody>
      </p:sp>
      <p:sp>
        <p:nvSpPr>
          <p:cNvPr id="8" name="Shape 6"/>
          <p:cNvSpPr/>
          <p:nvPr/>
        </p:nvSpPr>
        <p:spPr>
          <a:xfrm>
            <a:off x="566928" y="2578608"/>
            <a:ext cx="12271248" cy="13716"/>
          </a:xfrm>
          <a:prstGeom prst="rect">
            <a:avLst/>
          </a:prstGeom>
          <a:solidFill>
            <a:srgbClr val="EDEDED"/>
          </a:solidFill>
          <a:ln/>
        </p:spPr>
      </p:sp>
      <p:sp>
        <p:nvSpPr>
          <p:cNvPr id="9" name="Text 7"/>
          <p:cNvSpPr/>
          <p:nvPr/>
        </p:nvSpPr>
        <p:spPr>
          <a:xfrm>
            <a:off x="566928" y="2761488"/>
            <a:ext cx="2103120" cy="310896"/>
          </a:xfrm>
          <a:prstGeom prst="rect">
            <a:avLst/>
          </a:prstGeom>
          <a:noFill/>
          <a:ln/>
        </p:spPr>
        <p:txBody>
          <a:bodyPr wrap="square" lIns="0" tIns="0" rIns="0" bIns="0" rtlCol="0" anchor="ctr"/>
          <a:lstStyle/>
          <a:p>
            <a:pPr indent="0" marL="0">
              <a:buNone/>
            </a:pPr>
            <a:r>
              <a:rPr lang="en-US" sz="1400" dirty="0">
                <a:solidFill>
                  <a:srgbClr val="E60000"/>
                </a:solidFill>
                <a:latin typeface="Frutiger 45 Light" pitchFamily="34" charset="0"/>
                <a:ea typeface="Frutiger 45 Light" pitchFamily="34" charset="-122"/>
                <a:cs typeface="Frutiger 45 Light" pitchFamily="34" charset="-120"/>
              </a:rPr>
              <a:t>Tasas</a:t>
            </a:r>
            <a:endParaRPr lang="en-US" sz="1400" dirty="0"/>
          </a:p>
        </p:txBody>
      </p:sp>
      <p:sp>
        <p:nvSpPr>
          <p:cNvPr id="10" name="Text 8"/>
          <p:cNvSpPr/>
          <p:nvPr/>
        </p:nvSpPr>
        <p:spPr>
          <a:xfrm>
            <a:off x="2852928" y="2761488"/>
            <a:ext cx="9985248" cy="603504"/>
          </a:xfrm>
          <a:prstGeom prst="rect">
            <a:avLst/>
          </a:prstGeom>
          <a:noFill/>
          <a:ln/>
        </p:spPr>
        <p:txBody>
          <a:bodyPr wrap="square" lIns="0" tIns="0" rIns="0" bIns="0" rtlCol="0" anchor="ctr"/>
          <a:lstStyle/>
          <a:p>
            <a:pPr indent="0" marL="0">
              <a:lnSpc>
                <a:spcPts val="1700"/>
              </a:lnSpc>
              <a:buNone/>
            </a:pPr>
            <a:r>
              <a:rPr lang="en-US" sz="1300" dirty="0">
                <a:solidFill>
                  <a:srgbClr val="474747"/>
                </a:solidFill>
                <a:latin typeface="Frutiger 45 Light" pitchFamily="34" charset="0"/>
                <a:ea typeface="Frutiger 45 Light" pitchFamily="34" charset="-122"/>
                <a:cs typeface="Frutiger 45 Light" pitchFamily="34" charset="-120"/>
              </a:rPr>
              <a:t>El mercado descuenta más subidas de las que esperamos. La Fed reanuda recortes en 2027.</a:t>
            </a:r>
            <a:endParaRPr lang="en-US" sz="1300" dirty="0"/>
          </a:p>
        </p:txBody>
      </p:sp>
      <p:sp>
        <p:nvSpPr>
          <p:cNvPr id="11" name="Shape 9"/>
          <p:cNvSpPr/>
          <p:nvPr/>
        </p:nvSpPr>
        <p:spPr>
          <a:xfrm>
            <a:off x="566928" y="3511296"/>
            <a:ext cx="12271248" cy="13716"/>
          </a:xfrm>
          <a:prstGeom prst="rect">
            <a:avLst/>
          </a:prstGeom>
          <a:solidFill>
            <a:srgbClr val="EDEDED"/>
          </a:solidFill>
          <a:ln/>
        </p:spPr>
      </p:sp>
      <p:sp>
        <p:nvSpPr>
          <p:cNvPr id="12" name="Text 10"/>
          <p:cNvSpPr/>
          <p:nvPr/>
        </p:nvSpPr>
        <p:spPr>
          <a:xfrm>
            <a:off x="566928" y="3694176"/>
            <a:ext cx="2103120" cy="310896"/>
          </a:xfrm>
          <a:prstGeom prst="rect">
            <a:avLst/>
          </a:prstGeom>
          <a:noFill/>
          <a:ln/>
        </p:spPr>
        <p:txBody>
          <a:bodyPr wrap="square" lIns="0" tIns="0" rIns="0" bIns="0" rtlCol="0" anchor="ctr"/>
          <a:lstStyle/>
          <a:p>
            <a:pPr indent="0" marL="0">
              <a:buNone/>
            </a:pPr>
            <a:r>
              <a:rPr lang="en-US" sz="1400" dirty="0">
                <a:solidFill>
                  <a:srgbClr val="E60000"/>
                </a:solidFill>
                <a:latin typeface="Frutiger 45 Light" pitchFamily="34" charset="0"/>
                <a:ea typeface="Frutiger 45 Light" pitchFamily="34" charset="-122"/>
                <a:cs typeface="Frutiger 45 Light" pitchFamily="34" charset="-120"/>
              </a:rPr>
              <a:t>Renta variable</a:t>
            </a:r>
            <a:endParaRPr lang="en-US" sz="1400" dirty="0"/>
          </a:p>
        </p:txBody>
      </p:sp>
      <p:sp>
        <p:nvSpPr>
          <p:cNvPr id="13" name="Text 11"/>
          <p:cNvSpPr/>
          <p:nvPr/>
        </p:nvSpPr>
        <p:spPr>
          <a:xfrm>
            <a:off x="2852928" y="3694176"/>
            <a:ext cx="9985248" cy="603504"/>
          </a:xfrm>
          <a:prstGeom prst="rect">
            <a:avLst/>
          </a:prstGeom>
          <a:noFill/>
          <a:ln/>
        </p:spPr>
        <p:txBody>
          <a:bodyPr wrap="square" lIns="0" tIns="0" rIns="0" bIns="0" rtlCol="0" anchor="ctr"/>
          <a:lstStyle/>
          <a:p>
            <a:pPr indent="0" marL="0">
              <a:lnSpc>
                <a:spcPts val="1700"/>
              </a:lnSpc>
              <a:buNone/>
            </a:pPr>
            <a:r>
              <a:rPr lang="en-US" sz="1300" dirty="0">
                <a:solidFill>
                  <a:srgbClr val="474747"/>
                </a:solidFill>
                <a:latin typeface="Frutiger 45 Light" pitchFamily="34" charset="0"/>
                <a:ea typeface="Frutiger 45 Light" pitchFamily="34" charset="-122"/>
                <a:cs typeface="Frutiger 45 Light" pitchFamily="34" charset="-120"/>
              </a:rPr>
              <a:t>Atractiva y diversificada. S&amp;P 500 en 8.200 a junio de 2027. Europa e India mejoran; Suiza y Corea se rebajan.</a:t>
            </a:r>
            <a:endParaRPr lang="en-US" sz="1300" dirty="0"/>
          </a:p>
        </p:txBody>
      </p:sp>
      <p:sp>
        <p:nvSpPr>
          <p:cNvPr id="14" name="Shape 12"/>
          <p:cNvSpPr/>
          <p:nvPr/>
        </p:nvSpPr>
        <p:spPr>
          <a:xfrm>
            <a:off x="566928" y="4443984"/>
            <a:ext cx="12271248" cy="13716"/>
          </a:xfrm>
          <a:prstGeom prst="rect">
            <a:avLst/>
          </a:prstGeom>
          <a:solidFill>
            <a:srgbClr val="EDEDED"/>
          </a:solidFill>
          <a:ln/>
        </p:spPr>
      </p:sp>
      <p:sp>
        <p:nvSpPr>
          <p:cNvPr id="15" name="Text 13"/>
          <p:cNvSpPr/>
          <p:nvPr/>
        </p:nvSpPr>
        <p:spPr>
          <a:xfrm>
            <a:off x="566928" y="4626864"/>
            <a:ext cx="2103120" cy="310896"/>
          </a:xfrm>
          <a:prstGeom prst="rect">
            <a:avLst/>
          </a:prstGeom>
          <a:noFill/>
          <a:ln/>
        </p:spPr>
        <p:txBody>
          <a:bodyPr wrap="square" lIns="0" tIns="0" rIns="0" bIns="0" rtlCol="0" anchor="ctr"/>
          <a:lstStyle/>
          <a:p>
            <a:pPr indent="0" marL="0">
              <a:buNone/>
            </a:pPr>
            <a:r>
              <a:rPr lang="en-US" sz="1400" dirty="0">
                <a:solidFill>
                  <a:srgbClr val="E60000"/>
                </a:solidFill>
                <a:latin typeface="Frutiger 45 Light" pitchFamily="34" charset="0"/>
                <a:ea typeface="Frutiger 45 Light" pitchFamily="34" charset="-122"/>
                <a:cs typeface="Frutiger 45 Light" pitchFamily="34" charset="-120"/>
              </a:rPr>
              <a:t>Renta fija</a:t>
            </a:r>
            <a:endParaRPr lang="en-US" sz="1400" dirty="0"/>
          </a:p>
        </p:txBody>
      </p:sp>
      <p:sp>
        <p:nvSpPr>
          <p:cNvPr id="16" name="Text 14"/>
          <p:cNvSpPr/>
          <p:nvPr/>
        </p:nvSpPr>
        <p:spPr>
          <a:xfrm>
            <a:off x="2852928" y="4626864"/>
            <a:ext cx="9985248" cy="603504"/>
          </a:xfrm>
          <a:prstGeom prst="rect">
            <a:avLst/>
          </a:prstGeom>
          <a:noFill/>
          <a:ln/>
        </p:spPr>
        <p:txBody>
          <a:bodyPr wrap="square" lIns="0" tIns="0" rIns="0" bIns="0" rtlCol="0" anchor="ctr"/>
          <a:lstStyle/>
          <a:p>
            <a:pPr indent="0" marL="0">
              <a:lnSpc>
                <a:spcPts val="1700"/>
              </a:lnSpc>
              <a:buNone/>
            </a:pPr>
            <a:r>
              <a:rPr lang="en-US" sz="1300" dirty="0">
                <a:solidFill>
                  <a:srgbClr val="474747"/>
                </a:solidFill>
                <a:latin typeface="Frutiger 45 Light" pitchFamily="34" charset="0"/>
                <a:ea typeface="Frutiger 45 Light" pitchFamily="34" charset="-122"/>
                <a:cs typeface="Frutiger 45 Light" pitchFamily="34" charset="-120"/>
              </a:rPr>
              <a:t>Atractiva. Calidad, tramo corto y medio en USD y GBP. Sin apuesta por duración larga.</a:t>
            </a:r>
            <a:endParaRPr lang="en-US" sz="1300" dirty="0"/>
          </a:p>
        </p:txBody>
      </p:sp>
      <p:sp>
        <p:nvSpPr>
          <p:cNvPr id="17" name="Shape 15"/>
          <p:cNvSpPr/>
          <p:nvPr/>
        </p:nvSpPr>
        <p:spPr>
          <a:xfrm>
            <a:off x="566928" y="5376672"/>
            <a:ext cx="12271248" cy="13716"/>
          </a:xfrm>
          <a:prstGeom prst="rect">
            <a:avLst/>
          </a:prstGeom>
          <a:solidFill>
            <a:srgbClr val="EDEDED"/>
          </a:solidFill>
          <a:ln/>
        </p:spPr>
      </p:sp>
      <p:sp>
        <p:nvSpPr>
          <p:cNvPr id="18" name="Text 16"/>
          <p:cNvSpPr/>
          <p:nvPr/>
        </p:nvSpPr>
        <p:spPr>
          <a:xfrm>
            <a:off x="566928" y="5559552"/>
            <a:ext cx="2103120" cy="310896"/>
          </a:xfrm>
          <a:prstGeom prst="rect">
            <a:avLst/>
          </a:prstGeom>
          <a:noFill/>
          <a:ln/>
        </p:spPr>
        <p:txBody>
          <a:bodyPr wrap="square" lIns="0" tIns="0" rIns="0" bIns="0" rtlCol="0" anchor="ctr"/>
          <a:lstStyle/>
          <a:p>
            <a:pPr indent="0" marL="0">
              <a:buNone/>
            </a:pPr>
            <a:r>
              <a:rPr lang="en-US" sz="1400" dirty="0">
                <a:solidFill>
                  <a:srgbClr val="E60000"/>
                </a:solidFill>
                <a:latin typeface="Frutiger 45 Light" pitchFamily="34" charset="0"/>
                <a:ea typeface="Frutiger 45 Light" pitchFamily="34" charset="-122"/>
                <a:cs typeface="Frutiger 45 Light" pitchFamily="34" charset="-120"/>
              </a:rPr>
              <a:t>Emergentes</a:t>
            </a:r>
            <a:endParaRPr lang="en-US" sz="1400" dirty="0"/>
          </a:p>
        </p:txBody>
      </p:sp>
      <p:sp>
        <p:nvSpPr>
          <p:cNvPr id="19" name="Text 17"/>
          <p:cNvSpPr/>
          <p:nvPr/>
        </p:nvSpPr>
        <p:spPr>
          <a:xfrm>
            <a:off x="2852928" y="5559552"/>
            <a:ext cx="9985248" cy="603504"/>
          </a:xfrm>
          <a:prstGeom prst="rect">
            <a:avLst/>
          </a:prstGeom>
          <a:noFill/>
          <a:ln/>
        </p:spPr>
        <p:txBody>
          <a:bodyPr wrap="square" lIns="0" tIns="0" rIns="0" bIns="0" rtlCol="0" anchor="ctr"/>
          <a:lstStyle/>
          <a:p>
            <a:pPr indent="0" marL="0">
              <a:lnSpc>
                <a:spcPts val="1700"/>
              </a:lnSpc>
              <a:buNone/>
            </a:pPr>
            <a:r>
              <a:rPr lang="en-US" sz="1300" dirty="0">
                <a:solidFill>
                  <a:srgbClr val="474747"/>
                </a:solidFill>
                <a:latin typeface="Frutiger 45 Light" pitchFamily="34" charset="0"/>
                <a:ea typeface="Frutiger 45 Light" pitchFamily="34" charset="-122"/>
                <a:cs typeface="Frutiger 45 Light" pitchFamily="34" charset="-120"/>
              </a:rPr>
              <a:t>El mayor potencial de la tabla: MSCI EM +14%. Bonos emergentes y carry en divisas, atractivos.</a:t>
            </a:r>
            <a:endParaRPr lang="en-US" sz="1300" dirty="0"/>
          </a:p>
        </p:txBody>
      </p:sp>
      <p:sp>
        <p:nvSpPr>
          <p:cNvPr id="20" name="Shape 18"/>
          <p:cNvSpPr/>
          <p:nvPr/>
        </p:nvSpPr>
        <p:spPr>
          <a:xfrm>
            <a:off x="566928" y="6309360"/>
            <a:ext cx="12271248" cy="13716"/>
          </a:xfrm>
          <a:prstGeom prst="rect">
            <a:avLst/>
          </a:prstGeom>
          <a:solidFill>
            <a:srgbClr val="EDEDED"/>
          </a:solidFill>
          <a:ln/>
        </p:spPr>
      </p:sp>
      <p:sp>
        <p:nvSpPr>
          <p:cNvPr id="21" name="Text 19"/>
          <p:cNvSpPr/>
          <p:nvPr/>
        </p:nvSpPr>
        <p:spPr>
          <a:xfrm>
            <a:off x="566928" y="6547104"/>
            <a:ext cx="12271248" cy="292608"/>
          </a:xfrm>
          <a:prstGeom prst="rect">
            <a:avLst/>
          </a:prstGeom>
          <a:noFill/>
          <a:ln/>
        </p:spPr>
        <p:txBody>
          <a:bodyPr wrap="square" lIns="0" tIns="0" rIns="0" bIns="0" rtlCol="0" anchor="ctr"/>
          <a:lstStyle/>
          <a:p>
            <a:pPr indent="0" marL="0">
              <a:buNone/>
            </a:pPr>
            <a:r>
              <a:rPr lang="en-US" sz="1000" dirty="0">
                <a:solidFill>
                  <a:srgbClr val="757575"/>
                </a:solidFill>
                <a:latin typeface="Frutiger 45 Light" pitchFamily="34" charset="0"/>
                <a:ea typeface="Frutiger 45 Light" pitchFamily="34" charset="-122"/>
                <a:cs typeface="Frutiger 45 Light" pitchFamily="34" charset="-120"/>
              </a:rPr>
              <a:t>Consulte las advertencias y notas legales importantes al final del documento original. Este resumen no sustituye al informe completo de UBS CIO GWM.</a:t>
            </a:r>
            <a:endParaRPr lang="en-US" sz="1000" dirty="0"/>
          </a:p>
        </p:txBody>
      </p:sp>
      <p:sp>
        <p:nvSpPr>
          <p:cNvPr id="22" name="Text 20"/>
          <p:cNvSpPr/>
          <p:nvPr/>
        </p:nvSpPr>
        <p:spPr>
          <a:xfrm>
            <a:off x="566928" y="6784848"/>
            <a:ext cx="12271248" cy="237744"/>
          </a:xfrm>
          <a:prstGeom prst="rect">
            <a:avLst/>
          </a:prstGeom>
          <a:noFill/>
          <a:ln/>
        </p:spPr>
        <p:txBody>
          <a:bodyPr wrap="square" lIns="0" tIns="0" rIns="0" bIns="0" rtlCol="0" anchor="ctr"/>
          <a:lstStyle/>
          <a:p>
            <a:pPr indent="0" marL="0">
              <a:buNone/>
            </a:pPr>
            <a:r>
              <a:rPr lang="en-US" sz="850" i="1" dirty="0">
                <a:solidFill>
                  <a:srgbClr val="B0B0B0"/>
                </a:solidFill>
                <a:latin typeface="Frutiger 45 Light" pitchFamily="34" charset="0"/>
                <a:ea typeface="Frutiger 45 Light" pitchFamily="34" charset="-122"/>
                <a:cs typeface="Frutiger 45 Light" pitchFamily="34" charset="-120"/>
              </a:rPr>
              <a:t>Fuente: UBS House View — Monthly Extended August 2026, Interim update, 30 de julio de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2026-08-05T19:01:21Z</dcterms:created>
  <dcterms:modified xsi:type="dcterms:W3CDTF">2026-08-05T19:01:21Z</dcterms:modified>
</cp:coreProperties>
</file>
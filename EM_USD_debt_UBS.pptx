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1" i="0" u="none" strike="noStrike">
                <a:solidFill>
                  <a:srgbClr val="001E50"/>
                </a:solidFill>
                <a:latin typeface="Arial"/>
              </a:defRPr>
            </a:pPr>
            <a:r>
              <a:rPr sz="1200" b="1" i="0" u="none" strike="noStrike">
                <a:solidFill>
                  <a:srgbClr val="001E50"/>
                </a:solidFill>
                <a:latin typeface="Arial"/>
              </a:rPr>
              <a:t>12-month total return by Fed path (%)</a:t>
            </a:r>
          </a:p>
        </c:rich>
      </c:tx>
      <c:layout/>
      <c:overlay val="0"/>
    </c:title>
    <c:autoTitleDeleted val="0"/>
    <c:plotArea>
      <c:layout/>
      <c:barChart>
        <c:barDir val="col"/>
        <c:grouping val="clustered"/>
        <c:varyColors val="0"/>
        <c:ser>
          <c:idx val="0"/>
          <c:order val="0"/>
          <c:tx>
            <c:strRef>
              <c:f>Sheet1!$B$1</c:f>
              <c:strCache>
                <c:ptCount val="1"/>
                <c:pt idx="0">
                  <c:v>Total return</c:v>
                </c:pt>
              </c:strCache>
            </c:strRef>
          </c:tx>
          <c:spPr>
            <a:solidFill>
              <a:srgbClr val="001E50"/>
            </a:solidFill>
            <a:effectLst/>
          </c:spPr>
          <c:invertIfNegative val="0"/>
          <c:dLbls>
            <c:numFmt formatCode="+0.0;-0.0" sourceLinked="0"/>
            <c:txPr>
              <a:bodyPr/>
              <a:lstStyle/>
              <a:p>
                <a:pPr>
                  <a:defRPr b="0" i="0" strike="noStrike" sz="105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001E50"/>
              </a:solidFill>
              <a:effectLst/>
            </c:spPr>
          </c:dPt>
          <c:dPt>
            <c:idx val="1"/>
            <c:invertIfNegative val="0"/>
            <c:bubble3D val="0"/>
            <c:spPr>
              <a:solidFill>
                <a:srgbClr val="001E50"/>
              </a:solidFill>
              <a:effectLst/>
            </c:spPr>
          </c:dPt>
          <c:dPt>
            <c:idx val="2"/>
            <c:invertIfNegative val="0"/>
            <c:bubble3D val="0"/>
            <c:spPr>
              <a:solidFill>
                <a:srgbClr val="10437C"/>
              </a:solidFill>
              <a:effectLst/>
            </c:spPr>
          </c:dPt>
          <c:dPt>
            <c:idx val="3"/>
            <c:invertIfNegative val="0"/>
            <c:bubble3D val="0"/>
            <c:spPr>
              <a:solidFill>
                <a:srgbClr val="C8102E"/>
              </a:solidFill>
              <a:effectLst/>
            </c:spPr>
          </c:dPt>
          <c:dPt>
            <c:idx val="4"/>
            <c:invertIfNegative val="0"/>
            <c:bubble3D val="0"/>
            <c:spPr>
              <a:solidFill>
                <a:srgbClr val="8C0A28"/>
              </a:solidFill>
              <a:effectLst/>
            </c:spPr>
          </c:dPt>
          <c:cat>
            <c:multiLvlStrRef>
              <c:f>Sheet1!$A$2:$A$6</c:f>
              <c:multiLvlStrCache>
                <c:ptCount val="5"/>
                <c:lvl>
                  <c:pt idx="0">
                    <c:v>Immaculate
disinflation</c:v>
                  </c:pt>
                  <c:pt idx="1">
                    <c:v>Soft landing
(base case)</c:v>
                  </c:pt>
                  <c:pt idx="2">
                    <c:v>Higher for
longer</c:v>
                  </c:pt>
                  <c:pt idx="3">
                    <c:v>Inflation
re-acceleration</c:v>
                  </c:pt>
                  <c:pt idx="4">
                    <c:v>Hard landing</c:v>
                  </c:pt>
                </c:lvl>
              </c:multiLvlStrCache>
            </c:multiLvlStrRef>
          </c:cat>
          <c:val>
            <c:numRef>
              <c:f>Sheet1!$B$2:$B$6</c:f>
              <c:numCache>
                <c:formatCode>General</c:formatCode>
                <c:ptCount val="5"/>
                <c:pt idx="0">
                  <c:v>13.02</c:v>
                </c:pt>
                <c:pt idx="1">
                  <c:v>7.3</c:v>
                </c:pt>
                <c:pt idx="2">
                  <c:v>4.76</c:v>
                </c:pt>
                <c:pt idx="3">
                  <c:v>-0.03</c:v>
                </c:pt>
                <c:pt idx="4">
                  <c:v>6.02</c:v>
                </c:pt>
              </c:numCache>
            </c:numRef>
          </c:val>
        </c:ser>
        <c:dLbls>
          <c:numFmt formatCode="+0.0;-0.0" sourceLinked="0"/>
          <c:txPr>
            <a:bodyPr/>
            <a:lstStyle/>
            <a:p>
              <a:pPr>
                <a:defRPr b="0" i="0" strike="noStrike" sz="1050" u="none">
                  <a:solidFill>
                    <a:srgbClr val="000000"/>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2"/>
        <c:crosses val="autoZero"/>
        <c:auto val="1"/>
        <c:lblAlgn val="ctr"/>
        <c:noMultiLvlLbl val="1"/>
      </c:catAx>
      <c:valAx>
        <c:axId val="2094734552"/>
        <c:scaling>
          <c:orientation val="minMax"/>
          <c:max val="15"/>
          <c:min val="-2"/>
        </c:scaling>
        <c:delete val="0"/>
        <c:axPos val="l"/>
        <c:majorGridlines>
          <c:spPr>
            <a:ln w="12700" cap="flat">
              <a:solidFill>
                <a:srgbClr val="DCE1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1" i="0" u="none" strike="noStrike">
                <a:solidFill>
                  <a:srgbClr val="001E50"/>
                </a:solidFill>
                <a:latin typeface="Arial"/>
              </a:defRPr>
            </a:pPr>
            <a:r>
              <a:rPr sz="1150" b="1" i="0" u="none" strike="noStrike">
                <a:solidFill>
                  <a:srgbClr val="001E50"/>
                </a:solidFill>
                <a:latin typeface="Arial"/>
              </a:rPr>
              <a:t>Test 2 — the spread is premium, not loss (bp)</a:t>
            </a:r>
          </a:p>
        </c:rich>
      </c:tx>
      <c:layout/>
      <c:overlay val="0"/>
    </c:title>
    <c:autoTitleDeleted val="0"/>
    <c:plotArea>
      <c:layout/>
      <c:barChart>
        <c:barDir val="bar"/>
        <c:grouping val="stacked"/>
        <c:varyColors val="0"/>
        <c:ser>
          <c:idx val="0"/>
          <c:order val="0"/>
          <c:tx>
            <c:strRef>
              <c:f>Sheet1!$B$1</c:f>
              <c:strCache>
                <c:ptCount val="1"/>
                <c:pt idx="0">
                  <c:v>Expected credit loss</c:v>
                </c:pt>
              </c:strCache>
            </c:strRef>
          </c:tx>
          <c:spPr>
            <a:solidFill>
              <a:srgbClr val="C8102E"/>
            </a:solidFill>
            <a:effectLst/>
          </c:spPr>
          <c:invertIfNegative val="0"/>
          <c:dLbls>
            <c:numFmt formatCode="0" sourceLinked="0"/>
            <c:txPr>
              <a:bodyPr/>
              <a:lstStyle/>
              <a:p>
                <a:pPr>
                  <a:defRPr b="0" i="0" strike="noStrike" sz="1100" u="none">
                    <a:solidFill>
                      <a:srgbClr val="FFFFFF"/>
                    </a:solidFill>
                    <a:latin typeface="Arial"/>
                  </a:defRPr>
                </a:pPr>
              </a:p>
            </c:txPr>
            <c:dLblPos val="ctr"/>
            <c:showLegendKey val="0"/>
            <c:showVal val="1"/>
            <c:showCatName val="0"/>
            <c:showSerName val="0"/>
            <c:showPercent val="0"/>
            <c:showBubbleSize val="0"/>
            <c:showLeaderLines val="0"/>
          </c:dLbls>
          <c:cat>
            <c:multiLvlStrRef>
              <c:f>Sheet1!$A$2:$A$2</c:f>
              <c:multiLvlStrCache>
                <c:ptCount val="1"/>
                <c:lvl>
                  <c:pt idx="0">
                    <c:v>220bp spread</c:v>
                  </c:pt>
                </c:lvl>
              </c:multiLvlStrCache>
            </c:multiLvlStrRef>
          </c:cat>
          <c:val>
            <c:numRef>
              <c:f>Sheet1!$B$2:$B$2</c:f>
              <c:numCache>
                <c:formatCode>General</c:formatCode>
                <c:ptCount val="1"/>
                <c:pt idx="0">
                  <c:v>52.9</c:v>
                </c:pt>
              </c:numCache>
            </c:numRef>
          </c:val>
        </c:ser>
        <c:ser>
          <c:idx val="1"/>
          <c:order val="1"/>
          <c:tx>
            <c:strRef>
              <c:f>Sheet1!$C$1</c:f>
              <c:strCache>
                <c:ptCount val="1"/>
                <c:pt idx="0">
                  <c:v>Risk + liquidity premium</c:v>
                </c:pt>
              </c:strCache>
            </c:strRef>
          </c:tx>
          <c:spPr>
            <a:solidFill>
              <a:srgbClr val="001E50"/>
            </a:solidFill>
            <a:effectLst/>
          </c:spPr>
          <c:invertIfNegative val="0"/>
          <c:dLbls>
            <c:numFmt formatCode="0" sourceLinked="0"/>
            <c:txPr>
              <a:bodyPr/>
              <a:lstStyle/>
              <a:p>
                <a:pPr>
                  <a:defRPr b="0" i="0" strike="noStrike" sz="1100" u="none">
                    <a:solidFill>
                      <a:srgbClr val="FFFFFF"/>
                    </a:solidFill>
                    <a:latin typeface="Arial"/>
                  </a:defRPr>
                </a:pPr>
              </a:p>
            </c:txPr>
            <c:dLblPos val="ctr"/>
            <c:showLegendKey val="0"/>
            <c:showVal val="1"/>
            <c:showCatName val="0"/>
            <c:showSerName val="0"/>
            <c:showPercent val="0"/>
            <c:showBubbleSize val="0"/>
            <c:showLeaderLines val="0"/>
          </c:dLbls>
          <c:cat>
            <c:multiLvlStrRef>
              <c:f>Sheet1!$A$2:$A$2</c:f>
              <c:multiLvlStrCache>
                <c:ptCount val="1"/>
                <c:lvl>
                  <c:pt idx="0">
                    <c:v>220bp spread</c:v>
                  </c:pt>
                </c:lvl>
              </c:multiLvlStrCache>
            </c:multiLvlStrRef>
          </c:cat>
          <c:val>
            <c:numRef>
              <c:f>Sheet1!$C$2:$C$2</c:f>
              <c:numCache>
                <c:formatCode>General</c:formatCode>
                <c:ptCount val="1"/>
                <c:pt idx="0">
                  <c:v>167.1</c:v>
                </c:pt>
              </c:numCache>
            </c:numRef>
          </c:val>
        </c:ser>
        <c:dLbls>
          <c:numFmt formatCode="0" sourceLinked="0"/>
          <c:txPr>
            <a:bodyPr/>
            <a:lstStyle/>
            <a:p>
              <a:pPr>
                <a:defRPr b="0" i="0" strike="noStrike" sz="1100" u="none">
                  <a:solidFill>
                    <a:srgbClr val="FFFFFF"/>
                  </a:solidFill>
                  <a:latin typeface="Arial"/>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2"/>
        <c:crosses val="autoZero"/>
        <c:auto val="1"/>
        <c:lblAlgn val="ctr"/>
        <c:noMultiLvlLbl val="1"/>
      </c:catAx>
      <c:valAx>
        <c:axId val="2094734552"/>
        <c:scaling>
          <c:orientation val="minMax"/>
          <c:max val="220"/>
          <c:min val="0"/>
        </c:scaling>
        <c:delete val="0"/>
        <c:axPos val="b"/>
        <c:majorGridlines>
          <c:spPr>
            <a:ln w="12700" cap="flat">
              <a:solidFill>
                <a:srgbClr val="DCE1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5A6472"/>
              </a:solidFill>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1" i="0" u="none" strike="noStrike">
                <a:solidFill>
                  <a:srgbClr val="001E50"/>
                </a:solidFill>
                <a:latin typeface="Arial"/>
              </a:defRPr>
            </a:pPr>
            <a:r>
              <a:rPr sz="1150" b="1" i="0" u="none" strike="noStrike">
                <a:solidFill>
                  <a:srgbClr val="001E50"/>
                </a:solidFill>
                <a:latin typeface="Arial"/>
              </a:rPr>
              <a:t>Test 1 — the carry is cash, not marks (%)</a:t>
            </a:r>
          </a:p>
        </c:rich>
      </c:tx>
      <c:layout/>
      <c:overlay val="0"/>
    </c:title>
    <c:autoTitleDeleted val="0"/>
    <c:plotArea>
      <c:layout/>
      <c:barChart>
        <c:barDir val="bar"/>
        <c:grouping val="stacked"/>
        <c:varyColors val="0"/>
        <c:ser>
          <c:idx val="0"/>
          <c:order val="0"/>
          <c:tx>
            <c:strRef>
              <c:f>Sheet1!$B$1</c:f>
              <c:strCache>
                <c:ptCount val="1"/>
                <c:pt idx="0">
                  <c:v>Cash coupon</c:v>
                </c:pt>
              </c:strCache>
            </c:strRef>
          </c:tx>
          <c:spPr>
            <a:solidFill>
              <a:srgbClr val="001E50"/>
            </a:solidFill>
            <a:effectLst/>
          </c:spPr>
          <c:invertIfNegative val="0"/>
          <c:dLbls>
            <c:numFmt formatCode="0.0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Sheet1!$A$2:$A$2</c:f>
              <c:multiLvlStrCache>
                <c:ptCount val="1"/>
                <c:lvl>
                  <c:pt idx="0">
                    <c:v>7.63% carry</c:v>
                  </c:pt>
                </c:lvl>
              </c:multiLvlStrCache>
            </c:multiLvlStrRef>
          </c:cat>
          <c:val>
            <c:numRef>
              <c:f>Sheet1!$B$2:$B$2</c:f>
              <c:numCache>
                <c:formatCode>General</c:formatCode>
                <c:ptCount val="1"/>
                <c:pt idx="0">
                  <c:v>6.14</c:v>
                </c:pt>
              </c:numCache>
            </c:numRef>
          </c:val>
        </c:ser>
        <c:ser>
          <c:idx val="1"/>
          <c:order val="1"/>
          <c:tx>
            <c:strRef>
              <c:f>Sheet1!$C$1</c:f>
              <c:strCache>
                <c:ptCount val="1"/>
                <c:pt idx="0">
                  <c:v>Roll-down</c:v>
                </c:pt>
              </c:strCache>
            </c:strRef>
          </c:tx>
          <c:spPr>
            <a:solidFill>
              <a:srgbClr val="9BA5B0"/>
            </a:solidFill>
            <a:effectLst/>
          </c:spPr>
          <c:invertIfNegative val="0"/>
          <c:dLbls>
            <c:numFmt formatCode="0.0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Sheet1!$A$2:$A$2</c:f>
              <c:multiLvlStrCache>
                <c:ptCount val="1"/>
                <c:lvl>
                  <c:pt idx="0">
                    <c:v>7.63% carry</c:v>
                  </c:pt>
                </c:lvl>
              </c:multiLvlStrCache>
            </c:multiLvlStrRef>
          </c:cat>
          <c:val>
            <c:numRef>
              <c:f>Sheet1!$C$2:$C$2</c:f>
              <c:numCache>
                <c:formatCode>General</c:formatCode>
                <c:ptCount val="1"/>
                <c:pt idx="0">
                  <c:v>0.88</c:v>
                </c:pt>
              </c:numCache>
            </c:numRef>
          </c:val>
        </c:ser>
        <c:ser>
          <c:idx val="2"/>
          <c:order val="2"/>
          <c:tx>
            <c:strRef>
              <c:f>Sheet1!$D$1</c:f>
              <c:strCache>
                <c:ptCount val="1"/>
                <c:pt idx="0">
                  <c:v>Pull-to-par</c:v>
                </c:pt>
              </c:strCache>
            </c:strRef>
          </c:tx>
          <c:spPr>
            <a:solidFill>
              <a:srgbClr val="8C0A28"/>
            </a:solidFill>
            <a:effectLst/>
          </c:spPr>
          <c:invertIfNegative val="0"/>
          <c:dLbls>
            <c:numFmt formatCode="0.0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Sheet1!$A$2:$A$2</c:f>
              <c:multiLvlStrCache>
                <c:ptCount val="1"/>
                <c:lvl>
                  <c:pt idx="0">
                    <c:v>7.63% carry</c:v>
                  </c:pt>
                </c:lvl>
              </c:multiLvlStrCache>
            </c:multiLvlStrRef>
          </c:cat>
          <c:val>
            <c:numRef>
              <c:f>Sheet1!$D$2:$D$2</c:f>
              <c:numCache>
                <c:formatCode>General</c:formatCode>
                <c:ptCount val="1"/>
                <c:pt idx="0">
                  <c:v>0.61</c:v>
                </c:pt>
              </c:numCache>
            </c:numRef>
          </c:val>
        </c:ser>
        <c:dLbls>
          <c:numFmt formatCode="0.0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DCE1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5A6472"/>
              </a:solidFill>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1" i="0" u="none" strike="noStrike">
                <a:solidFill>
                  <a:srgbClr val="001E50"/>
                </a:solidFill>
                <a:latin typeface="Arial"/>
              </a:defRPr>
            </a:pPr>
            <a:r>
              <a:rPr sz="1150" b="1" i="0" u="none" strike="noStrike">
                <a:solidFill>
                  <a:srgbClr val="001E50"/>
                </a:solidFill>
                <a:latin typeface="Arial"/>
              </a:rPr>
              <a:t>Investment-grade share of the index</a:t>
            </a:r>
          </a:p>
        </c:rich>
      </c:tx>
      <c:layout/>
      <c:overlay val="0"/>
    </c:title>
    <c:autoTitleDeleted val="0"/>
    <c:plotArea>
      <c:layout/>
      <c:barChart>
        <c:barDir val="col"/>
        <c:grouping val="percentStacked"/>
        <c:varyColors val="0"/>
        <c:ser>
          <c:idx val="0"/>
          <c:order val="0"/>
          <c:tx>
            <c:strRef>
              <c:f>Sheet1!$B$1</c:f>
              <c:strCache>
                <c:ptCount val="1"/>
                <c:pt idx="0">
                  <c:v>Investment grade</c:v>
                </c:pt>
              </c:strCache>
            </c:strRef>
          </c:tx>
          <c:spPr>
            <a:solidFill>
              <a:srgbClr val="001E50"/>
            </a:solidFill>
            <a:effectLst/>
          </c:spPr>
          <c:invertIfNegative val="0"/>
          <c:dLbls>
            <c:numFmt formatCode="0&quot;%&quot;" sourceLinked="0"/>
            <c:txPr>
              <a:bodyPr/>
              <a:lstStyle/>
              <a:p>
                <a:pPr>
                  <a:defRPr b="0" i="0" strike="noStrike" sz="11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2000</c:v>
                  </c:pt>
                  <c:pt idx="1">
                    <c:v>Today</c:v>
                  </c:pt>
                </c:lvl>
              </c:multiLvlStrCache>
            </c:multiLvlStrRef>
          </c:cat>
          <c:val>
            <c:numRef>
              <c:f>Sheet1!$B$2:$B$3</c:f>
              <c:numCache>
                <c:formatCode>General</c:formatCode>
                <c:ptCount val="2"/>
                <c:pt idx="0">
                  <c:v>15</c:v>
                </c:pt>
                <c:pt idx="1">
                  <c:v>51.3</c:v>
                </c:pt>
              </c:numCache>
            </c:numRef>
          </c:val>
        </c:ser>
        <c:ser>
          <c:idx val="1"/>
          <c:order val="1"/>
          <c:tx>
            <c:strRef>
              <c:f>Sheet1!$C$1</c:f>
              <c:strCache>
                <c:ptCount val="1"/>
                <c:pt idx="0">
                  <c:v>High yield</c:v>
                </c:pt>
              </c:strCache>
            </c:strRef>
          </c:tx>
          <c:spPr>
            <a:solidFill>
              <a:srgbClr val="9BA5B0"/>
            </a:solidFill>
            <a:effectLst/>
          </c:spPr>
          <c:invertIfNegative val="0"/>
          <c:dLbls>
            <c:numFmt formatCode="0&quot;%&quot;" sourceLinked="0"/>
            <c:txPr>
              <a:bodyPr/>
              <a:lstStyle/>
              <a:p>
                <a:pPr>
                  <a:defRPr b="0" i="0" strike="noStrike" sz="11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2000</c:v>
                  </c:pt>
                  <c:pt idx="1">
                    <c:v>Today</c:v>
                  </c:pt>
                </c:lvl>
              </c:multiLvlStrCache>
            </c:multiLvlStrRef>
          </c:cat>
          <c:val>
            <c:numRef>
              <c:f>Sheet1!$C$2:$C$3</c:f>
              <c:numCache>
                <c:formatCode>General</c:formatCode>
                <c:ptCount val="2"/>
                <c:pt idx="0">
                  <c:v>85</c:v>
                </c:pt>
                <c:pt idx="1">
                  <c:v>48.7</c:v>
                </c:pt>
              </c:numCache>
            </c:numRef>
          </c:val>
        </c:ser>
        <c:dLbls>
          <c:numFmt formatCode="0&quot;%&quot;" sourceLinked="0"/>
          <c:txPr>
            <a:bodyPr/>
            <a:lstStyle/>
            <a:p>
              <a:pPr>
                <a:defRPr b="0" i="0" strike="noStrike" sz="1100" u="none">
                  <a:solidFill>
                    <a:srgbClr val="FFFFFF"/>
                  </a:solidFill>
                  <a:latin typeface="Arial"/>
                </a:defRPr>
              </a:pPr>
            </a:p>
          </c:txPr>
          <c:dLblPos val="ctr"/>
          <c:showLegendKey val="0"/>
          <c:showVal val="1"/>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CE1E7"/>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5A6472"/>
              </a:solidFill>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1" i="0" u="none" strike="noStrike">
                <a:solidFill>
                  <a:srgbClr val="001E50"/>
                </a:solidFill>
                <a:latin typeface="Arial"/>
              </a:defRPr>
            </a:pPr>
            <a:r>
              <a:rPr sz="1150" b="1" i="0" u="none" strike="noStrike">
                <a:solidFill>
                  <a:srgbClr val="001E50"/>
                </a:solidFill>
                <a:latin typeface="Arial"/>
              </a:rPr>
              <a:t>Rating composition today (% of index)</a:t>
            </a:r>
          </a:p>
        </c:rich>
      </c:tx>
      <c:layout/>
      <c:overlay val="0"/>
    </c:title>
    <c:autoTitleDeleted val="0"/>
    <c:plotArea>
      <c:layout/>
      <c:barChart>
        <c:barDir val="col"/>
        <c:grouping val="clustered"/>
        <c:varyColors val="0"/>
        <c:ser>
          <c:idx val="0"/>
          <c:order val="0"/>
          <c:tx>
            <c:strRef>
              <c:f>Sheet1!$B$1</c:f>
              <c:strCache>
                <c:ptCount val="1"/>
                <c:pt idx="0">
                  <c:v>Index weight</c:v>
                </c:pt>
              </c:strCache>
            </c:strRef>
          </c:tx>
          <c:spPr>
            <a:solidFill>
              <a:srgbClr val="001E50"/>
            </a:solidFill>
            <a:effectLst/>
          </c:spPr>
          <c:invertIfNegative val="0"/>
          <c:dLbls>
            <c:numFmt formatCode="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001E50"/>
              </a:solidFill>
              <a:effectLst/>
            </c:spPr>
          </c:dPt>
          <c:dPt>
            <c:idx val="1"/>
            <c:invertIfNegative val="0"/>
            <c:bubble3D val="0"/>
            <c:spPr>
              <a:solidFill>
                <a:srgbClr val="001E50"/>
              </a:solidFill>
              <a:effectLst/>
            </c:spPr>
          </c:dPt>
          <c:dPt>
            <c:idx val="2"/>
            <c:invertIfNegative val="0"/>
            <c:bubble3D val="0"/>
            <c:spPr>
              <a:solidFill>
                <a:srgbClr val="10437C"/>
              </a:solidFill>
              <a:effectLst/>
            </c:spPr>
          </c:dPt>
          <c:dPt>
            <c:idx val="3"/>
            <c:invertIfNegative val="0"/>
            <c:bubble3D val="0"/>
            <c:spPr>
              <a:solidFill>
                <a:srgbClr val="10437C"/>
              </a:solidFill>
              <a:effectLst/>
            </c:spPr>
          </c:dPt>
          <c:dPt>
            <c:idx val="4"/>
            <c:invertIfNegative val="0"/>
            <c:bubble3D val="0"/>
            <c:spPr>
              <a:solidFill>
                <a:srgbClr val="8C0A28"/>
              </a:solidFill>
              <a:effectLst/>
            </c:spPr>
          </c:dPt>
          <c:dPt>
            <c:idx val="5"/>
            <c:invertIfNegative val="0"/>
            <c:bubble3D val="0"/>
            <c:spPr>
              <a:solidFill>
                <a:srgbClr val="C8102E"/>
              </a:solidFill>
              <a:effectLst/>
            </c:spPr>
          </c:dPt>
          <c:cat>
            <c:multiLvlStrRef>
              <c:f>Sheet1!$A$2:$A$7</c:f>
              <c:multiLvlStrCache>
                <c:ptCount val="6"/>
                <c:lvl>
                  <c:pt idx="0">
                    <c:v>A</c:v>
                  </c:pt>
                  <c:pt idx="1">
                    <c:v>BBB</c:v>
                  </c:pt>
                  <c:pt idx="2">
                    <c:v>BB</c:v>
                  </c:pt>
                  <c:pt idx="3">
                    <c:v>B</c:v>
                  </c:pt>
                  <c:pt idx="4">
                    <c:v>CCC</c:v>
                  </c:pt>
                  <c:pt idx="5">
                    <c:v>D</c:v>
                  </c:pt>
                </c:lvl>
              </c:multiLvlStrCache>
            </c:multiLvlStrRef>
          </c:cat>
          <c:val>
            <c:numRef>
              <c:f>Sheet1!$B$2:$B$7</c:f>
              <c:numCache>
                <c:formatCode>General</c:formatCode>
                <c:ptCount val="6"/>
                <c:pt idx="0">
                  <c:v>17.3</c:v>
                </c:pt>
                <c:pt idx="1">
                  <c:v>33.4</c:v>
                </c:pt>
                <c:pt idx="2">
                  <c:v>25</c:v>
                </c:pt>
                <c:pt idx="3">
                  <c:v>19.1</c:v>
                </c:pt>
                <c:pt idx="4">
                  <c:v>3.8</c:v>
                </c:pt>
                <c:pt idx="5">
                  <c:v>0.3</c:v>
                </c:pt>
              </c:numCache>
            </c:numRef>
          </c:val>
        </c:ser>
        <c:dLbls>
          <c:numFmt formatCode="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2"/>
        <c:crosses val="autoZero"/>
        <c:auto val="1"/>
        <c:lblAlgn val="ctr"/>
        <c:noMultiLvlLbl val="1"/>
      </c:catAx>
      <c:valAx>
        <c:axId val="2094734552"/>
        <c:scaling>
          <c:orientation val="minMax"/>
          <c:max val="40"/>
        </c:scaling>
        <c:delete val="0"/>
        <c:axPos val="l"/>
        <c:majorGridlines>
          <c:spPr>
            <a:ln w="12700" cap="flat">
              <a:solidFill>
                <a:srgbClr val="DCE1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1" i="0" u="none" strike="noStrike">
                <a:solidFill>
                  <a:srgbClr val="001E50"/>
                </a:solidFill>
                <a:latin typeface="Arial"/>
              </a:defRPr>
            </a:pPr>
            <a:r>
              <a:rPr sz="1150" b="1" i="0" u="none" strike="noStrike">
                <a:solidFill>
                  <a:srgbClr val="001E50"/>
                </a:solidFill>
                <a:latin typeface="Arial"/>
              </a:rPr>
              <a:t>Months of carry to repay a credit event</a:t>
            </a:r>
          </a:p>
        </c:rich>
      </c:tx>
      <c:layout/>
      <c:overlay val="0"/>
    </c:title>
    <c:autoTitleDeleted val="0"/>
    <c:plotArea>
      <c:layout/>
      <c:barChart>
        <c:barDir val="col"/>
        <c:grouping val="clustered"/>
        <c:varyColors val="0"/>
        <c:ser>
          <c:idx val="0"/>
          <c:order val="0"/>
          <c:tx>
            <c:strRef>
              <c:f>Sheet1!$B$1</c:f>
              <c:strCache>
                <c:ptCount val="1"/>
                <c:pt idx="0">
                  <c:v>Months of carry</c:v>
                </c:pt>
              </c:strCache>
            </c:strRef>
          </c:tx>
          <c:spPr>
            <a:solidFill>
              <a:srgbClr val="10437C"/>
            </a:solidFill>
            <a:effectLst/>
          </c:spPr>
          <c:invertIfNegative val="0"/>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10437C"/>
              </a:solidFill>
              <a:effectLst/>
            </c:spPr>
          </c:dPt>
          <c:dPt>
            <c:idx val="1"/>
            <c:invertIfNegative val="0"/>
            <c:bubble3D val="0"/>
            <c:spPr>
              <a:solidFill>
                <a:srgbClr val="8C0A28"/>
              </a:solidFill>
              <a:effectLst/>
            </c:spPr>
          </c:dPt>
          <c:dPt>
            <c:idx val="2"/>
            <c:invertIfNegative val="0"/>
            <c:bubble3D val="0"/>
            <c:spPr>
              <a:solidFill>
                <a:srgbClr val="C8102E"/>
              </a:solidFill>
              <a:effectLst/>
            </c:spPr>
          </c:dPt>
          <c:cat>
            <c:multiLvlStrRef>
              <c:f>Sheet1!$A$2:$A$4</c:f>
              <c:multiLvlStrCache>
                <c:ptCount val="3"/>
                <c:lvl>
                  <c:pt idx="0">
                    <c:v>1% weight
defaults</c:v>
                  </c:pt>
                  <c:pt idx="1">
                    <c:v>Entire CCC
bucket defaults</c:v>
                  </c:pt>
                  <c:pt idx="2">
                    <c:v>Largest country
defaults</c:v>
                  </c:pt>
                </c:lvl>
              </c:multiLvlStrCache>
            </c:multiLvlStrRef>
          </c:cat>
          <c:val>
            <c:numRef>
              <c:f>Sheet1!$B$2:$B$4</c:f>
              <c:numCache>
                <c:formatCode>General</c:formatCode>
                <c:ptCount val="3"/>
                <c:pt idx="0">
                  <c:v>0.8</c:v>
                </c:pt>
                <c:pt idx="1">
                  <c:v>3</c:v>
                </c:pt>
                <c:pt idx="2">
                  <c:v>5</c:v>
                </c:pt>
              </c:numCache>
            </c:numRef>
          </c:val>
        </c:ser>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2"/>
        <c:crosses val="autoZero"/>
        <c:auto val="1"/>
        <c:lblAlgn val="ctr"/>
        <c:noMultiLvlLbl val="1"/>
      </c:catAx>
      <c:valAx>
        <c:axId val="2094734552"/>
        <c:scaling>
          <c:orientation val="minMax"/>
          <c:max val="6.5"/>
          <c:min val="0"/>
        </c:scaling>
        <c:delete val="0"/>
        <c:axPos val="l"/>
        <c:majorGridlines>
          <c:spPr>
            <a:ln w="12700" cap="flat">
              <a:solidFill>
                <a:srgbClr val="DCE1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the apparent contradiction. We forecast wider spreads and we are still overweight. The rest of the deck is the arithmetic behind that, and then the credit-quality case underneath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land: the spread move is small relative to the carry, and the two legs of the asset offset. Only an inflation shock moves both against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call rests on. The distinction is between a high yield that compensates you for losses you will actually take, and a high yield that is genuine risk premium. Ours is overwhelmingly the second — and test 4 explains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composition shift is the answer to the valuation objection. Spreads look tight against history because the index is not the same index. Restated like for like, today is closer to 300bp than 220bp.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risk we actually carry, stated plainly, and what would make us change position. Credibility comes from naming the one scenario that hurts rather than burying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chart" Target="/ppt/charts/chart6.xm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50"/>
        </a:solidFill>
      </p:bgPr>
    </p:bg>
    <p:spTree>
      <p:nvGrpSpPr>
        <p:cNvPr id="1" name=""/>
        <p:cNvGrpSpPr/>
        <p:nvPr/>
      </p:nvGrpSpPr>
      <p:grpSpPr>
        <a:xfrm>
          <a:off x="0" y="0"/>
          <a:ext cx="0" cy="0"/>
          <a:chOff x="0" y="0"/>
          <a:chExt cx="0" cy="0"/>
        </a:xfrm>
      </p:grpSpPr>
      <p:sp>
        <p:nvSpPr>
          <p:cNvPr id="2" name="Text 0"/>
          <p:cNvSpPr/>
          <p:nvPr/>
        </p:nvSpPr>
        <p:spPr>
          <a:xfrm>
            <a:off x="566928" y="457200"/>
            <a:ext cx="11055096" cy="237744"/>
          </a:xfrm>
          <a:prstGeom prst="rect">
            <a:avLst/>
          </a:prstGeom>
          <a:noFill/>
          <a:ln/>
        </p:spPr>
        <p:txBody>
          <a:bodyPr wrap="square" lIns="0" tIns="0" rIns="0" bIns="0" rtlCol="0" anchor="ctr"/>
          <a:lstStyle/>
          <a:p>
            <a:pPr indent="0" marL="0">
              <a:buNone/>
            </a:pPr>
            <a:r>
              <a:rPr lang="en-US" sz="1100" b="1" spc="180" kern="0" dirty="0">
                <a:solidFill>
                  <a:srgbClr val="9BA5B0"/>
                </a:solidFill>
                <a:latin typeface="Arial" pitchFamily="34" charset="0"/>
                <a:ea typeface="Arial" pitchFamily="34" charset="-122"/>
                <a:cs typeface="Arial" pitchFamily="34" charset="-120"/>
              </a:rPr>
              <a:t>UBS  ·  EMERGING MARKET DEBT  ·  AUGUST 2026</a:t>
            </a:r>
            <a:endParaRPr lang="en-US" sz="1100" dirty="0"/>
          </a:p>
        </p:txBody>
      </p:sp>
      <p:sp>
        <p:nvSpPr>
          <p:cNvPr id="3" name="Text 1"/>
          <p:cNvSpPr/>
          <p:nvPr/>
        </p:nvSpPr>
        <p:spPr>
          <a:xfrm>
            <a:off x="566928" y="868680"/>
            <a:ext cx="7680960" cy="1417320"/>
          </a:xfrm>
          <a:prstGeom prst="rect">
            <a:avLst/>
          </a:prstGeom>
          <a:noFill/>
          <a:ln/>
        </p:spPr>
        <p:txBody>
          <a:bodyPr wrap="square" lIns="0" tIns="0" rIns="0" bIns="0" rtlCol="0" anchor="ctr"/>
          <a:lstStyle/>
          <a:p>
            <a:pPr indent="0" marL="0">
              <a:lnSpc>
                <a:spcPts val="4400"/>
              </a:lnSpc>
              <a:buNone/>
            </a:pPr>
            <a:r>
              <a:rPr lang="en-US" sz="4000" b="1" dirty="0">
                <a:solidFill>
                  <a:srgbClr val="FFFFFF"/>
                </a:solidFill>
                <a:latin typeface="Arial" pitchFamily="34" charset="0"/>
                <a:ea typeface="Arial" pitchFamily="34" charset="-122"/>
                <a:cs typeface="Arial" pitchFamily="34" charset="-120"/>
              </a:rPr>
              <a:t>Attractive on EM USD debt —</a:t>
            </a:r>
            <a:endParaRPr lang="en-US" sz="4000" dirty="0"/>
          </a:p>
          <a:p>
            <a:pPr indent="0" marL="0">
              <a:lnSpc>
                <a:spcPts val="4400"/>
              </a:lnSpc>
              <a:buNone/>
            </a:pPr>
            <a:r>
              <a:rPr lang="en-US" sz="4000" b="1" dirty="0">
                <a:solidFill>
                  <a:srgbClr val="FFFFFF"/>
                </a:solidFill>
                <a:latin typeface="Arial" pitchFamily="34" charset="0"/>
                <a:ea typeface="Arial" pitchFamily="34" charset="-122"/>
                <a:cs typeface="Arial" pitchFamily="34" charset="-120"/>
              </a:rPr>
              <a:t>into wider spreads</a:t>
            </a:r>
            <a:endParaRPr lang="en-US" sz="4000" dirty="0"/>
          </a:p>
        </p:txBody>
      </p:sp>
      <p:sp>
        <p:nvSpPr>
          <p:cNvPr id="4" name="Text 2"/>
          <p:cNvSpPr/>
          <p:nvPr/>
        </p:nvSpPr>
        <p:spPr>
          <a:xfrm>
            <a:off x="566928" y="2395728"/>
            <a:ext cx="7680960" cy="1005840"/>
          </a:xfrm>
          <a:prstGeom prst="rect">
            <a:avLst/>
          </a:prstGeom>
          <a:noFill/>
          <a:ln/>
        </p:spPr>
        <p:txBody>
          <a:bodyPr wrap="square" lIns="0" tIns="0" rIns="0" bIns="0" rtlCol="0" anchor="ctr"/>
          <a:lstStyle/>
          <a:p>
            <a:pPr indent="0" marL="0">
              <a:lnSpc>
                <a:spcPts val="2000"/>
              </a:lnSpc>
              <a:buNone/>
            </a:pPr>
            <a:r>
              <a:rPr lang="en-US" sz="1350" dirty="0">
                <a:solidFill>
                  <a:srgbClr val="C3CCDA"/>
                </a:solidFill>
                <a:latin typeface="Arial" pitchFamily="34" charset="0"/>
                <a:ea typeface="Arial" pitchFamily="34" charset="-122"/>
                <a:cs typeface="Arial" pitchFamily="34" charset="-120"/>
              </a:rPr>
              <a:t>EMBI Global at 220bp. We forecast widening to 250bp. We are still buyers — because a year of carry is worth almost four times the move we expect, and because the quality of that carry is the highest it has been in the index’s history.</a:t>
            </a:r>
            <a:endParaRPr lang="en-US" sz="1350" dirty="0"/>
          </a:p>
        </p:txBody>
      </p:sp>
      <p:sp>
        <p:nvSpPr>
          <p:cNvPr id="5" name="Shape 3"/>
          <p:cNvSpPr/>
          <p:nvPr/>
        </p:nvSpPr>
        <p:spPr>
          <a:xfrm>
            <a:off x="8549640" y="868680"/>
            <a:ext cx="3072384" cy="2542032"/>
          </a:xfrm>
          <a:prstGeom prst="roundRect">
            <a:avLst>
              <a:gd name="adj" fmla="val 1799"/>
            </a:avLst>
          </a:prstGeom>
          <a:solidFill>
            <a:srgbClr val="8C0A28"/>
          </a:solidFill>
          <a:ln w="12700">
            <a:solidFill>
              <a:srgbClr val="8C0A28"/>
            </a:solidFill>
            <a:prstDash val="solid"/>
          </a:ln>
        </p:spPr>
      </p:sp>
      <p:sp>
        <p:nvSpPr>
          <p:cNvPr id="6" name="Text 4"/>
          <p:cNvSpPr/>
          <p:nvPr/>
        </p:nvSpPr>
        <p:spPr>
          <a:xfrm>
            <a:off x="8778240" y="1078992"/>
            <a:ext cx="2651760" cy="73152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7.63%</a:t>
            </a:r>
            <a:endParaRPr lang="en-US" sz="4400" dirty="0"/>
          </a:p>
        </p:txBody>
      </p:sp>
      <p:sp>
        <p:nvSpPr>
          <p:cNvPr id="7" name="Text 5"/>
          <p:cNvSpPr/>
          <p:nvPr/>
        </p:nvSpPr>
        <p:spPr>
          <a:xfrm>
            <a:off x="8778240" y="1792224"/>
            <a:ext cx="2651760" cy="219456"/>
          </a:xfrm>
          <a:prstGeom prst="rect">
            <a:avLst/>
          </a:prstGeom>
          <a:noFill/>
          <a:ln/>
        </p:spPr>
        <p:txBody>
          <a:bodyPr wrap="square" lIns="0" tIns="0" rIns="0" bIns="0" rtlCol="0" anchor="ctr"/>
          <a:lstStyle/>
          <a:p>
            <a:pPr indent="0" marL="0">
              <a:buNone/>
            </a:pPr>
            <a:r>
              <a:rPr lang="en-US" sz="950" b="1" spc="80" kern="0" dirty="0">
                <a:solidFill>
                  <a:srgbClr val="F0C9D2"/>
                </a:solidFill>
                <a:latin typeface="Arial" pitchFamily="34" charset="0"/>
                <a:ea typeface="Arial" pitchFamily="34" charset="-122"/>
                <a:cs typeface="Arial" pitchFamily="34" charset="-120"/>
              </a:rPr>
              <a:t>CARRY + ROLL, 12 MONTHS</a:t>
            </a:r>
            <a:endParaRPr lang="en-US" sz="950" dirty="0"/>
          </a:p>
        </p:txBody>
      </p:sp>
      <p:sp>
        <p:nvSpPr>
          <p:cNvPr id="8" name="Text 6"/>
          <p:cNvSpPr/>
          <p:nvPr/>
        </p:nvSpPr>
        <p:spPr>
          <a:xfrm>
            <a:off x="8778240" y="2103120"/>
            <a:ext cx="2651760" cy="1005840"/>
          </a:xfrm>
          <a:prstGeom prst="rect">
            <a:avLst/>
          </a:prstGeom>
          <a:noFill/>
          <a:ln/>
        </p:spPr>
        <p:txBody>
          <a:bodyPr wrap="square" lIns="0" tIns="0" rIns="0" bIns="0" rtlCol="0" anchor="ctr"/>
          <a:lstStyle/>
          <a:p>
            <a:pPr indent="0" marL="0">
              <a:lnSpc>
                <a:spcPts val="1500"/>
              </a:lnSpc>
              <a:buNone/>
            </a:pPr>
            <a:r>
              <a:rPr lang="en-US" sz="1100" dirty="0">
                <a:solidFill>
                  <a:srgbClr val="F5DDE2"/>
                </a:solidFill>
                <a:latin typeface="Arial" pitchFamily="34" charset="0"/>
                <a:ea typeface="Arial" pitchFamily="34" charset="-122"/>
                <a:cs typeface="Arial" pitchFamily="34" charset="-120"/>
              </a:rPr>
              <a:t>The 30bp widening we forecast costs 1.95%. It is repaid by three months of holding.</a:t>
            </a:r>
            <a:endParaRPr lang="en-US" sz="1100" dirty="0"/>
          </a:p>
        </p:txBody>
      </p:sp>
      <p:sp>
        <p:nvSpPr>
          <p:cNvPr id="9" name="Text 7"/>
          <p:cNvSpPr/>
          <p:nvPr/>
        </p:nvSpPr>
        <p:spPr>
          <a:xfrm>
            <a:off x="566928" y="4315968"/>
            <a:ext cx="2489454"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3.9x</a:t>
            </a:r>
            <a:endParaRPr lang="en-US" sz="3200" dirty="0"/>
          </a:p>
        </p:txBody>
      </p:sp>
      <p:sp>
        <p:nvSpPr>
          <p:cNvPr id="10" name="Text 8"/>
          <p:cNvSpPr/>
          <p:nvPr/>
        </p:nvSpPr>
        <p:spPr>
          <a:xfrm>
            <a:off x="566928" y="4901184"/>
            <a:ext cx="2489454" cy="219456"/>
          </a:xfrm>
          <a:prstGeom prst="rect">
            <a:avLst/>
          </a:prstGeom>
          <a:noFill/>
          <a:ln/>
        </p:spPr>
        <p:txBody>
          <a:bodyPr wrap="square" lIns="0" tIns="0" rIns="0" bIns="0" rtlCol="0" anchor="ctr"/>
          <a:lstStyle/>
          <a:p>
            <a:pPr indent="0" marL="0">
              <a:buNone/>
            </a:pPr>
            <a:r>
              <a:rPr lang="en-US" sz="900" b="1" spc="80" kern="0" dirty="0">
                <a:solidFill>
                  <a:srgbClr val="9BA5B0"/>
                </a:solidFill>
                <a:latin typeface="Arial" pitchFamily="34" charset="0"/>
                <a:ea typeface="Arial" pitchFamily="34" charset="-122"/>
                <a:cs typeface="Arial" pitchFamily="34" charset="-120"/>
              </a:rPr>
              <a:t>PAID VS THE RISK</a:t>
            </a:r>
            <a:endParaRPr lang="en-US" sz="900" dirty="0"/>
          </a:p>
        </p:txBody>
      </p:sp>
      <p:sp>
        <p:nvSpPr>
          <p:cNvPr id="11" name="Text 9"/>
          <p:cNvSpPr/>
          <p:nvPr/>
        </p:nvSpPr>
        <p:spPr>
          <a:xfrm>
            <a:off x="566928" y="5148072"/>
            <a:ext cx="2452878" cy="731520"/>
          </a:xfrm>
          <a:prstGeom prst="rect">
            <a:avLst/>
          </a:prstGeom>
          <a:noFill/>
          <a:ln/>
        </p:spPr>
        <p:txBody>
          <a:bodyPr wrap="square" lIns="0" tIns="0" rIns="0" bIns="0" rtlCol="0" anchor="ctr"/>
          <a:lstStyle/>
          <a:p>
            <a:pPr indent="0" marL="0">
              <a:lnSpc>
                <a:spcPts val="1400"/>
              </a:lnSpc>
              <a:buNone/>
            </a:pPr>
            <a:r>
              <a:rPr lang="en-US" sz="1050" dirty="0">
                <a:solidFill>
                  <a:srgbClr val="AEB9C7"/>
                </a:solidFill>
                <a:latin typeface="Arial" pitchFamily="34" charset="0"/>
                <a:ea typeface="Arial" pitchFamily="34" charset="-122"/>
                <a:cs typeface="Arial" pitchFamily="34" charset="-120"/>
              </a:rPr>
              <a:t>Carry earned against the cost of the widening we forecast</a:t>
            </a:r>
            <a:endParaRPr lang="en-US" sz="1050" dirty="0"/>
          </a:p>
        </p:txBody>
      </p:sp>
      <p:sp>
        <p:nvSpPr>
          <p:cNvPr id="12" name="Text 10"/>
          <p:cNvSpPr/>
          <p:nvPr/>
        </p:nvSpPr>
        <p:spPr>
          <a:xfrm>
            <a:off x="3330702" y="4315968"/>
            <a:ext cx="2489454"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125bp</a:t>
            </a:r>
            <a:endParaRPr lang="en-US" sz="3200" dirty="0"/>
          </a:p>
        </p:txBody>
      </p:sp>
      <p:sp>
        <p:nvSpPr>
          <p:cNvPr id="13" name="Text 11"/>
          <p:cNvSpPr/>
          <p:nvPr/>
        </p:nvSpPr>
        <p:spPr>
          <a:xfrm>
            <a:off x="3330702" y="4901184"/>
            <a:ext cx="2489454" cy="219456"/>
          </a:xfrm>
          <a:prstGeom prst="rect">
            <a:avLst/>
          </a:prstGeom>
          <a:noFill/>
          <a:ln/>
        </p:spPr>
        <p:txBody>
          <a:bodyPr wrap="square" lIns="0" tIns="0" rIns="0" bIns="0" rtlCol="0" anchor="ctr"/>
          <a:lstStyle/>
          <a:p>
            <a:pPr indent="0" marL="0">
              <a:buNone/>
            </a:pPr>
            <a:r>
              <a:rPr lang="en-US" sz="900" b="1" spc="80" kern="0" dirty="0">
                <a:solidFill>
                  <a:srgbClr val="9BA5B0"/>
                </a:solidFill>
                <a:latin typeface="Arial" pitchFamily="34" charset="0"/>
                <a:ea typeface="Arial" pitchFamily="34" charset="-122"/>
                <a:cs typeface="Arial" pitchFamily="34" charset="-120"/>
              </a:rPr>
              <a:t>BREAK-EVEN WIDENING</a:t>
            </a:r>
            <a:endParaRPr lang="en-US" sz="900" dirty="0"/>
          </a:p>
        </p:txBody>
      </p:sp>
      <p:sp>
        <p:nvSpPr>
          <p:cNvPr id="14" name="Text 12"/>
          <p:cNvSpPr/>
          <p:nvPr/>
        </p:nvSpPr>
        <p:spPr>
          <a:xfrm>
            <a:off x="3330702" y="5148072"/>
            <a:ext cx="2452878" cy="731520"/>
          </a:xfrm>
          <a:prstGeom prst="rect">
            <a:avLst/>
          </a:prstGeom>
          <a:noFill/>
          <a:ln/>
        </p:spPr>
        <p:txBody>
          <a:bodyPr wrap="square" lIns="0" tIns="0" rIns="0" bIns="0" rtlCol="0" anchor="ctr"/>
          <a:lstStyle/>
          <a:p>
            <a:pPr indent="0" marL="0">
              <a:lnSpc>
                <a:spcPts val="1400"/>
              </a:lnSpc>
              <a:buNone/>
            </a:pPr>
            <a:r>
              <a:rPr lang="en-US" sz="1050" dirty="0">
                <a:solidFill>
                  <a:srgbClr val="AEB9C7"/>
                </a:solidFill>
                <a:latin typeface="Arial" pitchFamily="34" charset="0"/>
                <a:ea typeface="Arial" pitchFamily="34" charset="-122"/>
                <a:cs typeface="Arial" pitchFamily="34" charset="-120"/>
              </a:rPr>
              <a:t>Spreads must reach 345bp before 12 months of carry is lost</a:t>
            </a:r>
            <a:endParaRPr lang="en-US" sz="1050" dirty="0"/>
          </a:p>
        </p:txBody>
      </p:sp>
      <p:sp>
        <p:nvSpPr>
          <p:cNvPr id="15" name="Text 13"/>
          <p:cNvSpPr/>
          <p:nvPr/>
        </p:nvSpPr>
        <p:spPr>
          <a:xfrm>
            <a:off x="6094476" y="4315968"/>
            <a:ext cx="2489454"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76%</a:t>
            </a:r>
            <a:endParaRPr lang="en-US" sz="3200" dirty="0"/>
          </a:p>
        </p:txBody>
      </p:sp>
      <p:sp>
        <p:nvSpPr>
          <p:cNvPr id="16" name="Text 14"/>
          <p:cNvSpPr/>
          <p:nvPr/>
        </p:nvSpPr>
        <p:spPr>
          <a:xfrm>
            <a:off x="6094476" y="4901184"/>
            <a:ext cx="2489454" cy="219456"/>
          </a:xfrm>
          <a:prstGeom prst="rect">
            <a:avLst/>
          </a:prstGeom>
          <a:noFill/>
          <a:ln/>
        </p:spPr>
        <p:txBody>
          <a:bodyPr wrap="square" lIns="0" tIns="0" rIns="0" bIns="0" rtlCol="0" anchor="ctr"/>
          <a:lstStyle/>
          <a:p>
            <a:pPr indent="0" marL="0">
              <a:buNone/>
            </a:pPr>
            <a:r>
              <a:rPr lang="en-US" sz="900" b="1" spc="80" kern="0" dirty="0">
                <a:solidFill>
                  <a:srgbClr val="9BA5B0"/>
                </a:solidFill>
                <a:latin typeface="Arial" pitchFamily="34" charset="0"/>
                <a:ea typeface="Arial" pitchFamily="34" charset="-122"/>
                <a:cs typeface="Arial" pitchFamily="34" charset="-120"/>
              </a:rPr>
              <a:t>OF SPREAD IS PREMIUM</a:t>
            </a:r>
            <a:endParaRPr lang="en-US" sz="900" dirty="0"/>
          </a:p>
        </p:txBody>
      </p:sp>
      <p:sp>
        <p:nvSpPr>
          <p:cNvPr id="17" name="Text 15"/>
          <p:cNvSpPr/>
          <p:nvPr/>
        </p:nvSpPr>
        <p:spPr>
          <a:xfrm>
            <a:off x="6094476" y="5148072"/>
            <a:ext cx="2452878" cy="731520"/>
          </a:xfrm>
          <a:prstGeom prst="rect">
            <a:avLst/>
          </a:prstGeom>
          <a:noFill/>
          <a:ln/>
        </p:spPr>
        <p:txBody>
          <a:bodyPr wrap="square" lIns="0" tIns="0" rIns="0" bIns="0" rtlCol="0" anchor="ctr"/>
          <a:lstStyle/>
          <a:p>
            <a:pPr indent="0" marL="0">
              <a:lnSpc>
                <a:spcPts val="1400"/>
              </a:lnSpc>
              <a:buNone/>
            </a:pPr>
            <a:r>
              <a:rPr lang="en-US" sz="1050" dirty="0">
                <a:solidFill>
                  <a:srgbClr val="AEB9C7"/>
                </a:solidFill>
                <a:latin typeface="Arial" pitchFamily="34" charset="0"/>
                <a:ea typeface="Arial" pitchFamily="34" charset="-122"/>
                <a:cs typeface="Arial" pitchFamily="34" charset="-120"/>
              </a:rPr>
              <a:t>Only ~53bp of the 220bp is expected credit loss</a:t>
            </a:r>
            <a:endParaRPr lang="en-US" sz="1050" dirty="0"/>
          </a:p>
        </p:txBody>
      </p:sp>
      <p:sp>
        <p:nvSpPr>
          <p:cNvPr id="18" name="Text 16"/>
          <p:cNvSpPr/>
          <p:nvPr/>
        </p:nvSpPr>
        <p:spPr>
          <a:xfrm>
            <a:off x="8858250" y="4315968"/>
            <a:ext cx="2489454"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+6.42%</a:t>
            </a:r>
            <a:endParaRPr lang="en-US" sz="3200" dirty="0"/>
          </a:p>
        </p:txBody>
      </p:sp>
      <p:sp>
        <p:nvSpPr>
          <p:cNvPr id="19" name="Text 17"/>
          <p:cNvSpPr/>
          <p:nvPr/>
        </p:nvSpPr>
        <p:spPr>
          <a:xfrm>
            <a:off x="8858250" y="4901184"/>
            <a:ext cx="2489454" cy="219456"/>
          </a:xfrm>
          <a:prstGeom prst="rect">
            <a:avLst/>
          </a:prstGeom>
          <a:noFill/>
          <a:ln/>
        </p:spPr>
        <p:txBody>
          <a:bodyPr wrap="square" lIns="0" tIns="0" rIns="0" bIns="0" rtlCol="0" anchor="ctr"/>
          <a:lstStyle/>
          <a:p>
            <a:pPr indent="0" marL="0">
              <a:buNone/>
            </a:pPr>
            <a:r>
              <a:rPr lang="en-US" sz="900" b="1" spc="80" kern="0" dirty="0">
                <a:solidFill>
                  <a:srgbClr val="9BA5B0"/>
                </a:solidFill>
                <a:latin typeface="Arial" pitchFamily="34" charset="0"/>
                <a:ea typeface="Arial" pitchFamily="34" charset="-122"/>
                <a:cs typeface="Arial" pitchFamily="34" charset="-120"/>
              </a:rPr>
              <a:t>EXPECTED RETURN</a:t>
            </a:r>
            <a:endParaRPr lang="en-US" sz="900" dirty="0"/>
          </a:p>
        </p:txBody>
      </p:sp>
      <p:sp>
        <p:nvSpPr>
          <p:cNvPr id="20" name="Text 18"/>
          <p:cNvSpPr/>
          <p:nvPr/>
        </p:nvSpPr>
        <p:spPr>
          <a:xfrm>
            <a:off x="8858250" y="5148072"/>
            <a:ext cx="2452878" cy="731520"/>
          </a:xfrm>
          <a:prstGeom prst="rect">
            <a:avLst/>
          </a:prstGeom>
          <a:noFill/>
          <a:ln/>
        </p:spPr>
        <p:txBody>
          <a:bodyPr wrap="square" lIns="0" tIns="0" rIns="0" bIns="0" rtlCol="0" anchor="ctr"/>
          <a:lstStyle/>
          <a:p>
            <a:pPr indent="0" marL="0">
              <a:lnSpc>
                <a:spcPts val="1400"/>
              </a:lnSpc>
              <a:buNone/>
            </a:pPr>
            <a:r>
              <a:rPr lang="en-US" sz="1050" dirty="0">
                <a:solidFill>
                  <a:srgbClr val="AEB9C7"/>
                </a:solidFill>
                <a:latin typeface="Arial" pitchFamily="34" charset="0"/>
                <a:ea typeface="Arial" pitchFamily="34" charset="-122"/>
                <a:cs typeface="Arial" pitchFamily="34" charset="-120"/>
              </a:rPr>
              <a:t>Probability-weighted across five Fed paths</a:t>
            </a:r>
            <a:endParaRPr lang="en-US" sz="1050" dirty="0"/>
          </a:p>
        </p:txBody>
      </p:sp>
      <p:sp>
        <p:nvSpPr>
          <p:cNvPr id="21" name="Text 19"/>
          <p:cNvSpPr/>
          <p:nvPr/>
        </p:nvSpPr>
        <p:spPr>
          <a:xfrm>
            <a:off x="566928" y="6400800"/>
            <a:ext cx="11055096" cy="274320"/>
          </a:xfrm>
          <a:prstGeom prst="rect">
            <a:avLst/>
          </a:prstGeom>
          <a:noFill/>
          <a:ln/>
        </p:spPr>
        <p:txBody>
          <a:bodyPr wrap="square" lIns="0" tIns="0" rIns="0" bIns="0" rtlCol="0" anchor="ctr"/>
          <a:lstStyle/>
          <a:p>
            <a:pPr indent="0" marL="0">
              <a:buNone/>
            </a:pPr>
            <a:r>
              <a:rPr lang="en-US" sz="800" i="1" dirty="0">
                <a:solidFill>
                  <a:srgbClr val="7C889A"/>
                </a:solidFill>
                <a:latin typeface="Arial" pitchFamily="34" charset="0"/>
                <a:ea typeface="Arial" pitchFamily="34" charset="-122"/>
                <a:cs typeface="Arial" pitchFamily="34" charset="-120"/>
              </a:rPr>
              <a:t>Source: J.P. Morgan EMBI Global; Federal Reserve H.15 and iShares EMB, 7-Aug-2026; UBS CIO. 220bp / 250bp are house inputs. Illustrative — not a return forecast.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8C0A28"/>
                </a:solidFill>
                <a:latin typeface="Arial" pitchFamily="34" charset="0"/>
                <a:ea typeface="Arial" pitchFamily="34" charset="-122"/>
                <a:cs typeface="Arial" pitchFamily="34" charset="-120"/>
              </a:rPr>
              <a:t>THE ARITHMETIC</a:t>
            </a:r>
            <a:endParaRPr lang="en-US" sz="1100" dirty="0"/>
          </a:p>
        </p:txBody>
      </p:sp>
      <p:sp>
        <p:nvSpPr>
          <p:cNvPr id="3" name="Text 1"/>
          <p:cNvSpPr/>
          <p:nvPr/>
        </p:nvSpPr>
        <p:spPr>
          <a:xfrm>
            <a:off x="566928" y="566928"/>
            <a:ext cx="11055096" cy="566928"/>
          </a:xfrm>
          <a:prstGeom prst="rect">
            <a:avLst/>
          </a:prstGeom>
          <a:noFill/>
          <a:ln/>
        </p:spPr>
        <p:txBody>
          <a:bodyPr wrap="square" lIns="0" tIns="0" rIns="0" bIns="0" rtlCol="0" anchor="ctr"/>
          <a:lstStyle/>
          <a:p>
            <a:pPr indent="0" marL="0">
              <a:buNone/>
            </a:pPr>
            <a:r>
              <a:rPr lang="en-US" sz="2700" b="1" dirty="0">
                <a:solidFill>
                  <a:srgbClr val="001E50"/>
                </a:solidFill>
                <a:latin typeface="Arial" pitchFamily="34" charset="0"/>
                <a:ea typeface="Arial" pitchFamily="34" charset="-122"/>
                <a:cs typeface="Arial" pitchFamily="34" charset="-120"/>
              </a:rPr>
              <a:t>A 30bp widening does not break a 7.6% carry</a:t>
            </a:r>
            <a:endParaRPr lang="en-US" sz="2700" dirty="0"/>
          </a:p>
        </p:txBody>
      </p:sp>
      <p:graphicFrame>
        <p:nvGraphicFramePr>
          <p:cNvPr id="4" name="Chart 0" descr=""/>
          <p:cNvGraphicFramePr/>
          <p:nvPr/>
        </p:nvGraphicFramePr>
        <p:xfrm>
          <a:off x="566928" y="1298448"/>
          <a:ext cx="6858000" cy="37033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66928" y="5029200"/>
            <a:ext cx="6858000" cy="274320"/>
          </a:xfrm>
          <a:prstGeom prst="rect">
            <a:avLst/>
          </a:prstGeom>
          <a:noFill/>
          <a:ln/>
        </p:spPr>
        <p:txBody>
          <a:bodyPr wrap="square" lIns="0" tIns="0" rIns="0" bIns="0" rtlCol="0" anchor="ctr"/>
          <a:lstStyle/>
          <a:p>
            <a:pPr indent="0" marL="0">
              <a:buNone/>
            </a:pPr>
            <a:r>
              <a:rPr lang="en-US" sz="1050" i="1" dirty="0">
                <a:solidFill>
                  <a:srgbClr val="5A6472"/>
                </a:solidFill>
                <a:latin typeface="Arial" pitchFamily="34" charset="0"/>
                <a:ea typeface="Arial" pitchFamily="34" charset="-122"/>
                <a:cs typeface="Arial" pitchFamily="34" charset="-120"/>
              </a:rPr>
              <a:t>Every Fed path but one pays you. The one that does not, merely breaks even.</a:t>
            </a:r>
            <a:endParaRPr lang="en-US" sz="1050" dirty="0"/>
          </a:p>
        </p:txBody>
      </p:sp>
      <p:sp>
        <p:nvSpPr>
          <p:cNvPr id="6" name="Shape 3"/>
          <p:cNvSpPr/>
          <p:nvPr/>
        </p:nvSpPr>
        <p:spPr>
          <a:xfrm>
            <a:off x="7726680" y="1481328"/>
            <a:ext cx="3895344" cy="1170432"/>
          </a:xfrm>
          <a:prstGeom prst="roundRect">
            <a:avLst>
              <a:gd name="adj" fmla="val 3906"/>
            </a:avLst>
          </a:prstGeom>
          <a:solidFill>
            <a:srgbClr val="EDEFF2"/>
          </a:solidFill>
          <a:ln w="12700">
            <a:solidFill>
              <a:srgbClr val="EDEFF2"/>
            </a:solidFill>
            <a:prstDash val="solid"/>
          </a:ln>
        </p:spPr>
      </p:sp>
      <p:sp>
        <p:nvSpPr>
          <p:cNvPr id="7" name="Text 4"/>
          <p:cNvSpPr/>
          <p:nvPr/>
        </p:nvSpPr>
        <p:spPr>
          <a:xfrm>
            <a:off x="7936992" y="1609344"/>
            <a:ext cx="3474720" cy="237744"/>
          </a:xfrm>
          <a:prstGeom prst="rect">
            <a:avLst/>
          </a:prstGeom>
          <a:noFill/>
          <a:ln/>
        </p:spPr>
        <p:txBody>
          <a:bodyPr wrap="square" lIns="0" tIns="0" rIns="0" bIns="0" rtlCol="0" anchor="ctr"/>
          <a:lstStyle/>
          <a:p>
            <a:pPr indent="0" marL="0">
              <a:buNone/>
            </a:pPr>
            <a:r>
              <a:rPr lang="en-US" sz="1200" b="1" dirty="0">
                <a:solidFill>
                  <a:srgbClr val="8C0A28"/>
                </a:solidFill>
                <a:latin typeface="Arial" pitchFamily="34" charset="0"/>
                <a:ea typeface="Arial" pitchFamily="34" charset="-122"/>
                <a:cs typeface="Arial" pitchFamily="34" charset="-120"/>
              </a:rPr>
              <a:t>Carry is the denominator, not zero.</a:t>
            </a:r>
            <a:endParaRPr lang="en-US" sz="1200" dirty="0"/>
          </a:p>
        </p:txBody>
      </p:sp>
      <p:sp>
        <p:nvSpPr>
          <p:cNvPr id="8" name="Text 5"/>
          <p:cNvSpPr/>
          <p:nvPr/>
        </p:nvSpPr>
        <p:spPr>
          <a:xfrm>
            <a:off x="7936992" y="1865376"/>
            <a:ext cx="3493008" cy="713232"/>
          </a:xfrm>
          <a:prstGeom prst="rect">
            <a:avLst/>
          </a:prstGeom>
          <a:noFill/>
          <a:ln/>
        </p:spPr>
        <p:txBody>
          <a:bodyPr wrap="square" lIns="0" tIns="0" rIns="0" bIns="0" rtlCol="0" anchor="t"/>
          <a:lstStyle/>
          <a:p>
            <a:pPr indent="0" marL="0">
              <a:lnSpc>
                <a:spcPts val="1250"/>
              </a:lnSpc>
              <a:buNone/>
            </a:pPr>
            <a:r>
              <a:rPr lang="en-US" sz="1000" dirty="0">
                <a:solidFill>
                  <a:srgbClr val="5A6472"/>
                </a:solidFill>
                <a:latin typeface="Arial" pitchFamily="34" charset="0"/>
                <a:ea typeface="Arial" pitchFamily="34" charset="-122"/>
                <a:cs typeface="Arial" pitchFamily="34" charset="-120"/>
              </a:rPr>
              <a:t>The widening costs 1.95% against 7.63% of carry and roll — 26% of one year. A forecast of modest widening is a forecast of returns slightly below the yield, not of losses.</a:t>
            </a:r>
            <a:endParaRPr lang="en-US" sz="1000" dirty="0"/>
          </a:p>
        </p:txBody>
      </p:sp>
      <p:sp>
        <p:nvSpPr>
          <p:cNvPr id="9" name="Shape 6"/>
          <p:cNvSpPr/>
          <p:nvPr/>
        </p:nvSpPr>
        <p:spPr>
          <a:xfrm>
            <a:off x="7726680" y="2761488"/>
            <a:ext cx="3895344" cy="1170432"/>
          </a:xfrm>
          <a:prstGeom prst="roundRect">
            <a:avLst>
              <a:gd name="adj" fmla="val 3906"/>
            </a:avLst>
          </a:prstGeom>
          <a:solidFill>
            <a:srgbClr val="EDEFF2"/>
          </a:solidFill>
          <a:ln w="12700">
            <a:solidFill>
              <a:srgbClr val="EDEFF2"/>
            </a:solidFill>
            <a:prstDash val="solid"/>
          </a:ln>
        </p:spPr>
      </p:sp>
      <p:sp>
        <p:nvSpPr>
          <p:cNvPr id="10" name="Text 7"/>
          <p:cNvSpPr/>
          <p:nvPr/>
        </p:nvSpPr>
        <p:spPr>
          <a:xfrm>
            <a:off x="7936992" y="2889504"/>
            <a:ext cx="3474720" cy="237744"/>
          </a:xfrm>
          <a:prstGeom prst="rect">
            <a:avLst/>
          </a:prstGeom>
          <a:noFill/>
          <a:ln/>
        </p:spPr>
        <p:txBody>
          <a:bodyPr wrap="square" lIns="0" tIns="0" rIns="0" bIns="0" rtlCol="0" anchor="ctr"/>
          <a:lstStyle/>
          <a:p>
            <a:pPr indent="0" marL="0">
              <a:buNone/>
            </a:pPr>
            <a:r>
              <a:rPr lang="en-US" sz="1200" b="1" dirty="0">
                <a:solidFill>
                  <a:srgbClr val="8C0A28"/>
                </a:solidFill>
                <a:latin typeface="Arial" pitchFamily="34" charset="0"/>
                <a:ea typeface="Arial" pitchFamily="34" charset="-122"/>
                <a:cs typeface="Arial" pitchFamily="34" charset="-120"/>
              </a:rPr>
              <a:t>Break-even is 125bp, not 30bp.</a:t>
            </a:r>
            <a:endParaRPr lang="en-US" sz="1200" dirty="0"/>
          </a:p>
        </p:txBody>
      </p:sp>
      <p:sp>
        <p:nvSpPr>
          <p:cNvPr id="11" name="Text 8"/>
          <p:cNvSpPr/>
          <p:nvPr/>
        </p:nvSpPr>
        <p:spPr>
          <a:xfrm>
            <a:off x="7936992" y="3145536"/>
            <a:ext cx="3493008" cy="713232"/>
          </a:xfrm>
          <a:prstGeom prst="rect">
            <a:avLst/>
          </a:prstGeom>
          <a:noFill/>
          <a:ln/>
        </p:spPr>
        <p:txBody>
          <a:bodyPr wrap="square" lIns="0" tIns="0" rIns="0" bIns="0" rtlCol="0" anchor="t"/>
          <a:lstStyle/>
          <a:p>
            <a:pPr indent="0" marL="0">
              <a:lnSpc>
                <a:spcPts val="1250"/>
              </a:lnSpc>
              <a:buNone/>
            </a:pPr>
            <a:r>
              <a:rPr lang="en-US" sz="1000" dirty="0">
                <a:solidFill>
                  <a:srgbClr val="5A6472"/>
                </a:solidFill>
                <a:latin typeface="Arial" pitchFamily="34" charset="0"/>
                <a:ea typeface="Arial" pitchFamily="34" charset="-122"/>
                <a:cs typeface="Arial" pitchFamily="34" charset="-120"/>
              </a:rPr>
              <a:t>Spreads must reach 345bp — systemic-stress territory — before twelve months of carry is wiped out.</a:t>
            </a:r>
            <a:endParaRPr lang="en-US" sz="1000" dirty="0"/>
          </a:p>
        </p:txBody>
      </p:sp>
      <p:sp>
        <p:nvSpPr>
          <p:cNvPr id="12" name="Shape 9"/>
          <p:cNvSpPr/>
          <p:nvPr/>
        </p:nvSpPr>
        <p:spPr>
          <a:xfrm>
            <a:off x="7726680" y="4041648"/>
            <a:ext cx="3895344" cy="1170432"/>
          </a:xfrm>
          <a:prstGeom prst="roundRect">
            <a:avLst>
              <a:gd name="adj" fmla="val 3906"/>
            </a:avLst>
          </a:prstGeom>
          <a:solidFill>
            <a:srgbClr val="EDEFF2"/>
          </a:solidFill>
          <a:ln w="12700">
            <a:solidFill>
              <a:srgbClr val="EDEFF2"/>
            </a:solidFill>
            <a:prstDash val="solid"/>
          </a:ln>
        </p:spPr>
      </p:sp>
      <p:sp>
        <p:nvSpPr>
          <p:cNvPr id="13" name="Text 10"/>
          <p:cNvSpPr/>
          <p:nvPr/>
        </p:nvSpPr>
        <p:spPr>
          <a:xfrm>
            <a:off x="7936992" y="4169664"/>
            <a:ext cx="3474720" cy="237744"/>
          </a:xfrm>
          <a:prstGeom prst="rect">
            <a:avLst/>
          </a:prstGeom>
          <a:noFill/>
          <a:ln/>
        </p:spPr>
        <p:txBody>
          <a:bodyPr wrap="square" lIns="0" tIns="0" rIns="0" bIns="0" rtlCol="0" anchor="ctr"/>
          <a:lstStyle/>
          <a:p>
            <a:pPr indent="0" marL="0">
              <a:buNone/>
            </a:pPr>
            <a:r>
              <a:rPr lang="en-US" sz="1200" b="1" dirty="0">
                <a:solidFill>
                  <a:srgbClr val="8C0A28"/>
                </a:solidFill>
                <a:latin typeface="Arial" pitchFamily="34" charset="0"/>
                <a:ea typeface="Arial" pitchFamily="34" charset="-122"/>
                <a:cs typeface="Arial" pitchFamily="34" charset="-120"/>
              </a:rPr>
              <a:t>The rates leg hedges the credit leg.</a:t>
            </a:r>
            <a:endParaRPr lang="en-US" sz="1200" dirty="0"/>
          </a:p>
        </p:txBody>
      </p:sp>
      <p:sp>
        <p:nvSpPr>
          <p:cNvPr id="14" name="Text 11"/>
          <p:cNvSpPr/>
          <p:nvPr/>
        </p:nvSpPr>
        <p:spPr>
          <a:xfrm>
            <a:off x="7936992" y="4425696"/>
            <a:ext cx="3493008" cy="713232"/>
          </a:xfrm>
          <a:prstGeom prst="rect">
            <a:avLst/>
          </a:prstGeom>
          <a:noFill/>
          <a:ln/>
        </p:spPr>
        <p:txBody>
          <a:bodyPr wrap="square" lIns="0" tIns="0" rIns="0" bIns="0" rtlCol="0" anchor="t"/>
          <a:lstStyle/>
          <a:p>
            <a:pPr indent="0" marL="0">
              <a:lnSpc>
                <a:spcPts val="1250"/>
              </a:lnSpc>
              <a:buNone/>
            </a:pPr>
            <a:r>
              <a:rPr lang="en-US" sz="1000" dirty="0">
                <a:solidFill>
                  <a:srgbClr val="5A6472"/>
                </a:solidFill>
                <a:latin typeface="Arial" pitchFamily="34" charset="0"/>
                <a:ea typeface="Arial" pitchFamily="34" charset="-122"/>
                <a:cs typeface="Arial" pitchFamily="34" charset="-120"/>
              </a:rPr>
              <a:t>Hard landing: spreads gap 150bp wider to 370bp and the return is still +6.0%, because Treasuries rally 125bp at the same time. That negative correlation is worth 19% of the asset’s volatility.</a:t>
            </a:r>
            <a:endParaRPr lang="en-US" sz="1000" dirty="0"/>
          </a:p>
        </p:txBody>
      </p:sp>
      <p:sp>
        <p:nvSpPr>
          <p:cNvPr id="15" name="Text 12"/>
          <p:cNvSpPr/>
          <p:nvPr/>
        </p:nvSpPr>
        <p:spPr>
          <a:xfrm>
            <a:off x="566928" y="6473952"/>
            <a:ext cx="11055096" cy="256032"/>
          </a:xfrm>
          <a:prstGeom prst="rect">
            <a:avLst/>
          </a:prstGeom>
          <a:noFill/>
          <a:ln/>
        </p:spPr>
        <p:txBody>
          <a:bodyPr wrap="square" lIns="0" tIns="0" rIns="0" bIns="0" rtlCol="0" anchor="ctr"/>
          <a:lstStyle/>
          <a:p>
            <a:pPr indent="0" marL="0">
              <a:buNone/>
            </a:pPr>
            <a:r>
              <a:rPr lang="en-US" sz="800" i="1" dirty="0">
                <a:solidFill>
                  <a:srgbClr val="9BA5B0"/>
                </a:solidFill>
                <a:latin typeface="Arial" pitchFamily="34" charset="0"/>
                <a:ea typeface="Arial" pitchFamily="34" charset="-122"/>
                <a:cs typeface="Arial" pitchFamily="34" charset="-120"/>
              </a:rPr>
              <a:t>Modified duration 6.5, spread duration 6.5, convexity 60. Scenario probabilities: 15 / 40 / 20 / 15 / 10%. Source: UBS analysis; Federal Reserve H.15, 7-Aug-2026.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8C0A28"/>
                </a:solidFill>
                <a:latin typeface="Arial" pitchFamily="34" charset="0"/>
                <a:ea typeface="Arial" pitchFamily="34" charset="-122"/>
                <a:cs typeface="Arial" pitchFamily="34" charset="-120"/>
              </a:rPr>
              <a:t>THE KEY POINT</a:t>
            </a:r>
            <a:endParaRPr lang="en-US" sz="1100" dirty="0"/>
          </a:p>
        </p:txBody>
      </p:sp>
      <p:sp>
        <p:nvSpPr>
          <p:cNvPr id="3" name="Text 1"/>
          <p:cNvSpPr/>
          <p:nvPr/>
        </p:nvSpPr>
        <p:spPr>
          <a:xfrm>
            <a:off x="566928" y="566928"/>
            <a:ext cx="11055096" cy="566928"/>
          </a:xfrm>
          <a:prstGeom prst="rect">
            <a:avLst/>
          </a:prstGeom>
          <a:noFill/>
          <a:ln/>
        </p:spPr>
        <p:txBody>
          <a:bodyPr wrap="square" lIns="0" tIns="0" rIns="0" bIns="0" rtlCol="0" anchor="ctr"/>
          <a:lstStyle/>
          <a:p>
            <a:pPr indent="0" marL="0">
              <a:buNone/>
            </a:pPr>
            <a:r>
              <a:rPr lang="en-US" sz="2700" b="1" dirty="0">
                <a:solidFill>
                  <a:srgbClr val="001E50"/>
                </a:solidFill>
                <a:latin typeface="Arial" pitchFamily="34" charset="0"/>
                <a:ea typeface="Arial" pitchFamily="34" charset="-122"/>
                <a:cs typeface="Arial" pitchFamily="34" charset="-120"/>
              </a:rPr>
              <a:t>Why the carry is high quality</a:t>
            </a:r>
            <a:endParaRPr lang="en-US" sz="2700" dirty="0"/>
          </a:p>
        </p:txBody>
      </p:sp>
      <p:sp>
        <p:nvSpPr>
          <p:cNvPr id="4" name="Text 2"/>
          <p:cNvSpPr/>
          <p:nvPr/>
        </p:nvSpPr>
        <p:spPr>
          <a:xfrm>
            <a:off x="566928" y="1188720"/>
            <a:ext cx="11055096" cy="256032"/>
          </a:xfrm>
          <a:prstGeom prst="rect">
            <a:avLst/>
          </a:prstGeom>
          <a:noFill/>
          <a:ln/>
        </p:spPr>
        <p:txBody>
          <a:bodyPr wrap="square" lIns="0" tIns="0" rIns="0" bIns="0" rtlCol="0" anchor="ctr"/>
          <a:lstStyle/>
          <a:p>
            <a:pPr indent="0" marL="0">
              <a:buNone/>
            </a:pPr>
            <a:r>
              <a:rPr lang="en-US" sz="1200" i="1" dirty="0">
                <a:solidFill>
                  <a:srgbClr val="5A6472"/>
                </a:solidFill>
                <a:latin typeface="Arial" pitchFamily="34" charset="0"/>
                <a:ea typeface="Arial" pitchFamily="34" charset="-122"/>
                <a:cs typeface="Arial" pitchFamily="34" charset="-120"/>
              </a:rPr>
              <a:t>High carry is common. High-QUALITY carry is the claim that has to be earned. Four tests, each with a number.</a:t>
            </a:r>
            <a:endParaRPr lang="en-US" sz="1200" dirty="0"/>
          </a:p>
        </p:txBody>
      </p:sp>
      <p:graphicFrame>
        <p:nvGraphicFramePr>
          <p:cNvPr id="5" name="Chart 0" descr=""/>
          <p:cNvGraphicFramePr/>
          <p:nvPr/>
        </p:nvGraphicFramePr>
        <p:xfrm>
          <a:off x="566928" y="1572768"/>
          <a:ext cx="5394960" cy="22860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236208" y="1572768"/>
          <a:ext cx="5394960" cy="228600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566928" y="4041648"/>
            <a:ext cx="310896" cy="310896"/>
          </a:xfrm>
          <a:prstGeom prst="ellipse">
            <a:avLst/>
          </a:prstGeom>
          <a:solidFill>
            <a:srgbClr val="001E50"/>
          </a:solidFill>
          <a:ln w="12700">
            <a:solidFill>
              <a:srgbClr val="001E50"/>
            </a:solidFill>
            <a:prstDash val="solid"/>
          </a:ln>
        </p:spPr>
      </p:sp>
      <p:sp>
        <p:nvSpPr>
          <p:cNvPr id="8" name="Text 4"/>
          <p:cNvSpPr/>
          <p:nvPr/>
        </p:nvSpPr>
        <p:spPr>
          <a:xfrm>
            <a:off x="566928" y="4082796"/>
            <a:ext cx="310896"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9" name="Text 5"/>
          <p:cNvSpPr/>
          <p:nvPr/>
        </p:nvSpPr>
        <p:spPr>
          <a:xfrm>
            <a:off x="969264" y="4078224"/>
            <a:ext cx="2141982" cy="256032"/>
          </a:xfrm>
          <a:prstGeom prst="rect">
            <a:avLst/>
          </a:prstGeom>
          <a:noFill/>
          <a:ln/>
        </p:spPr>
        <p:txBody>
          <a:bodyPr wrap="square" lIns="0" tIns="0" rIns="0" bIns="0" rtlCol="0" anchor="ctr"/>
          <a:lstStyle/>
          <a:p>
            <a:pPr indent="0" marL="0">
              <a:buNone/>
            </a:pPr>
            <a:r>
              <a:rPr lang="en-US" sz="1150" b="1" dirty="0">
                <a:solidFill>
                  <a:srgbClr val="001E50"/>
                </a:solidFill>
                <a:latin typeface="Arial" pitchFamily="34" charset="0"/>
                <a:ea typeface="Arial" pitchFamily="34" charset="-122"/>
                <a:cs typeface="Arial" pitchFamily="34" charset="-120"/>
              </a:rPr>
              <a:t>Cash, not marks</a:t>
            </a:r>
            <a:endParaRPr lang="en-US" sz="1150" dirty="0"/>
          </a:p>
        </p:txBody>
      </p:sp>
      <p:sp>
        <p:nvSpPr>
          <p:cNvPr id="10" name="Text 6"/>
          <p:cNvSpPr/>
          <p:nvPr/>
        </p:nvSpPr>
        <p:spPr>
          <a:xfrm>
            <a:off x="566928" y="4443984"/>
            <a:ext cx="2544318" cy="1417320"/>
          </a:xfrm>
          <a:prstGeom prst="rect">
            <a:avLst/>
          </a:prstGeom>
          <a:noFill/>
          <a:ln/>
        </p:spPr>
        <p:txBody>
          <a:bodyPr wrap="square" lIns="0" tIns="0" rIns="0" bIns="0" rtlCol="0" anchor="t"/>
          <a:lstStyle/>
          <a:p>
            <a:pPr indent="0" marL="0">
              <a:lnSpc>
                <a:spcPts val="1200"/>
              </a:lnSpc>
              <a:buNone/>
            </a:pPr>
            <a:r>
              <a:rPr lang="en-US" sz="950" dirty="0">
                <a:solidFill>
                  <a:srgbClr val="5A6472"/>
                </a:solidFill>
                <a:latin typeface="Arial" pitchFamily="34" charset="0"/>
                <a:ea typeface="Arial" pitchFamily="34" charset="-122"/>
                <a:cs typeface="Arial" pitchFamily="34" charset="-120"/>
              </a:rPr>
              <a:t>80% of the carry is cash coupon. The index trades at 91, a modest discount — so the coupon does the work, not accretion. A distressed index at 60 would show a bigger headline yield of which most is contingent on surviving to maturity.</a:t>
            </a:r>
            <a:endParaRPr lang="en-US" sz="950" dirty="0"/>
          </a:p>
        </p:txBody>
      </p:sp>
      <p:sp>
        <p:nvSpPr>
          <p:cNvPr id="11" name="Shape 7"/>
          <p:cNvSpPr/>
          <p:nvPr/>
        </p:nvSpPr>
        <p:spPr>
          <a:xfrm>
            <a:off x="3330702" y="4041648"/>
            <a:ext cx="310896" cy="310896"/>
          </a:xfrm>
          <a:prstGeom prst="ellipse">
            <a:avLst/>
          </a:prstGeom>
          <a:solidFill>
            <a:srgbClr val="001E50"/>
          </a:solidFill>
          <a:ln w="12700">
            <a:solidFill>
              <a:srgbClr val="001E50"/>
            </a:solidFill>
            <a:prstDash val="solid"/>
          </a:ln>
        </p:spPr>
      </p:sp>
      <p:sp>
        <p:nvSpPr>
          <p:cNvPr id="12" name="Text 8"/>
          <p:cNvSpPr/>
          <p:nvPr/>
        </p:nvSpPr>
        <p:spPr>
          <a:xfrm>
            <a:off x="3330702" y="4082796"/>
            <a:ext cx="310896"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9"/>
          <p:cNvSpPr/>
          <p:nvPr/>
        </p:nvSpPr>
        <p:spPr>
          <a:xfrm>
            <a:off x="3733038" y="4078224"/>
            <a:ext cx="2141982" cy="256032"/>
          </a:xfrm>
          <a:prstGeom prst="rect">
            <a:avLst/>
          </a:prstGeom>
          <a:noFill/>
          <a:ln/>
        </p:spPr>
        <p:txBody>
          <a:bodyPr wrap="square" lIns="0" tIns="0" rIns="0" bIns="0" rtlCol="0" anchor="ctr"/>
          <a:lstStyle/>
          <a:p>
            <a:pPr indent="0" marL="0">
              <a:buNone/>
            </a:pPr>
            <a:r>
              <a:rPr lang="en-US" sz="1150" b="1" dirty="0">
                <a:solidFill>
                  <a:srgbClr val="001E50"/>
                </a:solidFill>
                <a:latin typeface="Arial" pitchFamily="34" charset="0"/>
                <a:ea typeface="Arial" pitchFamily="34" charset="-122"/>
                <a:cs typeface="Arial" pitchFamily="34" charset="-120"/>
              </a:rPr>
              <a:t>Premium, not expected loss</a:t>
            </a:r>
            <a:endParaRPr lang="en-US" sz="1150" dirty="0"/>
          </a:p>
        </p:txBody>
      </p:sp>
      <p:sp>
        <p:nvSpPr>
          <p:cNvPr id="14" name="Text 10"/>
          <p:cNvSpPr/>
          <p:nvPr/>
        </p:nvSpPr>
        <p:spPr>
          <a:xfrm>
            <a:off x="3330702" y="4443984"/>
            <a:ext cx="2544318" cy="1417320"/>
          </a:xfrm>
          <a:prstGeom prst="rect">
            <a:avLst/>
          </a:prstGeom>
          <a:noFill/>
          <a:ln/>
        </p:spPr>
        <p:txBody>
          <a:bodyPr wrap="square" lIns="0" tIns="0" rIns="0" bIns="0" rtlCol="0" anchor="t"/>
          <a:lstStyle/>
          <a:p>
            <a:pPr indent="0" marL="0">
              <a:lnSpc>
                <a:spcPts val="1200"/>
              </a:lnSpc>
              <a:buNone/>
            </a:pPr>
            <a:r>
              <a:rPr lang="en-US" sz="950" dirty="0">
                <a:solidFill>
                  <a:srgbClr val="5A6472"/>
                </a:solidFill>
                <a:latin typeface="Arial" pitchFamily="34" charset="0"/>
                <a:ea typeface="Arial" pitchFamily="34" charset="-122"/>
                <a:cs typeface="Arial" pitchFamily="34" charset="-120"/>
              </a:rPr>
              <a:t>Built bottom-up from the rating buckets: ~53bp of the 220bp is expected credit loss. The other 167bp — 76% — is risk and liquidity premium you keep if the base case happens. Charge the loss in full and break-even is still 109bp.</a:t>
            </a:r>
            <a:endParaRPr lang="en-US" sz="950" dirty="0"/>
          </a:p>
        </p:txBody>
      </p:sp>
      <p:sp>
        <p:nvSpPr>
          <p:cNvPr id="15" name="Shape 11"/>
          <p:cNvSpPr/>
          <p:nvPr/>
        </p:nvSpPr>
        <p:spPr>
          <a:xfrm>
            <a:off x="6094476" y="4041648"/>
            <a:ext cx="310896" cy="310896"/>
          </a:xfrm>
          <a:prstGeom prst="ellipse">
            <a:avLst/>
          </a:prstGeom>
          <a:solidFill>
            <a:srgbClr val="001E50"/>
          </a:solidFill>
          <a:ln w="12700">
            <a:solidFill>
              <a:srgbClr val="001E50"/>
            </a:solidFill>
            <a:prstDash val="solid"/>
          </a:ln>
        </p:spPr>
      </p:sp>
      <p:sp>
        <p:nvSpPr>
          <p:cNvPr id="16" name="Text 12"/>
          <p:cNvSpPr/>
          <p:nvPr/>
        </p:nvSpPr>
        <p:spPr>
          <a:xfrm>
            <a:off x="6094476" y="4082796"/>
            <a:ext cx="310896"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7" name="Text 13"/>
          <p:cNvSpPr/>
          <p:nvPr/>
        </p:nvSpPr>
        <p:spPr>
          <a:xfrm>
            <a:off x="6496812" y="4078224"/>
            <a:ext cx="2141982" cy="256032"/>
          </a:xfrm>
          <a:prstGeom prst="rect">
            <a:avLst/>
          </a:prstGeom>
          <a:noFill/>
          <a:ln/>
        </p:spPr>
        <p:txBody>
          <a:bodyPr wrap="square" lIns="0" tIns="0" rIns="0" bIns="0" rtlCol="0" anchor="ctr"/>
          <a:lstStyle/>
          <a:p>
            <a:pPr indent="0" marL="0">
              <a:buNone/>
            </a:pPr>
            <a:r>
              <a:rPr lang="en-US" sz="1150" b="1" dirty="0">
                <a:solidFill>
                  <a:srgbClr val="001E50"/>
                </a:solidFill>
                <a:latin typeface="Arial" pitchFamily="34" charset="0"/>
                <a:ea typeface="Arial" pitchFamily="34" charset="-122"/>
                <a:cs typeface="Arial" pitchFamily="34" charset="-120"/>
              </a:rPr>
              <a:t>No single point of failure</a:t>
            </a:r>
            <a:endParaRPr lang="en-US" sz="1150" dirty="0"/>
          </a:p>
        </p:txBody>
      </p:sp>
      <p:sp>
        <p:nvSpPr>
          <p:cNvPr id="18" name="Text 14"/>
          <p:cNvSpPr/>
          <p:nvPr/>
        </p:nvSpPr>
        <p:spPr>
          <a:xfrm>
            <a:off x="6094476" y="4443984"/>
            <a:ext cx="2544318" cy="1417320"/>
          </a:xfrm>
          <a:prstGeom prst="rect">
            <a:avLst/>
          </a:prstGeom>
          <a:noFill/>
          <a:ln/>
        </p:spPr>
        <p:txBody>
          <a:bodyPr wrap="square" lIns="0" tIns="0" rIns="0" bIns="0" rtlCol="0" anchor="t"/>
          <a:lstStyle/>
          <a:p>
            <a:pPr indent="0" marL="0">
              <a:lnSpc>
                <a:spcPts val="1200"/>
              </a:lnSpc>
              <a:buNone/>
            </a:pPr>
            <a:r>
              <a:rPr lang="en-US" sz="950" dirty="0">
                <a:solidFill>
                  <a:srgbClr val="5A6472"/>
                </a:solidFill>
                <a:latin typeface="Arial" pitchFamily="34" charset="0"/>
                <a:ea typeface="Arial" pitchFamily="34" charset="-122"/>
                <a:cs typeface="Arial" pitchFamily="34" charset="-120"/>
              </a:rPr>
              <a:t>612 holdings, 87% sovereign, largest country 6.3%. A 1% weight defaulting outright costs less than one month of carry. The ENTIRE CCC bucket defaulting costs three months.</a:t>
            </a:r>
            <a:endParaRPr lang="en-US" sz="950" dirty="0"/>
          </a:p>
        </p:txBody>
      </p:sp>
      <p:sp>
        <p:nvSpPr>
          <p:cNvPr id="19" name="Shape 15"/>
          <p:cNvSpPr/>
          <p:nvPr/>
        </p:nvSpPr>
        <p:spPr>
          <a:xfrm>
            <a:off x="8858250" y="4041648"/>
            <a:ext cx="310896" cy="310896"/>
          </a:xfrm>
          <a:prstGeom prst="ellipse">
            <a:avLst/>
          </a:prstGeom>
          <a:solidFill>
            <a:srgbClr val="8C0A28"/>
          </a:solidFill>
          <a:ln w="12700">
            <a:solidFill>
              <a:srgbClr val="8C0A28"/>
            </a:solidFill>
            <a:prstDash val="solid"/>
          </a:ln>
        </p:spPr>
      </p:sp>
      <p:sp>
        <p:nvSpPr>
          <p:cNvPr id="20" name="Text 16"/>
          <p:cNvSpPr/>
          <p:nvPr/>
        </p:nvSpPr>
        <p:spPr>
          <a:xfrm>
            <a:off x="8858250" y="4082796"/>
            <a:ext cx="310896"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1" name="Text 17"/>
          <p:cNvSpPr/>
          <p:nvPr/>
        </p:nvSpPr>
        <p:spPr>
          <a:xfrm>
            <a:off x="9260586" y="4078224"/>
            <a:ext cx="2141982" cy="256032"/>
          </a:xfrm>
          <a:prstGeom prst="rect">
            <a:avLst/>
          </a:prstGeom>
          <a:noFill/>
          <a:ln/>
        </p:spPr>
        <p:txBody>
          <a:bodyPr wrap="square" lIns="0" tIns="0" rIns="0" bIns="0" rtlCol="0" anchor="ctr"/>
          <a:lstStyle/>
          <a:p>
            <a:pPr indent="0" marL="0">
              <a:buNone/>
            </a:pPr>
            <a:r>
              <a:rPr lang="en-US" sz="1150" b="1" dirty="0">
                <a:solidFill>
                  <a:srgbClr val="8C0A28"/>
                </a:solidFill>
                <a:latin typeface="Arial" pitchFamily="34" charset="0"/>
                <a:ea typeface="Arial" pitchFamily="34" charset="-122"/>
                <a:cs typeface="Arial" pitchFamily="34" charset="-120"/>
              </a:rPr>
              <a:t>Composition improving</a:t>
            </a:r>
            <a:endParaRPr lang="en-US" sz="1150" dirty="0"/>
          </a:p>
        </p:txBody>
      </p:sp>
      <p:sp>
        <p:nvSpPr>
          <p:cNvPr id="22" name="Text 18"/>
          <p:cNvSpPr/>
          <p:nvPr/>
        </p:nvSpPr>
        <p:spPr>
          <a:xfrm>
            <a:off x="8858250" y="4443984"/>
            <a:ext cx="2544318" cy="1417320"/>
          </a:xfrm>
          <a:prstGeom prst="rect">
            <a:avLst/>
          </a:prstGeom>
          <a:noFill/>
          <a:ln/>
        </p:spPr>
        <p:txBody>
          <a:bodyPr wrap="square" lIns="0" tIns="0" rIns="0" bIns="0" rtlCol="0" anchor="t"/>
          <a:lstStyle/>
          <a:p>
            <a:pPr indent="0" marL="0">
              <a:lnSpc>
                <a:spcPts val="1200"/>
              </a:lnSpc>
              <a:buNone/>
            </a:pPr>
            <a:r>
              <a:rPr lang="en-US" sz="950" dirty="0">
                <a:solidFill>
                  <a:srgbClr val="5A6472"/>
                </a:solidFill>
                <a:latin typeface="Arial" pitchFamily="34" charset="0"/>
                <a:ea typeface="Arial" pitchFamily="34" charset="-122"/>
                <a:cs typeface="Arial" pitchFamily="34" charset="-120"/>
              </a:rPr>
              <a:t>Investment grade has gone from ~15% of the index in 2000 to 51% today. 2025 upgrades ran at more than twice downgrades. No EM sovereign default since end-2023.</a:t>
            </a:r>
            <a:endParaRPr lang="en-US" sz="950" dirty="0"/>
          </a:p>
        </p:txBody>
      </p:sp>
      <p:sp>
        <p:nvSpPr>
          <p:cNvPr id="23" name="Text 19"/>
          <p:cNvSpPr/>
          <p:nvPr/>
        </p:nvSpPr>
        <p:spPr>
          <a:xfrm>
            <a:off x="566928" y="6473952"/>
            <a:ext cx="11055096" cy="256032"/>
          </a:xfrm>
          <a:prstGeom prst="rect">
            <a:avLst/>
          </a:prstGeom>
          <a:noFill/>
          <a:ln/>
        </p:spPr>
        <p:txBody>
          <a:bodyPr wrap="square" lIns="0" tIns="0" rIns="0" bIns="0" rtlCol="0" anchor="ctr"/>
          <a:lstStyle/>
          <a:p>
            <a:pPr indent="0" marL="0">
              <a:buNone/>
            </a:pPr>
            <a:r>
              <a:rPr lang="en-US" sz="800" i="1" dirty="0">
                <a:solidFill>
                  <a:srgbClr val="9BA5B0"/>
                </a:solidFill>
                <a:latin typeface="Arial" pitchFamily="34" charset="0"/>
                <a:ea typeface="Arial" pitchFamily="34" charset="-122"/>
                <a:cs typeface="Arial" pitchFamily="34" charset="-120"/>
              </a:rPr>
              <a:t>Rating weights, holdings and country weights: iShares EMB, 7-Aug-2026. IG share history and rating actions: Janus Henderson. Default-since-2023: UBS Asset Management. PDs (A 0.05% to CCC 12.0%) and 50% recovery are through-cycle estimates, not forecasts — all are editable inputs in the model.</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8C0A28"/>
                </a:solidFill>
                <a:latin typeface="Arial" pitchFamily="34" charset="0"/>
                <a:ea typeface="Arial" pitchFamily="34" charset="-122"/>
                <a:cs typeface="Arial" pitchFamily="34" charset="-120"/>
              </a:rPr>
              <a:t>THE REASON UNDERNEATH</a:t>
            </a:r>
            <a:endParaRPr lang="en-US" sz="1100" dirty="0"/>
          </a:p>
        </p:txBody>
      </p:sp>
      <p:sp>
        <p:nvSpPr>
          <p:cNvPr id="3" name="Text 1"/>
          <p:cNvSpPr/>
          <p:nvPr/>
        </p:nvSpPr>
        <p:spPr>
          <a:xfrm>
            <a:off x="566928" y="566928"/>
            <a:ext cx="11055096" cy="566928"/>
          </a:xfrm>
          <a:prstGeom prst="rect">
            <a:avLst/>
          </a:prstGeom>
          <a:noFill/>
          <a:ln/>
        </p:spPr>
        <p:txBody>
          <a:bodyPr wrap="square" lIns="0" tIns="0" rIns="0" bIns="0" rtlCol="0" anchor="ctr"/>
          <a:lstStyle/>
          <a:p>
            <a:pPr indent="0" marL="0">
              <a:buNone/>
            </a:pPr>
            <a:r>
              <a:rPr lang="en-US" sz="2700" b="1" dirty="0">
                <a:solidFill>
                  <a:srgbClr val="001E50"/>
                </a:solidFill>
                <a:latin typeface="Arial" pitchFamily="34" charset="0"/>
                <a:ea typeface="Arial" pitchFamily="34" charset="-122"/>
                <a:cs typeface="Arial" pitchFamily="34" charset="-120"/>
              </a:rPr>
              <a:t>Index composition is why — this is a different asset than it was</a:t>
            </a:r>
            <a:endParaRPr lang="en-US" sz="2700" dirty="0"/>
          </a:p>
        </p:txBody>
      </p:sp>
      <p:graphicFrame>
        <p:nvGraphicFramePr>
          <p:cNvPr id="4" name="Chart 0" descr=""/>
          <p:cNvGraphicFramePr/>
          <p:nvPr/>
        </p:nvGraphicFramePr>
        <p:xfrm>
          <a:off x="566928" y="1371600"/>
          <a:ext cx="3657600" cy="28803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370832" y="1371600"/>
          <a:ext cx="3657600" cy="2880360"/>
        </p:xfrm>
        <a:graphic xmlns:a="http://schemas.openxmlformats.org/drawingml/2006/main">
          <a:graphicData uri="http://schemas.openxmlformats.org/drawingml/2006/chart">
            <c:chart xmlns:c="http://schemas.openxmlformats.org/drawingml/2006/chart" r:id="rId2"/>
          </a:graphicData>
        </a:graphic>
      </p:graphicFrame>
      <p:graphicFrame>
        <p:nvGraphicFramePr>
          <p:cNvPr id="6" name="Chart 2" descr=""/>
          <p:cNvGraphicFramePr/>
          <p:nvPr/>
        </p:nvGraphicFramePr>
        <p:xfrm>
          <a:off x="8193024" y="1371600"/>
          <a:ext cx="3438144" cy="2880360"/>
        </p:xfrm>
        <a:graphic xmlns:a="http://schemas.openxmlformats.org/drawingml/2006/main">
          <a:graphicData uri="http://schemas.openxmlformats.org/drawingml/2006/chart">
            <c:chart xmlns:c="http://schemas.openxmlformats.org/drawingml/2006/chart" r:id="rId3"/>
          </a:graphicData>
        </a:graphic>
      </p:graphicFrame>
      <p:sp>
        <p:nvSpPr>
          <p:cNvPr id="7" name="Shape 2"/>
          <p:cNvSpPr/>
          <p:nvPr/>
        </p:nvSpPr>
        <p:spPr>
          <a:xfrm>
            <a:off x="566928" y="4443984"/>
            <a:ext cx="11055096" cy="1572768"/>
          </a:xfrm>
          <a:prstGeom prst="roundRect">
            <a:avLst>
              <a:gd name="adj" fmla="val 2907"/>
            </a:avLst>
          </a:prstGeom>
          <a:solidFill>
            <a:srgbClr val="EDEFF2"/>
          </a:solidFill>
          <a:ln w="12700">
            <a:solidFill>
              <a:srgbClr val="EDEFF2"/>
            </a:solidFill>
            <a:prstDash val="solid"/>
          </a:ln>
        </p:spPr>
      </p:sp>
      <p:sp>
        <p:nvSpPr>
          <p:cNvPr id="8" name="Text 3"/>
          <p:cNvSpPr/>
          <p:nvPr/>
        </p:nvSpPr>
        <p:spPr>
          <a:xfrm>
            <a:off x="822960" y="4590288"/>
            <a:ext cx="10543032" cy="274320"/>
          </a:xfrm>
          <a:prstGeom prst="rect">
            <a:avLst/>
          </a:prstGeom>
          <a:noFill/>
          <a:ln/>
        </p:spPr>
        <p:txBody>
          <a:bodyPr wrap="square" lIns="0" tIns="0" rIns="0" bIns="0" rtlCol="0" anchor="ctr"/>
          <a:lstStyle/>
          <a:p>
            <a:pPr indent="0" marL="0">
              <a:buNone/>
            </a:pPr>
            <a:r>
              <a:rPr lang="en-US" sz="1400" b="1" dirty="0">
                <a:solidFill>
                  <a:srgbClr val="8C0A28"/>
                </a:solidFill>
                <a:latin typeface="Arial" pitchFamily="34" charset="0"/>
                <a:ea typeface="Arial" pitchFamily="34" charset="-122"/>
                <a:cs typeface="Arial" pitchFamily="34" charset="-120"/>
              </a:rPr>
              <a:t>So "spreads are at historic tights" compares two different assets</a:t>
            </a:r>
            <a:endParaRPr lang="en-US" sz="1400" dirty="0"/>
          </a:p>
        </p:txBody>
      </p:sp>
      <p:sp>
        <p:nvSpPr>
          <p:cNvPr id="9" name="Text 4"/>
          <p:cNvSpPr/>
          <p:nvPr/>
        </p:nvSpPr>
        <p:spPr>
          <a:xfrm>
            <a:off x="822960" y="4901184"/>
            <a:ext cx="7772400" cy="960120"/>
          </a:xfrm>
          <a:prstGeom prst="rect">
            <a:avLst/>
          </a:prstGeom>
          <a:noFill/>
          <a:ln/>
        </p:spPr>
        <p:txBody>
          <a:bodyPr wrap="square" lIns="0" tIns="0" rIns="0" bIns="0" rtlCol="0" anchor="ctr"/>
          <a:lstStyle/>
          <a:p>
            <a:pPr indent="0" marL="0">
              <a:lnSpc>
                <a:spcPts val="1450"/>
              </a:lnSpc>
              <a:buNone/>
            </a:pPr>
            <a:r>
              <a:rPr lang="en-US" sz="1100" dirty="0">
                <a:solidFill>
                  <a:srgbClr val="5A6472"/>
                </a:solidFill>
                <a:latin typeface="Arial" pitchFamily="34" charset="0"/>
                <a:ea typeface="Arial" pitchFamily="34" charset="-122"/>
                <a:cs typeface="Arial" pitchFamily="34" charset="-120"/>
              </a:rPr>
              <a:t>Restate today’s index at the 2000 composition — same credits, same sub-index spreads, the old weights — and 220bp becomes roughly 300bp. The index has repriced tighter largely because it got safer: the Brady-era high-yield asset is now half investment grade, spread across 612 holdings with no country above 6.3%. Judged against its own history, today’s spread is far less demanding than the raw number suggests.</a:t>
            </a:r>
            <a:endParaRPr lang="en-US" sz="1100" dirty="0"/>
          </a:p>
        </p:txBody>
      </p:sp>
      <p:sp>
        <p:nvSpPr>
          <p:cNvPr id="10" name="Text 5"/>
          <p:cNvSpPr/>
          <p:nvPr/>
        </p:nvSpPr>
        <p:spPr>
          <a:xfrm>
            <a:off x="8686800" y="4791456"/>
            <a:ext cx="2834640" cy="566928"/>
          </a:xfrm>
          <a:prstGeom prst="rect">
            <a:avLst/>
          </a:prstGeom>
          <a:noFill/>
          <a:ln/>
        </p:spPr>
        <p:txBody>
          <a:bodyPr wrap="square" lIns="0" tIns="0" rIns="0" bIns="0" rtlCol="0" anchor="ctr"/>
          <a:lstStyle/>
          <a:p>
            <a:pPr algn="r" indent="0" marL="0">
              <a:buNone/>
            </a:pPr>
            <a:r>
              <a:rPr lang="en-US" sz="3400" b="1" dirty="0">
                <a:solidFill>
                  <a:srgbClr val="8C0A28"/>
                </a:solidFill>
                <a:latin typeface="Arial" pitchFamily="34" charset="0"/>
                <a:ea typeface="Arial" pitchFamily="34" charset="-122"/>
                <a:cs typeface="Arial" pitchFamily="34" charset="-120"/>
              </a:rPr>
              <a:t>~300bp</a:t>
            </a:r>
            <a:endParaRPr lang="en-US" sz="3400" dirty="0"/>
          </a:p>
        </p:txBody>
      </p:sp>
      <p:sp>
        <p:nvSpPr>
          <p:cNvPr id="11" name="Text 6"/>
          <p:cNvSpPr/>
          <p:nvPr/>
        </p:nvSpPr>
        <p:spPr>
          <a:xfrm>
            <a:off x="8686800" y="5376672"/>
            <a:ext cx="2834640" cy="402336"/>
          </a:xfrm>
          <a:prstGeom prst="rect">
            <a:avLst/>
          </a:prstGeom>
          <a:noFill/>
          <a:ln/>
        </p:spPr>
        <p:txBody>
          <a:bodyPr wrap="square" lIns="0" tIns="0" rIns="0" bIns="0" rtlCol="0" anchor="ctr"/>
          <a:lstStyle/>
          <a:p>
            <a:pPr algn="r" indent="0" marL="0">
              <a:buNone/>
            </a:pPr>
            <a:r>
              <a:rPr lang="en-US" sz="900" b="1" spc="60" kern="0" dirty="0">
                <a:solidFill>
                  <a:srgbClr val="5A6472"/>
                </a:solidFill>
                <a:latin typeface="Arial" pitchFamily="34" charset="0"/>
                <a:ea typeface="Arial" pitchFamily="34" charset="-122"/>
                <a:cs typeface="Arial" pitchFamily="34" charset="-120"/>
              </a:rPr>
              <a:t>TODAY’S 220bp, RESTATED AT</a:t>
            </a:r>
            <a:endParaRPr lang="en-US" sz="900" dirty="0"/>
          </a:p>
          <a:p>
            <a:pPr algn="r" indent="0" marL="0">
              <a:buNone/>
            </a:pPr>
            <a:r>
              <a:rPr lang="en-US" sz="900" b="1" spc="60" kern="0" dirty="0">
                <a:solidFill>
                  <a:srgbClr val="5A6472"/>
                </a:solidFill>
                <a:latin typeface="Arial" pitchFamily="34" charset="0"/>
                <a:ea typeface="Arial" pitchFamily="34" charset="-122"/>
                <a:cs typeface="Arial" pitchFamily="34" charset="-120"/>
              </a:rPr>
              <a:t>THE 2000 COMPOSITION</a:t>
            </a:r>
            <a:endParaRPr lang="en-US" sz="900" dirty="0"/>
          </a:p>
        </p:txBody>
      </p:sp>
      <p:sp>
        <p:nvSpPr>
          <p:cNvPr id="12" name="Text 7"/>
          <p:cNvSpPr/>
          <p:nvPr/>
        </p:nvSpPr>
        <p:spPr>
          <a:xfrm>
            <a:off x="566928" y="6473952"/>
            <a:ext cx="11055096" cy="256032"/>
          </a:xfrm>
          <a:prstGeom prst="rect">
            <a:avLst/>
          </a:prstGeom>
          <a:noFill/>
          <a:ln/>
        </p:spPr>
        <p:txBody>
          <a:bodyPr wrap="square" lIns="0" tIns="0" rIns="0" bIns="0" rtlCol="0" anchor="ctr"/>
          <a:lstStyle/>
          <a:p>
            <a:pPr indent="0" marL="0">
              <a:buNone/>
            </a:pPr>
            <a:r>
              <a:rPr lang="en-US" sz="800" i="1" dirty="0">
                <a:solidFill>
                  <a:srgbClr val="9BA5B0"/>
                </a:solidFill>
                <a:latin typeface="Arial" pitchFamily="34" charset="0"/>
                <a:ea typeface="Arial" pitchFamily="34" charset="-122"/>
                <a:cs typeface="Arial" pitchFamily="34" charset="-120"/>
              </a:rPr>
              <a:t>Composition: iShares EMB, 7-Aug-2026 (IG 50.7%, HY 48.2%, cash 1.1%; renormalised excluding cash). IG share in 2000 and 2025 rating actions: Janus Henderson. Quality-adjusted spread assumes a 115bp IG sub-index spread and backs out the implied HY spread — illustrative, and an editable input.</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1E50"/>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9BA5B0"/>
                </a:solidFill>
                <a:latin typeface="Arial" pitchFamily="34" charset="0"/>
                <a:ea typeface="Arial" pitchFamily="34" charset="-122"/>
                <a:cs typeface="Arial" pitchFamily="34" charset="-120"/>
              </a:rPr>
              <a:t>THE HONEST RISK</a:t>
            </a:r>
            <a:endParaRPr lang="en-US" sz="1100" dirty="0"/>
          </a:p>
        </p:txBody>
      </p:sp>
      <p:sp>
        <p:nvSpPr>
          <p:cNvPr id="3" name="Text 1"/>
          <p:cNvSpPr/>
          <p:nvPr/>
        </p:nvSpPr>
        <p:spPr>
          <a:xfrm>
            <a:off x="566928" y="566928"/>
            <a:ext cx="11055096" cy="566928"/>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What would change our mind</a:t>
            </a:r>
            <a:endParaRPr lang="en-US" sz="2700" dirty="0"/>
          </a:p>
        </p:txBody>
      </p:sp>
      <p:sp>
        <p:nvSpPr>
          <p:cNvPr id="4" name="Shape 2"/>
          <p:cNvSpPr/>
          <p:nvPr/>
        </p:nvSpPr>
        <p:spPr>
          <a:xfrm>
            <a:off x="566928" y="1325880"/>
            <a:ext cx="5760720" cy="3200400"/>
          </a:xfrm>
          <a:prstGeom prst="roundRect">
            <a:avLst>
              <a:gd name="adj" fmla="val 1143"/>
            </a:avLst>
          </a:prstGeom>
          <a:solidFill>
            <a:srgbClr val="8C0A28"/>
          </a:solidFill>
          <a:ln w="12700">
            <a:solidFill>
              <a:srgbClr val="8C0A28"/>
            </a:solidFill>
            <a:prstDash val="solid"/>
          </a:ln>
        </p:spPr>
      </p:sp>
      <p:sp>
        <p:nvSpPr>
          <p:cNvPr id="5" name="Text 3"/>
          <p:cNvSpPr/>
          <p:nvPr/>
        </p:nvSpPr>
        <p:spPr>
          <a:xfrm>
            <a:off x="859536" y="1536192"/>
            <a:ext cx="5212080" cy="31089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The hedge is regime-dependent</a:t>
            </a:r>
            <a:endParaRPr lang="en-US" sz="1600" dirty="0"/>
          </a:p>
        </p:txBody>
      </p:sp>
      <p:sp>
        <p:nvSpPr>
          <p:cNvPr id="6" name="Text 4"/>
          <p:cNvSpPr/>
          <p:nvPr/>
        </p:nvSpPr>
        <p:spPr>
          <a:xfrm>
            <a:off x="859536" y="1938528"/>
            <a:ext cx="5193792" cy="2377440"/>
          </a:xfrm>
          <a:prstGeom prst="rect">
            <a:avLst/>
          </a:prstGeom>
          <a:noFill/>
          <a:ln/>
        </p:spPr>
        <p:txBody>
          <a:bodyPr wrap="square" lIns="0" tIns="0" rIns="0" bIns="0" rtlCol="0" anchor="t"/>
          <a:lstStyle/>
          <a:p>
            <a:pPr indent="0" marL="0">
              <a:lnSpc>
                <a:spcPts val="1600"/>
              </a:lnSpc>
              <a:buNone/>
            </a:pPr>
            <a:r>
              <a:rPr lang="en-US" sz="1150" dirty="0">
                <a:solidFill>
                  <a:srgbClr val="F7E4E8"/>
                </a:solidFill>
                <a:latin typeface="Arial" pitchFamily="34" charset="0"/>
                <a:ea typeface="Arial" pitchFamily="34" charset="-122"/>
                <a:cs typeface="Arial" pitchFamily="34" charset="-120"/>
              </a:rPr>
              <a:t>Rates and spreads offset when GROWTH drives the market. When INFLATION drives it they move together and both legs lose — our inflation re-acceleration case, the only negative scenario in the set, at −0.03%.</a:t>
            </a:r>
            <a:endParaRPr lang="en-US" sz="1150" dirty="0"/>
          </a:p>
          <a:p>
            <a:pPr indent="0" marL="0">
              <a:lnSpc>
                <a:spcPts val="1600"/>
              </a:lnSpc>
              <a:buNone/>
            </a:pPr>
            <a:endParaRPr lang="en-US" sz="1150" dirty="0"/>
          </a:p>
          <a:p>
            <a:pPr indent="0" marL="0">
              <a:lnSpc>
                <a:spcPts val="1600"/>
              </a:lnSpc>
              <a:buNone/>
            </a:pPr>
            <a:r>
              <a:rPr lang="en-US" sz="1150" dirty="0">
                <a:solidFill>
                  <a:srgbClr val="F7E4E8"/>
                </a:solidFill>
                <a:latin typeface="Arial" pitchFamily="34" charset="0"/>
                <a:ea typeface="Arial" pitchFamily="34" charset="-122"/>
                <a:cs typeface="Arial" pitchFamily="34" charset="-120"/>
              </a:rPr>
              <a:t>It is not a remote tail. Three FOMC members dissented in July for a hike; September was priced at 57% for one before the jobs miss pulled it to 44%. In 2022, and in any dollar-funding squeeze, this correlation flips positive and the diversification disappears exactly when it is needed.</a:t>
            </a:r>
            <a:endParaRPr lang="en-US" sz="1150" dirty="0"/>
          </a:p>
          <a:p>
            <a:pPr indent="0" marL="0">
              <a:lnSpc>
                <a:spcPts val="1600"/>
              </a:lnSpc>
              <a:buNone/>
            </a:pPr>
            <a:endParaRPr lang="en-US" sz="1150" dirty="0"/>
          </a:p>
          <a:p>
            <a:pPr indent="0" marL="0">
              <a:lnSpc>
                <a:spcPts val="1600"/>
              </a:lnSpc>
              <a:buNone/>
            </a:pPr>
            <a:r>
              <a:rPr lang="en-US" sz="1150" dirty="0">
                <a:solidFill>
                  <a:srgbClr val="F7E4E8"/>
                </a:solidFill>
                <a:latin typeface="Arial" pitchFamily="34" charset="0"/>
                <a:ea typeface="Arial" pitchFamily="34" charset="-122"/>
                <a:cs typeface="Arial" pitchFamily="34" charset="-120"/>
              </a:rPr>
              <a:t>If we hedge, we hedge that quadrant — not the credit.</a:t>
            </a:r>
            <a:endParaRPr lang="en-US" sz="1150" dirty="0"/>
          </a:p>
        </p:txBody>
      </p:sp>
      <p:sp>
        <p:nvSpPr>
          <p:cNvPr id="7" name="Text 5"/>
          <p:cNvSpPr/>
          <p:nvPr/>
        </p:nvSpPr>
        <p:spPr>
          <a:xfrm>
            <a:off x="6656832" y="1325880"/>
            <a:ext cx="4974336" cy="27432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Spreads at 220bp are asymmetric</a:t>
            </a:r>
            <a:endParaRPr lang="en-US" sz="1400" dirty="0"/>
          </a:p>
        </p:txBody>
      </p:sp>
      <p:sp>
        <p:nvSpPr>
          <p:cNvPr id="8" name="Text 6"/>
          <p:cNvSpPr/>
          <p:nvPr/>
        </p:nvSpPr>
        <p:spPr>
          <a:xfrm>
            <a:off x="6656832" y="1636776"/>
            <a:ext cx="4974336" cy="1371600"/>
          </a:xfrm>
          <a:prstGeom prst="rect">
            <a:avLst/>
          </a:prstGeom>
          <a:noFill/>
          <a:ln/>
        </p:spPr>
        <p:txBody>
          <a:bodyPr wrap="square" lIns="0" tIns="0" rIns="0" bIns="0" rtlCol="0" anchor="t"/>
          <a:lstStyle/>
          <a:p>
            <a:pPr indent="0" marL="0">
              <a:lnSpc>
                <a:spcPts val="1500"/>
              </a:lnSpc>
              <a:buNone/>
            </a:pPr>
            <a:r>
              <a:rPr lang="en-US" sz="1100" dirty="0">
                <a:solidFill>
                  <a:srgbClr val="B9C4D4"/>
                </a:solidFill>
                <a:latin typeface="Arial" pitchFamily="34" charset="0"/>
                <a:ea typeface="Arial" pitchFamily="34" charset="-122"/>
                <a:cs typeface="Arial" pitchFamily="34" charset="-120"/>
              </a:rPr>
              <a:t>Roughly 40bp of room to tighten against 150bp+ of room to widen. The case does not rest on spreads being cheap — they are not. It rests on the 6.75% yield, and on yield rather than spread being what has historically predicted forward returns. That is the difference between a valuation call and an income call. This is an income call.</a:t>
            </a:r>
            <a:endParaRPr lang="en-US" sz="1100" dirty="0"/>
          </a:p>
        </p:txBody>
      </p:sp>
      <p:sp>
        <p:nvSpPr>
          <p:cNvPr id="9" name="Text 7"/>
          <p:cNvSpPr/>
          <p:nvPr/>
        </p:nvSpPr>
        <p:spPr>
          <a:xfrm>
            <a:off x="6656832" y="3081528"/>
            <a:ext cx="4974336" cy="27432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What would actually change our mind</a:t>
            </a:r>
            <a:endParaRPr lang="en-US" sz="1400" dirty="0"/>
          </a:p>
        </p:txBody>
      </p:sp>
      <p:sp>
        <p:nvSpPr>
          <p:cNvPr id="10" name="Text 8"/>
          <p:cNvSpPr/>
          <p:nvPr/>
        </p:nvSpPr>
        <p:spPr>
          <a:xfrm>
            <a:off x="6656832" y="3392424"/>
            <a:ext cx="4974336" cy="1371600"/>
          </a:xfrm>
          <a:prstGeom prst="rect">
            <a:avLst/>
          </a:prstGeom>
          <a:noFill/>
          <a:ln/>
        </p:spPr>
        <p:txBody>
          <a:bodyPr wrap="square" lIns="0" tIns="0" rIns="0" bIns="0" rtlCol="0" anchor="t"/>
          <a:lstStyle/>
          <a:p>
            <a:pPr indent="0" marL="0">
              <a:lnSpc>
                <a:spcPts val="1500"/>
              </a:lnSpc>
              <a:buNone/>
            </a:pPr>
            <a:r>
              <a:rPr lang="en-US" sz="1100" dirty="0">
                <a:solidFill>
                  <a:srgbClr val="B9C4D4"/>
                </a:solidFill>
                <a:latin typeface="Arial" pitchFamily="34" charset="0"/>
                <a:ea typeface="Arial" pitchFamily="34" charset="-122"/>
                <a:cs typeface="Arial" pitchFamily="34" charset="-120"/>
              </a:rPr>
              <a:t>A sustained move back above 4% on core inflation that revives the hiking path; a break in the rates/spread correlation toward positive; or a genuine re-widening of the distressed tail beyond the 3.8% of the index it occupies today.</a:t>
            </a:r>
            <a:endParaRPr lang="en-US" sz="1100" dirty="0"/>
          </a:p>
        </p:txBody>
      </p:sp>
      <p:sp>
        <p:nvSpPr>
          <p:cNvPr id="11" name="Shape 9"/>
          <p:cNvSpPr/>
          <p:nvPr/>
        </p:nvSpPr>
        <p:spPr>
          <a:xfrm>
            <a:off x="566928" y="4828032"/>
            <a:ext cx="11055096" cy="0"/>
          </a:xfrm>
          <a:prstGeom prst="line">
            <a:avLst/>
          </a:prstGeom>
          <a:noFill/>
          <a:ln w="12700">
            <a:solidFill>
              <a:srgbClr val="2C4470"/>
            </a:solidFill>
            <a:prstDash val="solid"/>
          </a:ln>
        </p:spPr>
      </p:sp>
      <p:sp>
        <p:nvSpPr>
          <p:cNvPr id="12" name="Text 10"/>
          <p:cNvSpPr/>
          <p:nvPr/>
        </p:nvSpPr>
        <p:spPr>
          <a:xfrm>
            <a:off x="566928" y="5010912"/>
            <a:ext cx="8778240" cy="786384"/>
          </a:xfrm>
          <a:prstGeom prst="rect">
            <a:avLst/>
          </a:prstGeom>
          <a:noFill/>
          <a:ln/>
        </p:spPr>
        <p:txBody>
          <a:bodyPr wrap="square" lIns="0" tIns="0" rIns="0" bIns="0" rtlCol="0" anchor="ctr"/>
          <a:lstStyle/>
          <a:p>
            <a:pPr indent="0" marL="0">
              <a:lnSpc>
                <a:spcPts val="2100"/>
              </a:lnSpc>
              <a:buNone/>
            </a:pPr>
            <a:r>
              <a:rPr lang="en-US" sz="1450" b="1" dirty="0">
                <a:solidFill>
                  <a:srgbClr val="FFFFFF"/>
                </a:solidFill>
                <a:latin typeface="Arial" pitchFamily="34" charset="0"/>
                <a:ea typeface="Arial" pitchFamily="34" charset="-122"/>
                <a:cs typeface="Arial" pitchFamily="34" charset="-120"/>
              </a:rPr>
              <a:t>The call: stay long EM USD sovereign debt into the widening. We are paid 3.9x the move we forecast, the break-even is four times it, and the carry is the highest-quality this index has ever produced.</a:t>
            </a:r>
            <a:endParaRPr lang="en-US" sz="1450" dirty="0"/>
          </a:p>
        </p:txBody>
      </p:sp>
      <p:sp>
        <p:nvSpPr>
          <p:cNvPr id="13" name="Text 11"/>
          <p:cNvSpPr/>
          <p:nvPr/>
        </p:nvSpPr>
        <p:spPr>
          <a:xfrm>
            <a:off x="9601200" y="5029200"/>
            <a:ext cx="2011680" cy="603504"/>
          </a:xfrm>
          <a:prstGeom prst="rect">
            <a:avLst/>
          </a:prstGeom>
          <a:noFill/>
          <a:ln/>
        </p:spPr>
        <p:txBody>
          <a:bodyPr wrap="square" lIns="0" tIns="0" rIns="0" bIns="0" rtlCol="0" anchor="ctr"/>
          <a:lstStyle/>
          <a:p>
            <a:pPr algn="r" indent="0" marL="0">
              <a:buNone/>
            </a:pPr>
            <a:r>
              <a:rPr lang="en-US" sz="3400" b="1" dirty="0">
                <a:solidFill>
                  <a:srgbClr val="FFFFFF"/>
                </a:solidFill>
                <a:latin typeface="Arial" pitchFamily="34" charset="0"/>
                <a:ea typeface="Arial" pitchFamily="34" charset="-122"/>
                <a:cs typeface="Arial" pitchFamily="34" charset="-120"/>
              </a:rPr>
              <a:t>+6.42%</a:t>
            </a:r>
            <a:endParaRPr lang="en-US" sz="3400" dirty="0"/>
          </a:p>
        </p:txBody>
      </p:sp>
      <p:sp>
        <p:nvSpPr>
          <p:cNvPr id="14" name="Text 12"/>
          <p:cNvSpPr/>
          <p:nvPr/>
        </p:nvSpPr>
        <p:spPr>
          <a:xfrm>
            <a:off x="9601200" y="5632704"/>
            <a:ext cx="2011680" cy="219456"/>
          </a:xfrm>
          <a:prstGeom prst="rect">
            <a:avLst/>
          </a:prstGeom>
          <a:noFill/>
          <a:ln/>
        </p:spPr>
        <p:txBody>
          <a:bodyPr wrap="square" lIns="0" tIns="0" rIns="0" bIns="0" rtlCol="0" anchor="ctr"/>
          <a:lstStyle/>
          <a:p>
            <a:pPr algn="r" indent="0" marL="0">
              <a:buNone/>
            </a:pPr>
            <a:r>
              <a:rPr lang="en-US" sz="850" b="1" spc="60" kern="0" dirty="0">
                <a:solidFill>
                  <a:srgbClr val="9BA5B0"/>
                </a:solidFill>
                <a:latin typeface="Arial" pitchFamily="34" charset="0"/>
                <a:ea typeface="Arial" pitchFamily="34" charset="-122"/>
                <a:cs typeface="Arial" pitchFamily="34" charset="-120"/>
              </a:rPr>
              <a:t>EXPECTED 12M RETURN</a:t>
            </a:r>
            <a:endParaRPr lang="en-US" sz="850" dirty="0"/>
          </a:p>
        </p:txBody>
      </p:sp>
      <p:sp>
        <p:nvSpPr>
          <p:cNvPr id="15" name="Text 13"/>
          <p:cNvSpPr/>
          <p:nvPr/>
        </p:nvSpPr>
        <p:spPr>
          <a:xfrm>
            <a:off x="566928" y="6473952"/>
            <a:ext cx="11055096" cy="256032"/>
          </a:xfrm>
          <a:prstGeom prst="rect">
            <a:avLst/>
          </a:prstGeom>
          <a:noFill/>
          <a:ln/>
        </p:spPr>
        <p:txBody>
          <a:bodyPr wrap="square" lIns="0" tIns="0" rIns="0" bIns="0" rtlCol="0" anchor="ctr"/>
          <a:lstStyle/>
          <a:p>
            <a:pPr indent="0" marL="0">
              <a:buNone/>
            </a:pPr>
            <a:r>
              <a:rPr lang="en-US" sz="800" i="1" dirty="0">
                <a:solidFill>
                  <a:srgbClr val="9BA5B0"/>
                </a:solidFill>
                <a:latin typeface="Arial" pitchFamily="34" charset="0"/>
                <a:ea typeface="Arial" pitchFamily="34" charset="-122"/>
                <a:cs typeface="Arial" pitchFamily="34" charset="-120"/>
              </a:rPr>
              <a:t>Source: UBS analysis. FOMC statement 29-Jul-2026; BLS employment situation 7-Aug-2026; CME FedWatch. Scenario probabilities are judgement. For discussion — not investment advice.</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2026-08-11T15:51:00Z</dcterms:created>
  <dcterms:modified xsi:type="dcterms:W3CDTF">2026-08-11T15:51:00Z</dcterms:modified>
</cp:coreProperties>
</file>
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799" y="868680"/>
            <a:ext cx="4983481" cy="2514600"/>
          </a:xfrm>
          <a:prstGeom prst="rect">
            <a:avLst/>
          </a:prstGeom>
          <a:solidFill>
            <a:srgbClr val="C8102E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17320" y="3383280"/>
            <a:ext cx="4983479" cy="2514600"/>
          </a:xfrm>
          <a:prstGeom prst="rect">
            <a:avLst/>
          </a:prstGeom>
          <a:solidFill>
            <a:srgbClr val="2E8B5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6400799" y="868680"/>
            <a:ext cx="0" cy="502920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17320" y="3383280"/>
            <a:ext cx="9966960" cy="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66759" y="8869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C8102E"/>
                </a:solidFill>
                <a:latin typeface="Arial"/>
              </a:rPr>
              <a:t>MOST VULNERABLE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8696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Arial"/>
              </a:rPr>
              <a:t>Fragile, but off El Niño's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5595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Arial"/>
              </a:rPr>
              <a:t>MOST INSULATED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59" y="55595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Arial"/>
              </a:rPr>
              <a:t>Exposed, but able to absorb</a:t>
            </a:r>
          </a:p>
        </p:txBody>
      </p:sp>
      <p:sp>
        <p:nvSpPr>
          <p:cNvPr id="10" name="Oval 9"/>
          <p:cNvSpPr/>
          <p:nvPr/>
        </p:nvSpPr>
        <p:spPr>
          <a:xfrm>
            <a:off x="9107424" y="1339596"/>
            <a:ext cx="566928" cy="566928"/>
          </a:xfrm>
          <a:prstGeom prst="ellipse">
            <a:avLst/>
          </a:prstGeom>
          <a:solidFill>
            <a:srgbClr val="CB222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9248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Colombia</a:t>
            </a:r>
          </a:p>
        </p:txBody>
      </p:sp>
      <p:sp>
        <p:nvSpPr>
          <p:cNvPr id="12" name="Oval 11"/>
          <p:cNvSpPr/>
          <p:nvPr/>
        </p:nvSpPr>
        <p:spPr>
          <a:xfrm>
            <a:off x="10104120" y="3099816"/>
            <a:ext cx="566928" cy="566928"/>
          </a:xfrm>
          <a:prstGeom prst="ellipse">
            <a:avLst/>
          </a:prstGeom>
          <a:solidFill>
            <a:srgbClr val="D34E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73184" y="368503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Peru</a:t>
            </a:r>
          </a:p>
        </p:txBody>
      </p:sp>
      <p:sp>
        <p:nvSpPr>
          <p:cNvPr id="14" name="Oval 13"/>
          <p:cNvSpPr/>
          <p:nvPr/>
        </p:nvSpPr>
        <p:spPr>
          <a:xfrm>
            <a:off x="7313371" y="1591055"/>
            <a:ext cx="566928" cy="566928"/>
          </a:xfrm>
          <a:prstGeom prst="ellipse">
            <a:avLst/>
          </a:prstGeom>
          <a:solidFill>
            <a:srgbClr val="D972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2435" y="217627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Brazil</a:t>
            </a:r>
          </a:p>
        </p:txBody>
      </p:sp>
      <p:sp>
        <p:nvSpPr>
          <p:cNvPr id="16" name="Oval 15"/>
          <p:cNvSpPr/>
          <p:nvPr/>
        </p:nvSpPr>
        <p:spPr>
          <a:xfrm>
            <a:off x="3381451" y="1394460"/>
            <a:ext cx="457200" cy="457200"/>
          </a:xfrm>
          <a:prstGeom prst="ellipse">
            <a:avLst/>
          </a:prstGeom>
          <a:solidFill>
            <a:srgbClr val="98A5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5651" y="18699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Argentina</a:t>
            </a:r>
          </a:p>
        </p:txBody>
      </p:sp>
      <p:sp>
        <p:nvSpPr>
          <p:cNvPr id="18" name="Oval 17"/>
          <p:cNvSpPr/>
          <p:nvPr/>
        </p:nvSpPr>
        <p:spPr>
          <a:xfrm>
            <a:off x="5673851" y="2651760"/>
            <a:ext cx="457200" cy="457200"/>
          </a:xfrm>
          <a:prstGeom prst="ellipse">
            <a:avLst/>
          </a:prstGeom>
          <a:solidFill>
            <a:srgbClr val="B8AC1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8051" y="3127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Panama</a:t>
            </a:r>
          </a:p>
        </p:txBody>
      </p:sp>
      <p:sp>
        <p:nvSpPr>
          <p:cNvPr id="20" name="Oval 19"/>
          <p:cNvSpPr/>
          <p:nvPr/>
        </p:nvSpPr>
        <p:spPr>
          <a:xfrm>
            <a:off x="6670548" y="1143000"/>
            <a:ext cx="457200" cy="457200"/>
          </a:xfrm>
          <a:prstGeom prst="ellipse">
            <a:avLst/>
          </a:prstGeom>
          <a:solidFill>
            <a:srgbClr val="DA761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4748" y="1618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Venezuela</a:t>
            </a:r>
          </a:p>
        </p:txBody>
      </p:sp>
      <p:sp>
        <p:nvSpPr>
          <p:cNvPr id="22" name="Oval 21"/>
          <p:cNvSpPr/>
          <p:nvPr/>
        </p:nvSpPr>
        <p:spPr>
          <a:xfrm>
            <a:off x="4677155" y="2651760"/>
            <a:ext cx="457200" cy="457200"/>
          </a:xfrm>
          <a:prstGeom prst="ellipse">
            <a:avLst/>
          </a:prstGeom>
          <a:solidFill>
            <a:srgbClr val="8FA22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1355" y="3127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Mexico</a:t>
            </a:r>
          </a:p>
        </p:txBody>
      </p:sp>
      <p:sp>
        <p:nvSpPr>
          <p:cNvPr id="24" name="Oval 23"/>
          <p:cNvSpPr/>
          <p:nvPr/>
        </p:nvSpPr>
        <p:spPr>
          <a:xfrm>
            <a:off x="5574182" y="3255264"/>
            <a:ext cx="457200" cy="457200"/>
          </a:xfrm>
          <a:prstGeom prst="ellipse">
            <a:avLst/>
          </a:prstGeom>
          <a:solidFill>
            <a:srgbClr val="95A4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8382" y="37307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Dom. Rep.</a:t>
            </a:r>
          </a:p>
        </p:txBody>
      </p:sp>
      <p:sp>
        <p:nvSpPr>
          <p:cNvPr id="26" name="Oval 25"/>
          <p:cNvSpPr/>
          <p:nvPr/>
        </p:nvSpPr>
        <p:spPr>
          <a:xfrm>
            <a:off x="4178807" y="4160520"/>
            <a:ext cx="457200" cy="45720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7" y="4636007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Chile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9" y="5943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Arial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62819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Arial"/>
              </a:rPr>
              <a:t>El Niño physical exposure  →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457200" y="850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Fragile</a:t>
            </a:r>
          </a:p>
        </p:txBody>
      </p:sp>
      <p:sp>
        <p:nvSpPr>
          <p:cNvPr id="32" name="TextBox 31"/>
          <p:cNvSpPr txBox="1"/>
          <p:nvPr/>
        </p:nvSpPr>
        <p:spPr>
          <a:xfrm rot="16200000">
            <a:off x="457200" y="56418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Resilient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182879" y="2011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i="0">
                <a:solidFill>
                  <a:srgbClr val="222222"/>
                </a:solidFill>
                <a:latin typeface="Arial"/>
              </a:rPr>
              <a:t>Fiscal / macro fragility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
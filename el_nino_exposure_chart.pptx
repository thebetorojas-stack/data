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Latin America: El Nino Exposure vs. Fiscal Fragility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686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Bubble color = overall El Nino-relevant risk (green low -&gt; red high)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26279" y="1417320"/>
            <a:ext cx="3474720" cy="2286000"/>
          </a:xfrm>
          <a:prstGeom prst="rect">
            <a:avLst/>
          </a:prstGeom>
          <a:solidFill>
            <a:srgbClr val="FB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1560" y="3703320"/>
            <a:ext cx="3474719" cy="2286000"/>
          </a:xfrm>
          <a:prstGeom prst="rect">
            <a:avLst/>
          </a:prstGeom>
          <a:solidFill>
            <a:srgbClr val="ED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1560" y="1417320"/>
            <a:ext cx="6949440" cy="4572000"/>
          </a:xfrm>
          <a:prstGeom prst="rect">
            <a:avLst/>
          </a:prstGeom>
          <a:noFill/>
          <a:ln w="12700"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526279" y="1417320"/>
            <a:ext cx="0" cy="4572000"/>
          </a:xfrm>
          <a:prstGeom prst="bentConnector3">
            <a:avLst/>
          </a:prstGeom>
          <a:ln w="12700">
            <a:solidFill>
              <a:srgbClr val="D9DDE3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1560" y="3703320"/>
            <a:ext cx="6949440" cy="0"/>
          </a:xfrm>
          <a:prstGeom prst="bentConnector3">
            <a:avLst/>
          </a:prstGeom>
          <a:ln w="12700">
            <a:solidFill>
              <a:srgbClr val="D9DDE3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17719" y="14904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B03030"/>
                </a:solidFill>
                <a:latin typeface="Calibri"/>
              </a:rPr>
              <a:t>MOST VULNERABLE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660136"/>
            <a:ext cx="3291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C6E49"/>
                </a:solidFill>
                <a:latin typeface="Calibri"/>
              </a:rPr>
              <a:t>MOST INSULATED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153912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222B3A"/>
                </a:solidFill>
                <a:latin typeface="Calibri"/>
              </a:rPr>
              <a:t>El Nino physical exposure  -&gt;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783080" y="3520439"/>
            <a:ext cx="457200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22B3A"/>
                </a:solidFill>
                <a:latin typeface="Calibri"/>
              </a:rPr>
              <a:t>Fiscal / macro fragility  -&gt;</a:t>
            </a:r>
          </a:p>
        </p:txBody>
      </p:sp>
      <p:sp>
        <p:nvSpPr>
          <p:cNvPr id="13" name="Oval 12"/>
          <p:cNvSpPr/>
          <p:nvPr/>
        </p:nvSpPr>
        <p:spPr>
          <a:xfrm>
            <a:off x="7161580" y="3282695"/>
            <a:ext cx="566928" cy="566928"/>
          </a:xfrm>
          <a:prstGeom prst="ellipse">
            <a:avLst/>
          </a:prstGeom>
          <a:solidFill>
            <a:srgbClr val="D76633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9204" y="3831335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22B3A"/>
                </a:solidFill>
                <a:latin typeface="Calibri"/>
              </a:rPr>
              <a:t>Peru</a:t>
            </a:r>
          </a:p>
        </p:txBody>
      </p:sp>
      <p:sp>
        <p:nvSpPr>
          <p:cNvPr id="15" name="Oval 14"/>
          <p:cNvSpPr/>
          <p:nvPr/>
        </p:nvSpPr>
        <p:spPr>
          <a:xfrm>
            <a:off x="6536131" y="2002536"/>
            <a:ext cx="566928" cy="566928"/>
          </a:xfrm>
          <a:prstGeom prst="ellipse">
            <a:avLst/>
          </a:prstGeom>
          <a:solidFill>
            <a:srgbClr val="D66032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3755" y="255117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22B3A"/>
                </a:solidFill>
                <a:latin typeface="Calibri"/>
              </a:rPr>
              <a:t>Colombia</a:t>
            </a:r>
          </a:p>
        </p:txBody>
      </p:sp>
      <p:sp>
        <p:nvSpPr>
          <p:cNvPr id="17" name="Oval 16"/>
          <p:cNvSpPr/>
          <p:nvPr/>
        </p:nvSpPr>
        <p:spPr>
          <a:xfrm>
            <a:off x="5493715" y="2505456"/>
            <a:ext cx="566928" cy="566928"/>
          </a:xfrm>
          <a:prstGeom prst="ellipse">
            <a:avLst/>
          </a:prstGeom>
          <a:solidFill>
            <a:srgbClr val="E18836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1339" y="305409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22B3A"/>
                </a:solidFill>
                <a:latin typeface="Calibri"/>
              </a:rPr>
              <a:t>Brazil</a:t>
            </a:r>
          </a:p>
        </p:txBody>
      </p:sp>
      <p:sp>
        <p:nvSpPr>
          <p:cNvPr id="19" name="Oval 18"/>
          <p:cNvSpPr/>
          <p:nvPr/>
        </p:nvSpPr>
        <p:spPr>
          <a:xfrm>
            <a:off x="5285232" y="1591055"/>
            <a:ext cx="566928" cy="566928"/>
          </a:xfrm>
          <a:prstGeom prst="ellipse">
            <a:avLst/>
          </a:prstGeom>
          <a:solidFill>
            <a:srgbClr val="DE7D35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2856" y="213969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22B3A"/>
                </a:solidFill>
                <a:latin typeface="Calibri"/>
              </a:rPr>
              <a:t>Venezuela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9976" y="2340864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1">
                <a:solidFill>
                  <a:srgbClr val="6B7280"/>
                </a:solidFill>
                <a:latin typeface="Calibri"/>
              </a:rPr>
              <a:t>energy shock</a:t>
            </a:r>
          </a:p>
        </p:txBody>
      </p:sp>
      <p:sp>
        <p:nvSpPr>
          <p:cNvPr id="22" name="Oval 21"/>
          <p:cNvSpPr/>
          <p:nvPr/>
        </p:nvSpPr>
        <p:spPr>
          <a:xfrm>
            <a:off x="5771692" y="3236975"/>
            <a:ext cx="566928" cy="566928"/>
          </a:xfrm>
          <a:prstGeom prst="ellipse">
            <a:avLst/>
          </a:prstGeom>
          <a:solidFill>
            <a:srgbClr val="E28E37"/>
          </a:solidFill>
          <a:ln w="28575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9316" y="3785615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22B3A"/>
                </a:solidFill>
                <a:latin typeface="Calibri"/>
              </a:rPr>
              <a:t>Panama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6436" y="3986783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1">
                <a:solidFill>
                  <a:srgbClr val="6B7280"/>
                </a:solidFill>
                <a:latin typeface="Calibri"/>
              </a:rPr>
              <a:t>canal drought</a:t>
            </a:r>
          </a:p>
        </p:txBody>
      </p:sp>
      <p:sp>
        <p:nvSpPr>
          <p:cNvPr id="25" name="Oval 24"/>
          <p:cNvSpPr/>
          <p:nvPr/>
        </p:nvSpPr>
        <p:spPr>
          <a:xfrm>
            <a:off x="2505456" y="1591055"/>
            <a:ext cx="566928" cy="566928"/>
          </a:xfrm>
          <a:prstGeom prst="ellipse">
            <a:avLst/>
          </a:prstGeom>
          <a:solidFill>
            <a:srgbClr val="DAB83E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79" y="213969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22B3A"/>
                </a:solidFill>
                <a:latin typeface="Calibri"/>
              </a:rPr>
              <a:t>Argentina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199" y="2340864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1">
                <a:solidFill>
                  <a:srgbClr val="6B7280"/>
                </a:solidFill>
                <a:latin typeface="Calibri"/>
              </a:rPr>
              <a:t>El Nino helps crops</a:t>
            </a:r>
          </a:p>
        </p:txBody>
      </p:sp>
      <p:sp>
        <p:nvSpPr>
          <p:cNvPr id="28" name="Oval 27"/>
          <p:cNvSpPr/>
          <p:nvPr/>
        </p:nvSpPr>
        <p:spPr>
          <a:xfrm>
            <a:off x="2157984" y="3145536"/>
            <a:ext cx="566928" cy="566928"/>
          </a:xfrm>
          <a:prstGeom prst="ellipse">
            <a:avLst/>
          </a:prstGeom>
          <a:solidFill>
            <a:srgbClr val="A5AA46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35607" y="369417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22B3A"/>
                </a:solidFill>
                <a:latin typeface="Calibri"/>
              </a:rPr>
              <a:t>Mexico</a:t>
            </a:r>
          </a:p>
        </p:txBody>
      </p:sp>
      <p:sp>
        <p:nvSpPr>
          <p:cNvPr id="30" name="Oval 29"/>
          <p:cNvSpPr/>
          <p:nvPr/>
        </p:nvSpPr>
        <p:spPr>
          <a:xfrm>
            <a:off x="3756355" y="3922776"/>
            <a:ext cx="566928" cy="566928"/>
          </a:xfrm>
          <a:prstGeom prst="ellipse">
            <a:avLst/>
          </a:prstGeom>
          <a:solidFill>
            <a:srgbClr val="D0B540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33979" y="447141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22B3A"/>
                </a:solidFill>
                <a:latin typeface="Calibri"/>
              </a:rPr>
              <a:t>Dominican Rep.</a:t>
            </a:r>
          </a:p>
        </p:txBody>
      </p:sp>
      <p:sp>
        <p:nvSpPr>
          <p:cNvPr id="32" name="Oval 31"/>
          <p:cNvSpPr/>
          <p:nvPr/>
        </p:nvSpPr>
        <p:spPr>
          <a:xfrm>
            <a:off x="2435961" y="4425696"/>
            <a:ext cx="566928" cy="566928"/>
          </a:xfrm>
          <a:prstGeom prst="ellipse">
            <a:avLst/>
          </a:prstGeom>
          <a:solidFill>
            <a:srgbClr val="8FA449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13585" y="497433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22B3A"/>
                </a:solidFill>
                <a:latin typeface="Calibri"/>
              </a:rPr>
              <a:t>Chile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66760" y="1554480"/>
            <a:ext cx="3291840" cy="2148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67928" y="173736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mbria"/>
              </a:rPr>
              <a:t>Focus: Panama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67928" y="2121408"/>
            <a:ext cx="2926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22B3A"/>
                </a:solidFill>
                <a:latin typeface="Calibri"/>
              </a:rPr>
              <a:t>Canal drought (El Nino cuts Gatun Lake) throttles transits &amp; draft -&gt; a growth drag with fiscal spillover via canal revenue. Dynamic slot pricing / auctions cushion the revenue hit.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60" y="3977639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Overall El Nino risk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6760" y="4279392"/>
            <a:ext cx="487680" cy="20116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854440" y="4279392"/>
            <a:ext cx="487680" cy="201168"/>
          </a:xfrm>
          <a:prstGeom prst="rect">
            <a:avLst/>
          </a:prstGeom>
          <a:solidFill>
            <a:srgbClr val="7B9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42120" y="4279392"/>
            <a:ext cx="487680" cy="201168"/>
          </a:xfrm>
          <a:prstGeom prst="rect">
            <a:avLst/>
          </a:prstGeom>
          <a:solidFill>
            <a:srgbClr val="C9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29800" y="4279392"/>
            <a:ext cx="487680" cy="201168"/>
          </a:xfrm>
          <a:prstGeom prst="rect">
            <a:avLst/>
          </a:prstGeom>
          <a:solidFill>
            <a:srgbClr val="E8A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317480" y="4279392"/>
            <a:ext cx="487680" cy="201168"/>
          </a:xfrm>
          <a:prstGeom prst="rect">
            <a:avLst/>
          </a:prstGeom>
          <a:solidFill>
            <a:srgbClr val="D86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05160" y="4279392"/>
            <a:ext cx="487680" cy="201168"/>
          </a:xfrm>
          <a:prstGeom prst="rect">
            <a:avLst/>
          </a:prstGeom>
          <a:solidFill>
            <a:srgbClr val="C8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66760" y="4517136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lower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04120" y="4517136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higher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55664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Positions are UBS desk estimates. El Nino declared by NOAA Jun 2026; Panama Canal Authority cut Neopanamax draft limits from Jul 2026. Sources: BBVA Research, IMF, Oxford Economics, ACP.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